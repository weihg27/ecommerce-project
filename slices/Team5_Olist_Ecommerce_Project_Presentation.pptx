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embeddedFontLst>
    <p:embeddedFont>
      <p:font typeface="Play"/>
      <p:regular r:id="rId25"/>
      <p:bold r:id="rId26"/>
    </p:embeddedFont>
    <p:embeddedFont>
      <p:font typeface="Roboto Mono"/>
      <p:regular r:id="rId27"/>
      <p:bold r:id="rId28"/>
      <p:italic r:id="rId29"/>
      <p:boldItalic r:id="rId30"/>
    </p:embeddedFont>
    <p:embeddedFont>
      <p:font typeface="Century Gothic"/>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5" roundtripDataSignature="AMtx7mgh2irAYMphZk/09/4dwd0OblhS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bold.fntdata"/><Relationship Id="rId25" Type="http://schemas.openxmlformats.org/officeDocument/2006/relationships/font" Target="fonts/Play-regular.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regular.fntdata"/><Relationship Id="rId30" Type="http://schemas.openxmlformats.org/officeDocument/2006/relationships/font" Target="fonts/RobotoMono-boldItalic.fntdata"/><Relationship Id="rId11" Type="http://schemas.openxmlformats.org/officeDocument/2006/relationships/slide" Target="slides/slide6.xml"/><Relationship Id="rId33" Type="http://schemas.openxmlformats.org/officeDocument/2006/relationships/font" Target="fonts/CenturyGothic-italic.fntdata"/><Relationship Id="rId10" Type="http://schemas.openxmlformats.org/officeDocument/2006/relationships/slide" Target="slides/slide5.xml"/><Relationship Id="rId32" Type="http://schemas.openxmlformats.org/officeDocument/2006/relationships/font" Target="fonts/CenturyGothic-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CenturyGothic-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Pilo: Problem Statement &amp; Dataset: Olist is a Brazilian marketplace connecting sellers to customers across multiple channels. 9 source CSV files: orders, customers, products, sellers, order items, payments, reviews, geolocation. Business questions: how is revenue trending, which products perform best, who are the most valuable customers? Our project analyzes the Brazilian E-Commerce Public Dataset by Olist. The goal was to build an end-to-end analytics workflow: load raw data into DuckDB, model it into a star schema using dbt, validate data quality with dbt tests, and then perform business analysis and visualization with Python and Pandas.</a:t>
            </a:r>
            <a:endParaRPr/>
          </a:p>
        </p:txBody>
      </p:sp>
      <p:sp>
        <p:nvSpPr>
          <p:cNvPr id="145" name="Google Shape;14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eaba18fdf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eaba18fd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Pilo: </a:t>
            </a:r>
            <a:r>
              <a:rPr lang="en-US"/>
              <a:t>This slide sets the business-model lens for the rest of the presentation.</a:t>
            </a:r>
            <a:br>
              <a:rPr lang="en-US"/>
            </a:br>
            <a:br>
              <a:rPr lang="en-US"/>
            </a:br>
            <a:r>
              <a:rPr lang="en-US"/>
              <a:t> The important distinction is that Olist should not be treated as a traditional retailer selling its own inventory directly to consumers. Olist is better understood as a commerce enablement platform for sellers.</a:t>
            </a:r>
            <a:br>
              <a:rPr lang="en-US"/>
            </a:br>
            <a:br>
              <a:rPr lang="en-US"/>
            </a:br>
            <a:r>
              <a:rPr lang="en-US"/>
              <a:t> Sellers are Olist's primary clients. Olist helps them manage catalog, stock, pricing, fulfillment, marketplace access, logistics, payments, and operating tools.</a:t>
            </a:r>
            <a:br>
              <a:rPr lang="en-US"/>
            </a:br>
            <a:br>
              <a:rPr lang="en-US"/>
            </a:br>
            <a:r>
              <a:rPr lang="en-US"/>
              <a:t> Marketplaces provide large customer traffic, while end customers generate the orders, payments, reviews, and demand signals we see in the dataset.</a:t>
            </a:r>
            <a:br>
              <a:rPr lang="en-US"/>
            </a:br>
            <a:br>
              <a:rPr lang="en-US"/>
            </a:br>
            <a:r>
              <a:rPr lang="en-US"/>
              <a:t> So when we analyze orders, products, geography, reviews, and repeat buyers later in the deck, we should read those metrics as signals of platform activity and seller success, not simply as consumer retail metrics.</a:t>
            </a:r>
            <a:endParaRPr/>
          </a:p>
          <a:p>
            <a:pPr indent="0" lvl="0" marL="0" rtl="0" algn="l">
              <a:spcBef>
                <a:spcPts val="0"/>
              </a:spcBef>
              <a:spcAft>
                <a:spcPts val="0"/>
              </a:spcAft>
              <a:buNone/>
            </a:pPr>
            <a:r>
              <a:t/>
            </a:r>
            <a:endParaRPr/>
          </a:p>
        </p:txBody>
      </p:sp>
      <p:sp>
        <p:nvSpPr>
          <p:cNvPr id="152" name="Google Shape;152;g3eeaba18fd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eaba18fdf_0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eaba18fdf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Pilo: </a:t>
            </a:r>
            <a:r>
              <a:rPr lang="en-US"/>
              <a:t>This slide explains how the data connects to the business questions.</a:t>
            </a:r>
            <a:br>
              <a:rPr lang="en-US"/>
            </a:br>
            <a:br>
              <a:rPr lang="en-US"/>
            </a:br>
            <a:r>
              <a:rPr lang="en-US"/>
              <a:t> The nine CSV files are operational records of marketplace activity. They are very useful, but they are not a full financial view of Olist. In particular, transaction value should be treated as a GMV proxy, not true Olist revenue.</a:t>
            </a:r>
            <a:br>
              <a:rPr lang="en-US"/>
            </a:br>
            <a:br>
              <a:rPr lang="en-US"/>
            </a:br>
            <a:r>
              <a:rPr lang="en-US"/>
              <a:t> The questions move from measurement to decision-making: first, how much commerce is moving through the platform; second, which categories are strongest; third, which sellers and customers drive value; and fourth, what Olist should do next.</a:t>
            </a:r>
            <a:br>
              <a:rPr lang="en-US"/>
            </a:br>
            <a:br>
              <a:rPr lang="en-US"/>
            </a:br>
            <a:r>
              <a:rPr lang="en-US"/>
              <a:t> The key message is that buyer and product analysis still matters, but the strategic use of that analysis is seller-centric. The goal is to help sellers grow GMV, improve delivery and review performance, and convert buyer demand into repeat platform activity.</a:t>
            </a:r>
            <a:endParaRPr/>
          </a:p>
          <a:p>
            <a:pPr indent="0" lvl="0" marL="0" rtl="0" algn="l">
              <a:spcBef>
                <a:spcPts val="0"/>
              </a:spcBef>
              <a:spcAft>
                <a:spcPts val="0"/>
              </a:spcAft>
              <a:buNone/>
            </a:pPr>
            <a:r>
              <a:t/>
            </a:r>
            <a:endParaRPr/>
          </a:p>
        </p:txBody>
      </p:sp>
      <p:sp>
        <p:nvSpPr>
          <p:cNvPr id="158" name="Google Shape;158;g3eeaba18fdf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Huang Wei: The workflow starts with CSV files from the Olist dataset. We loaded them into DuckDB, then used dbt to create staging models and dimensional warehouse tables. After validating the data with dbt tests, we used Pandas and Matplotlib to generate business insights and charts. We selected DuckDB as our analytical database because it can work directly with CSV files, and it is fully supported by dbt. We chose dbt because it separates raw data from transformed business-ready models, makes transformations modular and reusable, provides built-in testing, and automatically documents data lineage. In our project, dbt helped us build a maintainable star schema on top of DuckDB while ensuring data quality through automated tests.</a:t>
            </a:r>
            <a:endParaRPr/>
          </a:p>
        </p:txBody>
      </p:sp>
      <p:sp>
        <p:nvSpPr>
          <p:cNvPr id="164" name="Google Shape;16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Dick: The warehouse uses a star schema. </a:t>
            </a:r>
            <a:r>
              <a:rPr lang="en-US" sz="1100">
                <a:latin typeface="Arial"/>
                <a:ea typeface="Arial"/>
                <a:cs typeface="Arial"/>
                <a:sym typeface="Arial"/>
              </a:rPr>
              <a:t>We created </a:t>
            </a:r>
            <a:r>
              <a:rPr lang="en-US" sz="1100">
                <a:solidFill>
                  <a:srgbClr val="188038"/>
                </a:solidFill>
                <a:latin typeface="Roboto Mono"/>
                <a:ea typeface="Roboto Mono"/>
                <a:cs typeface="Roboto Mono"/>
                <a:sym typeface="Roboto Mono"/>
              </a:rPr>
              <a:t>stg_order_items</a:t>
            </a:r>
            <a:r>
              <a:rPr lang="en-US" sz="1100">
                <a:latin typeface="Arial"/>
                <a:ea typeface="Arial"/>
                <a:cs typeface="Arial"/>
                <a:sym typeface="Arial"/>
              </a:rPr>
              <a:t> and </a:t>
            </a:r>
            <a:r>
              <a:rPr lang="en-US" sz="1100">
                <a:solidFill>
                  <a:srgbClr val="188038"/>
                </a:solidFill>
                <a:latin typeface="Roboto Mono"/>
                <a:ea typeface="Roboto Mono"/>
                <a:cs typeface="Roboto Mono"/>
                <a:sym typeface="Roboto Mono"/>
              </a:rPr>
              <a:t>stg_orders</a:t>
            </a:r>
            <a:r>
              <a:rPr lang="en-US" sz="1100">
                <a:latin typeface="Arial"/>
                <a:ea typeface="Arial"/>
                <a:cs typeface="Arial"/>
                <a:sym typeface="Arial"/>
              </a:rPr>
              <a:t> as staging models to separate raw source data from business transformations. The staging layer provides a place to clean, standardize, and validate data before building the fact and dimension tables. </a:t>
            </a:r>
            <a:r>
              <a:rPr lang="en-US"/>
              <a:t>The central fact table is fact_sales, which contains transaction-level sales data. Around it are three dimensions: dim_customer, dim_product, and dim_seller. This structure simplifies analytical queries and reporting.</a:t>
            </a:r>
            <a:endParaRPr/>
          </a:p>
        </p:txBody>
      </p:sp>
      <p:sp>
        <p:nvSpPr>
          <p:cNvPr id="171" name="Google Shape;1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i="1" lang="en-US"/>
              <a:t>Jacky</a:t>
            </a:r>
            <a:r>
              <a:rPr i="1" lang="en-US" sz="1200">
                <a:solidFill>
                  <a:schemeClr val="dk1"/>
                </a:solidFill>
                <a:latin typeface="Calibri"/>
                <a:ea typeface="Calibri"/>
                <a:cs typeface="Calibri"/>
                <a:sym typeface="Calibri"/>
              </a:rPr>
              <a:t>“My part of the project covers the data quality. The goal was to make sure the data feeding our charts and analysis is actually trustworthy — that primary keys are clean, relationships hold, and business rules like valid sales amounts are enforced. We will go through the two-layer approach used and what each layer catches.”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79" name="Google Shape;17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Jacky:</a:t>
            </a:r>
            <a:endParaRPr/>
          </a:p>
        </p:txBody>
      </p:sp>
      <p:sp>
        <p:nvSpPr>
          <p:cNvPr id="197" name="Google Shape;19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a:t>Jacky: “</a:t>
            </a:r>
            <a:r>
              <a:rPr i="1" lang="en-US" sz="1200">
                <a:solidFill>
                  <a:schemeClr val="dk1"/>
                </a:solidFill>
                <a:latin typeface="Calibri"/>
                <a:ea typeface="Calibri"/>
                <a:cs typeface="Calibri"/>
                <a:sym typeface="Calibri"/>
              </a:rPr>
              <a:t>The first layer uses dbt’s built-in test types — unique and not_null — applied to the primary keys of all three dimension tables and the fact table. In total, 7 tests, and all 7 passed.”</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219" name="Google Shape;2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a:t>Jacky: “</a:t>
            </a:r>
            <a:r>
              <a:rPr i="1" lang="en-US" sz="1200">
                <a:solidFill>
                  <a:schemeClr val="dk1"/>
                </a:solidFill>
                <a:latin typeface="Calibri"/>
                <a:ea typeface="Calibri"/>
                <a:cs typeface="Calibri"/>
                <a:sym typeface="Calibri"/>
              </a:rPr>
              <a:t>The second layer goes beyond structure.  Here a Python script called data_quality.py runs four additional SQL checks directly against DuckDB to catch business rule violations that dbt’s built-in tests don’t cover.”</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263" name="Google Shape;2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Jacky: The</a:t>
            </a:r>
            <a:r>
              <a:rPr lang="en-US" sz="1200">
                <a:solidFill>
                  <a:schemeClr val="dk1"/>
                </a:solidFill>
                <a:latin typeface="Calibri"/>
                <a:ea typeface="Calibri"/>
                <a:cs typeface="Calibri"/>
                <a:sym typeface="Calibri"/>
              </a:rPr>
              <a:t> script stores each check’s name and SQL in a Python dictionary, then loops through them — running each query against DuckDB and printing the row count. A result of 0 means the check passed. Anything above 0 flags the number of affected rows for investigation.</a:t>
            </a:r>
            <a:endParaRPr/>
          </a:p>
          <a:p>
            <a:pPr indent="0" lvl="0" marL="0" rtl="0" algn="l">
              <a:spcBef>
                <a:spcPts val="0"/>
              </a:spcBef>
              <a:spcAft>
                <a:spcPts val="0"/>
              </a:spcAft>
              <a:buNone/>
            </a:pPr>
            <a:r>
              <a:t/>
            </a:r>
            <a:endParaRPr/>
          </a:p>
        </p:txBody>
      </p:sp>
      <p:sp>
        <p:nvSpPr>
          <p:cNvPr id="305" name="Google Shape;30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a:t>Jacky: </a:t>
            </a:r>
            <a:r>
              <a:rPr i="1" lang="en-US" sz="1200">
                <a:solidFill>
                  <a:schemeClr val="dk1"/>
                </a:solidFill>
                <a:latin typeface="Calibri"/>
                <a:ea typeface="Calibri"/>
                <a:cs typeface="Calibri"/>
                <a:sym typeface="Calibri"/>
              </a:rPr>
              <a:t>“Together, these two layers give us complementary coverage. dbt catches structural problems at the schema level — things that would break joins. The Python script catches business rule violations at the row level — things that would silently corrupt analysis.”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340" name="Google Shape;3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Jacky: </a:t>
            </a:r>
            <a:endParaRPr/>
          </a:p>
        </p:txBody>
      </p:sp>
      <p:sp>
        <p:nvSpPr>
          <p:cNvPr id="365" name="Google Shape;36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Sean: This chart shows monthly revenue over time. Revenue generally increased during 2017 and 2018, indicating significant growth in the platform during the observed period. The trend also shows seasonal fluctuations, which are common in e-commerce businesses.</a:t>
            </a:r>
            <a:endParaRPr/>
          </a:p>
        </p:txBody>
      </p:sp>
      <p:sp>
        <p:nvSpPr>
          <p:cNvPr id="377" name="Google Shape;37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Sean: The highest-revenue product categories were Beauty &amp; Health, Watches &amp; Gifts, and Bed, Bath &amp; Table. These categories contributed a large share of total revenue and could be prioritized for marketing and inventory planning.</a:t>
            </a:r>
            <a:endParaRPr/>
          </a:p>
        </p:txBody>
      </p:sp>
      <p:sp>
        <p:nvSpPr>
          <p:cNvPr id="386" name="Google Shape;38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Sean: Revenue was heavily concentrated in São Paulo (SP), followed by Rio de Janeiro and Minas Gerais. This suggests that customer demand is strongest in Brazil’s largest economic regions.</a:t>
            </a:r>
            <a:endParaRPr/>
          </a:p>
        </p:txBody>
      </p:sp>
      <p:sp>
        <p:nvSpPr>
          <p:cNvPr id="395" name="Google Shape;39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Annie2: Lastly, lets </a:t>
            </a:r>
            <a:r>
              <a:rPr lang="en-US" sz="1100">
                <a:latin typeface="Arial"/>
                <a:ea typeface="Arial"/>
                <a:cs typeface="Arial"/>
                <a:sym typeface="Arial"/>
              </a:rPr>
              <a:t>dive into customer retention. So, we ran an RFM model—looking at Recency, Frequency, and Monetary value—to see how our customers are actually behaving.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When we looked at the results, one number really jumped out</a:t>
            </a:r>
            <a:r>
              <a:rPr lang="en-US" sz="1100">
                <a:latin typeface="Arial"/>
                <a:ea typeface="Arial"/>
                <a:cs typeface="Arial"/>
                <a:sym typeface="Arial"/>
              </a:rPr>
              <a:t> is the retention rate - </a:t>
            </a:r>
            <a:r>
              <a:rPr lang="en-US" sz="1100">
                <a:latin typeface="Arial"/>
                <a:ea typeface="Arial"/>
                <a:cs typeface="Arial"/>
                <a:sym typeface="Arial"/>
              </a:rPr>
              <a:t>only about 3 percent of the customers in this dataset are repeat buyers.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Because that repeat rate is so low, recommending a broad, general loyalty program just wouldn't make sense here. But as we looked closer at the middle section of this table ie </a:t>
            </a:r>
            <a:r>
              <a:rPr lang="en-US" sz="1100">
                <a:latin typeface="Arial"/>
                <a:ea typeface="Arial"/>
                <a:cs typeface="Arial"/>
                <a:sym typeface="Arial"/>
              </a:rPr>
              <a:t> the 'High-Value New Customers' and 'Big Spenders' groups</a:t>
            </a:r>
            <a:r>
              <a:rPr lang="en-US" sz="1100">
                <a:latin typeface="Arial"/>
                <a:ea typeface="Arial"/>
                <a:cs typeface="Arial"/>
                <a:sym typeface="Arial"/>
              </a:rPr>
              <a:t>, we see a massive opportunity, approx 8Mil in sales, which is a massive 55% of the entire revenue</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If we were to present this data to a CMO today, our main recommendation would be that the priority should </a:t>
            </a:r>
            <a:r>
              <a:rPr i="1" lang="en-US" sz="1100">
                <a:latin typeface="Arial"/>
                <a:ea typeface="Arial"/>
                <a:cs typeface="Arial"/>
                <a:sym typeface="Arial"/>
              </a:rPr>
              <a:t>not</a:t>
            </a:r>
            <a:r>
              <a:rPr lang="en-US" sz="1100">
                <a:latin typeface="Arial"/>
                <a:ea typeface="Arial"/>
                <a:cs typeface="Arial"/>
                <a:sym typeface="Arial"/>
              </a:rPr>
              <a:t> be launching a broad loyalty program. Instead, the real strategy for the CMO needs to be converting these valuable first-time buyers into second-time buyers</a:t>
            </a:r>
            <a:endParaRPr sz="1100">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Annie: </a:t>
            </a:r>
            <a:r>
              <a:rPr b="0" i="0" lang="en-US" sz="1200"/>
              <a:t>This slide explains why customer retention is the most important customer strategy question in the Olist dataset. The key point is that only 2,913 out of 95,420 customers are repeat buyers, which is just 3.05% of the customer base. Because repeat purchasing is so rare, a standard frequency percentile score would exaggerate small differences between mostly one-time customers.</a:t>
            </a:r>
            <a:endParaRPr/>
          </a:p>
          <a:p>
            <a:pPr indent="0" lvl="0" marL="0" rtl="0" algn="l">
              <a:spcBef>
                <a:spcPts val="0"/>
              </a:spcBef>
              <a:spcAft>
                <a:spcPts val="0"/>
              </a:spcAft>
              <a:buNone/>
            </a:pPr>
            <a:r>
              <a:t/>
            </a:r>
            <a:endParaRPr b="0" i="0" sz="1200"/>
          </a:p>
          <a:p>
            <a:pPr indent="0" lvl="0" marL="0" rtl="0" algn="l">
              <a:spcBef>
                <a:spcPts val="0"/>
              </a:spcBef>
              <a:spcAft>
                <a:spcPts val="0"/>
              </a:spcAft>
              <a:buNone/>
            </a:pPr>
            <a:r>
              <a:rPr b="0" i="0" lang="en-US" sz="1200"/>
              <a:t>The RFM scoring therefore uses a more honest frequency method: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order = low frequency</a:t>
            </a:r>
            <a:endParaRPr/>
          </a:p>
          <a:p>
            <a:pPr indent="0" lvl="0" marL="0" rtl="0" algn="l">
              <a:spcBef>
                <a:spcPts val="0"/>
              </a:spcBef>
              <a:spcAft>
                <a:spcPts val="0"/>
              </a:spcAft>
              <a:buNone/>
            </a:pPr>
            <a:r>
              <a:rPr lang="en-US"/>
              <a:t>2 orders = repeat buyer</a:t>
            </a:r>
            <a:endParaRPr/>
          </a:p>
          <a:p>
            <a:pPr indent="0" lvl="0" marL="0" rtl="0" algn="l">
              <a:spcBef>
                <a:spcPts val="0"/>
              </a:spcBef>
              <a:spcAft>
                <a:spcPts val="0"/>
              </a:spcAft>
              <a:buNone/>
            </a:pPr>
            <a:r>
              <a:rPr lang="en-US"/>
              <a:t>3-5 orders = strong repeat buyer</a:t>
            </a:r>
            <a:endParaRPr/>
          </a:p>
          <a:p>
            <a:pPr indent="0" lvl="0" marL="0" rtl="0" algn="l">
              <a:spcBef>
                <a:spcPts val="0"/>
              </a:spcBef>
              <a:spcAft>
                <a:spcPts val="0"/>
              </a:spcAft>
              <a:buNone/>
            </a:pPr>
            <a:r>
              <a:rPr lang="en-US"/>
              <a:t>6+ orders = very frequent buyer</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sz="1200"/>
              <a:t>The segment table shows that most customers are either new, mid-value, dormant, or one-time high spenders. The most commercially important insight is that the high-value one-time groups are large and valuable. High-Value New Customers and Big Spenders - One-Time Buyers together represent more than 22,000 customers and more than R$8M in gross item sales.</a:t>
            </a:r>
            <a:endParaRPr/>
          </a:p>
          <a:p>
            <a:pPr indent="0" lvl="0" marL="0" rtl="0" algn="l">
              <a:spcBef>
                <a:spcPts val="0"/>
              </a:spcBef>
              <a:spcAft>
                <a:spcPts val="0"/>
              </a:spcAft>
              <a:buNone/>
            </a:pPr>
            <a:r>
              <a:rPr b="0" i="0" lang="en-US" sz="1200"/>
              <a:t>The business takeaway is that Olist should not treat retention as a generic loyalty problem yet. The first priority is to convert valuable one-time buyers into second-time buyers, because that is where the largest customer value opportunity sits.</a:t>
            </a:r>
            <a:endParaRPr b="0" i="0" sz="1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04" name="Google Shape;40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Annie2: To capture that 8 million, I mapped out four clear campaign priorities: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First, we target 'High-Value New Customers' with an immediate second-purchase offer while our brand is still fresh. </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Second, we win back our 'At-Risk High Spenders' using personalized campaigns based on their past purchases. </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Third, we protect our small 3 percent baseline of 'Recent Repeat Buyers' with standard loyalty rewards.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Finally, we give our 'Champions' the VIP treatment.</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Ultimately, this shows how we can stop guessing and focus our marketing budget exactly where the data shows the highest return</a:t>
            </a:r>
            <a:endParaRPr sz="1100">
              <a:latin typeface="Arial"/>
              <a:ea typeface="Arial"/>
              <a:cs typeface="Arial"/>
              <a:sym typeface="Arial"/>
            </a:endParaRPr>
          </a:p>
          <a:p>
            <a:pPr indent="0" lvl="0" marL="0" rtl="0" algn="l">
              <a:spcBef>
                <a:spcPts val="120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Annie: </a:t>
            </a:r>
            <a:r>
              <a:rPr b="0" i="0" lang="en-US" sz="1200"/>
              <a:t>This slide translates the RFM results into campaign priorities. Since only 3.05% of customers are repeat buyers, broad loyalty campaigns would reach a very small part of the customer base. A staged retention strategy is more practical.</a:t>
            </a:r>
            <a:endParaRPr/>
          </a:p>
          <a:p>
            <a:pPr indent="0" lvl="0" marL="0" rtl="0" algn="l">
              <a:spcBef>
                <a:spcPts val="0"/>
              </a:spcBef>
              <a:spcAft>
                <a:spcPts val="0"/>
              </a:spcAft>
              <a:buNone/>
            </a:pPr>
            <a:r>
              <a:rPr b="0" i="0" lang="en-US" sz="1200"/>
              <a:t>The first priority is High-Value New Customers. These customers purchased recently, bought only once, and generated high gross item sales. They are the best audience for second-purchase coupons, category recommendations, or limited-time follow-up offers.</a:t>
            </a:r>
            <a:endParaRPr/>
          </a:p>
          <a:p>
            <a:pPr indent="0" lvl="0" marL="0" rtl="0" algn="l">
              <a:spcBef>
                <a:spcPts val="0"/>
              </a:spcBef>
              <a:spcAft>
                <a:spcPts val="0"/>
              </a:spcAft>
              <a:buNone/>
            </a:pPr>
            <a:r>
              <a:rPr b="0" i="0" lang="en-US" sz="1200"/>
              <a:t>The second priority is At-Risk High Spenders. These customers generated meaningful sales but have not purchased recently. They are good candidates for win-back campaigns, especially if offers are personalized around previous product categories.</a:t>
            </a:r>
            <a:endParaRPr/>
          </a:p>
          <a:p>
            <a:pPr indent="0" lvl="0" marL="0" rtl="0" algn="l">
              <a:spcBef>
                <a:spcPts val="0"/>
              </a:spcBef>
              <a:spcAft>
                <a:spcPts val="0"/>
              </a:spcAft>
              <a:buNone/>
            </a:pPr>
            <a:r>
              <a:rPr b="0" i="0" lang="en-US" sz="1200"/>
              <a:t>The third priority is Recent Repeat Buyers. This group is much smaller, but they have already shown repeat purchase behavior. They are the right audience for loyalty rewards, early access, or benefits that encourage continued engagement.</a:t>
            </a:r>
            <a:endParaRPr/>
          </a:p>
          <a:p>
            <a:pPr indent="0" lvl="0" marL="0" rtl="0" algn="l">
              <a:spcBef>
                <a:spcPts val="0"/>
              </a:spcBef>
              <a:spcAft>
                <a:spcPts val="0"/>
              </a:spcAft>
              <a:buNone/>
            </a:pPr>
            <a:r>
              <a:rPr b="0" i="0" lang="en-US" sz="1200"/>
              <a:t>Champions are the smallest group, but they show the strongest combination of recency, frequency, and monetary value. They should receive VIP treatment, premium offers, or early access campaigns.</a:t>
            </a:r>
            <a:endParaRPr/>
          </a:p>
          <a:p>
            <a:pPr indent="0" lvl="0" marL="0" rtl="0" algn="l">
              <a:spcBef>
                <a:spcPts val="0"/>
              </a:spcBef>
              <a:spcAft>
                <a:spcPts val="0"/>
              </a:spcAft>
              <a:buNone/>
            </a:pPr>
            <a:r>
              <a:rPr b="0" i="0" lang="en-US" sz="1200"/>
              <a:t>The main presenter message is:</a:t>
            </a:r>
            <a:endParaRPr/>
          </a:p>
          <a:p>
            <a:pPr indent="0" lvl="0" marL="0" rtl="0" algn="l">
              <a:spcBef>
                <a:spcPts val="0"/>
              </a:spcBef>
              <a:spcAft>
                <a:spcPts val="0"/>
              </a:spcAft>
              <a:buNone/>
            </a:pPr>
            <a:r>
              <a:rPr b="0" i="0" lang="en-US" sz="1200"/>
              <a:t>RFM scoring shows Olist's biggest customer opportunity is converting high-value one-time buyers into repeat customers, while using win-back campaigns for older high-spend customers and loyalty offers for the small repeat-buyer base.</a:t>
            </a:r>
            <a:endParaRPr/>
          </a:p>
          <a:p>
            <a:pPr indent="0" lvl="0" marL="0" rtl="0" algn="l">
              <a:spcBef>
                <a:spcPts val="0"/>
              </a:spcBef>
              <a:spcAft>
                <a:spcPts val="0"/>
              </a:spcAft>
              <a:buNone/>
            </a:pPr>
            <a:r>
              <a:t/>
            </a:r>
            <a:endParaRPr/>
          </a:p>
        </p:txBody>
      </p:sp>
      <p:sp>
        <p:nvSpPr>
          <p:cNvPr id="507" name="Google Shape;50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eec741308c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g3eec741308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0"/>
              </a:spcBef>
              <a:spcAft>
                <a:spcPts val="0"/>
              </a:spcAft>
              <a:buClr>
                <a:schemeClr val="dk1"/>
              </a:buClr>
              <a:buSzPts val="1100"/>
              <a:buFont typeface="Arial"/>
              <a:buNone/>
            </a:pPr>
            <a:r>
              <a:rPr lang="en-US"/>
              <a:t>Michelle: Wrapping up our analysis, we’ve transformed nine raw CSV files into a clean, auditable analytics model that gives Olist clear visibility into GMV, products, customers, and sellers.</a:t>
            </a:r>
            <a:endParaRPr/>
          </a:p>
          <a:p>
            <a:pPr indent="0" lvl="0" marL="457200" rtl="0" algn="l">
              <a:lnSpc>
                <a:spcPct val="115000"/>
              </a:lnSpc>
              <a:spcBef>
                <a:spcPts val="0"/>
              </a:spcBef>
              <a:spcAft>
                <a:spcPts val="0"/>
              </a:spcAft>
              <a:buClr>
                <a:schemeClr val="dk1"/>
              </a:buClr>
              <a:buSzPts val="1100"/>
              <a:buFont typeface="Arial"/>
              <a:buNone/>
            </a:pPr>
            <a:r>
              <a:rPr lang="en-US"/>
              <a:t>As you can see, the platform showed strong momentum with </a:t>
            </a:r>
            <a:r>
              <a:rPr b="1" lang="en-US"/>
              <a:t>+8.8% average month-over-month GMV growth</a:t>
            </a:r>
            <a:r>
              <a:rPr lang="en-US"/>
              <a:t>. Our top three product categories drove </a:t>
            </a:r>
            <a:r>
              <a:rPr b="1" lang="en-US"/>
              <a:t>R$4 million</a:t>
            </a:r>
            <a:r>
              <a:rPr lang="en-US"/>
              <a:t>, while São Paulo alone contributed </a:t>
            </a:r>
            <a:r>
              <a:rPr b="1" lang="en-US"/>
              <a:t>R$5.9 million</a:t>
            </a:r>
            <a:r>
              <a:rPr lang="en-US"/>
              <a:t> — highlighting where the strongest demand sits. We also identified </a:t>
            </a:r>
            <a:r>
              <a:rPr b="1" lang="en-US"/>
              <a:t>3,095 active sellers</a:t>
            </a:r>
            <a:r>
              <a:rPr lang="en-US"/>
              <a:t> operating on the platform.</a:t>
            </a:r>
            <a:endParaRPr/>
          </a:p>
          <a:p>
            <a:pPr indent="0" lvl="0" marL="457200" rtl="0" algn="l">
              <a:lnSpc>
                <a:spcPct val="115000"/>
              </a:lnSpc>
              <a:spcBef>
                <a:spcPts val="0"/>
              </a:spcBef>
              <a:spcAft>
                <a:spcPts val="0"/>
              </a:spcAft>
              <a:buClr>
                <a:schemeClr val="dk1"/>
              </a:buClr>
              <a:buSzPts val="1100"/>
              <a:buFont typeface="Arial"/>
              <a:buNone/>
            </a:pPr>
            <a:r>
              <a:rPr lang="en-US"/>
              <a:t>Looking ahead, we recommend three priorities: First, defend our proven demand by focusing on high-performing categories and regions. Second, help sellers turn that demand into repeat business. And third, manage performance through continuous experimentation — tracking GMV per seller, delivery, and reviews every month.</a:t>
            </a:r>
            <a:endParaRPr/>
          </a:p>
          <a:p>
            <a:pPr indent="0" lvl="0" marL="457200" rtl="0" algn="l">
              <a:lnSpc>
                <a:spcPct val="115000"/>
              </a:lnSpc>
              <a:spcBef>
                <a:spcPts val="0"/>
              </a:spcBef>
              <a:spcAft>
                <a:spcPts val="0"/>
              </a:spcAft>
              <a:buClr>
                <a:schemeClr val="dk1"/>
              </a:buClr>
              <a:buSzPts val="1100"/>
              <a:buFont typeface="Arial"/>
              <a:buNone/>
            </a:pPr>
            <a:r>
              <a:rPr lang="en-US"/>
              <a:t>Ultimately, this project shows how a solid data pipeline can drive growth, improve seller success, and unlock repeat customer value while keeping everything fully auditable."</a:t>
            </a:r>
            <a:endParaRPr/>
          </a:p>
          <a:p>
            <a:pPr indent="0" lvl="0" marL="0" rtl="0" algn="l">
              <a:lnSpc>
                <a:spcPct val="100000"/>
              </a:lnSpc>
              <a:spcBef>
                <a:spcPts val="0"/>
              </a:spcBef>
              <a:spcAft>
                <a:spcPts val="0"/>
              </a:spcAft>
              <a:buSzPts val="1400"/>
              <a:buNone/>
            </a:pPr>
            <a:r>
              <a:t/>
            </a:r>
            <a:endParaRPr/>
          </a:p>
          <a:p>
            <a:pPr indent="0" lvl="0" marL="457200" rtl="0" algn="l">
              <a:lnSpc>
                <a:spcPct val="115000"/>
              </a:lnSpc>
              <a:spcBef>
                <a:spcPts val="0"/>
              </a:spcBef>
              <a:spcAft>
                <a:spcPts val="0"/>
              </a:spcAft>
              <a:buClr>
                <a:schemeClr val="dk1"/>
              </a:buClr>
              <a:buSzPts val="1100"/>
              <a:buFont typeface="Arial"/>
              <a:buNone/>
            </a:pPr>
            <a:r>
              <a:rPr lang="en-US">
                <a:latin typeface="Century Gothic"/>
                <a:ea typeface="Century Gothic"/>
                <a:cs typeface="Century Gothic"/>
                <a:sym typeface="Century Gothic"/>
              </a:rPr>
              <a:t>Wrapping up — we transformed nine raw CSV files into a clean analytics model, uncovering strong platform momentum: 8.8% month-over-month GMV growth, top categories pulling in R$4M, and São Paulo contributing R$5.9M across 3,095 active sellers.</a:t>
            </a:r>
            <a:endParaRPr>
              <a:latin typeface="Century Gothic"/>
              <a:ea typeface="Century Gothic"/>
              <a:cs typeface="Century Gothic"/>
              <a:sym typeface="Century Gothic"/>
            </a:endParaRPr>
          </a:p>
          <a:p>
            <a:pPr indent="0" lvl="0" marL="457200" rtl="0" algn="l">
              <a:lnSpc>
                <a:spcPct val="115000"/>
              </a:lnSpc>
              <a:spcBef>
                <a:spcPts val="0"/>
              </a:spcBef>
              <a:spcAft>
                <a:spcPts val="0"/>
              </a:spcAft>
              <a:buClr>
                <a:schemeClr val="dk1"/>
              </a:buClr>
              <a:buSzPts val="1100"/>
              <a:buFont typeface="Arial"/>
              <a:buNone/>
            </a:pPr>
            <a:r>
              <a:rPr lang="en-US">
                <a:latin typeface="Century Gothic"/>
                <a:ea typeface="Century Gothic"/>
                <a:cs typeface="Century Gothic"/>
                <a:sym typeface="Century Gothic"/>
              </a:rPr>
              <a:t>Moving forward, our three priorities are clear: defend top categories, drive seller repeat business and continuously monitor performance.</a:t>
            </a:r>
            <a:endParaRPr>
              <a:latin typeface="Century Gothic"/>
              <a:ea typeface="Century Gothic"/>
              <a:cs typeface="Century Gothic"/>
              <a:sym typeface="Century Gothic"/>
            </a:endParaRPr>
          </a:p>
          <a:p>
            <a:pPr indent="0" lvl="0" marL="457200" rtl="0" algn="l">
              <a:lnSpc>
                <a:spcPct val="115000"/>
              </a:lnSpc>
              <a:spcBef>
                <a:spcPts val="0"/>
              </a:spcBef>
              <a:spcAft>
                <a:spcPts val="0"/>
              </a:spcAft>
              <a:buClr>
                <a:schemeClr val="dk1"/>
              </a:buClr>
              <a:buSzPts val="1100"/>
              <a:buFont typeface="Arial"/>
              <a:buNone/>
            </a:pPr>
            <a:r>
              <a:rPr lang="en-US">
                <a:latin typeface="Century Gothic"/>
                <a:ea typeface="Century Gothic"/>
                <a:cs typeface="Century Gothic"/>
                <a:sym typeface="Century Gothic"/>
              </a:rPr>
              <a:t>A solid data pipeline drives real growth — transparently and auditably.</a:t>
            </a:r>
            <a:endParaRPr>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t/>
            </a:r>
            <a:endParaRPr/>
          </a:p>
        </p:txBody>
      </p:sp>
      <p:sp>
        <p:nvSpPr>
          <p:cNvPr id="557" name="Google Shape;557;g3eec741308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eec741308c_1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eec741308c_1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"Good morning everyone. As we wrap up our presentation, I’d liked to share the </a:t>
            </a:r>
            <a:r>
              <a:rPr b="1" lang="en-US" sz="1100">
                <a:latin typeface="Arial"/>
                <a:ea typeface="Arial"/>
                <a:cs typeface="Arial"/>
                <a:sym typeface="Arial"/>
              </a:rPr>
              <a:t>three key learnings</a:t>
            </a:r>
            <a:r>
              <a:rPr lang="en-US" sz="1100">
                <a:latin typeface="Arial"/>
                <a:ea typeface="Arial"/>
                <a:cs typeface="Arial"/>
                <a:sym typeface="Arial"/>
              </a:rPr>
              <a:t> from this Olist project.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First</a:t>
            </a:r>
            <a:r>
              <a:rPr lang="en-US" sz="1100">
                <a:latin typeface="Arial"/>
                <a:ea typeface="Arial"/>
                <a:cs typeface="Arial"/>
                <a:sym typeface="Arial"/>
              </a:rPr>
              <a:t>, we gained hands-on mastery of end-to-end analytics engineering. We started with nine messy CSV files and successfully built a complete, modern data pipeline using </a:t>
            </a:r>
            <a:r>
              <a:rPr b="1" lang="en-US" sz="1100">
                <a:latin typeface="Arial"/>
                <a:ea typeface="Arial"/>
                <a:cs typeface="Arial"/>
                <a:sym typeface="Arial"/>
              </a:rPr>
              <a:t>DuckDB and dbt</a:t>
            </a:r>
            <a:r>
              <a:rPr lang="en-US" sz="1100">
                <a:latin typeface="Arial"/>
                <a:ea typeface="Arial"/>
                <a:cs typeface="Arial"/>
                <a:sym typeface="Arial"/>
              </a:rPr>
              <a:t>. This included creating a clean star schema, modular transformations, and proper documentation. It really showed us how to move from raw data to production-ready analytics models.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Second</a:t>
            </a:r>
            <a:r>
              <a:rPr lang="en-US" sz="1100">
                <a:latin typeface="Arial"/>
                <a:ea typeface="Arial"/>
                <a:cs typeface="Arial"/>
                <a:sym typeface="Arial"/>
              </a:rPr>
              <a:t>, we learned that </a:t>
            </a:r>
            <a:r>
              <a:rPr b="1" lang="en-US" sz="1100">
                <a:latin typeface="Arial"/>
                <a:ea typeface="Arial"/>
                <a:cs typeface="Arial"/>
                <a:sym typeface="Arial"/>
              </a:rPr>
              <a:t>data quality is foundational</a:t>
            </a:r>
            <a:r>
              <a:rPr lang="en-US" sz="1100">
                <a:latin typeface="Arial"/>
                <a:ea typeface="Arial"/>
                <a:cs typeface="Arial"/>
                <a:sym typeface="Arial"/>
              </a:rPr>
              <a:t>. By implementing a two-layer approach — dbt’s built-in tests plus custom Python business rule checks — we ensured our data was reliable and trustworthy. This gave us confidence that all the insights and recommendations we’re presenting are based on solid, auditable data.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Third</a:t>
            </a:r>
            <a:r>
              <a:rPr lang="en-US" sz="1100">
                <a:latin typeface="Arial"/>
                <a:ea typeface="Arial"/>
                <a:cs typeface="Arial"/>
                <a:sym typeface="Arial"/>
              </a:rPr>
              <a:t>, and most importantly, we saw how powerful good data can be for business decisions. Through GMV trend analysis, category performance, geographic insights, and RFM segmentation, we didn’t just generate charts — we uncovered </a:t>
            </a:r>
            <a:r>
              <a:rPr b="1" lang="en-US" sz="1100">
                <a:latin typeface="Arial"/>
                <a:ea typeface="Arial"/>
                <a:cs typeface="Arial"/>
                <a:sym typeface="Arial"/>
              </a:rPr>
              <a:t>actionable strategies</a:t>
            </a:r>
            <a:r>
              <a:rPr lang="en-US" sz="1100">
                <a:latin typeface="Arial"/>
                <a:ea typeface="Arial"/>
                <a:cs typeface="Arial"/>
                <a:sym typeface="Arial"/>
              </a:rPr>
              <a:t>, especially the big opportunity in converting high-value one-time buyers into repeat customers.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Overall, this project taught us that a well-designed analytics pipeline is not just a technical exercise — it’s a strategic capability that drives real business growth and seller success."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457200" rtl="0" algn="l">
              <a:lnSpc>
                <a:spcPct val="115000"/>
              </a:lnSpc>
              <a:spcBef>
                <a:spcPts val="1200"/>
              </a:spcBef>
              <a:spcAft>
                <a:spcPts val="0"/>
              </a:spcAft>
              <a:buClr>
                <a:schemeClr val="dk1"/>
              </a:buClr>
              <a:buSzPts val="1100"/>
              <a:buFont typeface="Arial"/>
              <a:buNone/>
            </a:pPr>
            <a:r>
              <a:rPr lang="en-US" sz="1100">
                <a:latin typeface="Century Gothic"/>
                <a:ea typeface="Century Gothic"/>
                <a:cs typeface="Century Gothic"/>
                <a:sym typeface="Century Gothic"/>
              </a:rPr>
              <a:t>To close, here are three key learnings we're taking away from the Olist project.</a:t>
            </a:r>
            <a:endParaRPr sz="1100">
              <a:latin typeface="Century Gothic"/>
              <a:ea typeface="Century Gothic"/>
              <a:cs typeface="Century Gothic"/>
              <a:sym typeface="Century Gothic"/>
            </a:endParaRPr>
          </a:p>
          <a:p>
            <a:pPr indent="0" lvl="0" marL="457200" rtl="0" algn="l">
              <a:lnSpc>
                <a:spcPct val="115000"/>
              </a:lnSpc>
              <a:spcBef>
                <a:spcPts val="0"/>
              </a:spcBef>
              <a:spcAft>
                <a:spcPts val="0"/>
              </a:spcAft>
              <a:buClr>
                <a:schemeClr val="dk1"/>
              </a:buClr>
              <a:buSzPts val="1100"/>
              <a:buFont typeface="Arial"/>
              <a:buNone/>
            </a:pPr>
            <a:r>
              <a:rPr lang="en-US" sz="1100">
                <a:latin typeface="Century Gothic"/>
                <a:ea typeface="Century Gothic"/>
                <a:cs typeface="Century Gothic"/>
                <a:sym typeface="Century Gothic"/>
              </a:rPr>
              <a:t>And most importantly, a well-designed analytics pipeline unlocks the true power of big data — making it not just technical, but a strategic business capability. Thank you.</a:t>
            </a:r>
            <a:endParaRPr sz="1100">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583" name="Google Shape;583;g3eec741308c_1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19"/>
          <p:cNvGrpSpPr/>
          <p:nvPr/>
        </p:nvGrpSpPr>
        <p:grpSpPr>
          <a:xfrm>
            <a:off x="4334933" y="1169931"/>
            <a:ext cx="4814835" cy="4993802"/>
            <a:chOff x="4334933" y="1169931"/>
            <a:chExt cx="4814835" cy="4993802"/>
          </a:xfrm>
        </p:grpSpPr>
        <p:cxnSp>
          <p:nvCxnSpPr>
            <p:cNvPr id="23" name="Google Shape;23;p19"/>
            <p:cNvCxnSpPr/>
            <p:nvPr/>
          </p:nvCxnSpPr>
          <p:spPr>
            <a:xfrm flipH="1">
              <a:off x="6009259" y="1169931"/>
              <a:ext cx="3134741" cy="3134741"/>
            </a:xfrm>
            <a:prstGeom prst="straightConnector1">
              <a:avLst/>
            </a:prstGeom>
            <a:noFill/>
            <a:ln cap="flat" cmpd="sng" w="12700">
              <a:solidFill>
                <a:schemeClr val="lt1"/>
              </a:solidFill>
              <a:prstDash val="solid"/>
              <a:round/>
              <a:headEnd len="sm" w="sm" type="none"/>
              <a:tailEnd len="sm" w="sm" type="none"/>
            </a:ln>
          </p:spPr>
        </p:cxnSp>
        <p:cxnSp>
          <p:nvCxnSpPr>
            <p:cNvPr id="24" name="Google Shape;24;p19"/>
            <p:cNvCxnSpPr/>
            <p:nvPr/>
          </p:nvCxnSpPr>
          <p:spPr>
            <a:xfrm flipH="1">
              <a:off x="4334933" y="1348898"/>
              <a:ext cx="4814835" cy="4814835"/>
            </a:xfrm>
            <a:prstGeom prst="straightConnector1">
              <a:avLst/>
            </a:prstGeom>
            <a:noFill/>
            <a:ln cap="flat" cmpd="sng" w="12700">
              <a:solidFill>
                <a:schemeClr val="lt1"/>
              </a:solidFill>
              <a:prstDash val="solid"/>
              <a:round/>
              <a:headEnd len="sm" w="sm" type="none"/>
              <a:tailEnd len="sm" w="sm" type="none"/>
            </a:ln>
          </p:spPr>
        </p:cxnSp>
        <p:cxnSp>
          <p:nvCxnSpPr>
            <p:cNvPr id="25" name="Google Shape;25;p19"/>
            <p:cNvCxnSpPr/>
            <p:nvPr/>
          </p:nvCxnSpPr>
          <p:spPr>
            <a:xfrm flipH="1">
              <a:off x="5225595" y="1469269"/>
              <a:ext cx="3912054" cy="3912054"/>
            </a:xfrm>
            <a:prstGeom prst="straightConnector1">
              <a:avLst/>
            </a:prstGeom>
            <a:noFill/>
            <a:ln cap="flat" cmpd="sng" w="12700">
              <a:solidFill>
                <a:schemeClr val="lt1"/>
              </a:solidFill>
              <a:prstDash val="solid"/>
              <a:round/>
              <a:headEnd len="sm" w="sm" type="none"/>
              <a:tailEnd len="sm" w="sm" type="none"/>
            </a:ln>
          </p:spPr>
        </p:cxnSp>
        <p:cxnSp>
          <p:nvCxnSpPr>
            <p:cNvPr id="26" name="Google Shape;26;p19"/>
            <p:cNvCxnSpPr/>
            <p:nvPr/>
          </p:nvCxnSpPr>
          <p:spPr>
            <a:xfrm flipH="1">
              <a:off x="5304588" y="1307856"/>
              <a:ext cx="3839412" cy="3839412"/>
            </a:xfrm>
            <a:prstGeom prst="straightConnector1">
              <a:avLst/>
            </a:prstGeom>
            <a:noFill/>
            <a:ln cap="flat" cmpd="sng" w="31750">
              <a:solidFill>
                <a:schemeClr val="lt1"/>
              </a:solidFill>
              <a:prstDash val="solid"/>
              <a:round/>
              <a:headEnd len="sm" w="sm" type="none"/>
              <a:tailEnd len="sm" w="sm" type="none"/>
            </a:ln>
          </p:spPr>
        </p:cxnSp>
        <p:cxnSp>
          <p:nvCxnSpPr>
            <p:cNvPr id="27" name="Google Shape;27;p19"/>
            <p:cNvCxnSpPr/>
            <p:nvPr/>
          </p:nvCxnSpPr>
          <p:spPr>
            <a:xfrm flipH="1">
              <a:off x="5707078" y="1770196"/>
              <a:ext cx="3430571" cy="3430570"/>
            </a:xfrm>
            <a:prstGeom prst="straightConnector1">
              <a:avLst/>
            </a:prstGeom>
            <a:noFill/>
            <a:ln cap="flat" cmpd="sng" w="31750">
              <a:solidFill>
                <a:schemeClr val="lt1"/>
              </a:solidFill>
              <a:prstDash val="solid"/>
              <a:round/>
              <a:headEnd len="sm" w="sm" type="none"/>
              <a:tailEnd len="sm" w="sm" type="none"/>
            </a:ln>
          </p:spPr>
        </p:cxnSp>
      </p:grpSp>
      <p:sp>
        <p:nvSpPr>
          <p:cNvPr id="28" name="Google Shape;28;p19"/>
          <p:cNvSpPr txBox="1"/>
          <p:nvPr>
            <p:ph type="ctrTitle"/>
          </p:nvPr>
        </p:nvSpPr>
        <p:spPr>
          <a:xfrm>
            <a:off x="533400" y="533400"/>
            <a:ext cx="6154713" cy="312420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400"/>
              <a:buFont typeface="Century Gothic"/>
              <a:buNone/>
              <a:defRPr sz="4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 type="subTitle"/>
          </p:nvPr>
        </p:nvSpPr>
        <p:spPr>
          <a:xfrm>
            <a:off x="533400" y="3843868"/>
            <a:ext cx="4954250" cy="1913466"/>
          </a:xfrm>
          <a:prstGeom prst="rect">
            <a:avLst/>
          </a:prstGeom>
          <a:noFill/>
          <a:ln>
            <a:noFill/>
          </a:ln>
        </p:spPr>
        <p:txBody>
          <a:bodyPr anchorCtr="0" anchor="t" bIns="45700" lIns="91425" spcFirstLastPara="1" rIns="91425" wrap="square" tIns="45700">
            <a:normAutofit/>
          </a:bodyPr>
          <a:lstStyle>
            <a:lvl1pPr lvl="0" algn="l">
              <a:spcBef>
                <a:spcPts val="400"/>
              </a:spcBef>
              <a:spcAft>
                <a:spcPts val="0"/>
              </a:spcAft>
              <a:buSzPts val="1600"/>
              <a:buNone/>
              <a:defRPr sz="2000">
                <a:solidFill>
                  <a:srgbClr val="0F486F"/>
                </a:solidFill>
              </a:defRPr>
            </a:lvl1pPr>
            <a:lvl2pPr lvl="1" algn="ctr">
              <a:spcBef>
                <a:spcPts val="600"/>
              </a:spcBef>
              <a:spcAft>
                <a:spcPts val="0"/>
              </a:spcAft>
              <a:buSzPts val="1440"/>
              <a:buNone/>
              <a:defRPr>
                <a:solidFill>
                  <a:schemeClr val="lt1"/>
                </a:solidFill>
              </a:defRPr>
            </a:lvl2pPr>
            <a:lvl3pPr lvl="2" algn="ctr">
              <a:spcBef>
                <a:spcPts val="600"/>
              </a:spcBef>
              <a:spcAft>
                <a:spcPts val="0"/>
              </a:spcAft>
              <a:buSzPts val="128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1120"/>
              <a:buNone/>
              <a:defRPr>
                <a:solidFill>
                  <a:schemeClr val="lt1"/>
                </a:solidFill>
              </a:defRPr>
            </a:lvl6pPr>
            <a:lvl7pPr lvl="6" algn="ctr">
              <a:spcBef>
                <a:spcPts val="600"/>
              </a:spcBef>
              <a:spcAft>
                <a:spcPts val="0"/>
              </a:spcAft>
              <a:buSzPts val="1120"/>
              <a:buNone/>
              <a:defRPr>
                <a:solidFill>
                  <a:schemeClr val="lt1"/>
                </a:solidFill>
              </a:defRPr>
            </a:lvl7pPr>
            <a:lvl8pPr lvl="7" algn="ctr">
              <a:spcBef>
                <a:spcPts val="600"/>
              </a:spcBef>
              <a:spcAft>
                <a:spcPts val="0"/>
              </a:spcAft>
              <a:buSzPts val="1120"/>
              <a:buNone/>
              <a:defRPr>
                <a:solidFill>
                  <a:schemeClr val="lt1"/>
                </a:solidFill>
              </a:defRPr>
            </a:lvl8pPr>
            <a:lvl9pPr lvl="8" algn="ctr">
              <a:spcBef>
                <a:spcPts val="600"/>
              </a:spcBef>
              <a:spcAft>
                <a:spcPts val="600"/>
              </a:spcAft>
              <a:buSzPts val="1120"/>
              <a:buNone/>
              <a:defRPr>
                <a:solidFill>
                  <a:schemeClr val="lt1"/>
                </a:solidFill>
              </a:defRPr>
            </a:lvl9pPr>
          </a:lstStyle>
          <a:p/>
        </p:txBody>
      </p:sp>
      <p:sp>
        <p:nvSpPr>
          <p:cNvPr id="30" name="Google Shape;30;p19"/>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20"/>
          <p:cNvSpPr txBox="1"/>
          <p:nvPr>
            <p:ph type="title"/>
          </p:nvPr>
        </p:nvSpPr>
        <p:spPr>
          <a:xfrm>
            <a:off x="533400" y="4495800"/>
            <a:ext cx="6554867" cy="1524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0"/>
          <p:cNvSpPr txBox="1"/>
          <p:nvPr>
            <p:ph idx="1" type="body"/>
          </p:nvPr>
        </p:nvSpPr>
        <p:spPr>
          <a:xfrm>
            <a:off x="533400" y="533400"/>
            <a:ext cx="6554867" cy="3767670"/>
          </a:xfrm>
          <a:prstGeom prst="rect">
            <a:avLst/>
          </a:prstGeom>
          <a:noFill/>
          <a:ln>
            <a:noFill/>
          </a:ln>
        </p:spPr>
        <p:txBody>
          <a:bodyPr anchorCtr="0" anchor="ctr"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36" name="Google Shape;36;p20"/>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0"/>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dk1"/>
        </a:solidFill>
      </p:bgPr>
    </p:bg>
    <p:spTree>
      <p:nvGrpSpPr>
        <p:cNvPr id="39" name="Shape 3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40"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23"/>
          <p:cNvSpPr txBox="1"/>
          <p:nvPr>
            <p:ph type="title"/>
          </p:nvPr>
        </p:nvSpPr>
        <p:spPr>
          <a:xfrm>
            <a:off x="533400" y="1981199"/>
            <a:ext cx="6402468" cy="231986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200"/>
              <a:buFont typeface="Century Gothic"/>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3"/>
          <p:cNvSpPr txBox="1"/>
          <p:nvPr>
            <p:ph idx="1" type="body"/>
          </p:nvPr>
        </p:nvSpPr>
        <p:spPr>
          <a:xfrm>
            <a:off x="533400" y="4487333"/>
            <a:ext cx="6402467" cy="1532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solidFill>
                  <a:srgbClr val="0F486F"/>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44" name="Google Shape;44;p23"/>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3"/>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3"/>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24"/>
          <p:cNvSpPr txBox="1"/>
          <p:nvPr>
            <p:ph type="title"/>
          </p:nvPr>
        </p:nvSpPr>
        <p:spPr>
          <a:xfrm>
            <a:off x="533400" y="4495800"/>
            <a:ext cx="6554867" cy="1524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4"/>
          <p:cNvSpPr txBox="1"/>
          <p:nvPr>
            <p:ph idx="1" type="body"/>
          </p:nvPr>
        </p:nvSpPr>
        <p:spPr>
          <a:xfrm>
            <a:off x="533400" y="533400"/>
            <a:ext cx="3949967" cy="3767667"/>
          </a:xfrm>
          <a:prstGeom prst="rect">
            <a:avLst/>
          </a:prstGeom>
          <a:noFill/>
          <a:ln>
            <a:noFill/>
          </a:ln>
        </p:spPr>
        <p:txBody>
          <a:bodyPr anchorCtr="0" anchor="ctr"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50" name="Google Shape;50;p24"/>
          <p:cNvSpPr txBox="1"/>
          <p:nvPr>
            <p:ph idx="2" type="body"/>
          </p:nvPr>
        </p:nvSpPr>
        <p:spPr>
          <a:xfrm>
            <a:off x="4662362" y="533400"/>
            <a:ext cx="3948238" cy="3759200"/>
          </a:xfrm>
          <a:prstGeom prst="rect">
            <a:avLst/>
          </a:prstGeom>
          <a:noFill/>
          <a:ln>
            <a:noFill/>
          </a:ln>
        </p:spPr>
        <p:txBody>
          <a:bodyPr anchorCtr="0" anchor="ctr"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51" name="Google Shape;51;p24"/>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25"/>
          <p:cNvSpPr txBox="1"/>
          <p:nvPr>
            <p:ph type="title"/>
          </p:nvPr>
        </p:nvSpPr>
        <p:spPr>
          <a:xfrm>
            <a:off x="533400" y="4495800"/>
            <a:ext cx="6554867" cy="1524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
          <p:cNvSpPr txBox="1"/>
          <p:nvPr>
            <p:ph idx="1" type="body"/>
          </p:nvPr>
        </p:nvSpPr>
        <p:spPr>
          <a:xfrm>
            <a:off x="762001" y="533400"/>
            <a:ext cx="3716866" cy="6096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920"/>
              <a:buNone/>
              <a:defRPr b="0" sz="2400" cap="none">
                <a:solidFill>
                  <a:schemeClr val="lt1"/>
                </a:solidFill>
              </a:defRPr>
            </a:lvl1pPr>
            <a:lvl2pPr indent="-228600" lvl="1" marL="914400" algn="l">
              <a:spcBef>
                <a:spcPts val="600"/>
              </a:spcBef>
              <a:spcAft>
                <a:spcPts val="0"/>
              </a:spcAft>
              <a:buSzPts val="1600"/>
              <a:buNone/>
              <a:defRPr b="1" sz="2000"/>
            </a:lvl2pPr>
            <a:lvl3pPr indent="-228600" lvl="2" marL="1371600" algn="l">
              <a:spcBef>
                <a:spcPts val="600"/>
              </a:spcBef>
              <a:spcAft>
                <a:spcPts val="0"/>
              </a:spcAft>
              <a:buSzPts val="1440"/>
              <a:buNone/>
              <a:defRPr b="1" sz="1800"/>
            </a:lvl3pPr>
            <a:lvl4pPr indent="-228600" lvl="3" marL="1828800" algn="l">
              <a:spcBef>
                <a:spcPts val="600"/>
              </a:spcBef>
              <a:spcAft>
                <a:spcPts val="0"/>
              </a:spcAft>
              <a:buSzPts val="1280"/>
              <a:buNone/>
              <a:defRPr b="1" sz="1600"/>
            </a:lvl4pPr>
            <a:lvl5pPr indent="-228600" lvl="4" marL="2286000" algn="l">
              <a:spcBef>
                <a:spcPts val="600"/>
              </a:spcBef>
              <a:spcAft>
                <a:spcPts val="0"/>
              </a:spcAft>
              <a:buSzPts val="1280"/>
              <a:buNone/>
              <a:defRPr b="1" sz="1600"/>
            </a:lvl5pPr>
            <a:lvl6pPr indent="-228600" lvl="5" marL="2743200" algn="l">
              <a:spcBef>
                <a:spcPts val="600"/>
              </a:spcBef>
              <a:spcAft>
                <a:spcPts val="0"/>
              </a:spcAft>
              <a:buSzPts val="1280"/>
              <a:buNone/>
              <a:defRPr b="1" sz="1600"/>
            </a:lvl6pPr>
            <a:lvl7pPr indent="-228600" lvl="6" marL="3200400" algn="l">
              <a:spcBef>
                <a:spcPts val="600"/>
              </a:spcBef>
              <a:spcAft>
                <a:spcPts val="0"/>
              </a:spcAft>
              <a:buSzPts val="1280"/>
              <a:buNone/>
              <a:defRPr b="1" sz="1600"/>
            </a:lvl7pPr>
            <a:lvl8pPr indent="-228600" lvl="7" marL="3657600" algn="l">
              <a:spcBef>
                <a:spcPts val="600"/>
              </a:spcBef>
              <a:spcAft>
                <a:spcPts val="0"/>
              </a:spcAft>
              <a:buSzPts val="1280"/>
              <a:buNone/>
              <a:defRPr b="1" sz="1600"/>
            </a:lvl8pPr>
            <a:lvl9pPr indent="-228600" lvl="8" marL="4114800" algn="l">
              <a:spcBef>
                <a:spcPts val="600"/>
              </a:spcBef>
              <a:spcAft>
                <a:spcPts val="600"/>
              </a:spcAft>
              <a:buSzPts val="1280"/>
              <a:buNone/>
              <a:defRPr b="1" sz="1600"/>
            </a:lvl9pPr>
          </a:lstStyle>
          <a:p/>
        </p:txBody>
      </p:sp>
      <p:sp>
        <p:nvSpPr>
          <p:cNvPr id="57" name="Google Shape;57;p25"/>
          <p:cNvSpPr txBox="1"/>
          <p:nvPr>
            <p:ph idx="2" type="body"/>
          </p:nvPr>
        </p:nvSpPr>
        <p:spPr>
          <a:xfrm>
            <a:off x="533399" y="1143000"/>
            <a:ext cx="3945467" cy="3158067"/>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58" name="Google Shape;58;p25"/>
          <p:cNvSpPr txBox="1"/>
          <p:nvPr>
            <p:ph idx="3" type="body"/>
          </p:nvPr>
        </p:nvSpPr>
        <p:spPr>
          <a:xfrm>
            <a:off x="4855016" y="566738"/>
            <a:ext cx="3764051" cy="5762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920"/>
              <a:buNone/>
              <a:defRPr b="0" sz="2400" cap="none">
                <a:solidFill>
                  <a:schemeClr val="lt1"/>
                </a:solidFill>
              </a:defRPr>
            </a:lvl1pPr>
            <a:lvl2pPr indent="-228600" lvl="1" marL="914400" algn="l">
              <a:spcBef>
                <a:spcPts val="600"/>
              </a:spcBef>
              <a:spcAft>
                <a:spcPts val="0"/>
              </a:spcAft>
              <a:buSzPts val="1600"/>
              <a:buNone/>
              <a:defRPr b="1" sz="2000"/>
            </a:lvl2pPr>
            <a:lvl3pPr indent="-228600" lvl="2" marL="1371600" algn="l">
              <a:spcBef>
                <a:spcPts val="600"/>
              </a:spcBef>
              <a:spcAft>
                <a:spcPts val="0"/>
              </a:spcAft>
              <a:buSzPts val="1440"/>
              <a:buNone/>
              <a:defRPr b="1" sz="1800"/>
            </a:lvl3pPr>
            <a:lvl4pPr indent="-228600" lvl="3" marL="1828800" algn="l">
              <a:spcBef>
                <a:spcPts val="600"/>
              </a:spcBef>
              <a:spcAft>
                <a:spcPts val="0"/>
              </a:spcAft>
              <a:buSzPts val="1280"/>
              <a:buNone/>
              <a:defRPr b="1" sz="1600"/>
            </a:lvl4pPr>
            <a:lvl5pPr indent="-228600" lvl="4" marL="2286000" algn="l">
              <a:spcBef>
                <a:spcPts val="600"/>
              </a:spcBef>
              <a:spcAft>
                <a:spcPts val="0"/>
              </a:spcAft>
              <a:buSzPts val="1280"/>
              <a:buNone/>
              <a:defRPr b="1" sz="1600"/>
            </a:lvl5pPr>
            <a:lvl6pPr indent="-228600" lvl="5" marL="2743200" algn="l">
              <a:spcBef>
                <a:spcPts val="600"/>
              </a:spcBef>
              <a:spcAft>
                <a:spcPts val="0"/>
              </a:spcAft>
              <a:buSzPts val="1280"/>
              <a:buNone/>
              <a:defRPr b="1" sz="1600"/>
            </a:lvl6pPr>
            <a:lvl7pPr indent="-228600" lvl="6" marL="3200400" algn="l">
              <a:spcBef>
                <a:spcPts val="600"/>
              </a:spcBef>
              <a:spcAft>
                <a:spcPts val="0"/>
              </a:spcAft>
              <a:buSzPts val="1280"/>
              <a:buNone/>
              <a:defRPr b="1" sz="1600"/>
            </a:lvl7pPr>
            <a:lvl8pPr indent="-228600" lvl="7" marL="3657600" algn="l">
              <a:spcBef>
                <a:spcPts val="600"/>
              </a:spcBef>
              <a:spcAft>
                <a:spcPts val="0"/>
              </a:spcAft>
              <a:buSzPts val="1280"/>
              <a:buNone/>
              <a:defRPr b="1" sz="1600"/>
            </a:lvl8pPr>
            <a:lvl9pPr indent="-228600" lvl="8" marL="4114800" algn="l">
              <a:spcBef>
                <a:spcPts val="600"/>
              </a:spcBef>
              <a:spcAft>
                <a:spcPts val="600"/>
              </a:spcAft>
              <a:buSzPts val="1280"/>
              <a:buNone/>
              <a:defRPr b="1" sz="1600"/>
            </a:lvl9pPr>
          </a:lstStyle>
          <a:p/>
        </p:txBody>
      </p:sp>
      <p:sp>
        <p:nvSpPr>
          <p:cNvPr id="59" name="Google Shape;59;p25"/>
          <p:cNvSpPr txBox="1"/>
          <p:nvPr>
            <p:ph idx="4" type="body"/>
          </p:nvPr>
        </p:nvSpPr>
        <p:spPr>
          <a:xfrm>
            <a:off x="4662362" y="1143000"/>
            <a:ext cx="3956705" cy="31496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60" name="Google Shape;60;p25"/>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5"/>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5"/>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6"/>
          <p:cNvSpPr txBox="1"/>
          <p:nvPr>
            <p:ph type="title"/>
          </p:nvPr>
        </p:nvSpPr>
        <p:spPr>
          <a:xfrm>
            <a:off x="533400" y="4495800"/>
            <a:ext cx="6554867" cy="1524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6"/>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27"/>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7"/>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28"/>
          <p:cNvSpPr txBox="1"/>
          <p:nvPr>
            <p:ph type="title"/>
          </p:nvPr>
        </p:nvSpPr>
        <p:spPr>
          <a:xfrm>
            <a:off x="5418667" y="533400"/>
            <a:ext cx="3200400" cy="1524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8"/>
          <p:cNvSpPr txBox="1"/>
          <p:nvPr>
            <p:ph idx="1" type="body"/>
          </p:nvPr>
        </p:nvSpPr>
        <p:spPr>
          <a:xfrm>
            <a:off x="533399" y="533400"/>
            <a:ext cx="4438755" cy="5486400"/>
          </a:xfrm>
          <a:prstGeom prst="rect">
            <a:avLst/>
          </a:prstGeom>
          <a:noFill/>
          <a:ln>
            <a:noFill/>
          </a:ln>
        </p:spPr>
        <p:txBody>
          <a:bodyPr anchorCtr="0" anchor="ctr"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75" name="Google Shape;75;p28"/>
          <p:cNvSpPr txBox="1"/>
          <p:nvPr>
            <p:ph idx="2" type="body"/>
          </p:nvPr>
        </p:nvSpPr>
        <p:spPr>
          <a:xfrm>
            <a:off x="5418667" y="2209802"/>
            <a:ext cx="3200400" cy="2091267"/>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80"/>
              <a:buNone/>
              <a:defRPr sz="1600"/>
            </a:lvl1pPr>
            <a:lvl2pPr indent="-228600" lvl="1" marL="914400" algn="l">
              <a:spcBef>
                <a:spcPts val="600"/>
              </a:spcBef>
              <a:spcAft>
                <a:spcPts val="0"/>
              </a:spcAft>
              <a:buSzPts val="960"/>
              <a:buNone/>
              <a:defRPr sz="1200"/>
            </a:lvl2pPr>
            <a:lvl3pPr indent="-228600" lvl="2" marL="1371600" algn="l">
              <a:spcBef>
                <a:spcPts val="600"/>
              </a:spcBef>
              <a:spcAft>
                <a:spcPts val="0"/>
              </a:spcAft>
              <a:buSzPts val="800"/>
              <a:buNone/>
              <a:defRPr sz="1000"/>
            </a:lvl3pPr>
            <a:lvl4pPr indent="-228600" lvl="3" marL="1828800" algn="l">
              <a:spcBef>
                <a:spcPts val="600"/>
              </a:spcBef>
              <a:spcAft>
                <a:spcPts val="0"/>
              </a:spcAft>
              <a:buSzPts val="720"/>
              <a:buNone/>
              <a:defRPr sz="900"/>
            </a:lvl4pPr>
            <a:lvl5pPr indent="-228600" lvl="4" marL="2286000" algn="l">
              <a:spcBef>
                <a:spcPts val="600"/>
              </a:spcBef>
              <a:spcAft>
                <a:spcPts val="0"/>
              </a:spcAft>
              <a:buSzPts val="720"/>
              <a:buNone/>
              <a:defRPr sz="900"/>
            </a:lvl5pPr>
            <a:lvl6pPr indent="-228600" lvl="5" marL="2743200" algn="l">
              <a:spcBef>
                <a:spcPts val="600"/>
              </a:spcBef>
              <a:spcAft>
                <a:spcPts val="0"/>
              </a:spcAft>
              <a:buSzPts val="720"/>
              <a:buNone/>
              <a:defRPr sz="900"/>
            </a:lvl6pPr>
            <a:lvl7pPr indent="-228600" lvl="6" marL="3200400" algn="l">
              <a:spcBef>
                <a:spcPts val="600"/>
              </a:spcBef>
              <a:spcAft>
                <a:spcPts val="0"/>
              </a:spcAft>
              <a:buSzPts val="720"/>
              <a:buNone/>
              <a:defRPr sz="900"/>
            </a:lvl7pPr>
            <a:lvl8pPr indent="-228600" lvl="7" marL="3657600" algn="l">
              <a:spcBef>
                <a:spcPts val="600"/>
              </a:spcBef>
              <a:spcAft>
                <a:spcPts val="0"/>
              </a:spcAft>
              <a:buSzPts val="720"/>
              <a:buNone/>
              <a:defRPr sz="900"/>
            </a:lvl8pPr>
            <a:lvl9pPr indent="-228600" lvl="8" marL="4114800" algn="l">
              <a:spcBef>
                <a:spcPts val="600"/>
              </a:spcBef>
              <a:spcAft>
                <a:spcPts val="600"/>
              </a:spcAft>
              <a:buSzPts val="720"/>
              <a:buNone/>
              <a:defRPr sz="900"/>
            </a:lvl9pPr>
          </a:lstStyle>
          <a:p/>
        </p:txBody>
      </p:sp>
      <p:sp>
        <p:nvSpPr>
          <p:cNvPr id="76" name="Google Shape;76;p28"/>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29"/>
          <p:cNvSpPr txBox="1"/>
          <p:nvPr>
            <p:ph type="title"/>
          </p:nvPr>
        </p:nvSpPr>
        <p:spPr>
          <a:xfrm>
            <a:off x="4495800" y="1447800"/>
            <a:ext cx="3563258"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9"/>
          <p:cNvSpPr/>
          <p:nvPr>
            <p:ph idx="2" type="pic"/>
          </p:nvPr>
        </p:nvSpPr>
        <p:spPr>
          <a:xfrm>
            <a:off x="762000" y="914400"/>
            <a:ext cx="3280974" cy="4800600"/>
          </a:xfrm>
          <a:prstGeom prst="snip2DiagRect">
            <a:avLst>
              <a:gd fmla="val 10815" name="adj1"/>
              <a:gd fmla="val 0" name="adj2"/>
            </a:avLst>
          </a:prstGeom>
          <a:noFill/>
          <a:ln cap="flat" cmpd="sng" w="15875">
            <a:solidFill>
              <a:schemeClr val="lt1">
                <a:alpha val="40000"/>
              </a:schemeClr>
            </a:solidFill>
            <a:prstDash val="solid"/>
            <a:round/>
            <a:headEnd len="sm" w="sm" type="none"/>
            <a:tailEnd len="sm" w="sm" type="none"/>
          </a:ln>
        </p:spPr>
      </p:sp>
      <p:sp>
        <p:nvSpPr>
          <p:cNvPr id="82" name="Google Shape;82;p29"/>
          <p:cNvSpPr txBox="1"/>
          <p:nvPr>
            <p:ph idx="1" type="body"/>
          </p:nvPr>
        </p:nvSpPr>
        <p:spPr>
          <a:xfrm>
            <a:off x="4496027" y="2743200"/>
            <a:ext cx="3564223" cy="2082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lvl1pPr>
            <a:lvl2pPr indent="-228600" lvl="1" marL="914400" algn="l">
              <a:spcBef>
                <a:spcPts val="600"/>
              </a:spcBef>
              <a:spcAft>
                <a:spcPts val="0"/>
              </a:spcAft>
              <a:buSzPts val="960"/>
              <a:buNone/>
              <a:defRPr sz="1200"/>
            </a:lvl2pPr>
            <a:lvl3pPr indent="-228600" lvl="2" marL="1371600" algn="l">
              <a:spcBef>
                <a:spcPts val="600"/>
              </a:spcBef>
              <a:spcAft>
                <a:spcPts val="0"/>
              </a:spcAft>
              <a:buSzPts val="800"/>
              <a:buNone/>
              <a:defRPr sz="1000"/>
            </a:lvl3pPr>
            <a:lvl4pPr indent="-228600" lvl="3" marL="1828800" algn="l">
              <a:spcBef>
                <a:spcPts val="600"/>
              </a:spcBef>
              <a:spcAft>
                <a:spcPts val="0"/>
              </a:spcAft>
              <a:buSzPts val="720"/>
              <a:buNone/>
              <a:defRPr sz="900"/>
            </a:lvl4pPr>
            <a:lvl5pPr indent="-228600" lvl="4" marL="2286000" algn="l">
              <a:spcBef>
                <a:spcPts val="600"/>
              </a:spcBef>
              <a:spcAft>
                <a:spcPts val="0"/>
              </a:spcAft>
              <a:buSzPts val="720"/>
              <a:buNone/>
              <a:defRPr sz="900"/>
            </a:lvl5pPr>
            <a:lvl6pPr indent="-228600" lvl="5" marL="2743200" algn="l">
              <a:spcBef>
                <a:spcPts val="600"/>
              </a:spcBef>
              <a:spcAft>
                <a:spcPts val="0"/>
              </a:spcAft>
              <a:buSzPts val="720"/>
              <a:buNone/>
              <a:defRPr sz="900"/>
            </a:lvl6pPr>
            <a:lvl7pPr indent="-228600" lvl="6" marL="3200400" algn="l">
              <a:spcBef>
                <a:spcPts val="600"/>
              </a:spcBef>
              <a:spcAft>
                <a:spcPts val="0"/>
              </a:spcAft>
              <a:buSzPts val="720"/>
              <a:buNone/>
              <a:defRPr sz="900"/>
            </a:lvl7pPr>
            <a:lvl8pPr indent="-228600" lvl="7" marL="3657600" algn="l">
              <a:spcBef>
                <a:spcPts val="600"/>
              </a:spcBef>
              <a:spcAft>
                <a:spcPts val="0"/>
              </a:spcAft>
              <a:buSzPts val="720"/>
              <a:buNone/>
              <a:defRPr sz="900"/>
            </a:lvl8pPr>
            <a:lvl9pPr indent="-228600" lvl="8" marL="4114800" algn="l">
              <a:spcBef>
                <a:spcPts val="600"/>
              </a:spcBef>
              <a:spcAft>
                <a:spcPts val="600"/>
              </a:spcAft>
              <a:buSzPts val="720"/>
              <a:buNone/>
              <a:defRPr sz="900"/>
            </a:lvl9pPr>
          </a:lstStyle>
          <a:p/>
        </p:txBody>
      </p:sp>
      <p:sp>
        <p:nvSpPr>
          <p:cNvPr id="83" name="Google Shape;83;p29"/>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9"/>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9"/>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6" name="Shape 86"/>
        <p:cNvGrpSpPr/>
        <p:nvPr/>
      </p:nvGrpSpPr>
      <p:grpSpPr>
        <a:xfrm>
          <a:off x="0" y="0"/>
          <a:ext cx="0" cy="0"/>
          <a:chOff x="0" y="0"/>
          <a:chExt cx="0" cy="0"/>
        </a:xfrm>
      </p:grpSpPr>
      <p:sp>
        <p:nvSpPr>
          <p:cNvPr id="87" name="Google Shape;87;p30"/>
          <p:cNvSpPr txBox="1"/>
          <p:nvPr>
            <p:ph type="title"/>
          </p:nvPr>
        </p:nvSpPr>
        <p:spPr>
          <a:xfrm>
            <a:off x="533400" y="4495800"/>
            <a:ext cx="6554867" cy="1524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0"/>
          <p:cNvSpPr/>
          <p:nvPr>
            <p:ph idx="2" type="pic"/>
          </p:nvPr>
        </p:nvSpPr>
        <p:spPr>
          <a:xfrm>
            <a:off x="533400" y="533400"/>
            <a:ext cx="8077200" cy="3124200"/>
          </a:xfrm>
          <a:prstGeom prst="snip2DiagRect">
            <a:avLst>
              <a:gd fmla="val 10815" name="adj1"/>
              <a:gd fmla="val 0" name="adj2"/>
            </a:avLst>
          </a:prstGeom>
          <a:noFill/>
          <a:ln cap="flat" cmpd="sng" w="15875">
            <a:solidFill>
              <a:schemeClr val="lt1">
                <a:alpha val="40000"/>
              </a:schemeClr>
            </a:solidFill>
            <a:prstDash val="solid"/>
            <a:round/>
            <a:headEnd len="sm" w="sm" type="none"/>
            <a:tailEnd len="sm" w="sm" type="none"/>
          </a:ln>
        </p:spPr>
      </p:sp>
      <p:sp>
        <p:nvSpPr>
          <p:cNvPr id="89" name="Google Shape;89;p30"/>
          <p:cNvSpPr txBox="1"/>
          <p:nvPr>
            <p:ph idx="1" type="body"/>
          </p:nvPr>
        </p:nvSpPr>
        <p:spPr>
          <a:xfrm>
            <a:off x="762002" y="3843867"/>
            <a:ext cx="7281332" cy="457200"/>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80"/>
              <a:buFont typeface="Century Gothic"/>
              <a:buNone/>
              <a:defRPr sz="1600"/>
            </a:lvl1pPr>
            <a:lvl2pPr indent="-228600" lvl="1" marL="914400" algn="l">
              <a:spcBef>
                <a:spcPts val="600"/>
              </a:spcBef>
              <a:spcAft>
                <a:spcPts val="0"/>
              </a:spcAft>
              <a:buSzPts val="1440"/>
              <a:buFont typeface="Century Gothic"/>
              <a:buNone/>
              <a:defRPr/>
            </a:lvl2pPr>
            <a:lvl3pPr indent="-228600" lvl="2" marL="1371600" algn="l">
              <a:spcBef>
                <a:spcPts val="600"/>
              </a:spcBef>
              <a:spcAft>
                <a:spcPts val="0"/>
              </a:spcAft>
              <a:buSzPts val="1280"/>
              <a:buFont typeface="Century Gothic"/>
              <a:buNone/>
              <a:defRPr/>
            </a:lvl3pPr>
            <a:lvl4pPr indent="-228600" lvl="3" marL="1828800" algn="l">
              <a:spcBef>
                <a:spcPts val="600"/>
              </a:spcBef>
              <a:spcAft>
                <a:spcPts val="0"/>
              </a:spcAft>
              <a:buSzPts val="1120"/>
              <a:buFont typeface="Century Gothic"/>
              <a:buNone/>
              <a:defRPr/>
            </a:lvl4pPr>
            <a:lvl5pPr indent="-228600" lvl="4" marL="2286000" algn="l">
              <a:spcBef>
                <a:spcPts val="600"/>
              </a:spcBef>
              <a:spcAft>
                <a:spcPts val="0"/>
              </a:spcAft>
              <a:buSzPts val="1120"/>
              <a:buFont typeface="Century Gothic"/>
              <a:buNone/>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90" name="Google Shape;90;p30"/>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0"/>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0"/>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3" name="Shape 93"/>
        <p:cNvGrpSpPr/>
        <p:nvPr/>
      </p:nvGrpSpPr>
      <p:grpSpPr>
        <a:xfrm>
          <a:off x="0" y="0"/>
          <a:ext cx="0" cy="0"/>
          <a:chOff x="0" y="0"/>
          <a:chExt cx="0" cy="0"/>
        </a:xfrm>
      </p:grpSpPr>
      <p:sp>
        <p:nvSpPr>
          <p:cNvPr id="94" name="Google Shape;94;p31"/>
          <p:cNvSpPr txBox="1"/>
          <p:nvPr>
            <p:ph type="title"/>
          </p:nvPr>
        </p:nvSpPr>
        <p:spPr>
          <a:xfrm>
            <a:off x="533400" y="533400"/>
            <a:ext cx="8077200"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2800"/>
              <a:buFont typeface="Century Gothic"/>
              <a:buNone/>
              <a:defRPr b="0" sz="2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1"/>
          <p:cNvSpPr txBox="1"/>
          <p:nvPr>
            <p:ph idx="1" type="body"/>
          </p:nvPr>
        </p:nvSpPr>
        <p:spPr>
          <a:xfrm>
            <a:off x="533400" y="4114800"/>
            <a:ext cx="6383552" cy="1905000"/>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SzPts val="1440"/>
              <a:buNone/>
              <a:defRPr sz="1800">
                <a:solidFill>
                  <a:srgbClr val="0F486F"/>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96" name="Google Shape;96;p31"/>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1"/>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1"/>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9" name="Shape 99"/>
        <p:cNvGrpSpPr/>
        <p:nvPr/>
      </p:nvGrpSpPr>
      <p:grpSpPr>
        <a:xfrm>
          <a:off x="0" y="0"/>
          <a:ext cx="0" cy="0"/>
          <a:chOff x="0" y="0"/>
          <a:chExt cx="0" cy="0"/>
        </a:xfrm>
      </p:grpSpPr>
      <p:sp>
        <p:nvSpPr>
          <p:cNvPr id="100" name="Google Shape;100;p32"/>
          <p:cNvSpPr txBox="1"/>
          <p:nvPr>
            <p:ph type="title"/>
          </p:nvPr>
        </p:nvSpPr>
        <p:spPr>
          <a:xfrm>
            <a:off x="856283" y="533400"/>
            <a:ext cx="6859787"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2800"/>
              <a:buFont typeface="Century Gothic"/>
              <a:buNone/>
              <a:defRPr b="0" sz="280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2"/>
          <p:cNvSpPr txBox="1"/>
          <p:nvPr>
            <p:ph idx="1" type="body"/>
          </p:nvPr>
        </p:nvSpPr>
        <p:spPr>
          <a:xfrm>
            <a:off x="1066800" y="3429000"/>
            <a:ext cx="6402467" cy="482600"/>
          </a:xfrm>
          <a:prstGeom prst="rect">
            <a:avLst/>
          </a:prstGeom>
          <a:noFill/>
          <a:ln>
            <a:noFill/>
          </a:ln>
        </p:spPr>
        <p:txBody>
          <a:bodyPr anchorCtr="0" anchor="ctr" bIns="45700" lIns="91425" spcFirstLastPara="1" rIns="91425" wrap="square" tIns="45700">
            <a:normAutofit/>
          </a:bodyPr>
          <a:lstStyle>
            <a:lvl1pPr indent="-228600" lvl="0" marL="457200" algn="l">
              <a:spcBef>
                <a:spcPts val="400"/>
              </a:spcBef>
              <a:spcAft>
                <a:spcPts val="0"/>
              </a:spcAft>
              <a:buSzPts val="1600"/>
              <a:buFont typeface="Century Gothic"/>
              <a:buNone/>
              <a:defRPr/>
            </a:lvl1pPr>
            <a:lvl2pPr indent="-228600" lvl="1" marL="914400" algn="l">
              <a:spcBef>
                <a:spcPts val="600"/>
              </a:spcBef>
              <a:spcAft>
                <a:spcPts val="0"/>
              </a:spcAft>
              <a:buSzPts val="1440"/>
              <a:buFont typeface="Century Gothic"/>
              <a:buNone/>
              <a:defRPr/>
            </a:lvl2pPr>
            <a:lvl3pPr indent="-228600" lvl="2" marL="1371600" algn="l">
              <a:spcBef>
                <a:spcPts val="600"/>
              </a:spcBef>
              <a:spcAft>
                <a:spcPts val="0"/>
              </a:spcAft>
              <a:buSzPts val="1280"/>
              <a:buFont typeface="Century Gothic"/>
              <a:buNone/>
              <a:defRPr/>
            </a:lvl3pPr>
            <a:lvl4pPr indent="-228600" lvl="3" marL="1828800" algn="l">
              <a:spcBef>
                <a:spcPts val="600"/>
              </a:spcBef>
              <a:spcAft>
                <a:spcPts val="0"/>
              </a:spcAft>
              <a:buSzPts val="1120"/>
              <a:buFont typeface="Century Gothic"/>
              <a:buNone/>
              <a:defRPr/>
            </a:lvl4pPr>
            <a:lvl5pPr indent="-228600" lvl="4" marL="2286000" algn="l">
              <a:spcBef>
                <a:spcPts val="600"/>
              </a:spcBef>
              <a:spcAft>
                <a:spcPts val="0"/>
              </a:spcAft>
              <a:buSzPts val="1120"/>
              <a:buFont typeface="Century Gothic"/>
              <a:buNone/>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02" name="Google Shape;102;p32"/>
          <p:cNvSpPr txBox="1"/>
          <p:nvPr>
            <p:ph idx="2" type="body"/>
          </p:nvPr>
        </p:nvSpPr>
        <p:spPr>
          <a:xfrm>
            <a:off x="533400" y="4301070"/>
            <a:ext cx="6382361" cy="1718730"/>
          </a:xfrm>
          <a:prstGeom prst="rect">
            <a:avLst/>
          </a:prstGeom>
          <a:noFill/>
          <a:ln>
            <a:noFill/>
          </a:ln>
        </p:spPr>
        <p:txBody>
          <a:bodyPr anchorCtr="0" anchor="ctr" bIns="45700" lIns="91425" spcFirstLastPara="1" rIns="91425" wrap="square" tIns="45700">
            <a:normAutofit/>
          </a:bodyPr>
          <a:lstStyle>
            <a:lvl1pPr indent="-228600" lvl="0" marL="457200" algn="l">
              <a:spcBef>
                <a:spcPts val="400"/>
              </a:spcBef>
              <a:spcAft>
                <a:spcPts val="0"/>
              </a:spcAft>
              <a:buSzPts val="1600"/>
              <a:buNone/>
              <a:defRPr sz="2000">
                <a:solidFill>
                  <a:srgbClr val="0F486F"/>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103" name="Google Shape;103;p32"/>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2"/>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2"/>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32"/>
          <p:cNvSpPr txBox="1"/>
          <p:nvPr/>
        </p:nvSpPr>
        <p:spPr>
          <a:xfrm>
            <a:off x="228600" y="710624"/>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lt1"/>
                </a:solidFill>
                <a:latin typeface="Century Gothic"/>
                <a:ea typeface="Century Gothic"/>
                <a:cs typeface="Century Gothic"/>
                <a:sym typeface="Century Gothic"/>
              </a:rPr>
              <a:t>“</a:t>
            </a:r>
            <a:endParaRPr/>
          </a:p>
        </p:txBody>
      </p:sp>
      <p:sp>
        <p:nvSpPr>
          <p:cNvPr id="107" name="Google Shape;107;p32"/>
          <p:cNvSpPr txBox="1"/>
          <p:nvPr/>
        </p:nvSpPr>
        <p:spPr>
          <a:xfrm>
            <a:off x="7696200" y="2768601"/>
            <a:ext cx="45731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8" name="Shape 108"/>
        <p:cNvGrpSpPr/>
        <p:nvPr/>
      </p:nvGrpSpPr>
      <p:grpSpPr>
        <a:xfrm>
          <a:off x="0" y="0"/>
          <a:ext cx="0" cy="0"/>
          <a:chOff x="0" y="0"/>
          <a:chExt cx="0" cy="0"/>
        </a:xfrm>
      </p:grpSpPr>
      <p:sp>
        <p:nvSpPr>
          <p:cNvPr id="109" name="Google Shape;109;p33"/>
          <p:cNvSpPr txBox="1"/>
          <p:nvPr>
            <p:ph type="title"/>
          </p:nvPr>
        </p:nvSpPr>
        <p:spPr>
          <a:xfrm>
            <a:off x="533400" y="3429000"/>
            <a:ext cx="6382361" cy="169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entury Gothic"/>
              <a:buNone/>
              <a:defRPr b="0" sz="2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3"/>
          <p:cNvSpPr txBox="1"/>
          <p:nvPr>
            <p:ph idx="1" type="body"/>
          </p:nvPr>
        </p:nvSpPr>
        <p:spPr>
          <a:xfrm>
            <a:off x="533400" y="5132980"/>
            <a:ext cx="6383552" cy="886819"/>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solidFill>
                  <a:srgbClr val="0F486F"/>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111" name="Google Shape;111;p33"/>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3"/>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3"/>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4" name="Shape 114"/>
        <p:cNvGrpSpPr/>
        <p:nvPr/>
      </p:nvGrpSpPr>
      <p:grpSpPr>
        <a:xfrm>
          <a:off x="0" y="0"/>
          <a:ext cx="0" cy="0"/>
          <a:chOff x="0" y="0"/>
          <a:chExt cx="0" cy="0"/>
        </a:xfrm>
      </p:grpSpPr>
      <p:sp>
        <p:nvSpPr>
          <p:cNvPr id="115" name="Google Shape;115;p34"/>
          <p:cNvSpPr txBox="1"/>
          <p:nvPr>
            <p:ph type="title"/>
          </p:nvPr>
        </p:nvSpPr>
        <p:spPr>
          <a:xfrm>
            <a:off x="856284" y="533400"/>
            <a:ext cx="685978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2800"/>
              <a:buFont typeface="Century Gothic"/>
              <a:buNone/>
              <a:defRPr b="0" sz="280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4"/>
          <p:cNvSpPr txBox="1"/>
          <p:nvPr>
            <p:ph idx="1" type="body"/>
          </p:nvPr>
        </p:nvSpPr>
        <p:spPr>
          <a:xfrm>
            <a:off x="533400" y="3886200"/>
            <a:ext cx="6382361" cy="1049866"/>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1600"/>
              <a:buNone/>
              <a:defRPr b="0" sz="2000" cap="none">
                <a:solidFill>
                  <a:schemeClr val="lt1"/>
                </a:solidFill>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17" name="Google Shape;117;p34"/>
          <p:cNvSpPr txBox="1"/>
          <p:nvPr>
            <p:ph idx="2" type="body"/>
          </p:nvPr>
        </p:nvSpPr>
        <p:spPr>
          <a:xfrm>
            <a:off x="533400" y="4953000"/>
            <a:ext cx="6382360" cy="1066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solidFill>
                  <a:srgbClr val="0F486F"/>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118" name="Google Shape;118;p34"/>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34"/>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4"/>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34"/>
          <p:cNvSpPr txBox="1"/>
          <p:nvPr/>
        </p:nvSpPr>
        <p:spPr>
          <a:xfrm>
            <a:off x="228600" y="710624"/>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lt1"/>
                </a:solidFill>
                <a:latin typeface="Century Gothic"/>
                <a:ea typeface="Century Gothic"/>
                <a:cs typeface="Century Gothic"/>
                <a:sym typeface="Century Gothic"/>
              </a:rPr>
              <a:t>“</a:t>
            </a:r>
            <a:endParaRPr/>
          </a:p>
        </p:txBody>
      </p:sp>
      <p:sp>
        <p:nvSpPr>
          <p:cNvPr id="122" name="Google Shape;122;p34"/>
          <p:cNvSpPr txBox="1"/>
          <p:nvPr/>
        </p:nvSpPr>
        <p:spPr>
          <a:xfrm>
            <a:off x="7696200" y="2768601"/>
            <a:ext cx="45731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3" name="Shape 123"/>
        <p:cNvGrpSpPr/>
        <p:nvPr/>
      </p:nvGrpSpPr>
      <p:grpSpPr>
        <a:xfrm>
          <a:off x="0" y="0"/>
          <a:ext cx="0" cy="0"/>
          <a:chOff x="0" y="0"/>
          <a:chExt cx="0" cy="0"/>
        </a:xfrm>
      </p:grpSpPr>
      <p:sp>
        <p:nvSpPr>
          <p:cNvPr id="124" name="Google Shape;124;p35"/>
          <p:cNvSpPr txBox="1"/>
          <p:nvPr>
            <p:ph type="title"/>
          </p:nvPr>
        </p:nvSpPr>
        <p:spPr>
          <a:xfrm>
            <a:off x="533400" y="533400"/>
            <a:ext cx="7525658"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35"/>
          <p:cNvSpPr txBox="1"/>
          <p:nvPr>
            <p:ph idx="1" type="body"/>
          </p:nvPr>
        </p:nvSpPr>
        <p:spPr>
          <a:xfrm>
            <a:off x="533400" y="3928534"/>
            <a:ext cx="6382361"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1600"/>
              <a:buNone/>
              <a:defRPr b="0" sz="2000" cap="none">
                <a:solidFill>
                  <a:schemeClr val="lt1"/>
                </a:solidFill>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26" name="Google Shape;126;p35"/>
          <p:cNvSpPr txBox="1"/>
          <p:nvPr>
            <p:ph idx="2" type="body"/>
          </p:nvPr>
        </p:nvSpPr>
        <p:spPr>
          <a:xfrm>
            <a:off x="533400" y="4766735"/>
            <a:ext cx="6382360" cy="1253065"/>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440"/>
              <a:buNone/>
              <a:defRPr sz="1800">
                <a:solidFill>
                  <a:srgbClr val="0F486F"/>
                </a:solidFill>
              </a:defRPr>
            </a:lvl1pPr>
            <a:lvl2pPr indent="-228600" lvl="1" marL="914400" algn="l">
              <a:spcBef>
                <a:spcPts val="600"/>
              </a:spcBef>
              <a:spcAft>
                <a:spcPts val="0"/>
              </a:spcAft>
              <a:buSzPts val="1440"/>
              <a:buNone/>
              <a:defRPr sz="1800">
                <a:solidFill>
                  <a:schemeClr val="lt1"/>
                </a:solidFill>
              </a:defRPr>
            </a:lvl2pPr>
            <a:lvl3pPr indent="-228600" lvl="2" marL="1371600" algn="l">
              <a:spcBef>
                <a:spcPts val="600"/>
              </a:spcBef>
              <a:spcAft>
                <a:spcPts val="0"/>
              </a:spcAft>
              <a:buSzPts val="1280"/>
              <a:buNone/>
              <a:defRPr sz="1600">
                <a:solidFill>
                  <a:schemeClr val="lt1"/>
                </a:solidFill>
              </a:defRPr>
            </a:lvl3pPr>
            <a:lvl4pPr indent="-228600" lvl="3" marL="1828800" algn="l">
              <a:spcBef>
                <a:spcPts val="600"/>
              </a:spcBef>
              <a:spcAft>
                <a:spcPts val="0"/>
              </a:spcAft>
              <a:buSzPts val="1120"/>
              <a:buNone/>
              <a:defRPr sz="1400">
                <a:solidFill>
                  <a:schemeClr val="lt1"/>
                </a:solidFill>
              </a:defRPr>
            </a:lvl4pPr>
            <a:lvl5pPr indent="-228600" lvl="4" marL="2286000" algn="l">
              <a:spcBef>
                <a:spcPts val="600"/>
              </a:spcBef>
              <a:spcAft>
                <a:spcPts val="0"/>
              </a:spcAft>
              <a:buSzPts val="1120"/>
              <a:buNone/>
              <a:defRPr sz="1400">
                <a:solidFill>
                  <a:schemeClr val="lt1"/>
                </a:solidFill>
              </a:defRPr>
            </a:lvl5pPr>
            <a:lvl6pPr indent="-228600" lvl="5" marL="2743200" algn="l">
              <a:spcBef>
                <a:spcPts val="600"/>
              </a:spcBef>
              <a:spcAft>
                <a:spcPts val="0"/>
              </a:spcAft>
              <a:buSzPts val="1120"/>
              <a:buNone/>
              <a:defRPr sz="1400">
                <a:solidFill>
                  <a:schemeClr val="lt1"/>
                </a:solidFill>
              </a:defRPr>
            </a:lvl6pPr>
            <a:lvl7pPr indent="-228600" lvl="6" marL="3200400" algn="l">
              <a:spcBef>
                <a:spcPts val="600"/>
              </a:spcBef>
              <a:spcAft>
                <a:spcPts val="0"/>
              </a:spcAft>
              <a:buSzPts val="1120"/>
              <a:buNone/>
              <a:defRPr sz="1400">
                <a:solidFill>
                  <a:schemeClr val="lt1"/>
                </a:solidFill>
              </a:defRPr>
            </a:lvl7pPr>
            <a:lvl8pPr indent="-228600" lvl="7" marL="3657600" algn="l">
              <a:spcBef>
                <a:spcPts val="600"/>
              </a:spcBef>
              <a:spcAft>
                <a:spcPts val="0"/>
              </a:spcAft>
              <a:buSzPts val="1120"/>
              <a:buNone/>
              <a:defRPr sz="1400">
                <a:solidFill>
                  <a:schemeClr val="lt1"/>
                </a:solidFill>
              </a:defRPr>
            </a:lvl8pPr>
            <a:lvl9pPr indent="-228600" lvl="8" marL="4114800" algn="l">
              <a:spcBef>
                <a:spcPts val="600"/>
              </a:spcBef>
              <a:spcAft>
                <a:spcPts val="600"/>
              </a:spcAft>
              <a:buSzPts val="1120"/>
              <a:buNone/>
              <a:defRPr sz="1400">
                <a:solidFill>
                  <a:schemeClr val="lt1"/>
                </a:solidFill>
              </a:defRPr>
            </a:lvl9pPr>
          </a:lstStyle>
          <a:p/>
        </p:txBody>
      </p:sp>
      <p:sp>
        <p:nvSpPr>
          <p:cNvPr id="127" name="Google Shape;127;p35"/>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5"/>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5"/>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0" name="Shape 130"/>
        <p:cNvGrpSpPr/>
        <p:nvPr/>
      </p:nvGrpSpPr>
      <p:grpSpPr>
        <a:xfrm>
          <a:off x="0" y="0"/>
          <a:ext cx="0" cy="0"/>
          <a:chOff x="0" y="0"/>
          <a:chExt cx="0" cy="0"/>
        </a:xfrm>
      </p:grpSpPr>
      <p:sp>
        <p:nvSpPr>
          <p:cNvPr id="131" name="Google Shape;131;p36"/>
          <p:cNvSpPr txBox="1"/>
          <p:nvPr>
            <p:ph type="title"/>
          </p:nvPr>
        </p:nvSpPr>
        <p:spPr>
          <a:xfrm>
            <a:off x="533400" y="4495800"/>
            <a:ext cx="6554867" cy="1524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2800"/>
              <a:buFont typeface="Century Gothic"/>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6"/>
          <p:cNvSpPr txBox="1"/>
          <p:nvPr>
            <p:ph idx="1" type="body"/>
          </p:nvPr>
        </p:nvSpPr>
        <p:spPr>
          <a:xfrm rot="5400000">
            <a:off x="1926999" y="-860197"/>
            <a:ext cx="3767670" cy="6554867"/>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33" name="Google Shape;133;p36"/>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6"/>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6"/>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6" name="Shape 136"/>
        <p:cNvGrpSpPr/>
        <p:nvPr/>
      </p:nvGrpSpPr>
      <p:grpSpPr>
        <a:xfrm>
          <a:off x="0" y="0"/>
          <a:ext cx="0" cy="0"/>
          <a:chOff x="0" y="0"/>
          <a:chExt cx="0" cy="0"/>
        </a:xfrm>
      </p:grpSpPr>
      <p:sp>
        <p:nvSpPr>
          <p:cNvPr id="137" name="Google Shape;137;p37"/>
          <p:cNvSpPr txBox="1"/>
          <p:nvPr>
            <p:ph type="title"/>
          </p:nvPr>
        </p:nvSpPr>
        <p:spPr>
          <a:xfrm rot="5400000">
            <a:off x="5378703" y="1721103"/>
            <a:ext cx="4419600" cy="204419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2800"/>
              <a:buFont typeface="Century Gothic"/>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7"/>
          <p:cNvSpPr txBox="1"/>
          <p:nvPr>
            <p:ph idx="1" type="body"/>
          </p:nvPr>
        </p:nvSpPr>
        <p:spPr>
          <a:xfrm rot="5400000">
            <a:off x="715206" y="351594"/>
            <a:ext cx="5486400" cy="5850012"/>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20040" lvl="1" marL="914400" algn="l">
              <a:spcBef>
                <a:spcPts val="600"/>
              </a:spcBef>
              <a:spcAft>
                <a:spcPts val="0"/>
              </a:spcAft>
              <a:buSzPts val="1440"/>
              <a:buChar char="▶"/>
              <a:defRPr/>
            </a:lvl2pPr>
            <a:lvl3pPr indent="-320040" lvl="2" marL="1371600" algn="l">
              <a:spcBef>
                <a:spcPts val="600"/>
              </a:spcBef>
              <a:spcAft>
                <a:spcPts val="0"/>
              </a:spcAft>
              <a:buSzPts val="1440"/>
              <a:buChar char="▶"/>
              <a:defRPr/>
            </a:lvl3pPr>
            <a:lvl4pPr indent="-320040" lvl="3" marL="1828800" algn="l">
              <a:spcBef>
                <a:spcPts val="600"/>
              </a:spcBef>
              <a:spcAft>
                <a:spcPts val="0"/>
              </a:spcAft>
              <a:buSzPts val="1440"/>
              <a:buChar char="▶"/>
              <a:defRPr/>
            </a:lvl4pPr>
            <a:lvl5pPr indent="-320040" lvl="4" marL="2286000" algn="l">
              <a:spcBef>
                <a:spcPts val="600"/>
              </a:spcBef>
              <a:spcAft>
                <a:spcPts val="0"/>
              </a:spcAft>
              <a:buSzPts val="1440"/>
              <a:buChar char="▶"/>
              <a:defRPr/>
            </a:lvl5pPr>
            <a:lvl6pPr indent="-320040" lvl="5" marL="2743200" algn="l">
              <a:spcBef>
                <a:spcPts val="600"/>
              </a:spcBef>
              <a:spcAft>
                <a:spcPts val="0"/>
              </a:spcAft>
              <a:buSzPts val="1440"/>
              <a:buChar char="▶"/>
              <a:defRPr/>
            </a:lvl6pPr>
            <a:lvl7pPr indent="-320040" lvl="6" marL="3200400" algn="l">
              <a:spcBef>
                <a:spcPts val="600"/>
              </a:spcBef>
              <a:spcAft>
                <a:spcPts val="0"/>
              </a:spcAft>
              <a:buSzPts val="1440"/>
              <a:buChar char="▶"/>
              <a:defRPr/>
            </a:lvl7pPr>
            <a:lvl8pPr indent="-320040" lvl="7" marL="3657600" algn="l">
              <a:spcBef>
                <a:spcPts val="600"/>
              </a:spcBef>
              <a:spcAft>
                <a:spcPts val="0"/>
              </a:spcAft>
              <a:buSzPts val="1440"/>
              <a:buChar char="▶"/>
              <a:defRPr/>
            </a:lvl8pPr>
            <a:lvl9pPr indent="-320040" lvl="8" marL="4114800" algn="l">
              <a:spcBef>
                <a:spcPts val="600"/>
              </a:spcBef>
              <a:spcAft>
                <a:spcPts val="600"/>
              </a:spcAft>
              <a:buSzPts val="1440"/>
              <a:buChar char="▶"/>
              <a:defRPr/>
            </a:lvl9pPr>
          </a:lstStyle>
          <a:p/>
        </p:txBody>
      </p:sp>
      <p:sp>
        <p:nvSpPr>
          <p:cNvPr id="139" name="Google Shape;139;p37"/>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7"/>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7"/>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2D2EF"/>
            </a:gs>
            <a:gs pos="10000">
              <a:srgbClr val="62D2EF"/>
            </a:gs>
            <a:gs pos="100000">
              <a:srgbClr val="05578D"/>
            </a:gs>
          </a:gsLst>
          <a:lin ang="6120000" scaled="0"/>
        </a:gradFill>
      </p:bgPr>
    </p:bg>
    <p:spTree>
      <p:nvGrpSpPr>
        <p:cNvPr id="9" name="Shape 9"/>
        <p:cNvGrpSpPr/>
        <p:nvPr/>
      </p:nvGrpSpPr>
      <p:grpSpPr>
        <a:xfrm>
          <a:off x="0" y="0"/>
          <a:ext cx="0" cy="0"/>
          <a:chOff x="0" y="0"/>
          <a:chExt cx="0" cy="0"/>
        </a:xfrm>
      </p:grpSpPr>
      <p:grpSp>
        <p:nvGrpSpPr>
          <p:cNvPr id="10" name="Google Shape;10;p18"/>
          <p:cNvGrpSpPr/>
          <p:nvPr/>
        </p:nvGrpSpPr>
        <p:grpSpPr>
          <a:xfrm>
            <a:off x="6670675" y="3894667"/>
            <a:ext cx="2470456" cy="2658533"/>
            <a:chOff x="6687077" y="3259666"/>
            <a:chExt cx="2981857" cy="3208867"/>
          </a:xfrm>
        </p:grpSpPr>
        <p:cxnSp>
          <p:nvCxnSpPr>
            <p:cNvPr id="11" name="Google Shape;11;p18"/>
            <p:cNvCxnSpPr/>
            <p:nvPr/>
          </p:nvCxnSpPr>
          <p:spPr>
            <a:xfrm flipH="1">
              <a:off x="8756120" y="3259666"/>
              <a:ext cx="912814" cy="912812"/>
            </a:xfrm>
            <a:prstGeom prst="straightConnector1">
              <a:avLst/>
            </a:prstGeom>
            <a:noFill/>
            <a:ln cap="flat" cmpd="sng" w="9525">
              <a:solidFill>
                <a:schemeClr val="lt1"/>
              </a:solidFill>
              <a:prstDash val="solid"/>
              <a:round/>
              <a:headEnd len="sm" w="sm" type="none"/>
              <a:tailEnd len="sm" w="sm" type="none"/>
            </a:ln>
          </p:spPr>
        </p:cxnSp>
        <p:cxnSp>
          <p:nvCxnSpPr>
            <p:cNvPr id="12" name="Google Shape;12;p18"/>
            <p:cNvCxnSpPr/>
            <p:nvPr/>
          </p:nvCxnSpPr>
          <p:spPr>
            <a:xfrm flipH="1">
              <a:off x="6687077" y="3486677"/>
              <a:ext cx="2981857" cy="2981856"/>
            </a:xfrm>
            <a:prstGeom prst="straightConnector1">
              <a:avLst/>
            </a:prstGeom>
            <a:noFill/>
            <a:ln cap="flat" cmpd="sng" w="9525">
              <a:solidFill>
                <a:schemeClr val="lt1"/>
              </a:solidFill>
              <a:prstDash val="solid"/>
              <a:round/>
              <a:headEnd len="sm" w="sm" type="none"/>
              <a:tailEnd len="sm" w="sm" type="none"/>
            </a:ln>
          </p:spPr>
        </p:cxnSp>
        <p:cxnSp>
          <p:nvCxnSpPr>
            <p:cNvPr id="13" name="Google Shape;13;p18"/>
            <p:cNvCxnSpPr/>
            <p:nvPr/>
          </p:nvCxnSpPr>
          <p:spPr>
            <a:xfrm flipH="1">
              <a:off x="7772400" y="3581400"/>
              <a:ext cx="1896534" cy="1896533"/>
            </a:xfrm>
            <a:prstGeom prst="straightConnector1">
              <a:avLst/>
            </a:prstGeom>
            <a:noFill/>
            <a:ln cap="flat" cmpd="sng" w="9525">
              <a:solidFill>
                <a:schemeClr val="lt1"/>
              </a:solidFill>
              <a:prstDash val="solid"/>
              <a:round/>
              <a:headEnd len="sm" w="sm" type="none"/>
              <a:tailEnd len="sm" w="sm" type="none"/>
            </a:ln>
          </p:spPr>
        </p:cxnSp>
        <p:cxnSp>
          <p:nvCxnSpPr>
            <p:cNvPr id="14" name="Google Shape;14;p18"/>
            <p:cNvCxnSpPr/>
            <p:nvPr/>
          </p:nvCxnSpPr>
          <p:spPr>
            <a:xfrm flipH="1">
              <a:off x="7923214" y="3433394"/>
              <a:ext cx="1739738" cy="1739740"/>
            </a:xfrm>
            <a:prstGeom prst="straightConnector1">
              <a:avLst/>
            </a:prstGeom>
            <a:noFill/>
            <a:ln cap="flat" cmpd="sng" w="28575">
              <a:solidFill>
                <a:schemeClr val="lt1"/>
              </a:solidFill>
              <a:prstDash val="solid"/>
              <a:round/>
              <a:headEnd len="sm" w="sm" type="none"/>
              <a:tailEnd len="sm" w="sm" type="none"/>
            </a:ln>
          </p:spPr>
        </p:cxnSp>
        <p:cxnSp>
          <p:nvCxnSpPr>
            <p:cNvPr id="15" name="Google Shape;15;p18"/>
            <p:cNvCxnSpPr/>
            <p:nvPr/>
          </p:nvCxnSpPr>
          <p:spPr>
            <a:xfrm flipH="1">
              <a:off x="8398935" y="3985317"/>
              <a:ext cx="1264017" cy="1264016"/>
            </a:xfrm>
            <a:prstGeom prst="straightConnector1">
              <a:avLst/>
            </a:prstGeom>
            <a:noFill/>
            <a:ln cap="flat" cmpd="sng" w="28575">
              <a:solidFill>
                <a:schemeClr val="lt1"/>
              </a:solidFill>
              <a:prstDash val="solid"/>
              <a:round/>
              <a:headEnd len="sm" w="sm" type="none"/>
              <a:tailEnd len="sm" w="sm" type="none"/>
            </a:ln>
          </p:spPr>
        </p:cxnSp>
      </p:grpSp>
      <p:sp>
        <p:nvSpPr>
          <p:cNvPr id="16" name="Google Shape;16;p18"/>
          <p:cNvSpPr txBox="1"/>
          <p:nvPr>
            <p:ph type="title"/>
          </p:nvPr>
        </p:nvSpPr>
        <p:spPr>
          <a:xfrm>
            <a:off x="533400" y="4495800"/>
            <a:ext cx="6554867" cy="1524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lt1"/>
              </a:buClr>
              <a:buSzPts val="3200"/>
              <a:buFont typeface="Century Gothic"/>
              <a:buNone/>
              <a:defRPr b="0" i="0" sz="32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7" name="Google Shape;17;p18"/>
          <p:cNvSpPr txBox="1"/>
          <p:nvPr>
            <p:ph idx="1" type="body"/>
          </p:nvPr>
        </p:nvSpPr>
        <p:spPr>
          <a:xfrm>
            <a:off x="533400" y="533401"/>
            <a:ext cx="6554867" cy="3767670"/>
          </a:xfrm>
          <a:prstGeom prst="rect">
            <a:avLst/>
          </a:prstGeom>
          <a:noFill/>
          <a:ln>
            <a:noFill/>
          </a:ln>
        </p:spPr>
        <p:txBody>
          <a:bodyPr anchorCtr="0" anchor="ctr" bIns="45700" lIns="91425" spcFirstLastPara="1" rIns="91425" wrap="square" tIns="45700">
            <a:normAutofit/>
          </a:bodyPr>
          <a:lstStyle>
            <a:lvl1pPr indent="-330200" lvl="0" marL="457200" marR="0" rtl="0" algn="l">
              <a:spcBef>
                <a:spcPts val="400"/>
              </a:spcBef>
              <a:spcAft>
                <a:spcPts val="0"/>
              </a:spcAft>
              <a:buClr>
                <a:schemeClr val="lt1"/>
              </a:buClr>
              <a:buSzPts val="1600"/>
              <a:buFont typeface="Noto Sans Symbols"/>
              <a:buChar char="▶"/>
              <a:defRPr b="0" i="0" sz="2000" u="none" cap="none" strike="noStrike">
                <a:solidFill>
                  <a:srgbClr val="0F486F"/>
                </a:solidFill>
                <a:latin typeface="Century Gothic"/>
                <a:ea typeface="Century Gothic"/>
                <a:cs typeface="Century Gothic"/>
                <a:sym typeface="Century Gothic"/>
              </a:defRPr>
            </a:lvl1pPr>
            <a:lvl2pPr indent="-320040" lvl="1" marL="914400" marR="0" rtl="0" algn="l">
              <a:spcBef>
                <a:spcPts val="600"/>
              </a:spcBef>
              <a:spcAft>
                <a:spcPts val="0"/>
              </a:spcAft>
              <a:buClr>
                <a:schemeClr val="lt1"/>
              </a:buClr>
              <a:buSzPts val="1440"/>
              <a:buFont typeface="Noto Sans Symbols"/>
              <a:buChar char="▶"/>
              <a:defRPr b="0" i="0" sz="1800" u="none" cap="none" strike="noStrike">
                <a:solidFill>
                  <a:srgbClr val="0F486F"/>
                </a:solidFill>
                <a:latin typeface="Century Gothic"/>
                <a:ea typeface="Century Gothic"/>
                <a:cs typeface="Century Gothic"/>
                <a:sym typeface="Century Gothic"/>
              </a:defRPr>
            </a:lvl2pPr>
            <a:lvl3pPr indent="-309880" lvl="2" marL="1371600" marR="0" rtl="0" algn="l">
              <a:spcBef>
                <a:spcPts val="600"/>
              </a:spcBef>
              <a:spcAft>
                <a:spcPts val="0"/>
              </a:spcAft>
              <a:buClr>
                <a:schemeClr val="lt1"/>
              </a:buClr>
              <a:buSzPts val="1280"/>
              <a:buFont typeface="Noto Sans Symbols"/>
              <a:buChar char="▶"/>
              <a:defRPr b="0" i="0" sz="1600" u="none" cap="none" strike="noStrike">
                <a:solidFill>
                  <a:srgbClr val="0F486F"/>
                </a:solidFill>
                <a:latin typeface="Century Gothic"/>
                <a:ea typeface="Century Gothic"/>
                <a:cs typeface="Century Gothic"/>
                <a:sym typeface="Century Gothic"/>
              </a:defRPr>
            </a:lvl3pPr>
            <a:lvl4pPr indent="-299720" lvl="3" marL="1828800" marR="0" rtl="0" algn="l">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4pPr>
            <a:lvl5pPr indent="-299720" lvl="4" marL="2286000" marR="0" rtl="0" algn="l">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5pPr>
            <a:lvl6pPr indent="-299720" lvl="5" marL="2743200" marR="0" rtl="0" algn="l">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6pPr>
            <a:lvl7pPr indent="-299720" lvl="6" marL="3200400" marR="0" rtl="0" algn="l">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7pPr>
            <a:lvl8pPr indent="-299720" lvl="7" marL="3657600" marR="0" rtl="0" algn="l">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8pPr>
            <a:lvl9pPr indent="-299720" lvl="8" marL="4114800" marR="0" rtl="0" algn="l">
              <a:spcBef>
                <a:spcPts val="600"/>
              </a:spcBef>
              <a:spcAft>
                <a:spcPts val="60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9pPr>
          </a:lstStyle>
          <a:p/>
        </p:txBody>
      </p:sp>
      <p:sp>
        <p:nvSpPr>
          <p:cNvPr id="18" name="Google Shape;18;p18"/>
          <p:cNvSpPr txBox="1"/>
          <p:nvPr>
            <p:ph idx="10" type="dt"/>
          </p:nvPr>
        </p:nvSpPr>
        <p:spPr>
          <a:xfrm>
            <a:off x="7430245" y="6172203"/>
            <a:ext cx="1200463" cy="3651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9304A"/>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9" name="Google Shape;19;p18"/>
          <p:cNvSpPr txBox="1"/>
          <p:nvPr>
            <p:ph idx="11" type="ftr"/>
          </p:nvPr>
        </p:nvSpPr>
        <p:spPr>
          <a:xfrm>
            <a:off x="533400" y="6172200"/>
            <a:ext cx="5811724"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9304A"/>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20" name="Google Shape;20;p18"/>
          <p:cNvSpPr txBox="1"/>
          <p:nvPr>
            <p:ph idx="12" type="sldNum"/>
          </p:nvPr>
        </p:nvSpPr>
        <p:spPr>
          <a:xfrm>
            <a:off x="7774426" y="5578478"/>
            <a:ext cx="856907" cy="669925"/>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2800" u="none" cap="none" strike="noStrike">
                <a:solidFill>
                  <a:srgbClr val="09304A"/>
                </a:solidFill>
                <a:latin typeface="Century Gothic"/>
                <a:ea typeface="Century Gothic"/>
                <a:cs typeface="Century Gothic"/>
                <a:sym typeface="Century Gothic"/>
              </a:defRPr>
            </a:lvl1pPr>
            <a:lvl2pPr indent="0" lvl="1" marL="0" marR="0" rtl="0" algn="r">
              <a:spcBef>
                <a:spcPts val="0"/>
              </a:spcBef>
              <a:buNone/>
              <a:defRPr b="0" i="0" sz="2800" u="none" cap="none" strike="noStrike">
                <a:solidFill>
                  <a:srgbClr val="09304A"/>
                </a:solidFill>
                <a:latin typeface="Century Gothic"/>
                <a:ea typeface="Century Gothic"/>
                <a:cs typeface="Century Gothic"/>
                <a:sym typeface="Century Gothic"/>
              </a:defRPr>
            </a:lvl2pPr>
            <a:lvl3pPr indent="0" lvl="2" marL="0" marR="0" rtl="0" algn="r">
              <a:spcBef>
                <a:spcPts val="0"/>
              </a:spcBef>
              <a:buNone/>
              <a:defRPr b="0" i="0" sz="2800" u="none" cap="none" strike="noStrike">
                <a:solidFill>
                  <a:srgbClr val="09304A"/>
                </a:solidFill>
                <a:latin typeface="Century Gothic"/>
                <a:ea typeface="Century Gothic"/>
                <a:cs typeface="Century Gothic"/>
                <a:sym typeface="Century Gothic"/>
              </a:defRPr>
            </a:lvl3pPr>
            <a:lvl4pPr indent="0" lvl="3" marL="0" marR="0" rtl="0" algn="r">
              <a:spcBef>
                <a:spcPts val="0"/>
              </a:spcBef>
              <a:buNone/>
              <a:defRPr b="0" i="0" sz="2800" u="none" cap="none" strike="noStrike">
                <a:solidFill>
                  <a:srgbClr val="09304A"/>
                </a:solidFill>
                <a:latin typeface="Century Gothic"/>
                <a:ea typeface="Century Gothic"/>
                <a:cs typeface="Century Gothic"/>
                <a:sym typeface="Century Gothic"/>
              </a:defRPr>
            </a:lvl4pPr>
            <a:lvl5pPr indent="0" lvl="4" marL="0" marR="0" rtl="0" algn="r">
              <a:spcBef>
                <a:spcPts val="0"/>
              </a:spcBef>
              <a:buNone/>
              <a:defRPr b="0" i="0" sz="2800" u="none" cap="none" strike="noStrike">
                <a:solidFill>
                  <a:srgbClr val="09304A"/>
                </a:solidFill>
                <a:latin typeface="Century Gothic"/>
                <a:ea typeface="Century Gothic"/>
                <a:cs typeface="Century Gothic"/>
                <a:sym typeface="Century Gothic"/>
              </a:defRPr>
            </a:lvl5pPr>
            <a:lvl6pPr indent="0" lvl="5" marL="0" marR="0" rtl="0" algn="r">
              <a:spcBef>
                <a:spcPts val="0"/>
              </a:spcBef>
              <a:buNone/>
              <a:defRPr b="0" i="0" sz="2800" u="none" cap="none" strike="noStrike">
                <a:solidFill>
                  <a:srgbClr val="09304A"/>
                </a:solidFill>
                <a:latin typeface="Century Gothic"/>
                <a:ea typeface="Century Gothic"/>
                <a:cs typeface="Century Gothic"/>
                <a:sym typeface="Century Gothic"/>
              </a:defRPr>
            </a:lvl6pPr>
            <a:lvl7pPr indent="0" lvl="6" marL="0" marR="0" rtl="0" algn="r">
              <a:spcBef>
                <a:spcPts val="0"/>
              </a:spcBef>
              <a:buNone/>
              <a:defRPr b="0" i="0" sz="2800" u="none" cap="none" strike="noStrike">
                <a:solidFill>
                  <a:srgbClr val="09304A"/>
                </a:solidFill>
                <a:latin typeface="Century Gothic"/>
                <a:ea typeface="Century Gothic"/>
                <a:cs typeface="Century Gothic"/>
                <a:sym typeface="Century Gothic"/>
              </a:defRPr>
            </a:lvl7pPr>
            <a:lvl8pPr indent="0" lvl="7" marL="0" marR="0" rtl="0" algn="r">
              <a:spcBef>
                <a:spcPts val="0"/>
              </a:spcBef>
              <a:buNone/>
              <a:defRPr b="0" i="0" sz="2800" u="none" cap="none" strike="noStrike">
                <a:solidFill>
                  <a:srgbClr val="09304A"/>
                </a:solidFill>
                <a:latin typeface="Century Gothic"/>
                <a:ea typeface="Century Gothic"/>
                <a:cs typeface="Century Gothic"/>
                <a:sym typeface="Century Gothic"/>
              </a:defRPr>
            </a:lvl8pPr>
            <a:lvl9pPr indent="0" lvl="8" marL="0" marR="0" rtl="0" algn="r">
              <a:spcBef>
                <a:spcPts val="0"/>
              </a:spcBef>
              <a:buNone/>
              <a:defRPr b="0" i="0" sz="28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87569" y="211015"/>
            <a:ext cx="7385636" cy="300697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Font typeface="Century Gothic"/>
              <a:buNone/>
            </a:pPr>
            <a:r>
              <a:rPr lang="en-US">
                <a:solidFill>
                  <a:schemeClr val="dk1"/>
                </a:solidFill>
              </a:rPr>
              <a:t>PROJECT OVERVIEW</a:t>
            </a:r>
            <a:endParaRPr/>
          </a:p>
        </p:txBody>
      </p:sp>
      <p:sp>
        <p:nvSpPr>
          <p:cNvPr id="148" name="Google Shape;148;p1"/>
          <p:cNvSpPr txBox="1"/>
          <p:nvPr>
            <p:ph idx="1" type="subTitle"/>
          </p:nvPr>
        </p:nvSpPr>
        <p:spPr>
          <a:xfrm>
            <a:off x="187569" y="3609406"/>
            <a:ext cx="7134741" cy="191346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sz="1800">
                <a:solidFill>
                  <a:schemeClr val="lt1"/>
                </a:solidFill>
              </a:rPr>
              <a:t>Brazilian E-Commerce Public Dataset by Olist</a:t>
            </a:r>
            <a:endParaRPr sz="1800">
              <a:solidFill>
                <a:schemeClr val="lt1"/>
              </a:solidFill>
            </a:endParaRPr>
          </a:p>
          <a:p>
            <a:pPr indent="0" lvl="0" marL="0" rtl="0" algn="l">
              <a:spcBef>
                <a:spcPts val="960"/>
              </a:spcBef>
              <a:spcAft>
                <a:spcPts val="0"/>
              </a:spcAft>
              <a:buSzPts val="1440"/>
              <a:buNone/>
            </a:pPr>
            <a:r>
              <a:rPr lang="en-US" sz="1800">
                <a:solidFill>
                  <a:schemeClr val="lt1"/>
                </a:solidFill>
              </a:rPr>
              <a:t>Tools: DuckDB, dbt, Python, Pandas, Matplotlib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g3eeaba18fdf_0_0"/>
          <p:cNvPicPr preferRelativeResize="0"/>
          <p:nvPr/>
        </p:nvPicPr>
        <p:blipFill>
          <a:blip r:embed="rId3">
            <a:alphaModFix/>
          </a:blip>
          <a:stretch>
            <a:fillRect/>
          </a:stretch>
        </p:blipFill>
        <p:spPr>
          <a:xfrm>
            <a:off x="152400" y="917895"/>
            <a:ext cx="8839200" cy="50084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g3eeaba18fdf_0_9"/>
          <p:cNvPicPr preferRelativeResize="0"/>
          <p:nvPr/>
        </p:nvPicPr>
        <p:blipFill>
          <a:blip r:embed="rId3">
            <a:alphaModFix/>
          </a:blip>
          <a:stretch>
            <a:fillRect/>
          </a:stretch>
        </p:blipFill>
        <p:spPr>
          <a:xfrm>
            <a:off x="152400" y="844492"/>
            <a:ext cx="8839200" cy="54665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
          <p:cNvSpPr txBox="1"/>
          <p:nvPr>
            <p:ph type="title"/>
          </p:nvPr>
        </p:nvSpPr>
        <p:spPr>
          <a:xfrm>
            <a:off x="99646" y="1905000"/>
            <a:ext cx="6554867" cy="1524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Century Gothic"/>
              <a:buNone/>
            </a:pPr>
            <a:r>
              <a:rPr lang="en-US">
                <a:solidFill>
                  <a:schemeClr val="dk1"/>
                </a:solidFill>
              </a:rPr>
              <a:t>ARCHITECTURE</a:t>
            </a:r>
            <a:endParaRPr/>
          </a:p>
        </p:txBody>
      </p:sp>
      <p:sp>
        <p:nvSpPr>
          <p:cNvPr id="167" name="Google Shape;167;p2"/>
          <p:cNvSpPr txBox="1"/>
          <p:nvPr>
            <p:ph idx="1" type="body"/>
          </p:nvPr>
        </p:nvSpPr>
        <p:spPr>
          <a:xfrm>
            <a:off x="2" y="2667000"/>
            <a:ext cx="9151527" cy="2478132"/>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1440"/>
              <a:buChar char="▶"/>
            </a:pPr>
            <a:r>
              <a:rPr lang="en-US" sz="1800">
                <a:solidFill>
                  <a:schemeClr val="lt1"/>
                </a:solidFill>
              </a:rPr>
              <a:t>CSV Files → DuckDB → dbt Staging → Star Schema → dbt Tests → Analytics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
          <p:cNvSpPr txBox="1"/>
          <p:nvPr>
            <p:ph type="title"/>
          </p:nvPr>
        </p:nvSpPr>
        <p:spPr>
          <a:xfrm>
            <a:off x="228600" y="1055077"/>
            <a:ext cx="6554867" cy="109610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Century Gothic"/>
              <a:buNone/>
            </a:pPr>
            <a:r>
              <a:rPr lang="en-US">
                <a:solidFill>
                  <a:schemeClr val="dk1"/>
                </a:solidFill>
              </a:rPr>
              <a:t>STAR SCHEMA</a:t>
            </a:r>
            <a:endParaRPr/>
          </a:p>
        </p:txBody>
      </p:sp>
      <p:sp>
        <p:nvSpPr>
          <p:cNvPr id="174" name="Google Shape;174;p3"/>
          <p:cNvSpPr txBox="1"/>
          <p:nvPr>
            <p:ph idx="1" type="body"/>
          </p:nvPr>
        </p:nvSpPr>
        <p:spPr>
          <a:xfrm>
            <a:off x="228600" y="5404339"/>
            <a:ext cx="7914743" cy="1452362"/>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1440"/>
              <a:buChar char="▶"/>
            </a:pPr>
            <a:r>
              <a:rPr lang="en-US" sz="1800">
                <a:solidFill>
                  <a:schemeClr val="lt1"/>
                </a:solidFill>
              </a:rPr>
              <a:t>Fact: fact_sales</a:t>
            </a:r>
            <a:endParaRPr sz="1800">
              <a:solidFill>
                <a:schemeClr val="lt1"/>
              </a:solidFill>
            </a:endParaRPr>
          </a:p>
          <a:p>
            <a:pPr indent="-285750" lvl="0" marL="285750" rtl="0" algn="l">
              <a:spcBef>
                <a:spcPts val="960"/>
              </a:spcBef>
              <a:spcAft>
                <a:spcPts val="0"/>
              </a:spcAft>
              <a:buSzPts val="1440"/>
              <a:buChar char="▶"/>
            </a:pPr>
            <a:r>
              <a:rPr lang="en-US" sz="1800">
                <a:solidFill>
                  <a:schemeClr val="lt1"/>
                </a:solidFill>
              </a:rPr>
              <a:t>Dimensions: dim_customer, dim_product, dim_seller</a:t>
            </a:r>
            <a:endParaRPr/>
          </a:p>
        </p:txBody>
      </p:sp>
      <p:sp>
        <p:nvSpPr>
          <p:cNvPr id="175" name="Google Shape;175;p3"/>
          <p:cNvSpPr txBox="1"/>
          <p:nvPr/>
        </p:nvSpPr>
        <p:spPr>
          <a:xfrm>
            <a:off x="3109050" y="2200813"/>
            <a:ext cx="2925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lt1"/>
                </a:solidFill>
              </a:rPr>
              <a:t>stg_orders</a:t>
            </a:r>
            <a:endParaRPr sz="2000">
              <a:solidFill>
                <a:schemeClr val="lt1"/>
              </a:solidFill>
            </a:endParaRPr>
          </a:p>
          <a:p>
            <a:pPr indent="0" lvl="0" marL="0" rtl="0" algn="l">
              <a:spcBef>
                <a:spcPts val="0"/>
              </a:spcBef>
              <a:spcAft>
                <a:spcPts val="0"/>
              </a:spcAft>
              <a:buNone/>
            </a:pPr>
            <a:r>
              <a:rPr lang="en-US" sz="2000">
                <a:solidFill>
                  <a:schemeClr val="lt1"/>
                </a:solidFill>
              </a:rPr>
              <a:t>       \</a:t>
            </a:r>
            <a:endParaRPr sz="2000">
              <a:solidFill>
                <a:schemeClr val="lt1"/>
              </a:solidFill>
            </a:endParaRPr>
          </a:p>
          <a:p>
            <a:pPr indent="0" lvl="0" marL="0" rtl="0" algn="l">
              <a:spcBef>
                <a:spcPts val="0"/>
              </a:spcBef>
              <a:spcAft>
                <a:spcPts val="0"/>
              </a:spcAft>
              <a:buNone/>
            </a:pPr>
            <a:r>
              <a:rPr lang="en-US" sz="2000">
                <a:solidFill>
                  <a:schemeClr val="lt1"/>
                </a:solidFill>
              </a:rPr>
              <a:t>        --&gt; fact_sales</a:t>
            </a:r>
            <a:endParaRPr sz="2000">
              <a:solidFill>
                <a:schemeClr val="lt1"/>
              </a:solidFill>
            </a:endParaRPr>
          </a:p>
          <a:p>
            <a:pPr indent="0" lvl="0" marL="0" rtl="0" algn="l">
              <a:spcBef>
                <a:spcPts val="0"/>
              </a:spcBef>
              <a:spcAft>
                <a:spcPts val="0"/>
              </a:spcAft>
              <a:buNone/>
            </a:pPr>
            <a:r>
              <a:rPr lang="en-US" sz="2000">
                <a:solidFill>
                  <a:schemeClr val="lt1"/>
                </a:solidFill>
              </a:rPr>
              <a:t>       /</a:t>
            </a:r>
            <a:endParaRPr sz="2000">
              <a:solidFill>
                <a:schemeClr val="lt1"/>
              </a:solidFill>
            </a:endParaRPr>
          </a:p>
          <a:p>
            <a:pPr indent="0" lvl="0" marL="0" rtl="0" algn="l">
              <a:spcBef>
                <a:spcPts val="0"/>
              </a:spcBef>
              <a:spcAft>
                <a:spcPts val="0"/>
              </a:spcAft>
              <a:buNone/>
            </a:pPr>
            <a:r>
              <a:rPr lang="en-US" sz="2000">
                <a:solidFill>
                  <a:schemeClr val="lt1"/>
                </a:solidFill>
              </a:rPr>
              <a:t>stg_order_items</a:t>
            </a:r>
            <a:endParaRPr sz="2000">
              <a:solidFill>
                <a:schemeClr val="lt1"/>
              </a:solidFill>
            </a:endParaRPr>
          </a:p>
          <a:p>
            <a:pPr indent="0" lvl="0" marL="0" rtl="0" algn="l">
              <a:spcBef>
                <a:spcPts val="0"/>
              </a:spcBef>
              <a:spcAft>
                <a:spcPts val="0"/>
              </a:spcAft>
              <a:buNone/>
            </a:pPr>
            <a:r>
              <a:t/>
            </a:r>
            <a:endParaRPr sz="2000">
              <a:solidFill>
                <a:schemeClr val="lt1"/>
              </a:solidFill>
            </a:endParaRPr>
          </a:p>
          <a:p>
            <a:pPr indent="0" lvl="0" marL="0" rtl="0" algn="l">
              <a:spcBef>
                <a:spcPts val="0"/>
              </a:spcBef>
              <a:spcAft>
                <a:spcPts val="0"/>
              </a:spcAft>
              <a:buNone/>
            </a:pPr>
            <a:r>
              <a:rPr lang="en-US" sz="2000">
                <a:solidFill>
                  <a:schemeClr val="lt1"/>
                </a:solidFill>
              </a:rPr>
              <a:t>dim_customer</a:t>
            </a:r>
            <a:endParaRPr sz="2000">
              <a:solidFill>
                <a:schemeClr val="lt1"/>
              </a:solidFill>
            </a:endParaRPr>
          </a:p>
          <a:p>
            <a:pPr indent="0" lvl="0" marL="0" rtl="0" algn="l">
              <a:spcBef>
                <a:spcPts val="0"/>
              </a:spcBef>
              <a:spcAft>
                <a:spcPts val="0"/>
              </a:spcAft>
              <a:buNone/>
            </a:pPr>
            <a:r>
              <a:rPr lang="en-US" sz="2000">
                <a:solidFill>
                  <a:schemeClr val="lt1"/>
                </a:solidFill>
              </a:rPr>
              <a:t>dim_product</a:t>
            </a:r>
            <a:endParaRPr sz="2000">
              <a:solidFill>
                <a:schemeClr val="lt1"/>
              </a:solidFill>
            </a:endParaRPr>
          </a:p>
          <a:p>
            <a:pPr indent="0" lvl="0" marL="0" rtl="0" algn="l">
              <a:spcBef>
                <a:spcPts val="0"/>
              </a:spcBef>
              <a:spcAft>
                <a:spcPts val="0"/>
              </a:spcAft>
              <a:buNone/>
            </a:pPr>
            <a:r>
              <a:rPr lang="en-US" sz="2000">
                <a:solidFill>
                  <a:schemeClr val="lt1"/>
                </a:solidFill>
              </a:rPr>
              <a:t>dim_seller</a:t>
            </a:r>
            <a:endParaRPr sz="20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
          <p:cNvSpPr/>
          <p:nvPr/>
        </p:nvSpPr>
        <p:spPr>
          <a:xfrm>
            <a:off x="-2665" y="10702"/>
            <a:ext cx="9149326" cy="683695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2" name="Google Shape;182;p4"/>
          <p:cNvSpPr/>
          <p:nvPr/>
        </p:nvSpPr>
        <p:spPr>
          <a:xfrm>
            <a:off x="1954" y="2354"/>
            <a:ext cx="88769" cy="6438188"/>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3" name="Google Shape;183;p4"/>
          <p:cNvSpPr/>
          <p:nvPr/>
        </p:nvSpPr>
        <p:spPr>
          <a:xfrm>
            <a:off x="-1421" y="6462268"/>
            <a:ext cx="9143467" cy="398211"/>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4" name="Google Shape;184;p4"/>
          <p:cNvSpPr/>
          <p:nvPr/>
        </p:nvSpPr>
        <p:spPr>
          <a:xfrm>
            <a:off x="457200" y="1588770"/>
            <a:ext cx="822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lt1"/>
              </a:solidFill>
              <a:latin typeface="Century Gothic"/>
              <a:ea typeface="Century Gothic"/>
              <a:cs typeface="Century Gothic"/>
              <a:sym typeface="Century Gothic"/>
            </a:endParaRPr>
          </a:p>
        </p:txBody>
      </p:sp>
      <p:sp>
        <p:nvSpPr>
          <p:cNvPr id="185" name="Google Shape;185;p4"/>
          <p:cNvSpPr/>
          <p:nvPr/>
        </p:nvSpPr>
        <p:spPr>
          <a:xfrm>
            <a:off x="623453" y="2037194"/>
            <a:ext cx="7947893" cy="9735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5200">
                <a:solidFill>
                  <a:srgbClr val="FFFFFF"/>
                </a:solidFill>
                <a:latin typeface="Century Gothic"/>
                <a:ea typeface="Century Gothic"/>
                <a:cs typeface="Century Gothic"/>
                <a:sym typeface="Century Gothic"/>
              </a:rPr>
              <a:t>Data Quality</a:t>
            </a:r>
            <a:endParaRPr sz="5200">
              <a:solidFill>
                <a:schemeClr val="lt1"/>
              </a:solidFill>
              <a:latin typeface="Century Gothic"/>
              <a:ea typeface="Century Gothic"/>
              <a:cs typeface="Century Gothic"/>
              <a:sym typeface="Century Gothic"/>
            </a:endParaRPr>
          </a:p>
        </p:txBody>
      </p:sp>
      <p:sp>
        <p:nvSpPr>
          <p:cNvPr id="186" name="Google Shape;186;p4"/>
          <p:cNvSpPr/>
          <p:nvPr/>
        </p:nvSpPr>
        <p:spPr>
          <a:xfrm>
            <a:off x="669636" y="3014866"/>
            <a:ext cx="7897090" cy="4941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rgbClr val="A0C4F0"/>
                </a:solidFill>
                <a:latin typeface="Century Gothic"/>
                <a:ea typeface="Century Gothic"/>
                <a:cs typeface="Century Gothic"/>
                <a:sym typeface="Century Gothic"/>
              </a:rPr>
              <a:t>Olist Brazilian E-Commerce Project</a:t>
            </a:r>
            <a:endParaRPr sz="2000">
              <a:solidFill>
                <a:schemeClr val="lt1"/>
              </a:solidFill>
              <a:latin typeface="Century Gothic"/>
              <a:ea typeface="Century Gothic"/>
              <a:cs typeface="Century Gothic"/>
              <a:sym typeface="Century Gothic"/>
            </a:endParaRPr>
          </a:p>
        </p:txBody>
      </p:sp>
      <p:sp>
        <p:nvSpPr>
          <p:cNvPr id="187" name="Google Shape;187;p4"/>
          <p:cNvSpPr/>
          <p:nvPr/>
        </p:nvSpPr>
        <p:spPr>
          <a:xfrm>
            <a:off x="771236" y="3783330"/>
            <a:ext cx="2377440" cy="384048"/>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8" name="Google Shape;188;p4"/>
          <p:cNvSpPr/>
          <p:nvPr/>
        </p:nvSpPr>
        <p:spPr>
          <a:xfrm>
            <a:off x="595745" y="3783330"/>
            <a:ext cx="2377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dbt Native Tests</a:t>
            </a:r>
            <a:endParaRPr sz="1300">
              <a:solidFill>
                <a:schemeClr val="lt1"/>
              </a:solidFill>
              <a:latin typeface="Century Gothic"/>
              <a:ea typeface="Century Gothic"/>
              <a:cs typeface="Century Gothic"/>
              <a:sym typeface="Century Gothic"/>
            </a:endParaRPr>
          </a:p>
        </p:txBody>
      </p:sp>
      <p:sp>
        <p:nvSpPr>
          <p:cNvPr id="189" name="Google Shape;189;p4"/>
          <p:cNvSpPr/>
          <p:nvPr/>
        </p:nvSpPr>
        <p:spPr>
          <a:xfrm>
            <a:off x="3376814" y="3783330"/>
            <a:ext cx="2377440" cy="384048"/>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0" name="Google Shape;190;p4"/>
          <p:cNvSpPr/>
          <p:nvPr/>
        </p:nvSpPr>
        <p:spPr>
          <a:xfrm>
            <a:off x="3376814" y="3783330"/>
            <a:ext cx="2377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data_quality.py</a:t>
            </a:r>
            <a:endParaRPr sz="1300">
              <a:solidFill>
                <a:schemeClr val="lt1"/>
              </a:solidFill>
              <a:latin typeface="Century Gothic"/>
              <a:ea typeface="Century Gothic"/>
              <a:cs typeface="Century Gothic"/>
              <a:sym typeface="Century Gothic"/>
            </a:endParaRPr>
          </a:p>
        </p:txBody>
      </p:sp>
      <p:sp>
        <p:nvSpPr>
          <p:cNvPr id="191" name="Google Shape;191;p4"/>
          <p:cNvSpPr/>
          <p:nvPr/>
        </p:nvSpPr>
        <p:spPr>
          <a:xfrm>
            <a:off x="5982393" y="3783330"/>
            <a:ext cx="2377440" cy="384048"/>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2" name="Google Shape;192;p4"/>
          <p:cNvSpPr/>
          <p:nvPr/>
        </p:nvSpPr>
        <p:spPr>
          <a:xfrm>
            <a:off x="5982393" y="3783330"/>
            <a:ext cx="2377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Two-Layer Approach</a:t>
            </a:r>
            <a:endParaRPr sz="1300">
              <a:solidFill>
                <a:schemeClr val="lt1"/>
              </a:solidFill>
              <a:latin typeface="Century Gothic"/>
              <a:ea typeface="Century Gothic"/>
              <a:cs typeface="Century Gothic"/>
              <a:sym typeface="Century Gothic"/>
            </a:endParaRPr>
          </a:p>
        </p:txBody>
      </p:sp>
      <p:sp>
        <p:nvSpPr>
          <p:cNvPr id="193" name="Google Shape;193;p4"/>
          <p:cNvSpPr/>
          <p:nvPr/>
        </p:nvSpPr>
        <p:spPr>
          <a:xfrm>
            <a:off x="8046720" y="5630418"/>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5"/>
          <p:cNvSpPr/>
          <p:nvPr/>
        </p:nvSpPr>
        <p:spPr>
          <a:xfrm>
            <a:off x="-15630" y="223"/>
            <a:ext cx="9181122" cy="6862528"/>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0" name="Google Shape;200;p5"/>
          <p:cNvSpPr/>
          <p:nvPr/>
        </p:nvSpPr>
        <p:spPr>
          <a:xfrm>
            <a:off x="401781" y="5625984"/>
            <a:ext cx="8340438" cy="374766"/>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1" name="Google Shape;201;p5"/>
          <p:cNvSpPr/>
          <p:nvPr/>
        </p:nvSpPr>
        <p:spPr>
          <a:xfrm>
            <a:off x="411480" y="1113282"/>
            <a:ext cx="2194560" cy="292608"/>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2" name="Google Shape;202;p5"/>
          <p:cNvSpPr/>
          <p:nvPr/>
        </p:nvSpPr>
        <p:spPr>
          <a:xfrm>
            <a:off x="411480" y="111328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00">
                <a:solidFill>
                  <a:srgbClr val="FFFFFF"/>
                </a:solidFill>
                <a:latin typeface="Century Gothic"/>
                <a:ea typeface="Century Gothic"/>
                <a:cs typeface="Century Gothic"/>
                <a:sym typeface="Century Gothic"/>
              </a:rPr>
              <a:t>Overview</a:t>
            </a:r>
            <a:endParaRPr sz="1000">
              <a:solidFill>
                <a:schemeClr val="lt1"/>
              </a:solidFill>
              <a:latin typeface="Century Gothic"/>
              <a:ea typeface="Century Gothic"/>
              <a:cs typeface="Century Gothic"/>
              <a:sym typeface="Century Gothic"/>
            </a:endParaRPr>
          </a:p>
        </p:txBody>
      </p:sp>
      <p:sp>
        <p:nvSpPr>
          <p:cNvPr id="203" name="Google Shape;203;p5"/>
          <p:cNvSpPr/>
          <p:nvPr/>
        </p:nvSpPr>
        <p:spPr>
          <a:xfrm>
            <a:off x="411480" y="1497330"/>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1A3A5C"/>
                </a:solidFill>
                <a:latin typeface="Century Gothic"/>
                <a:ea typeface="Century Gothic"/>
                <a:cs typeface="Century Gothic"/>
                <a:sym typeface="Century Gothic"/>
              </a:rPr>
              <a:t>A Two-Layer Quality Approach</a:t>
            </a:r>
            <a:endParaRPr sz="2800">
              <a:solidFill>
                <a:schemeClr val="lt1"/>
              </a:solidFill>
              <a:latin typeface="Century Gothic"/>
              <a:ea typeface="Century Gothic"/>
              <a:cs typeface="Century Gothic"/>
              <a:sym typeface="Century Gothic"/>
            </a:endParaRPr>
          </a:p>
        </p:txBody>
      </p:sp>
      <p:cxnSp>
        <p:nvCxnSpPr>
          <p:cNvPr id="204" name="Google Shape;204;p5"/>
          <p:cNvCxnSpPr/>
          <p:nvPr/>
        </p:nvCxnSpPr>
        <p:spPr>
          <a:xfrm>
            <a:off x="411480" y="2064258"/>
            <a:ext cx="8321040" cy="0"/>
          </a:xfrm>
          <a:prstGeom prst="straightConnector1">
            <a:avLst/>
          </a:prstGeom>
          <a:noFill/>
          <a:ln cap="flat" cmpd="sng" w="19050">
            <a:solidFill>
              <a:srgbClr val="1A5EA8"/>
            </a:solidFill>
            <a:prstDash val="solid"/>
            <a:round/>
            <a:headEnd len="sm" w="sm" type="none"/>
            <a:tailEnd len="sm" w="sm" type="none"/>
          </a:ln>
        </p:spPr>
      </p:cxnSp>
      <p:sp>
        <p:nvSpPr>
          <p:cNvPr id="205" name="Google Shape;205;p5"/>
          <p:cNvSpPr/>
          <p:nvPr/>
        </p:nvSpPr>
        <p:spPr>
          <a:xfrm>
            <a:off x="411480" y="2228850"/>
            <a:ext cx="3931920" cy="3017520"/>
          </a:xfrm>
          <a:prstGeom prst="rect">
            <a:avLst/>
          </a:prstGeom>
          <a:solidFill>
            <a:srgbClr val="EAF3DE"/>
          </a:solidFill>
          <a:ln cap="flat" cmpd="sng" w="12700">
            <a:solidFill>
              <a:srgbClr val="B8D9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6" name="Google Shape;206;p5"/>
          <p:cNvSpPr/>
          <p:nvPr/>
        </p:nvSpPr>
        <p:spPr>
          <a:xfrm>
            <a:off x="411480" y="2228850"/>
            <a:ext cx="3931920" cy="475488"/>
          </a:xfrm>
          <a:prstGeom prst="rect">
            <a:avLst/>
          </a:prstGeom>
          <a:solidFill>
            <a:srgbClr val="3B6D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7" name="Google Shape;207;p5"/>
          <p:cNvSpPr/>
          <p:nvPr/>
        </p:nvSpPr>
        <p:spPr>
          <a:xfrm>
            <a:off x="411480" y="2228850"/>
            <a:ext cx="39319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500">
                <a:solidFill>
                  <a:srgbClr val="FFFFFF"/>
                </a:solidFill>
                <a:latin typeface="Century Gothic"/>
                <a:ea typeface="Century Gothic"/>
                <a:cs typeface="Century Gothic"/>
                <a:sym typeface="Century Gothic"/>
              </a:rPr>
              <a:t>Layer 1 — dbt</a:t>
            </a:r>
            <a:endParaRPr sz="1500">
              <a:solidFill>
                <a:schemeClr val="lt1"/>
              </a:solidFill>
              <a:latin typeface="Century Gothic"/>
              <a:ea typeface="Century Gothic"/>
              <a:cs typeface="Century Gothic"/>
              <a:sym typeface="Century Gothic"/>
            </a:endParaRPr>
          </a:p>
        </p:txBody>
      </p:sp>
      <p:sp>
        <p:nvSpPr>
          <p:cNvPr id="208" name="Google Shape;208;p5"/>
          <p:cNvSpPr/>
          <p:nvPr/>
        </p:nvSpPr>
        <p:spPr>
          <a:xfrm>
            <a:off x="594360" y="2823210"/>
            <a:ext cx="3566160" cy="219456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None/>
            </a:pPr>
            <a:r>
              <a:rPr lang="en-US" sz="1400">
                <a:solidFill>
                  <a:srgbClr val="1A3A5C"/>
                </a:solidFill>
                <a:latin typeface="Century Gothic"/>
                <a:ea typeface="Century Gothic"/>
                <a:cs typeface="Century Gothic"/>
                <a:sym typeface="Century Gothic"/>
              </a:rPr>
              <a:t>Structural integrity</a:t>
            </a:r>
            <a:br>
              <a:rPr lang="en-US" sz="1400">
                <a:solidFill>
                  <a:srgbClr val="1A3A5C"/>
                </a:solidFill>
                <a:latin typeface="Century Gothic"/>
                <a:ea typeface="Century Gothic"/>
                <a:cs typeface="Century Gothic"/>
                <a:sym typeface="Century Gothic"/>
              </a:rPr>
            </a:br>
            <a:endParaRPr sz="1400">
              <a:solidFill>
                <a:schemeClr val="lt1"/>
              </a:solidFill>
              <a:latin typeface="Century Gothic"/>
              <a:ea typeface="Century Gothic"/>
              <a:cs typeface="Century Gothic"/>
              <a:sym typeface="Century Gothic"/>
            </a:endParaRPr>
          </a:p>
          <a:p>
            <a:pPr indent="0" lvl="0" marL="0" marR="0" rtl="0" algn="l">
              <a:lnSpc>
                <a:spcPct val="140000"/>
              </a:lnSpc>
              <a:spcBef>
                <a:spcPts val="0"/>
              </a:spcBef>
              <a:spcAft>
                <a:spcPts val="0"/>
              </a:spcAft>
              <a:buNone/>
            </a:pPr>
            <a:r>
              <a:rPr lang="en-US" sz="1400">
                <a:solidFill>
                  <a:srgbClr val="1A3A5C"/>
                </a:solidFill>
                <a:latin typeface="Century Gothic"/>
                <a:ea typeface="Century Gothic"/>
                <a:cs typeface="Century Gothic"/>
                <a:sym typeface="Century Gothic"/>
              </a:rPr>
              <a:t>unique + not_null tests</a:t>
            </a:r>
            <a:br>
              <a:rPr lang="en-US" sz="1400">
                <a:solidFill>
                  <a:srgbClr val="1A3A5C"/>
                </a:solidFill>
                <a:latin typeface="Century Gothic"/>
                <a:ea typeface="Century Gothic"/>
                <a:cs typeface="Century Gothic"/>
                <a:sym typeface="Century Gothic"/>
              </a:rPr>
            </a:br>
            <a:endParaRPr sz="1400">
              <a:solidFill>
                <a:schemeClr val="lt1"/>
              </a:solidFill>
              <a:latin typeface="Century Gothic"/>
              <a:ea typeface="Century Gothic"/>
              <a:cs typeface="Century Gothic"/>
              <a:sym typeface="Century Gothic"/>
            </a:endParaRPr>
          </a:p>
          <a:p>
            <a:pPr indent="0" lvl="0" marL="0" marR="0" rtl="0" algn="l">
              <a:lnSpc>
                <a:spcPct val="140000"/>
              </a:lnSpc>
              <a:spcBef>
                <a:spcPts val="0"/>
              </a:spcBef>
              <a:spcAft>
                <a:spcPts val="0"/>
              </a:spcAft>
              <a:buNone/>
            </a:pPr>
            <a:r>
              <a:rPr lang="en-US" sz="1400">
                <a:solidFill>
                  <a:srgbClr val="1A3A5C"/>
                </a:solidFill>
                <a:latin typeface="Century Gothic"/>
                <a:ea typeface="Century Gothic"/>
                <a:cs typeface="Century Gothic"/>
                <a:sym typeface="Century Gothic"/>
              </a:rPr>
              <a:t>Runs on every model refresh</a:t>
            </a:r>
            <a:br>
              <a:rPr lang="en-US" sz="1400">
                <a:solidFill>
                  <a:srgbClr val="1A3A5C"/>
                </a:solidFill>
                <a:latin typeface="Century Gothic"/>
                <a:ea typeface="Century Gothic"/>
                <a:cs typeface="Century Gothic"/>
                <a:sym typeface="Century Gothic"/>
              </a:rPr>
            </a:br>
            <a:endParaRPr sz="1400">
              <a:solidFill>
                <a:schemeClr val="lt1"/>
              </a:solidFill>
              <a:latin typeface="Century Gothic"/>
              <a:ea typeface="Century Gothic"/>
              <a:cs typeface="Century Gothic"/>
              <a:sym typeface="Century Gothic"/>
            </a:endParaRPr>
          </a:p>
          <a:p>
            <a:pPr indent="0" lvl="0" marL="0" marR="0" rtl="0" algn="l">
              <a:lnSpc>
                <a:spcPct val="140000"/>
              </a:lnSpc>
              <a:spcBef>
                <a:spcPts val="0"/>
              </a:spcBef>
              <a:spcAft>
                <a:spcPts val="0"/>
              </a:spcAft>
              <a:buNone/>
            </a:pPr>
            <a:r>
              <a:rPr lang="en-US" sz="1400">
                <a:solidFill>
                  <a:srgbClr val="1A3A5C"/>
                </a:solidFill>
                <a:latin typeface="Century Gothic"/>
                <a:ea typeface="Century Gothic"/>
                <a:cs typeface="Century Gothic"/>
                <a:sym typeface="Century Gothic"/>
              </a:rPr>
              <a:t>7 tests — all passed</a:t>
            </a:r>
            <a:endParaRPr sz="1400">
              <a:solidFill>
                <a:schemeClr val="lt1"/>
              </a:solidFill>
              <a:latin typeface="Century Gothic"/>
              <a:ea typeface="Century Gothic"/>
              <a:cs typeface="Century Gothic"/>
              <a:sym typeface="Century Gothic"/>
            </a:endParaRPr>
          </a:p>
        </p:txBody>
      </p:sp>
      <p:sp>
        <p:nvSpPr>
          <p:cNvPr id="209" name="Google Shape;209;p5"/>
          <p:cNvSpPr/>
          <p:nvPr/>
        </p:nvSpPr>
        <p:spPr>
          <a:xfrm>
            <a:off x="4800600" y="2228850"/>
            <a:ext cx="3931920" cy="3017520"/>
          </a:xfrm>
          <a:prstGeom prst="rect">
            <a:avLst/>
          </a:prstGeom>
          <a:solidFill>
            <a:srgbClr val="EEEDFE"/>
          </a:solidFill>
          <a:ln cap="flat" cmpd="sng" w="12700">
            <a:solidFill>
              <a:srgbClr val="C5C0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0" name="Google Shape;210;p5"/>
          <p:cNvSpPr/>
          <p:nvPr/>
        </p:nvSpPr>
        <p:spPr>
          <a:xfrm>
            <a:off x="4800600" y="2228850"/>
            <a:ext cx="3931920" cy="475488"/>
          </a:xfrm>
          <a:prstGeom prst="rect">
            <a:avLst/>
          </a:prstGeom>
          <a:solidFill>
            <a:srgbClr val="3C34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1" name="Google Shape;211;p5"/>
          <p:cNvSpPr/>
          <p:nvPr/>
        </p:nvSpPr>
        <p:spPr>
          <a:xfrm>
            <a:off x="4800600" y="2228850"/>
            <a:ext cx="39319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500">
                <a:solidFill>
                  <a:srgbClr val="FFFFFF"/>
                </a:solidFill>
                <a:latin typeface="Century Gothic"/>
                <a:ea typeface="Century Gothic"/>
                <a:cs typeface="Century Gothic"/>
                <a:sym typeface="Century Gothic"/>
              </a:rPr>
              <a:t>Layer 2 — Python</a:t>
            </a:r>
            <a:endParaRPr sz="1500">
              <a:solidFill>
                <a:schemeClr val="lt1"/>
              </a:solidFill>
              <a:latin typeface="Century Gothic"/>
              <a:ea typeface="Century Gothic"/>
              <a:cs typeface="Century Gothic"/>
              <a:sym typeface="Century Gothic"/>
            </a:endParaRPr>
          </a:p>
        </p:txBody>
      </p:sp>
      <p:sp>
        <p:nvSpPr>
          <p:cNvPr id="212" name="Google Shape;212;p5"/>
          <p:cNvSpPr/>
          <p:nvPr/>
        </p:nvSpPr>
        <p:spPr>
          <a:xfrm>
            <a:off x="4983480" y="2823210"/>
            <a:ext cx="3566160" cy="219456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None/>
            </a:pPr>
            <a:r>
              <a:rPr lang="en-US" sz="1400">
                <a:solidFill>
                  <a:srgbClr val="1A3A5C"/>
                </a:solidFill>
                <a:latin typeface="Century Gothic"/>
                <a:ea typeface="Century Gothic"/>
                <a:cs typeface="Century Gothic"/>
                <a:sym typeface="Century Gothic"/>
              </a:rPr>
              <a:t>Business rule checks</a:t>
            </a:r>
            <a:br>
              <a:rPr lang="en-US" sz="1400">
                <a:solidFill>
                  <a:srgbClr val="1A3A5C"/>
                </a:solidFill>
                <a:latin typeface="Century Gothic"/>
                <a:ea typeface="Century Gothic"/>
                <a:cs typeface="Century Gothic"/>
                <a:sym typeface="Century Gothic"/>
              </a:rPr>
            </a:br>
            <a:endParaRPr sz="1400">
              <a:solidFill>
                <a:schemeClr val="lt1"/>
              </a:solidFill>
              <a:latin typeface="Century Gothic"/>
              <a:ea typeface="Century Gothic"/>
              <a:cs typeface="Century Gothic"/>
              <a:sym typeface="Century Gothic"/>
            </a:endParaRPr>
          </a:p>
          <a:p>
            <a:pPr indent="0" lvl="0" marL="0" marR="0" rtl="0" algn="l">
              <a:lnSpc>
                <a:spcPct val="140000"/>
              </a:lnSpc>
              <a:spcBef>
                <a:spcPts val="0"/>
              </a:spcBef>
              <a:spcAft>
                <a:spcPts val="0"/>
              </a:spcAft>
              <a:buNone/>
            </a:pPr>
            <a:r>
              <a:rPr lang="en-US" sz="1400">
                <a:solidFill>
                  <a:srgbClr val="1A3A5C"/>
                </a:solidFill>
                <a:latin typeface="Century Gothic"/>
                <a:ea typeface="Century Gothic"/>
                <a:cs typeface="Century Gothic"/>
                <a:sym typeface="Century Gothic"/>
              </a:rPr>
              <a:t>Null FKs + negative amounts</a:t>
            </a:r>
            <a:br>
              <a:rPr lang="en-US" sz="1400">
                <a:solidFill>
                  <a:srgbClr val="1A3A5C"/>
                </a:solidFill>
                <a:latin typeface="Century Gothic"/>
                <a:ea typeface="Century Gothic"/>
                <a:cs typeface="Century Gothic"/>
                <a:sym typeface="Century Gothic"/>
              </a:rPr>
            </a:br>
            <a:endParaRPr sz="1400">
              <a:solidFill>
                <a:schemeClr val="lt1"/>
              </a:solidFill>
              <a:latin typeface="Century Gothic"/>
              <a:ea typeface="Century Gothic"/>
              <a:cs typeface="Century Gothic"/>
              <a:sym typeface="Century Gothic"/>
            </a:endParaRPr>
          </a:p>
          <a:p>
            <a:pPr indent="0" lvl="0" marL="0" marR="0" rtl="0" algn="l">
              <a:lnSpc>
                <a:spcPct val="140000"/>
              </a:lnSpc>
              <a:spcBef>
                <a:spcPts val="0"/>
              </a:spcBef>
              <a:spcAft>
                <a:spcPts val="0"/>
              </a:spcAft>
              <a:buNone/>
            </a:pPr>
            <a:r>
              <a:rPr lang="en-US" sz="1400">
                <a:solidFill>
                  <a:srgbClr val="1A3A5C"/>
                </a:solidFill>
                <a:latin typeface="Century Gothic"/>
                <a:ea typeface="Century Gothic"/>
                <a:cs typeface="Century Gothic"/>
                <a:sym typeface="Century Gothic"/>
              </a:rPr>
              <a:t>SQL run against DuckDB</a:t>
            </a:r>
            <a:br>
              <a:rPr lang="en-US" sz="1400">
                <a:solidFill>
                  <a:srgbClr val="1A3A5C"/>
                </a:solidFill>
                <a:latin typeface="Century Gothic"/>
                <a:ea typeface="Century Gothic"/>
                <a:cs typeface="Century Gothic"/>
                <a:sym typeface="Century Gothic"/>
              </a:rPr>
            </a:br>
            <a:endParaRPr sz="1400">
              <a:solidFill>
                <a:schemeClr val="lt1"/>
              </a:solidFill>
              <a:latin typeface="Century Gothic"/>
              <a:ea typeface="Century Gothic"/>
              <a:cs typeface="Century Gothic"/>
              <a:sym typeface="Century Gothic"/>
            </a:endParaRPr>
          </a:p>
          <a:p>
            <a:pPr indent="0" lvl="0" marL="0" marR="0" rtl="0" algn="l">
              <a:lnSpc>
                <a:spcPct val="140000"/>
              </a:lnSpc>
              <a:spcBef>
                <a:spcPts val="0"/>
              </a:spcBef>
              <a:spcAft>
                <a:spcPts val="0"/>
              </a:spcAft>
              <a:buNone/>
            </a:pPr>
            <a:r>
              <a:rPr lang="en-US" sz="1400">
                <a:solidFill>
                  <a:srgbClr val="1A3A5C"/>
                </a:solidFill>
                <a:latin typeface="Century Gothic"/>
                <a:ea typeface="Century Gothic"/>
                <a:cs typeface="Century Gothic"/>
                <a:sym typeface="Century Gothic"/>
              </a:rPr>
              <a:t>4 custom checks</a:t>
            </a:r>
            <a:endParaRPr sz="1400">
              <a:solidFill>
                <a:schemeClr val="lt1"/>
              </a:solidFill>
              <a:latin typeface="Century Gothic"/>
              <a:ea typeface="Century Gothic"/>
              <a:cs typeface="Century Gothic"/>
              <a:sym typeface="Century Gothic"/>
            </a:endParaRPr>
          </a:p>
        </p:txBody>
      </p:sp>
      <p:sp>
        <p:nvSpPr>
          <p:cNvPr id="213" name="Google Shape;213;p5"/>
          <p:cNvSpPr/>
          <p:nvPr/>
        </p:nvSpPr>
        <p:spPr>
          <a:xfrm>
            <a:off x="4370832" y="3509010"/>
            <a:ext cx="402336" cy="402336"/>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4" name="Google Shape;214;p5"/>
          <p:cNvSpPr/>
          <p:nvPr/>
        </p:nvSpPr>
        <p:spPr>
          <a:xfrm>
            <a:off x="4370832" y="350901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2000">
                <a:solidFill>
                  <a:srgbClr val="FFFFFF"/>
                </a:solidFill>
                <a:latin typeface="Century Gothic"/>
                <a:ea typeface="Century Gothic"/>
                <a:cs typeface="Century Gothic"/>
                <a:sym typeface="Century Gothic"/>
              </a:rPr>
              <a:t>+</a:t>
            </a:r>
            <a:endParaRPr sz="2000">
              <a:solidFill>
                <a:schemeClr val="lt1"/>
              </a:solidFill>
              <a:latin typeface="Century Gothic"/>
              <a:ea typeface="Century Gothic"/>
              <a:cs typeface="Century Gothic"/>
              <a:sym typeface="Century Gothic"/>
            </a:endParaRPr>
          </a:p>
        </p:txBody>
      </p:sp>
      <p:sp>
        <p:nvSpPr>
          <p:cNvPr id="215" name="Google Shape;215;p5"/>
          <p:cNvSpPr/>
          <p:nvPr/>
        </p:nvSpPr>
        <p:spPr>
          <a:xfrm>
            <a:off x="8046720" y="5630418"/>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6"/>
          <p:cNvSpPr/>
          <p:nvPr/>
        </p:nvSpPr>
        <p:spPr>
          <a:xfrm>
            <a:off x="-1777" y="-131"/>
            <a:ext cx="9148796" cy="6864125"/>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2" name="Google Shape;222;p6"/>
          <p:cNvSpPr/>
          <p:nvPr/>
        </p:nvSpPr>
        <p:spPr>
          <a:xfrm>
            <a:off x="397164" y="6060093"/>
            <a:ext cx="8326580" cy="370148"/>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3" name="Google Shape;223;p6"/>
          <p:cNvSpPr/>
          <p:nvPr/>
        </p:nvSpPr>
        <p:spPr>
          <a:xfrm>
            <a:off x="397625" y="1261064"/>
            <a:ext cx="2194560" cy="292608"/>
          </a:xfrm>
          <a:prstGeom prst="rect">
            <a:avLst/>
          </a:prstGeom>
          <a:solidFill>
            <a:srgbClr val="3B6D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4" name="Google Shape;224;p6"/>
          <p:cNvSpPr/>
          <p:nvPr/>
        </p:nvSpPr>
        <p:spPr>
          <a:xfrm>
            <a:off x="328353" y="1261064"/>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00">
                <a:solidFill>
                  <a:srgbClr val="FFFFFF"/>
                </a:solidFill>
                <a:latin typeface="Century Gothic"/>
                <a:ea typeface="Century Gothic"/>
                <a:cs typeface="Century Gothic"/>
                <a:sym typeface="Century Gothic"/>
              </a:rPr>
              <a:t>Layer 1 — dbt</a:t>
            </a:r>
            <a:endParaRPr sz="1000">
              <a:solidFill>
                <a:schemeClr val="lt1"/>
              </a:solidFill>
              <a:latin typeface="Century Gothic"/>
              <a:ea typeface="Century Gothic"/>
              <a:cs typeface="Century Gothic"/>
              <a:sym typeface="Century Gothic"/>
            </a:endParaRPr>
          </a:p>
        </p:txBody>
      </p:sp>
      <p:sp>
        <p:nvSpPr>
          <p:cNvPr id="225" name="Google Shape;225;p6"/>
          <p:cNvSpPr/>
          <p:nvPr/>
        </p:nvSpPr>
        <p:spPr>
          <a:xfrm>
            <a:off x="619298" y="1645112"/>
            <a:ext cx="8034713"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1A3A5C"/>
                </a:solidFill>
                <a:latin typeface="Century Gothic"/>
                <a:ea typeface="Century Gothic"/>
                <a:cs typeface="Century Gothic"/>
                <a:sym typeface="Century Gothic"/>
              </a:rPr>
              <a:t>dbt Native Tests</a:t>
            </a:r>
            <a:endParaRPr sz="2800">
              <a:solidFill>
                <a:schemeClr val="lt1"/>
              </a:solidFill>
              <a:latin typeface="Century Gothic"/>
              <a:ea typeface="Century Gothic"/>
              <a:cs typeface="Century Gothic"/>
              <a:sym typeface="Century Gothic"/>
            </a:endParaRPr>
          </a:p>
        </p:txBody>
      </p:sp>
      <p:cxnSp>
        <p:nvCxnSpPr>
          <p:cNvPr id="226" name="Google Shape;226;p6"/>
          <p:cNvCxnSpPr/>
          <p:nvPr/>
        </p:nvCxnSpPr>
        <p:spPr>
          <a:xfrm flipH="1" rot="10800000">
            <a:off x="457662" y="2105826"/>
            <a:ext cx="8154786" cy="87742"/>
          </a:xfrm>
          <a:prstGeom prst="straightConnector1">
            <a:avLst/>
          </a:prstGeom>
          <a:noFill/>
          <a:ln cap="flat" cmpd="sng" w="19050">
            <a:solidFill>
              <a:srgbClr val="3B6D11"/>
            </a:solidFill>
            <a:prstDash val="solid"/>
            <a:round/>
            <a:headEnd len="sm" w="sm" type="none"/>
            <a:tailEnd len="sm" w="sm" type="none"/>
          </a:ln>
        </p:spPr>
      </p:cxnSp>
      <p:sp>
        <p:nvSpPr>
          <p:cNvPr id="227" name="Google Shape;227;p6"/>
          <p:cNvSpPr/>
          <p:nvPr/>
        </p:nvSpPr>
        <p:spPr>
          <a:xfrm>
            <a:off x="660861" y="2376632"/>
            <a:ext cx="2331720" cy="384048"/>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8" name="Google Shape;228;p6"/>
          <p:cNvSpPr/>
          <p:nvPr/>
        </p:nvSpPr>
        <p:spPr>
          <a:xfrm>
            <a:off x="328353" y="2376632"/>
            <a:ext cx="2331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Table</a:t>
            </a:r>
            <a:endParaRPr sz="1300">
              <a:solidFill>
                <a:schemeClr val="lt1"/>
              </a:solidFill>
              <a:latin typeface="Century Gothic"/>
              <a:ea typeface="Century Gothic"/>
              <a:cs typeface="Century Gothic"/>
              <a:sym typeface="Century Gothic"/>
            </a:endParaRPr>
          </a:p>
        </p:txBody>
      </p:sp>
      <p:sp>
        <p:nvSpPr>
          <p:cNvPr id="229" name="Google Shape;229;p6"/>
          <p:cNvSpPr/>
          <p:nvPr/>
        </p:nvSpPr>
        <p:spPr>
          <a:xfrm>
            <a:off x="3084021" y="2376632"/>
            <a:ext cx="2560320" cy="384048"/>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0" name="Google Shape;230;p6"/>
          <p:cNvSpPr/>
          <p:nvPr/>
        </p:nvSpPr>
        <p:spPr>
          <a:xfrm>
            <a:off x="2751513" y="2376632"/>
            <a:ext cx="2560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Column</a:t>
            </a:r>
            <a:endParaRPr sz="1300">
              <a:solidFill>
                <a:schemeClr val="lt1"/>
              </a:solidFill>
              <a:latin typeface="Century Gothic"/>
              <a:ea typeface="Century Gothic"/>
              <a:cs typeface="Century Gothic"/>
              <a:sym typeface="Century Gothic"/>
            </a:endParaRPr>
          </a:p>
        </p:txBody>
      </p:sp>
      <p:sp>
        <p:nvSpPr>
          <p:cNvPr id="231" name="Google Shape;231;p6"/>
          <p:cNvSpPr/>
          <p:nvPr/>
        </p:nvSpPr>
        <p:spPr>
          <a:xfrm>
            <a:off x="5634180" y="2376632"/>
            <a:ext cx="2950098" cy="384048"/>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2" name="Google Shape;232;p6"/>
          <p:cNvSpPr/>
          <p:nvPr/>
        </p:nvSpPr>
        <p:spPr>
          <a:xfrm>
            <a:off x="5532582" y="2376632"/>
            <a:ext cx="32918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Tests Applied</a:t>
            </a:r>
            <a:endParaRPr sz="1300">
              <a:solidFill>
                <a:schemeClr val="lt1"/>
              </a:solidFill>
              <a:latin typeface="Century Gothic"/>
              <a:ea typeface="Century Gothic"/>
              <a:cs typeface="Century Gothic"/>
              <a:sym typeface="Century Gothic"/>
            </a:endParaRPr>
          </a:p>
        </p:txBody>
      </p:sp>
      <p:sp>
        <p:nvSpPr>
          <p:cNvPr id="233" name="Google Shape;233;p6"/>
          <p:cNvSpPr/>
          <p:nvPr/>
        </p:nvSpPr>
        <p:spPr>
          <a:xfrm>
            <a:off x="660861" y="2760680"/>
            <a:ext cx="2331720" cy="411480"/>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4" name="Google Shape;234;p6"/>
          <p:cNvSpPr/>
          <p:nvPr/>
        </p:nvSpPr>
        <p:spPr>
          <a:xfrm>
            <a:off x="641465" y="2760680"/>
            <a:ext cx="2018608"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5EA8"/>
                </a:solidFill>
                <a:latin typeface="Courier New"/>
                <a:ea typeface="Courier New"/>
                <a:cs typeface="Courier New"/>
                <a:sym typeface="Courier New"/>
              </a:rPr>
              <a:t>dim_customer</a:t>
            </a:r>
            <a:endParaRPr sz="1300">
              <a:solidFill>
                <a:schemeClr val="lt1"/>
              </a:solidFill>
              <a:latin typeface="Century Gothic"/>
              <a:ea typeface="Century Gothic"/>
              <a:cs typeface="Century Gothic"/>
              <a:sym typeface="Century Gothic"/>
            </a:endParaRPr>
          </a:p>
        </p:txBody>
      </p:sp>
      <p:sp>
        <p:nvSpPr>
          <p:cNvPr id="235" name="Google Shape;235;p6"/>
          <p:cNvSpPr/>
          <p:nvPr/>
        </p:nvSpPr>
        <p:spPr>
          <a:xfrm>
            <a:off x="3084021" y="2760680"/>
            <a:ext cx="2560320" cy="411480"/>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6" name="Google Shape;236;p6"/>
          <p:cNvSpPr/>
          <p:nvPr/>
        </p:nvSpPr>
        <p:spPr>
          <a:xfrm>
            <a:off x="3073862" y="2760680"/>
            <a:ext cx="2237971" cy="41609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5EA8"/>
                </a:solidFill>
                <a:latin typeface="Courier New"/>
                <a:ea typeface="Courier New"/>
                <a:cs typeface="Courier New"/>
                <a:sym typeface="Courier New"/>
              </a:rPr>
              <a:t>customer_id</a:t>
            </a:r>
            <a:endParaRPr sz="1300">
              <a:solidFill>
                <a:schemeClr val="lt1"/>
              </a:solidFill>
              <a:latin typeface="Century Gothic"/>
              <a:ea typeface="Century Gothic"/>
              <a:cs typeface="Century Gothic"/>
              <a:sym typeface="Century Gothic"/>
            </a:endParaRPr>
          </a:p>
        </p:txBody>
      </p:sp>
      <p:sp>
        <p:nvSpPr>
          <p:cNvPr id="237" name="Google Shape;237;p6"/>
          <p:cNvSpPr/>
          <p:nvPr/>
        </p:nvSpPr>
        <p:spPr>
          <a:xfrm>
            <a:off x="5735781" y="2760680"/>
            <a:ext cx="2857732" cy="429952"/>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8" name="Google Shape;238;p6"/>
          <p:cNvSpPr/>
          <p:nvPr/>
        </p:nvSpPr>
        <p:spPr>
          <a:xfrm>
            <a:off x="5725622" y="2760680"/>
            <a:ext cx="2978727" cy="4207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3A5C"/>
                </a:solidFill>
                <a:latin typeface="Arial"/>
                <a:ea typeface="Arial"/>
                <a:cs typeface="Arial"/>
                <a:sym typeface="Arial"/>
              </a:rPr>
              <a:t>unique + not_null</a:t>
            </a:r>
            <a:endParaRPr sz="1300">
              <a:solidFill>
                <a:schemeClr val="lt1"/>
              </a:solidFill>
              <a:latin typeface="Century Gothic"/>
              <a:ea typeface="Century Gothic"/>
              <a:cs typeface="Century Gothic"/>
              <a:sym typeface="Century Gothic"/>
            </a:endParaRPr>
          </a:p>
        </p:txBody>
      </p:sp>
      <p:sp>
        <p:nvSpPr>
          <p:cNvPr id="239" name="Google Shape;239;p6"/>
          <p:cNvSpPr/>
          <p:nvPr/>
        </p:nvSpPr>
        <p:spPr>
          <a:xfrm>
            <a:off x="660861" y="3199592"/>
            <a:ext cx="2331720" cy="411480"/>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0" name="Google Shape;240;p6"/>
          <p:cNvSpPr/>
          <p:nvPr/>
        </p:nvSpPr>
        <p:spPr>
          <a:xfrm>
            <a:off x="646083" y="3199592"/>
            <a:ext cx="201399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5EA8"/>
                </a:solidFill>
                <a:latin typeface="Courier New"/>
                <a:ea typeface="Courier New"/>
                <a:cs typeface="Courier New"/>
                <a:sym typeface="Courier New"/>
              </a:rPr>
              <a:t>dim_product</a:t>
            </a:r>
            <a:endParaRPr sz="1300">
              <a:solidFill>
                <a:schemeClr val="lt1"/>
              </a:solidFill>
              <a:latin typeface="Century Gothic"/>
              <a:ea typeface="Century Gothic"/>
              <a:cs typeface="Century Gothic"/>
              <a:sym typeface="Century Gothic"/>
            </a:endParaRPr>
          </a:p>
        </p:txBody>
      </p:sp>
      <p:sp>
        <p:nvSpPr>
          <p:cNvPr id="241" name="Google Shape;241;p6"/>
          <p:cNvSpPr/>
          <p:nvPr/>
        </p:nvSpPr>
        <p:spPr>
          <a:xfrm>
            <a:off x="3084021" y="3199592"/>
            <a:ext cx="2560320" cy="411480"/>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2" name="Google Shape;242;p6"/>
          <p:cNvSpPr/>
          <p:nvPr/>
        </p:nvSpPr>
        <p:spPr>
          <a:xfrm>
            <a:off x="3092334" y="3199592"/>
            <a:ext cx="2219499"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5EA8"/>
                </a:solidFill>
                <a:latin typeface="Courier New"/>
                <a:ea typeface="Courier New"/>
                <a:cs typeface="Courier New"/>
                <a:sym typeface="Courier New"/>
              </a:rPr>
              <a:t>product_id</a:t>
            </a:r>
            <a:endParaRPr sz="1300">
              <a:solidFill>
                <a:schemeClr val="lt1"/>
              </a:solidFill>
              <a:latin typeface="Century Gothic"/>
              <a:ea typeface="Century Gothic"/>
              <a:cs typeface="Century Gothic"/>
              <a:sym typeface="Century Gothic"/>
            </a:endParaRPr>
          </a:p>
        </p:txBody>
      </p:sp>
      <p:sp>
        <p:nvSpPr>
          <p:cNvPr id="243" name="Google Shape;243;p6"/>
          <p:cNvSpPr/>
          <p:nvPr/>
        </p:nvSpPr>
        <p:spPr>
          <a:xfrm>
            <a:off x="5735781" y="3194974"/>
            <a:ext cx="2843878" cy="434570"/>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4" name="Google Shape;244;p6"/>
          <p:cNvSpPr/>
          <p:nvPr/>
        </p:nvSpPr>
        <p:spPr>
          <a:xfrm>
            <a:off x="5744094" y="3199592"/>
            <a:ext cx="2955637" cy="41609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3A5C"/>
                </a:solidFill>
                <a:latin typeface="Arial"/>
                <a:ea typeface="Arial"/>
                <a:cs typeface="Arial"/>
                <a:sym typeface="Arial"/>
              </a:rPr>
              <a:t>unique + not_null</a:t>
            </a:r>
            <a:endParaRPr sz="1300">
              <a:solidFill>
                <a:schemeClr val="lt1"/>
              </a:solidFill>
              <a:latin typeface="Century Gothic"/>
              <a:ea typeface="Century Gothic"/>
              <a:cs typeface="Century Gothic"/>
              <a:sym typeface="Century Gothic"/>
            </a:endParaRPr>
          </a:p>
        </p:txBody>
      </p:sp>
      <p:sp>
        <p:nvSpPr>
          <p:cNvPr id="245" name="Google Shape;245;p6"/>
          <p:cNvSpPr/>
          <p:nvPr/>
        </p:nvSpPr>
        <p:spPr>
          <a:xfrm>
            <a:off x="660861" y="3638504"/>
            <a:ext cx="2331720" cy="411480"/>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6" name="Google Shape;246;p6"/>
          <p:cNvSpPr/>
          <p:nvPr/>
        </p:nvSpPr>
        <p:spPr>
          <a:xfrm>
            <a:off x="641465" y="3638504"/>
            <a:ext cx="2018608"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5EA8"/>
                </a:solidFill>
                <a:latin typeface="Courier New"/>
                <a:ea typeface="Courier New"/>
                <a:cs typeface="Courier New"/>
                <a:sym typeface="Courier New"/>
              </a:rPr>
              <a:t>dim_seller</a:t>
            </a:r>
            <a:endParaRPr sz="1300">
              <a:solidFill>
                <a:schemeClr val="lt1"/>
              </a:solidFill>
              <a:latin typeface="Century Gothic"/>
              <a:ea typeface="Century Gothic"/>
              <a:cs typeface="Century Gothic"/>
              <a:sym typeface="Century Gothic"/>
            </a:endParaRPr>
          </a:p>
        </p:txBody>
      </p:sp>
      <p:sp>
        <p:nvSpPr>
          <p:cNvPr id="247" name="Google Shape;247;p6"/>
          <p:cNvSpPr/>
          <p:nvPr/>
        </p:nvSpPr>
        <p:spPr>
          <a:xfrm>
            <a:off x="3084021" y="3638504"/>
            <a:ext cx="2560320" cy="411480"/>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8" name="Google Shape;248;p6"/>
          <p:cNvSpPr/>
          <p:nvPr/>
        </p:nvSpPr>
        <p:spPr>
          <a:xfrm>
            <a:off x="3096952" y="3638504"/>
            <a:ext cx="2214881"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5EA8"/>
                </a:solidFill>
                <a:latin typeface="Courier New"/>
                <a:ea typeface="Courier New"/>
                <a:cs typeface="Courier New"/>
                <a:sym typeface="Courier New"/>
              </a:rPr>
              <a:t>seller_id</a:t>
            </a:r>
            <a:endParaRPr sz="1300">
              <a:solidFill>
                <a:schemeClr val="lt1"/>
              </a:solidFill>
              <a:latin typeface="Century Gothic"/>
              <a:ea typeface="Century Gothic"/>
              <a:cs typeface="Century Gothic"/>
              <a:sym typeface="Century Gothic"/>
            </a:endParaRPr>
          </a:p>
        </p:txBody>
      </p:sp>
      <p:sp>
        <p:nvSpPr>
          <p:cNvPr id="249" name="Google Shape;249;p6"/>
          <p:cNvSpPr/>
          <p:nvPr/>
        </p:nvSpPr>
        <p:spPr>
          <a:xfrm>
            <a:off x="5749635" y="3633886"/>
            <a:ext cx="2834643" cy="420716"/>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0" name="Google Shape;250;p6"/>
          <p:cNvSpPr/>
          <p:nvPr/>
        </p:nvSpPr>
        <p:spPr>
          <a:xfrm>
            <a:off x="5762567" y="3638504"/>
            <a:ext cx="293254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3A5C"/>
                </a:solidFill>
                <a:latin typeface="Arial"/>
                <a:ea typeface="Arial"/>
                <a:cs typeface="Arial"/>
                <a:sym typeface="Arial"/>
              </a:rPr>
              <a:t>unique + not_null</a:t>
            </a:r>
            <a:endParaRPr sz="1300">
              <a:solidFill>
                <a:schemeClr val="lt1"/>
              </a:solidFill>
              <a:latin typeface="Century Gothic"/>
              <a:ea typeface="Century Gothic"/>
              <a:cs typeface="Century Gothic"/>
              <a:sym typeface="Century Gothic"/>
            </a:endParaRPr>
          </a:p>
        </p:txBody>
      </p:sp>
      <p:sp>
        <p:nvSpPr>
          <p:cNvPr id="251" name="Google Shape;251;p6"/>
          <p:cNvSpPr/>
          <p:nvPr/>
        </p:nvSpPr>
        <p:spPr>
          <a:xfrm>
            <a:off x="660861" y="4077416"/>
            <a:ext cx="2331720" cy="411480"/>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2" name="Google Shape;252;p6"/>
          <p:cNvSpPr/>
          <p:nvPr/>
        </p:nvSpPr>
        <p:spPr>
          <a:xfrm>
            <a:off x="641465" y="4077416"/>
            <a:ext cx="2018608"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5EA8"/>
                </a:solidFill>
                <a:latin typeface="Courier New"/>
                <a:ea typeface="Courier New"/>
                <a:cs typeface="Courier New"/>
                <a:sym typeface="Courier New"/>
              </a:rPr>
              <a:t>fact_sales</a:t>
            </a:r>
            <a:endParaRPr sz="1300">
              <a:solidFill>
                <a:schemeClr val="lt1"/>
              </a:solidFill>
              <a:latin typeface="Century Gothic"/>
              <a:ea typeface="Century Gothic"/>
              <a:cs typeface="Century Gothic"/>
              <a:sym typeface="Century Gothic"/>
            </a:endParaRPr>
          </a:p>
        </p:txBody>
      </p:sp>
      <p:sp>
        <p:nvSpPr>
          <p:cNvPr id="253" name="Google Shape;253;p6"/>
          <p:cNvSpPr/>
          <p:nvPr/>
        </p:nvSpPr>
        <p:spPr>
          <a:xfrm>
            <a:off x="3084021" y="4077416"/>
            <a:ext cx="2560320" cy="411480"/>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4" name="Google Shape;254;p6"/>
          <p:cNvSpPr/>
          <p:nvPr/>
        </p:nvSpPr>
        <p:spPr>
          <a:xfrm>
            <a:off x="3096952" y="4077416"/>
            <a:ext cx="2214881"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5EA8"/>
                </a:solidFill>
                <a:latin typeface="Courier New"/>
                <a:ea typeface="Courier New"/>
                <a:cs typeface="Courier New"/>
                <a:sym typeface="Courier New"/>
              </a:rPr>
              <a:t>order_id</a:t>
            </a:r>
            <a:endParaRPr sz="1300">
              <a:solidFill>
                <a:schemeClr val="lt1"/>
              </a:solidFill>
              <a:latin typeface="Century Gothic"/>
              <a:ea typeface="Century Gothic"/>
              <a:cs typeface="Century Gothic"/>
              <a:sym typeface="Century Gothic"/>
            </a:endParaRPr>
          </a:p>
        </p:txBody>
      </p:sp>
      <p:sp>
        <p:nvSpPr>
          <p:cNvPr id="255" name="Google Shape;255;p6"/>
          <p:cNvSpPr/>
          <p:nvPr/>
        </p:nvSpPr>
        <p:spPr>
          <a:xfrm>
            <a:off x="5721927" y="4072798"/>
            <a:ext cx="2866967" cy="416098"/>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6" name="Google Shape;256;p6"/>
          <p:cNvSpPr/>
          <p:nvPr/>
        </p:nvSpPr>
        <p:spPr>
          <a:xfrm>
            <a:off x="5785657" y="4077416"/>
            <a:ext cx="290945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rgbClr val="1A3A5C"/>
                </a:solidFill>
                <a:latin typeface="Arial"/>
                <a:ea typeface="Arial"/>
                <a:cs typeface="Arial"/>
                <a:sym typeface="Arial"/>
              </a:rPr>
              <a:t>not_null</a:t>
            </a:r>
            <a:endParaRPr sz="1300">
              <a:solidFill>
                <a:schemeClr val="lt1"/>
              </a:solidFill>
              <a:latin typeface="Century Gothic"/>
              <a:ea typeface="Century Gothic"/>
              <a:cs typeface="Century Gothic"/>
              <a:sym typeface="Century Gothic"/>
            </a:endParaRPr>
          </a:p>
        </p:txBody>
      </p:sp>
      <p:sp>
        <p:nvSpPr>
          <p:cNvPr id="257" name="Google Shape;257;p6"/>
          <p:cNvSpPr/>
          <p:nvPr/>
        </p:nvSpPr>
        <p:spPr>
          <a:xfrm>
            <a:off x="485370" y="4799792"/>
            <a:ext cx="8016242" cy="475488"/>
          </a:xfrm>
          <a:prstGeom prst="rect">
            <a:avLst/>
          </a:prstGeom>
          <a:solidFill>
            <a:srgbClr val="EAF3DE"/>
          </a:solidFill>
          <a:ln cap="flat" cmpd="sng" w="12700">
            <a:solidFill>
              <a:srgbClr val="B8D9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8" name="Google Shape;258;p6"/>
          <p:cNvSpPr/>
          <p:nvPr/>
        </p:nvSpPr>
        <p:spPr>
          <a:xfrm>
            <a:off x="328353" y="4799792"/>
            <a:ext cx="83210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rgbClr val="3B6D11"/>
                </a:solidFill>
                <a:latin typeface="Century Gothic"/>
                <a:ea typeface="Century Gothic"/>
                <a:cs typeface="Century Gothic"/>
                <a:sym typeface="Century Gothic"/>
              </a:rPr>
              <a:t>All 7 tests passed  ✔</a:t>
            </a:r>
            <a:endParaRPr sz="1400">
              <a:solidFill>
                <a:schemeClr val="lt1"/>
              </a:solidFill>
              <a:latin typeface="Century Gothic"/>
              <a:ea typeface="Century Gothic"/>
              <a:cs typeface="Century Gothic"/>
              <a:sym typeface="Century Gothic"/>
            </a:endParaRPr>
          </a:p>
        </p:txBody>
      </p:sp>
      <p:sp>
        <p:nvSpPr>
          <p:cNvPr id="259" name="Google Shape;259;p6"/>
          <p:cNvSpPr/>
          <p:nvPr/>
        </p:nvSpPr>
        <p:spPr>
          <a:xfrm>
            <a:off x="7963593" y="577820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7"/>
          <p:cNvSpPr/>
          <p:nvPr/>
        </p:nvSpPr>
        <p:spPr>
          <a:xfrm>
            <a:off x="-23977" y="-4751"/>
            <a:ext cx="9169574" cy="6863416"/>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6" name="Google Shape;266;p7"/>
          <p:cNvSpPr/>
          <p:nvPr/>
        </p:nvSpPr>
        <p:spPr>
          <a:xfrm>
            <a:off x="420254" y="5625984"/>
            <a:ext cx="8377384" cy="374766"/>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7" name="Google Shape;267;p7"/>
          <p:cNvSpPr/>
          <p:nvPr/>
        </p:nvSpPr>
        <p:spPr>
          <a:xfrm>
            <a:off x="411480" y="1113282"/>
            <a:ext cx="2194560" cy="292608"/>
          </a:xfrm>
          <a:prstGeom prst="rect">
            <a:avLst/>
          </a:prstGeom>
          <a:solidFill>
            <a:srgbClr val="3C34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8" name="Google Shape;268;p7"/>
          <p:cNvSpPr/>
          <p:nvPr/>
        </p:nvSpPr>
        <p:spPr>
          <a:xfrm>
            <a:off x="411480" y="111328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00">
                <a:solidFill>
                  <a:srgbClr val="FFFFFF"/>
                </a:solidFill>
                <a:latin typeface="Century Gothic"/>
                <a:ea typeface="Century Gothic"/>
                <a:cs typeface="Century Gothic"/>
                <a:sym typeface="Century Gothic"/>
              </a:rPr>
              <a:t>Layer 2 — Python</a:t>
            </a:r>
            <a:endParaRPr sz="1000">
              <a:solidFill>
                <a:schemeClr val="lt1"/>
              </a:solidFill>
              <a:latin typeface="Century Gothic"/>
              <a:ea typeface="Century Gothic"/>
              <a:cs typeface="Century Gothic"/>
              <a:sym typeface="Century Gothic"/>
            </a:endParaRPr>
          </a:p>
        </p:txBody>
      </p:sp>
      <p:sp>
        <p:nvSpPr>
          <p:cNvPr id="269" name="Google Shape;269;p7"/>
          <p:cNvSpPr/>
          <p:nvPr/>
        </p:nvSpPr>
        <p:spPr>
          <a:xfrm>
            <a:off x="411480" y="1497330"/>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600">
                <a:solidFill>
                  <a:srgbClr val="1A3A5C"/>
                </a:solidFill>
                <a:latin typeface="Century Gothic"/>
                <a:ea typeface="Century Gothic"/>
                <a:cs typeface="Century Gothic"/>
                <a:sym typeface="Century Gothic"/>
              </a:rPr>
              <a:t>4 Custom Checks via data_quality.py</a:t>
            </a:r>
            <a:endParaRPr sz="2600">
              <a:solidFill>
                <a:schemeClr val="lt1"/>
              </a:solidFill>
              <a:latin typeface="Century Gothic"/>
              <a:ea typeface="Century Gothic"/>
              <a:cs typeface="Century Gothic"/>
              <a:sym typeface="Century Gothic"/>
            </a:endParaRPr>
          </a:p>
        </p:txBody>
      </p:sp>
      <p:cxnSp>
        <p:nvCxnSpPr>
          <p:cNvPr id="270" name="Google Shape;270;p7"/>
          <p:cNvCxnSpPr/>
          <p:nvPr/>
        </p:nvCxnSpPr>
        <p:spPr>
          <a:xfrm>
            <a:off x="411480" y="2064258"/>
            <a:ext cx="8321040" cy="0"/>
          </a:xfrm>
          <a:prstGeom prst="straightConnector1">
            <a:avLst/>
          </a:prstGeom>
          <a:noFill/>
          <a:ln cap="flat" cmpd="sng" w="19050">
            <a:solidFill>
              <a:srgbClr val="3C3489"/>
            </a:solidFill>
            <a:prstDash val="solid"/>
            <a:round/>
            <a:headEnd len="sm" w="sm" type="none"/>
            <a:tailEnd len="sm" w="sm" type="none"/>
          </a:ln>
        </p:spPr>
      </p:cxnSp>
      <p:sp>
        <p:nvSpPr>
          <p:cNvPr id="271" name="Google Shape;271;p7"/>
          <p:cNvSpPr/>
          <p:nvPr/>
        </p:nvSpPr>
        <p:spPr>
          <a:xfrm>
            <a:off x="411480" y="2228850"/>
            <a:ext cx="2057400" cy="384048"/>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72" name="Google Shape;272;p7"/>
          <p:cNvSpPr/>
          <p:nvPr/>
        </p:nvSpPr>
        <p:spPr>
          <a:xfrm>
            <a:off x="411480" y="2228850"/>
            <a:ext cx="20574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Check</a:t>
            </a:r>
            <a:endParaRPr sz="1300">
              <a:solidFill>
                <a:schemeClr val="lt1"/>
              </a:solidFill>
              <a:latin typeface="Century Gothic"/>
              <a:ea typeface="Century Gothic"/>
              <a:cs typeface="Century Gothic"/>
              <a:sym typeface="Century Gothic"/>
            </a:endParaRPr>
          </a:p>
        </p:txBody>
      </p:sp>
      <p:sp>
        <p:nvSpPr>
          <p:cNvPr id="273" name="Google Shape;273;p7"/>
          <p:cNvSpPr/>
          <p:nvPr/>
        </p:nvSpPr>
        <p:spPr>
          <a:xfrm>
            <a:off x="2560320" y="2228850"/>
            <a:ext cx="2926080" cy="384048"/>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74" name="Google Shape;274;p7"/>
          <p:cNvSpPr/>
          <p:nvPr/>
        </p:nvSpPr>
        <p:spPr>
          <a:xfrm>
            <a:off x="2560320" y="2228850"/>
            <a:ext cx="2926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SQL Condition</a:t>
            </a:r>
            <a:endParaRPr sz="1300">
              <a:solidFill>
                <a:schemeClr val="lt1"/>
              </a:solidFill>
              <a:latin typeface="Century Gothic"/>
              <a:ea typeface="Century Gothic"/>
              <a:cs typeface="Century Gothic"/>
              <a:sym typeface="Century Gothic"/>
            </a:endParaRPr>
          </a:p>
        </p:txBody>
      </p:sp>
      <p:sp>
        <p:nvSpPr>
          <p:cNvPr id="275" name="Google Shape;275;p7"/>
          <p:cNvSpPr/>
          <p:nvPr/>
        </p:nvSpPr>
        <p:spPr>
          <a:xfrm>
            <a:off x="5577840" y="2228850"/>
            <a:ext cx="3200400" cy="384048"/>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76" name="Google Shape;276;p7"/>
          <p:cNvSpPr/>
          <p:nvPr/>
        </p:nvSpPr>
        <p:spPr>
          <a:xfrm>
            <a:off x="5577840" y="2228850"/>
            <a:ext cx="32004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300">
                <a:solidFill>
                  <a:srgbClr val="FFFFFF"/>
                </a:solidFill>
                <a:latin typeface="Century Gothic"/>
                <a:ea typeface="Century Gothic"/>
                <a:cs typeface="Century Gothic"/>
                <a:sym typeface="Century Gothic"/>
              </a:rPr>
              <a:t>Why It Matters</a:t>
            </a:r>
            <a:endParaRPr sz="1300">
              <a:solidFill>
                <a:schemeClr val="lt1"/>
              </a:solidFill>
              <a:latin typeface="Century Gothic"/>
              <a:ea typeface="Century Gothic"/>
              <a:cs typeface="Century Gothic"/>
              <a:sym typeface="Century Gothic"/>
            </a:endParaRPr>
          </a:p>
        </p:txBody>
      </p:sp>
      <p:sp>
        <p:nvSpPr>
          <p:cNvPr id="277" name="Google Shape;277;p7"/>
          <p:cNvSpPr/>
          <p:nvPr/>
        </p:nvSpPr>
        <p:spPr>
          <a:xfrm>
            <a:off x="411480" y="2612898"/>
            <a:ext cx="2057400" cy="429768"/>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78" name="Google Shape;278;p7"/>
          <p:cNvSpPr/>
          <p:nvPr/>
        </p:nvSpPr>
        <p:spPr>
          <a:xfrm>
            <a:off x="502920" y="2612898"/>
            <a:ext cx="196596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3A5C"/>
                </a:solidFill>
                <a:latin typeface="Arial"/>
                <a:ea typeface="Arial"/>
                <a:cs typeface="Arial"/>
                <a:sym typeface="Arial"/>
              </a:rPr>
              <a:t>Null customer_id</a:t>
            </a:r>
            <a:endParaRPr sz="1200">
              <a:solidFill>
                <a:schemeClr val="lt1"/>
              </a:solidFill>
              <a:latin typeface="Century Gothic"/>
              <a:ea typeface="Century Gothic"/>
              <a:cs typeface="Century Gothic"/>
              <a:sym typeface="Century Gothic"/>
            </a:endParaRPr>
          </a:p>
        </p:txBody>
      </p:sp>
      <p:sp>
        <p:nvSpPr>
          <p:cNvPr id="279" name="Google Shape;279;p7"/>
          <p:cNvSpPr/>
          <p:nvPr/>
        </p:nvSpPr>
        <p:spPr>
          <a:xfrm>
            <a:off x="2560320" y="2612898"/>
            <a:ext cx="2926080" cy="429768"/>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0" name="Google Shape;280;p7"/>
          <p:cNvSpPr/>
          <p:nvPr/>
        </p:nvSpPr>
        <p:spPr>
          <a:xfrm>
            <a:off x="2651760" y="2612898"/>
            <a:ext cx="283464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5EA8"/>
                </a:solidFill>
                <a:latin typeface="Courier New"/>
                <a:ea typeface="Courier New"/>
                <a:cs typeface="Courier New"/>
                <a:sym typeface="Courier New"/>
              </a:rPr>
              <a:t>customer_id IS NULL</a:t>
            </a:r>
            <a:endParaRPr sz="1200">
              <a:solidFill>
                <a:schemeClr val="lt1"/>
              </a:solidFill>
              <a:latin typeface="Century Gothic"/>
              <a:ea typeface="Century Gothic"/>
              <a:cs typeface="Century Gothic"/>
              <a:sym typeface="Century Gothic"/>
            </a:endParaRPr>
          </a:p>
        </p:txBody>
      </p:sp>
      <p:sp>
        <p:nvSpPr>
          <p:cNvPr id="281" name="Google Shape;281;p7"/>
          <p:cNvSpPr/>
          <p:nvPr/>
        </p:nvSpPr>
        <p:spPr>
          <a:xfrm>
            <a:off x="5577840" y="2612898"/>
            <a:ext cx="3200400" cy="429768"/>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2" name="Google Shape;282;p7"/>
          <p:cNvSpPr/>
          <p:nvPr/>
        </p:nvSpPr>
        <p:spPr>
          <a:xfrm>
            <a:off x="5669280" y="2612898"/>
            <a:ext cx="310896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3A5C"/>
                </a:solidFill>
                <a:latin typeface="Arial"/>
                <a:ea typeface="Arial"/>
                <a:cs typeface="Arial"/>
                <a:sym typeface="Arial"/>
              </a:rPr>
              <a:t>Breaks customer segment analysis</a:t>
            </a:r>
            <a:endParaRPr sz="1200">
              <a:solidFill>
                <a:schemeClr val="lt1"/>
              </a:solidFill>
              <a:latin typeface="Century Gothic"/>
              <a:ea typeface="Century Gothic"/>
              <a:cs typeface="Century Gothic"/>
              <a:sym typeface="Century Gothic"/>
            </a:endParaRPr>
          </a:p>
        </p:txBody>
      </p:sp>
      <p:sp>
        <p:nvSpPr>
          <p:cNvPr id="283" name="Google Shape;283;p7"/>
          <p:cNvSpPr/>
          <p:nvPr/>
        </p:nvSpPr>
        <p:spPr>
          <a:xfrm>
            <a:off x="411480" y="3070098"/>
            <a:ext cx="2057400" cy="429768"/>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4" name="Google Shape;284;p7"/>
          <p:cNvSpPr/>
          <p:nvPr/>
        </p:nvSpPr>
        <p:spPr>
          <a:xfrm>
            <a:off x="502920" y="3070098"/>
            <a:ext cx="196596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3A5C"/>
                </a:solidFill>
                <a:latin typeface="Arial"/>
                <a:ea typeface="Arial"/>
                <a:cs typeface="Arial"/>
                <a:sym typeface="Arial"/>
              </a:rPr>
              <a:t>Null product_id</a:t>
            </a:r>
            <a:endParaRPr sz="1200">
              <a:solidFill>
                <a:schemeClr val="lt1"/>
              </a:solidFill>
              <a:latin typeface="Century Gothic"/>
              <a:ea typeface="Century Gothic"/>
              <a:cs typeface="Century Gothic"/>
              <a:sym typeface="Century Gothic"/>
            </a:endParaRPr>
          </a:p>
        </p:txBody>
      </p:sp>
      <p:sp>
        <p:nvSpPr>
          <p:cNvPr id="285" name="Google Shape;285;p7"/>
          <p:cNvSpPr/>
          <p:nvPr/>
        </p:nvSpPr>
        <p:spPr>
          <a:xfrm>
            <a:off x="2560320" y="3070098"/>
            <a:ext cx="2926080" cy="429768"/>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6" name="Google Shape;286;p7"/>
          <p:cNvSpPr/>
          <p:nvPr/>
        </p:nvSpPr>
        <p:spPr>
          <a:xfrm>
            <a:off x="2651760" y="3070098"/>
            <a:ext cx="283464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5EA8"/>
                </a:solidFill>
                <a:latin typeface="Courier New"/>
                <a:ea typeface="Courier New"/>
                <a:cs typeface="Courier New"/>
                <a:sym typeface="Courier New"/>
              </a:rPr>
              <a:t>product_id IS NULL</a:t>
            </a:r>
            <a:endParaRPr sz="1200">
              <a:solidFill>
                <a:schemeClr val="lt1"/>
              </a:solidFill>
              <a:latin typeface="Century Gothic"/>
              <a:ea typeface="Century Gothic"/>
              <a:cs typeface="Century Gothic"/>
              <a:sym typeface="Century Gothic"/>
            </a:endParaRPr>
          </a:p>
        </p:txBody>
      </p:sp>
      <p:sp>
        <p:nvSpPr>
          <p:cNvPr id="287" name="Google Shape;287;p7"/>
          <p:cNvSpPr/>
          <p:nvPr/>
        </p:nvSpPr>
        <p:spPr>
          <a:xfrm>
            <a:off x="5577840" y="3070098"/>
            <a:ext cx="3200400" cy="429768"/>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8" name="Google Shape;288;p7"/>
          <p:cNvSpPr/>
          <p:nvPr/>
        </p:nvSpPr>
        <p:spPr>
          <a:xfrm>
            <a:off x="5669280" y="3070098"/>
            <a:ext cx="310896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3A5C"/>
                </a:solidFill>
                <a:latin typeface="Arial"/>
                <a:ea typeface="Arial"/>
                <a:cs typeface="Arial"/>
                <a:sym typeface="Arial"/>
              </a:rPr>
              <a:t>Breaks category &amp; revenue analysis</a:t>
            </a:r>
            <a:endParaRPr sz="1200">
              <a:solidFill>
                <a:schemeClr val="lt1"/>
              </a:solidFill>
              <a:latin typeface="Century Gothic"/>
              <a:ea typeface="Century Gothic"/>
              <a:cs typeface="Century Gothic"/>
              <a:sym typeface="Century Gothic"/>
            </a:endParaRPr>
          </a:p>
        </p:txBody>
      </p:sp>
      <p:sp>
        <p:nvSpPr>
          <p:cNvPr id="289" name="Google Shape;289;p7"/>
          <p:cNvSpPr/>
          <p:nvPr/>
        </p:nvSpPr>
        <p:spPr>
          <a:xfrm>
            <a:off x="411480" y="3527298"/>
            <a:ext cx="2057400" cy="429768"/>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0" name="Google Shape;290;p7"/>
          <p:cNvSpPr/>
          <p:nvPr/>
        </p:nvSpPr>
        <p:spPr>
          <a:xfrm>
            <a:off x="502920" y="3527298"/>
            <a:ext cx="196596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3A5C"/>
                </a:solidFill>
                <a:latin typeface="Arial"/>
                <a:ea typeface="Arial"/>
                <a:cs typeface="Arial"/>
                <a:sym typeface="Arial"/>
              </a:rPr>
              <a:t>Null seller_id</a:t>
            </a:r>
            <a:endParaRPr sz="1200">
              <a:solidFill>
                <a:schemeClr val="lt1"/>
              </a:solidFill>
              <a:latin typeface="Century Gothic"/>
              <a:ea typeface="Century Gothic"/>
              <a:cs typeface="Century Gothic"/>
              <a:sym typeface="Century Gothic"/>
            </a:endParaRPr>
          </a:p>
        </p:txBody>
      </p:sp>
      <p:sp>
        <p:nvSpPr>
          <p:cNvPr id="291" name="Google Shape;291;p7"/>
          <p:cNvSpPr/>
          <p:nvPr/>
        </p:nvSpPr>
        <p:spPr>
          <a:xfrm>
            <a:off x="2560320" y="3527298"/>
            <a:ext cx="2926080" cy="429768"/>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2" name="Google Shape;292;p7"/>
          <p:cNvSpPr/>
          <p:nvPr/>
        </p:nvSpPr>
        <p:spPr>
          <a:xfrm>
            <a:off x="2651760" y="3527298"/>
            <a:ext cx="283464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5EA8"/>
                </a:solidFill>
                <a:latin typeface="Courier New"/>
                <a:ea typeface="Courier New"/>
                <a:cs typeface="Courier New"/>
                <a:sym typeface="Courier New"/>
              </a:rPr>
              <a:t>seller_id IS NULL</a:t>
            </a:r>
            <a:endParaRPr sz="1200">
              <a:solidFill>
                <a:schemeClr val="lt1"/>
              </a:solidFill>
              <a:latin typeface="Century Gothic"/>
              <a:ea typeface="Century Gothic"/>
              <a:cs typeface="Century Gothic"/>
              <a:sym typeface="Century Gothic"/>
            </a:endParaRPr>
          </a:p>
        </p:txBody>
      </p:sp>
      <p:sp>
        <p:nvSpPr>
          <p:cNvPr id="293" name="Google Shape;293;p7"/>
          <p:cNvSpPr/>
          <p:nvPr/>
        </p:nvSpPr>
        <p:spPr>
          <a:xfrm>
            <a:off x="5577840" y="3527298"/>
            <a:ext cx="3200400" cy="429768"/>
          </a:xfrm>
          <a:prstGeom prst="rect">
            <a:avLst/>
          </a:prstGeom>
          <a:solidFill>
            <a:srgbClr val="F5F8FC"/>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4" name="Google Shape;294;p7"/>
          <p:cNvSpPr/>
          <p:nvPr/>
        </p:nvSpPr>
        <p:spPr>
          <a:xfrm>
            <a:off x="5669280" y="3527298"/>
            <a:ext cx="310896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3A5C"/>
                </a:solidFill>
                <a:latin typeface="Arial"/>
                <a:ea typeface="Arial"/>
                <a:cs typeface="Arial"/>
                <a:sym typeface="Arial"/>
              </a:rPr>
              <a:t>Seller performance metrics unreliable</a:t>
            </a:r>
            <a:endParaRPr sz="1200">
              <a:solidFill>
                <a:schemeClr val="lt1"/>
              </a:solidFill>
              <a:latin typeface="Century Gothic"/>
              <a:ea typeface="Century Gothic"/>
              <a:cs typeface="Century Gothic"/>
              <a:sym typeface="Century Gothic"/>
            </a:endParaRPr>
          </a:p>
        </p:txBody>
      </p:sp>
      <p:sp>
        <p:nvSpPr>
          <p:cNvPr id="295" name="Google Shape;295;p7"/>
          <p:cNvSpPr/>
          <p:nvPr/>
        </p:nvSpPr>
        <p:spPr>
          <a:xfrm>
            <a:off x="411480" y="3984498"/>
            <a:ext cx="2057400" cy="429768"/>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6" name="Google Shape;296;p7"/>
          <p:cNvSpPr/>
          <p:nvPr/>
        </p:nvSpPr>
        <p:spPr>
          <a:xfrm>
            <a:off x="502920" y="3984498"/>
            <a:ext cx="196596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3A5C"/>
                </a:solidFill>
                <a:latin typeface="Arial"/>
                <a:ea typeface="Arial"/>
                <a:cs typeface="Arial"/>
                <a:sym typeface="Arial"/>
              </a:rPr>
              <a:t>Negative sales amount</a:t>
            </a:r>
            <a:endParaRPr sz="1200">
              <a:solidFill>
                <a:schemeClr val="lt1"/>
              </a:solidFill>
              <a:latin typeface="Century Gothic"/>
              <a:ea typeface="Century Gothic"/>
              <a:cs typeface="Century Gothic"/>
              <a:sym typeface="Century Gothic"/>
            </a:endParaRPr>
          </a:p>
        </p:txBody>
      </p:sp>
      <p:sp>
        <p:nvSpPr>
          <p:cNvPr id="297" name="Google Shape;297;p7"/>
          <p:cNvSpPr/>
          <p:nvPr/>
        </p:nvSpPr>
        <p:spPr>
          <a:xfrm>
            <a:off x="2560320" y="3984498"/>
            <a:ext cx="2926080" cy="429768"/>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8" name="Google Shape;298;p7"/>
          <p:cNvSpPr/>
          <p:nvPr/>
        </p:nvSpPr>
        <p:spPr>
          <a:xfrm>
            <a:off x="2651760" y="3984498"/>
            <a:ext cx="283464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5EA8"/>
                </a:solidFill>
                <a:latin typeface="Courier New"/>
                <a:ea typeface="Courier New"/>
                <a:cs typeface="Courier New"/>
                <a:sym typeface="Courier New"/>
              </a:rPr>
              <a:t>sales_amount &lt; 0</a:t>
            </a:r>
            <a:endParaRPr sz="1200">
              <a:solidFill>
                <a:schemeClr val="lt1"/>
              </a:solidFill>
              <a:latin typeface="Century Gothic"/>
              <a:ea typeface="Century Gothic"/>
              <a:cs typeface="Century Gothic"/>
              <a:sym typeface="Century Gothic"/>
            </a:endParaRPr>
          </a:p>
        </p:txBody>
      </p:sp>
      <p:sp>
        <p:nvSpPr>
          <p:cNvPr id="299" name="Google Shape;299;p7"/>
          <p:cNvSpPr/>
          <p:nvPr/>
        </p:nvSpPr>
        <p:spPr>
          <a:xfrm>
            <a:off x="5577840" y="3984498"/>
            <a:ext cx="3200400" cy="429768"/>
          </a:xfrm>
          <a:prstGeom prst="rect">
            <a:avLst/>
          </a:prstGeom>
          <a:solidFill>
            <a:srgbClr val="EAF3FB"/>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00" name="Google Shape;300;p7"/>
          <p:cNvSpPr/>
          <p:nvPr/>
        </p:nvSpPr>
        <p:spPr>
          <a:xfrm>
            <a:off x="5669280" y="3984498"/>
            <a:ext cx="3108960" cy="4297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1A3A5C"/>
                </a:solidFill>
                <a:latin typeface="Arial"/>
                <a:ea typeface="Arial"/>
                <a:cs typeface="Arial"/>
                <a:sym typeface="Arial"/>
              </a:rPr>
              <a:t>Flags refunds or data entry errors</a:t>
            </a:r>
            <a:endParaRPr sz="1200">
              <a:solidFill>
                <a:schemeClr val="lt1"/>
              </a:solidFill>
              <a:latin typeface="Century Gothic"/>
              <a:ea typeface="Century Gothic"/>
              <a:cs typeface="Century Gothic"/>
              <a:sym typeface="Century Gothic"/>
            </a:endParaRPr>
          </a:p>
        </p:txBody>
      </p:sp>
      <p:sp>
        <p:nvSpPr>
          <p:cNvPr id="301" name="Google Shape;301;p7"/>
          <p:cNvSpPr/>
          <p:nvPr/>
        </p:nvSpPr>
        <p:spPr>
          <a:xfrm>
            <a:off x="8046720" y="5630418"/>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8"/>
          <p:cNvSpPr/>
          <p:nvPr/>
        </p:nvSpPr>
        <p:spPr>
          <a:xfrm>
            <a:off x="-533" y="-2264"/>
            <a:ext cx="9145063" cy="6865015"/>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08" name="Google Shape;308;p8"/>
          <p:cNvSpPr/>
          <p:nvPr/>
        </p:nvSpPr>
        <p:spPr>
          <a:xfrm>
            <a:off x="406399" y="5625984"/>
            <a:ext cx="8317347" cy="374766"/>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09" name="Google Shape;309;p8"/>
          <p:cNvSpPr/>
          <p:nvPr/>
        </p:nvSpPr>
        <p:spPr>
          <a:xfrm>
            <a:off x="411480" y="1113282"/>
            <a:ext cx="2194560" cy="292608"/>
          </a:xfrm>
          <a:prstGeom prst="rect">
            <a:avLst/>
          </a:prstGeom>
          <a:solidFill>
            <a:srgbClr val="3C34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10" name="Google Shape;310;p8"/>
          <p:cNvSpPr/>
          <p:nvPr/>
        </p:nvSpPr>
        <p:spPr>
          <a:xfrm>
            <a:off x="411480" y="111328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00">
                <a:solidFill>
                  <a:srgbClr val="FFFFFF"/>
                </a:solidFill>
                <a:latin typeface="Century Gothic"/>
                <a:ea typeface="Century Gothic"/>
                <a:cs typeface="Century Gothic"/>
                <a:sym typeface="Century Gothic"/>
              </a:rPr>
              <a:t>Layer 2 — Python</a:t>
            </a:r>
            <a:endParaRPr sz="1000">
              <a:solidFill>
                <a:schemeClr val="lt1"/>
              </a:solidFill>
              <a:latin typeface="Century Gothic"/>
              <a:ea typeface="Century Gothic"/>
              <a:cs typeface="Century Gothic"/>
              <a:sym typeface="Century Gothic"/>
            </a:endParaRPr>
          </a:p>
        </p:txBody>
      </p:sp>
      <p:sp>
        <p:nvSpPr>
          <p:cNvPr id="311" name="Google Shape;311;p8"/>
          <p:cNvSpPr/>
          <p:nvPr/>
        </p:nvSpPr>
        <p:spPr>
          <a:xfrm>
            <a:off x="411480" y="1497330"/>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1A3A5C"/>
                </a:solidFill>
                <a:latin typeface="Century Gothic"/>
                <a:ea typeface="Century Gothic"/>
                <a:cs typeface="Century Gothic"/>
                <a:sym typeface="Century Gothic"/>
              </a:rPr>
              <a:t>data_quality.py — How It Works</a:t>
            </a:r>
            <a:endParaRPr sz="2800">
              <a:solidFill>
                <a:schemeClr val="lt1"/>
              </a:solidFill>
              <a:latin typeface="Century Gothic"/>
              <a:ea typeface="Century Gothic"/>
              <a:cs typeface="Century Gothic"/>
              <a:sym typeface="Century Gothic"/>
            </a:endParaRPr>
          </a:p>
        </p:txBody>
      </p:sp>
      <p:cxnSp>
        <p:nvCxnSpPr>
          <p:cNvPr id="312" name="Google Shape;312;p8"/>
          <p:cNvCxnSpPr/>
          <p:nvPr/>
        </p:nvCxnSpPr>
        <p:spPr>
          <a:xfrm>
            <a:off x="411480" y="2064258"/>
            <a:ext cx="8321040" cy="0"/>
          </a:xfrm>
          <a:prstGeom prst="straightConnector1">
            <a:avLst/>
          </a:prstGeom>
          <a:noFill/>
          <a:ln cap="flat" cmpd="sng" w="19050">
            <a:solidFill>
              <a:srgbClr val="3C3489"/>
            </a:solidFill>
            <a:prstDash val="solid"/>
            <a:round/>
            <a:headEnd len="sm" w="sm" type="none"/>
            <a:tailEnd len="sm" w="sm" type="none"/>
          </a:ln>
        </p:spPr>
      </p:cxnSp>
      <p:sp>
        <p:nvSpPr>
          <p:cNvPr id="313" name="Google Shape;313;p8"/>
          <p:cNvSpPr/>
          <p:nvPr/>
        </p:nvSpPr>
        <p:spPr>
          <a:xfrm>
            <a:off x="411480" y="2183130"/>
            <a:ext cx="5029200" cy="3200400"/>
          </a:xfrm>
          <a:prstGeom prst="rect">
            <a:avLst/>
          </a:prstGeom>
          <a:solidFill>
            <a:srgbClr val="1E1E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14" name="Google Shape;314;p8"/>
          <p:cNvSpPr/>
          <p:nvPr/>
        </p:nvSpPr>
        <p:spPr>
          <a:xfrm>
            <a:off x="594360" y="2302002"/>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C792EA"/>
                </a:solidFill>
                <a:latin typeface="Courier New"/>
                <a:ea typeface="Courier New"/>
                <a:cs typeface="Courier New"/>
                <a:sym typeface="Courier New"/>
              </a:rPr>
              <a:t>import duckdb</a:t>
            </a:r>
            <a:endParaRPr sz="1050">
              <a:solidFill>
                <a:schemeClr val="lt1"/>
              </a:solidFill>
              <a:latin typeface="Century Gothic"/>
              <a:ea typeface="Century Gothic"/>
              <a:cs typeface="Century Gothic"/>
              <a:sym typeface="Century Gothic"/>
            </a:endParaRPr>
          </a:p>
        </p:txBody>
      </p:sp>
      <p:sp>
        <p:nvSpPr>
          <p:cNvPr id="315" name="Google Shape;315;p8"/>
          <p:cNvSpPr/>
          <p:nvPr/>
        </p:nvSpPr>
        <p:spPr>
          <a:xfrm>
            <a:off x="594360" y="2521458"/>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A6E22E"/>
                </a:solidFill>
                <a:latin typeface="Courier New"/>
                <a:ea typeface="Courier New"/>
                <a:cs typeface="Courier New"/>
                <a:sym typeface="Courier New"/>
              </a:rPr>
              <a:t>conn = duckdb.connect('olist.db')</a:t>
            </a:r>
            <a:endParaRPr sz="1050">
              <a:solidFill>
                <a:schemeClr val="lt1"/>
              </a:solidFill>
              <a:latin typeface="Century Gothic"/>
              <a:ea typeface="Century Gothic"/>
              <a:cs typeface="Century Gothic"/>
              <a:sym typeface="Century Gothic"/>
            </a:endParaRPr>
          </a:p>
        </p:txBody>
      </p:sp>
      <p:sp>
        <p:nvSpPr>
          <p:cNvPr id="316" name="Google Shape;316;p8"/>
          <p:cNvSpPr/>
          <p:nvPr/>
        </p:nvSpPr>
        <p:spPr>
          <a:xfrm>
            <a:off x="594360" y="2740914"/>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50">
              <a:solidFill>
                <a:schemeClr val="lt1"/>
              </a:solidFill>
              <a:latin typeface="Century Gothic"/>
              <a:ea typeface="Century Gothic"/>
              <a:cs typeface="Century Gothic"/>
              <a:sym typeface="Century Gothic"/>
            </a:endParaRPr>
          </a:p>
        </p:txBody>
      </p:sp>
      <p:sp>
        <p:nvSpPr>
          <p:cNvPr id="317" name="Google Shape;317;p8"/>
          <p:cNvSpPr/>
          <p:nvPr/>
        </p:nvSpPr>
        <p:spPr>
          <a:xfrm>
            <a:off x="594360" y="2960370"/>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FFFFFF"/>
                </a:solidFill>
                <a:latin typeface="Courier New"/>
                <a:ea typeface="Courier New"/>
                <a:cs typeface="Courier New"/>
                <a:sym typeface="Courier New"/>
              </a:rPr>
              <a:t>checks = {</a:t>
            </a:r>
            <a:endParaRPr sz="1050">
              <a:solidFill>
                <a:schemeClr val="lt1"/>
              </a:solidFill>
              <a:latin typeface="Century Gothic"/>
              <a:ea typeface="Century Gothic"/>
              <a:cs typeface="Century Gothic"/>
              <a:sym typeface="Century Gothic"/>
            </a:endParaRPr>
          </a:p>
        </p:txBody>
      </p:sp>
      <p:sp>
        <p:nvSpPr>
          <p:cNvPr id="318" name="Google Shape;318;p8"/>
          <p:cNvSpPr/>
          <p:nvPr/>
        </p:nvSpPr>
        <p:spPr>
          <a:xfrm>
            <a:off x="594360" y="3179826"/>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82AAFF"/>
                </a:solidFill>
                <a:latin typeface="Courier New"/>
                <a:ea typeface="Courier New"/>
                <a:cs typeface="Courier New"/>
                <a:sym typeface="Courier New"/>
              </a:rPr>
              <a:t>  "Null customer_id": "...WHERE customer_id IS NULL",</a:t>
            </a:r>
            <a:endParaRPr sz="1050">
              <a:solidFill>
                <a:schemeClr val="lt1"/>
              </a:solidFill>
              <a:latin typeface="Century Gothic"/>
              <a:ea typeface="Century Gothic"/>
              <a:cs typeface="Century Gothic"/>
              <a:sym typeface="Century Gothic"/>
            </a:endParaRPr>
          </a:p>
        </p:txBody>
      </p:sp>
      <p:sp>
        <p:nvSpPr>
          <p:cNvPr id="319" name="Google Shape;319;p8"/>
          <p:cNvSpPr/>
          <p:nvPr/>
        </p:nvSpPr>
        <p:spPr>
          <a:xfrm>
            <a:off x="594360" y="3399282"/>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82AAFF"/>
                </a:solidFill>
                <a:latin typeface="Courier New"/>
                <a:ea typeface="Courier New"/>
                <a:cs typeface="Courier New"/>
                <a:sym typeface="Courier New"/>
              </a:rPr>
              <a:t>  "Null product_id":  "...WHERE product_id IS NULL",</a:t>
            </a:r>
            <a:endParaRPr sz="1050">
              <a:solidFill>
                <a:schemeClr val="lt1"/>
              </a:solidFill>
              <a:latin typeface="Century Gothic"/>
              <a:ea typeface="Century Gothic"/>
              <a:cs typeface="Century Gothic"/>
              <a:sym typeface="Century Gothic"/>
            </a:endParaRPr>
          </a:p>
        </p:txBody>
      </p:sp>
      <p:sp>
        <p:nvSpPr>
          <p:cNvPr id="320" name="Google Shape;320;p8"/>
          <p:cNvSpPr/>
          <p:nvPr/>
        </p:nvSpPr>
        <p:spPr>
          <a:xfrm>
            <a:off x="594360" y="3618738"/>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82AAFF"/>
                </a:solidFill>
                <a:latin typeface="Courier New"/>
                <a:ea typeface="Courier New"/>
                <a:cs typeface="Courier New"/>
                <a:sym typeface="Courier New"/>
              </a:rPr>
              <a:t>  "Null seller_id":   "...WHERE seller_id IS NULL",</a:t>
            </a:r>
            <a:endParaRPr sz="1050">
              <a:solidFill>
                <a:schemeClr val="lt1"/>
              </a:solidFill>
              <a:latin typeface="Century Gothic"/>
              <a:ea typeface="Century Gothic"/>
              <a:cs typeface="Century Gothic"/>
              <a:sym typeface="Century Gothic"/>
            </a:endParaRPr>
          </a:p>
        </p:txBody>
      </p:sp>
      <p:sp>
        <p:nvSpPr>
          <p:cNvPr id="321" name="Google Shape;321;p8"/>
          <p:cNvSpPr/>
          <p:nvPr/>
        </p:nvSpPr>
        <p:spPr>
          <a:xfrm>
            <a:off x="594360" y="3838194"/>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82AAFF"/>
                </a:solidFill>
                <a:latin typeface="Courier New"/>
                <a:ea typeface="Courier New"/>
                <a:cs typeface="Courier New"/>
                <a:sym typeface="Courier New"/>
              </a:rPr>
              <a:t>  "Negative sales":   "...WHERE sales_amount &lt; 0"</a:t>
            </a:r>
            <a:endParaRPr sz="1050">
              <a:solidFill>
                <a:schemeClr val="lt1"/>
              </a:solidFill>
              <a:latin typeface="Century Gothic"/>
              <a:ea typeface="Century Gothic"/>
              <a:cs typeface="Century Gothic"/>
              <a:sym typeface="Century Gothic"/>
            </a:endParaRPr>
          </a:p>
        </p:txBody>
      </p:sp>
      <p:sp>
        <p:nvSpPr>
          <p:cNvPr id="322" name="Google Shape;322;p8"/>
          <p:cNvSpPr/>
          <p:nvPr/>
        </p:nvSpPr>
        <p:spPr>
          <a:xfrm>
            <a:off x="594360" y="4057650"/>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FFFFFF"/>
                </a:solidFill>
                <a:latin typeface="Courier New"/>
                <a:ea typeface="Courier New"/>
                <a:cs typeface="Courier New"/>
                <a:sym typeface="Courier New"/>
              </a:rPr>
              <a:t>}</a:t>
            </a:r>
            <a:endParaRPr sz="1050">
              <a:solidFill>
                <a:schemeClr val="lt1"/>
              </a:solidFill>
              <a:latin typeface="Century Gothic"/>
              <a:ea typeface="Century Gothic"/>
              <a:cs typeface="Century Gothic"/>
              <a:sym typeface="Century Gothic"/>
            </a:endParaRPr>
          </a:p>
        </p:txBody>
      </p:sp>
      <p:sp>
        <p:nvSpPr>
          <p:cNvPr id="323" name="Google Shape;323;p8"/>
          <p:cNvSpPr/>
          <p:nvPr/>
        </p:nvSpPr>
        <p:spPr>
          <a:xfrm>
            <a:off x="594360" y="4277106"/>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50">
              <a:solidFill>
                <a:schemeClr val="lt1"/>
              </a:solidFill>
              <a:latin typeface="Century Gothic"/>
              <a:ea typeface="Century Gothic"/>
              <a:cs typeface="Century Gothic"/>
              <a:sym typeface="Century Gothic"/>
            </a:endParaRPr>
          </a:p>
        </p:txBody>
      </p:sp>
      <p:sp>
        <p:nvSpPr>
          <p:cNvPr id="324" name="Google Shape;324;p8"/>
          <p:cNvSpPr/>
          <p:nvPr/>
        </p:nvSpPr>
        <p:spPr>
          <a:xfrm>
            <a:off x="594360" y="4496562"/>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C792EA"/>
                </a:solidFill>
                <a:latin typeface="Courier New"/>
                <a:ea typeface="Courier New"/>
                <a:cs typeface="Courier New"/>
                <a:sym typeface="Courier New"/>
              </a:rPr>
              <a:t>for check_name, query in checks.items():</a:t>
            </a:r>
            <a:endParaRPr sz="1050">
              <a:solidFill>
                <a:schemeClr val="lt1"/>
              </a:solidFill>
              <a:latin typeface="Century Gothic"/>
              <a:ea typeface="Century Gothic"/>
              <a:cs typeface="Century Gothic"/>
              <a:sym typeface="Century Gothic"/>
            </a:endParaRPr>
          </a:p>
        </p:txBody>
      </p:sp>
      <p:sp>
        <p:nvSpPr>
          <p:cNvPr id="325" name="Google Shape;325;p8"/>
          <p:cNvSpPr/>
          <p:nvPr/>
        </p:nvSpPr>
        <p:spPr>
          <a:xfrm>
            <a:off x="594360" y="4716018"/>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A6E22E"/>
                </a:solidFill>
                <a:latin typeface="Courier New"/>
                <a:ea typeface="Courier New"/>
                <a:cs typeface="Courier New"/>
                <a:sym typeface="Courier New"/>
              </a:rPr>
              <a:t>    result = conn.sql(query).fetchone()[0]</a:t>
            </a:r>
            <a:endParaRPr sz="1050">
              <a:solidFill>
                <a:schemeClr val="lt1"/>
              </a:solidFill>
              <a:latin typeface="Century Gothic"/>
              <a:ea typeface="Century Gothic"/>
              <a:cs typeface="Century Gothic"/>
              <a:sym typeface="Century Gothic"/>
            </a:endParaRPr>
          </a:p>
        </p:txBody>
      </p:sp>
      <p:sp>
        <p:nvSpPr>
          <p:cNvPr id="326" name="Google Shape;326;p8"/>
          <p:cNvSpPr/>
          <p:nvPr/>
        </p:nvSpPr>
        <p:spPr>
          <a:xfrm>
            <a:off x="594360" y="4935474"/>
            <a:ext cx="46634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50">
                <a:solidFill>
                  <a:srgbClr val="FFFFFF"/>
                </a:solidFill>
                <a:latin typeface="Courier New"/>
                <a:ea typeface="Courier New"/>
                <a:cs typeface="Courier New"/>
                <a:sym typeface="Courier New"/>
              </a:rPr>
              <a:t>    print(f"{check_name}: {result}")</a:t>
            </a:r>
            <a:endParaRPr sz="1050">
              <a:solidFill>
                <a:schemeClr val="lt1"/>
              </a:solidFill>
              <a:latin typeface="Century Gothic"/>
              <a:ea typeface="Century Gothic"/>
              <a:cs typeface="Century Gothic"/>
              <a:sym typeface="Century Gothic"/>
            </a:endParaRPr>
          </a:p>
        </p:txBody>
      </p:sp>
      <p:sp>
        <p:nvSpPr>
          <p:cNvPr id="327" name="Google Shape;327;p8"/>
          <p:cNvSpPr/>
          <p:nvPr/>
        </p:nvSpPr>
        <p:spPr>
          <a:xfrm>
            <a:off x="5623560" y="2183130"/>
            <a:ext cx="3108960" cy="694944"/>
          </a:xfrm>
          <a:prstGeom prst="rect">
            <a:avLst/>
          </a:prstGeom>
          <a:solidFill>
            <a:srgbClr val="EAF3DE"/>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8" name="Google Shape;328;p8"/>
          <p:cNvSpPr/>
          <p:nvPr/>
        </p:nvSpPr>
        <p:spPr>
          <a:xfrm>
            <a:off x="5715000" y="2228850"/>
            <a:ext cx="29260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3B6D11"/>
                </a:solidFill>
                <a:latin typeface="Century Gothic"/>
                <a:ea typeface="Century Gothic"/>
                <a:cs typeface="Century Gothic"/>
                <a:sym typeface="Century Gothic"/>
              </a:rPr>
              <a:t>Connect</a:t>
            </a:r>
            <a:endParaRPr sz="1200">
              <a:solidFill>
                <a:schemeClr val="lt1"/>
              </a:solidFill>
              <a:latin typeface="Century Gothic"/>
              <a:ea typeface="Century Gothic"/>
              <a:cs typeface="Century Gothic"/>
              <a:sym typeface="Century Gothic"/>
            </a:endParaRPr>
          </a:p>
        </p:txBody>
      </p:sp>
      <p:sp>
        <p:nvSpPr>
          <p:cNvPr id="329" name="Google Shape;329;p8"/>
          <p:cNvSpPr/>
          <p:nvPr/>
        </p:nvSpPr>
        <p:spPr>
          <a:xfrm>
            <a:off x="5715000" y="2475738"/>
            <a:ext cx="29260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rgbClr val="555555"/>
                </a:solidFill>
                <a:latin typeface="Century Gothic"/>
                <a:ea typeface="Century Gothic"/>
                <a:cs typeface="Century Gothic"/>
                <a:sym typeface="Century Gothic"/>
              </a:rPr>
              <a:t>Opens olist.db directly via DuckDB</a:t>
            </a:r>
            <a:endParaRPr sz="1100">
              <a:solidFill>
                <a:schemeClr val="lt1"/>
              </a:solidFill>
              <a:latin typeface="Century Gothic"/>
              <a:ea typeface="Century Gothic"/>
              <a:cs typeface="Century Gothic"/>
              <a:sym typeface="Century Gothic"/>
            </a:endParaRPr>
          </a:p>
        </p:txBody>
      </p:sp>
      <p:sp>
        <p:nvSpPr>
          <p:cNvPr id="330" name="Google Shape;330;p8"/>
          <p:cNvSpPr/>
          <p:nvPr/>
        </p:nvSpPr>
        <p:spPr>
          <a:xfrm>
            <a:off x="5623560" y="3006090"/>
            <a:ext cx="3108960" cy="694944"/>
          </a:xfrm>
          <a:prstGeom prst="rect">
            <a:avLst/>
          </a:prstGeom>
          <a:solidFill>
            <a:srgbClr val="EEEDFE"/>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1" name="Google Shape;331;p8"/>
          <p:cNvSpPr/>
          <p:nvPr/>
        </p:nvSpPr>
        <p:spPr>
          <a:xfrm>
            <a:off x="5715000" y="3051810"/>
            <a:ext cx="29260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3C3489"/>
                </a:solidFill>
                <a:latin typeface="Century Gothic"/>
                <a:ea typeface="Century Gothic"/>
                <a:cs typeface="Century Gothic"/>
                <a:sym typeface="Century Gothic"/>
              </a:rPr>
              <a:t>Dict-driven</a:t>
            </a:r>
            <a:endParaRPr sz="1200">
              <a:solidFill>
                <a:schemeClr val="lt1"/>
              </a:solidFill>
              <a:latin typeface="Century Gothic"/>
              <a:ea typeface="Century Gothic"/>
              <a:cs typeface="Century Gothic"/>
              <a:sym typeface="Century Gothic"/>
            </a:endParaRPr>
          </a:p>
        </p:txBody>
      </p:sp>
      <p:sp>
        <p:nvSpPr>
          <p:cNvPr id="332" name="Google Shape;332;p8"/>
          <p:cNvSpPr/>
          <p:nvPr/>
        </p:nvSpPr>
        <p:spPr>
          <a:xfrm>
            <a:off x="5715000" y="3298698"/>
            <a:ext cx="29260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rgbClr val="555555"/>
                </a:solidFill>
                <a:latin typeface="Century Gothic"/>
                <a:ea typeface="Century Gothic"/>
                <a:cs typeface="Century Gothic"/>
                <a:sym typeface="Century Gothic"/>
              </a:rPr>
              <a:t>Name + SQL pairs — add checks with one line</a:t>
            </a:r>
            <a:endParaRPr sz="1100">
              <a:solidFill>
                <a:schemeClr val="lt1"/>
              </a:solidFill>
              <a:latin typeface="Century Gothic"/>
              <a:ea typeface="Century Gothic"/>
              <a:cs typeface="Century Gothic"/>
              <a:sym typeface="Century Gothic"/>
            </a:endParaRPr>
          </a:p>
        </p:txBody>
      </p:sp>
      <p:sp>
        <p:nvSpPr>
          <p:cNvPr id="333" name="Google Shape;333;p8"/>
          <p:cNvSpPr/>
          <p:nvPr/>
        </p:nvSpPr>
        <p:spPr>
          <a:xfrm>
            <a:off x="5623560" y="3829050"/>
            <a:ext cx="3108960" cy="694944"/>
          </a:xfrm>
          <a:prstGeom prst="rect">
            <a:avLst/>
          </a:prstGeom>
          <a:solidFill>
            <a:srgbClr val="FFF4E0"/>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4" name="Google Shape;334;p8"/>
          <p:cNvSpPr/>
          <p:nvPr/>
        </p:nvSpPr>
        <p:spPr>
          <a:xfrm>
            <a:off x="5715000" y="3874770"/>
            <a:ext cx="29260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854F0B"/>
                </a:solidFill>
                <a:latin typeface="Century Gothic"/>
                <a:ea typeface="Century Gothic"/>
                <a:cs typeface="Century Gothic"/>
                <a:sym typeface="Century Gothic"/>
              </a:rPr>
              <a:t>Loop &amp; log</a:t>
            </a:r>
            <a:endParaRPr sz="1200">
              <a:solidFill>
                <a:schemeClr val="lt1"/>
              </a:solidFill>
              <a:latin typeface="Century Gothic"/>
              <a:ea typeface="Century Gothic"/>
              <a:cs typeface="Century Gothic"/>
              <a:sym typeface="Century Gothic"/>
            </a:endParaRPr>
          </a:p>
        </p:txBody>
      </p:sp>
      <p:sp>
        <p:nvSpPr>
          <p:cNvPr id="335" name="Google Shape;335;p8"/>
          <p:cNvSpPr/>
          <p:nvPr/>
        </p:nvSpPr>
        <p:spPr>
          <a:xfrm>
            <a:off x="5715000" y="4121658"/>
            <a:ext cx="29260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rgbClr val="555555"/>
                </a:solidFill>
                <a:latin typeface="Century Gothic"/>
                <a:ea typeface="Century Gothic"/>
                <a:cs typeface="Century Gothic"/>
                <a:sym typeface="Century Gothic"/>
              </a:rPr>
              <a:t>Count &gt; 0 flags affected rows for review</a:t>
            </a:r>
            <a:endParaRPr sz="1100">
              <a:solidFill>
                <a:schemeClr val="lt1"/>
              </a:solidFill>
              <a:latin typeface="Century Gothic"/>
              <a:ea typeface="Century Gothic"/>
              <a:cs typeface="Century Gothic"/>
              <a:sym typeface="Century Gothic"/>
            </a:endParaRPr>
          </a:p>
        </p:txBody>
      </p:sp>
      <p:sp>
        <p:nvSpPr>
          <p:cNvPr id="336" name="Google Shape;336;p8"/>
          <p:cNvSpPr/>
          <p:nvPr/>
        </p:nvSpPr>
        <p:spPr>
          <a:xfrm>
            <a:off x="8046720" y="5630418"/>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9"/>
          <p:cNvSpPr/>
          <p:nvPr/>
        </p:nvSpPr>
        <p:spPr>
          <a:xfrm>
            <a:off x="-534" y="-3152"/>
            <a:ext cx="9148443" cy="6857554"/>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3" name="Google Shape;343;p9"/>
          <p:cNvSpPr/>
          <p:nvPr/>
        </p:nvSpPr>
        <p:spPr>
          <a:xfrm>
            <a:off x="401781" y="5625984"/>
            <a:ext cx="8335819" cy="374766"/>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4" name="Google Shape;344;p9"/>
          <p:cNvSpPr/>
          <p:nvPr/>
        </p:nvSpPr>
        <p:spPr>
          <a:xfrm>
            <a:off x="411480" y="1113282"/>
            <a:ext cx="2194560" cy="292608"/>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5" name="Google Shape;345;p9"/>
          <p:cNvSpPr/>
          <p:nvPr/>
        </p:nvSpPr>
        <p:spPr>
          <a:xfrm>
            <a:off x="411480" y="111328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00">
                <a:solidFill>
                  <a:srgbClr val="FFFFFF"/>
                </a:solidFill>
                <a:latin typeface="Century Gothic"/>
                <a:ea typeface="Century Gothic"/>
                <a:cs typeface="Century Gothic"/>
                <a:sym typeface="Century Gothic"/>
              </a:rPr>
              <a:t>Summary</a:t>
            </a:r>
            <a:endParaRPr sz="1000">
              <a:solidFill>
                <a:schemeClr val="lt1"/>
              </a:solidFill>
              <a:latin typeface="Century Gothic"/>
              <a:ea typeface="Century Gothic"/>
              <a:cs typeface="Century Gothic"/>
              <a:sym typeface="Century Gothic"/>
            </a:endParaRPr>
          </a:p>
        </p:txBody>
      </p:sp>
      <p:sp>
        <p:nvSpPr>
          <p:cNvPr id="346" name="Google Shape;346;p9"/>
          <p:cNvSpPr/>
          <p:nvPr/>
        </p:nvSpPr>
        <p:spPr>
          <a:xfrm>
            <a:off x="411480" y="1497330"/>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rgbClr val="1A3A5C"/>
                </a:solidFill>
                <a:latin typeface="Century Gothic"/>
                <a:ea typeface="Century Gothic"/>
                <a:cs typeface="Century Gothic"/>
                <a:sym typeface="Century Gothic"/>
              </a:rPr>
              <a:t>What the Two Layers Deliver</a:t>
            </a:r>
            <a:endParaRPr sz="2800">
              <a:solidFill>
                <a:schemeClr val="lt1"/>
              </a:solidFill>
              <a:latin typeface="Century Gothic"/>
              <a:ea typeface="Century Gothic"/>
              <a:cs typeface="Century Gothic"/>
              <a:sym typeface="Century Gothic"/>
            </a:endParaRPr>
          </a:p>
        </p:txBody>
      </p:sp>
      <p:cxnSp>
        <p:nvCxnSpPr>
          <p:cNvPr id="347" name="Google Shape;347;p9"/>
          <p:cNvCxnSpPr/>
          <p:nvPr/>
        </p:nvCxnSpPr>
        <p:spPr>
          <a:xfrm>
            <a:off x="411480" y="2064258"/>
            <a:ext cx="8321040" cy="0"/>
          </a:xfrm>
          <a:prstGeom prst="straightConnector1">
            <a:avLst/>
          </a:prstGeom>
          <a:noFill/>
          <a:ln cap="flat" cmpd="sng" w="19050">
            <a:solidFill>
              <a:srgbClr val="1A5EA8"/>
            </a:solidFill>
            <a:prstDash val="solid"/>
            <a:round/>
            <a:headEnd len="sm" w="sm" type="none"/>
            <a:tailEnd len="sm" w="sm" type="none"/>
          </a:ln>
        </p:spPr>
      </p:cxnSp>
      <p:sp>
        <p:nvSpPr>
          <p:cNvPr id="348" name="Google Shape;348;p9"/>
          <p:cNvSpPr/>
          <p:nvPr/>
        </p:nvSpPr>
        <p:spPr>
          <a:xfrm>
            <a:off x="411480" y="2274570"/>
            <a:ext cx="2560320" cy="2560320"/>
          </a:xfrm>
          <a:prstGeom prst="rect">
            <a:avLst/>
          </a:prstGeom>
          <a:solidFill>
            <a:srgbClr val="EAF3DE"/>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9" name="Google Shape;349;p9"/>
          <p:cNvSpPr/>
          <p:nvPr/>
        </p:nvSpPr>
        <p:spPr>
          <a:xfrm>
            <a:off x="411480" y="2411730"/>
            <a:ext cx="25603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5200">
                <a:solidFill>
                  <a:srgbClr val="3B6D11"/>
                </a:solidFill>
                <a:latin typeface="Century Gothic"/>
                <a:ea typeface="Century Gothic"/>
                <a:cs typeface="Century Gothic"/>
                <a:sym typeface="Century Gothic"/>
              </a:rPr>
              <a:t>7</a:t>
            </a:r>
            <a:endParaRPr sz="5200">
              <a:solidFill>
                <a:schemeClr val="lt1"/>
              </a:solidFill>
              <a:latin typeface="Century Gothic"/>
              <a:ea typeface="Century Gothic"/>
              <a:cs typeface="Century Gothic"/>
              <a:sym typeface="Century Gothic"/>
            </a:endParaRPr>
          </a:p>
        </p:txBody>
      </p:sp>
      <p:sp>
        <p:nvSpPr>
          <p:cNvPr id="350" name="Google Shape;350;p9"/>
          <p:cNvSpPr/>
          <p:nvPr/>
        </p:nvSpPr>
        <p:spPr>
          <a:xfrm>
            <a:off x="411480" y="3188970"/>
            <a:ext cx="25603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1A3A5C"/>
                </a:solidFill>
                <a:latin typeface="Century Gothic"/>
                <a:ea typeface="Century Gothic"/>
                <a:cs typeface="Century Gothic"/>
                <a:sym typeface="Century Gothic"/>
              </a:rPr>
              <a:t>dbt tests</a:t>
            </a:r>
            <a:endParaRPr sz="1400">
              <a:solidFill>
                <a:schemeClr val="lt1"/>
              </a:solidFill>
              <a:latin typeface="Century Gothic"/>
              <a:ea typeface="Century Gothic"/>
              <a:cs typeface="Century Gothic"/>
              <a:sym typeface="Century Gothic"/>
            </a:endParaRPr>
          </a:p>
        </p:txBody>
      </p:sp>
      <p:sp>
        <p:nvSpPr>
          <p:cNvPr id="351" name="Google Shape;351;p9"/>
          <p:cNvSpPr/>
          <p:nvPr/>
        </p:nvSpPr>
        <p:spPr>
          <a:xfrm>
            <a:off x="502920" y="3554730"/>
            <a:ext cx="2377440" cy="10972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100">
                <a:solidFill>
                  <a:srgbClr val="555555"/>
                </a:solidFill>
                <a:latin typeface="Century Gothic"/>
                <a:ea typeface="Century Gothic"/>
                <a:cs typeface="Century Gothic"/>
                <a:sym typeface="Century Gothic"/>
              </a:rPr>
              <a:t>unique + not_null across all 3 dim tables and fact_sales</a:t>
            </a:r>
            <a:endParaRPr sz="1100">
              <a:solidFill>
                <a:schemeClr val="lt1"/>
              </a:solidFill>
              <a:latin typeface="Century Gothic"/>
              <a:ea typeface="Century Gothic"/>
              <a:cs typeface="Century Gothic"/>
              <a:sym typeface="Century Gothic"/>
            </a:endParaRPr>
          </a:p>
        </p:txBody>
      </p:sp>
      <p:sp>
        <p:nvSpPr>
          <p:cNvPr id="352" name="Google Shape;352;p9"/>
          <p:cNvSpPr/>
          <p:nvPr/>
        </p:nvSpPr>
        <p:spPr>
          <a:xfrm>
            <a:off x="3246120" y="2274570"/>
            <a:ext cx="2560320" cy="2560320"/>
          </a:xfrm>
          <a:prstGeom prst="rect">
            <a:avLst/>
          </a:prstGeom>
          <a:solidFill>
            <a:srgbClr val="EEEDFE"/>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53" name="Google Shape;353;p9"/>
          <p:cNvSpPr/>
          <p:nvPr/>
        </p:nvSpPr>
        <p:spPr>
          <a:xfrm>
            <a:off x="3246120" y="2411730"/>
            <a:ext cx="25603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5200">
                <a:solidFill>
                  <a:srgbClr val="3C3489"/>
                </a:solidFill>
                <a:latin typeface="Century Gothic"/>
                <a:ea typeface="Century Gothic"/>
                <a:cs typeface="Century Gothic"/>
                <a:sym typeface="Century Gothic"/>
              </a:rPr>
              <a:t>4</a:t>
            </a:r>
            <a:endParaRPr sz="5200">
              <a:solidFill>
                <a:schemeClr val="lt1"/>
              </a:solidFill>
              <a:latin typeface="Century Gothic"/>
              <a:ea typeface="Century Gothic"/>
              <a:cs typeface="Century Gothic"/>
              <a:sym typeface="Century Gothic"/>
            </a:endParaRPr>
          </a:p>
        </p:txBody>
      </p:sp>
      <p:sp>
        <p:nvSpPr>
          <p:cNvPr id="354" name="Google Shape;354;p9"/>
          <p:cNvSpPr/>
          <p:nvPr/>
        </p:nvSpPr>
        <p:spPr>
          <a:xfrm>
            <a:off x="3246120" y="3188970"/>
            <a:ext cx="25603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1A3A5C"/>
                </a:solidFill>
                <a:latin typeface="Century Gothic"/>
                <a:ea typeface="Century Gothic"/>
                <a:cs typeface="Century Gothic"/>
                <a:sym typeface="Century Gothic"/>
              </a:rPr>
              <a:t>Python checks</a:t>
            </a:r>
            <a:endParaRPr sz="1400">
              <a:solidFill>
                <a:schemeClr val="lt1"/>
              </a:solidFill>
              <a:latin typeface="Century Gothic"/>
              <a:ea typeface="Century Gothic"/>
              <a:cs typeface="Century Gothic"/>
              <a:sym typeface="Century Gothic"/>
            </a:endParaRPr>
          </a:p>
        </p:txBody>
      </p:sp>
      <p:sp>
        <p:nvSpPr>
          <p:cNvPr id="355" name="Google Shape;355;p9"/>
          <p:cNvSpPr/>
          <p:nvPr/>
        </p:nvSpPr>
        <p:spPr>
          <a:xfrm>
            <a:off x="3337560" y="3554730"/>
            <a:ext cx="2377440" cy="10972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100">
                <a:solidFill>
                  <a:srgbClr val="555555"/>
                </a:solidFill>
                <a:latin typeface="Century Gothic"/>
                <a:ea typeface="Century Gothic"/>
                <a:cs typeface="Century Gothic"/>
                <a:sym typeface="Century Gothic"/>
              </a:rPr>
              <a:t>Null FKs + negative amounts via data_quality.py</a:t>
            </a:r>
            <a:endParaRPr sz="1100">
              <a:solidFill>
                <a:schemeClr val="lt1"/>
              </a:solidFill>
              <a:latin typeface="Century Gothic"/>
              <a:ea typeface="Century Gothic"/>
              <a:cs typeface="Century Gothic"/>
              <a:sym typeface="Century Gothic"/>
            </a:endParaRPr>
          </a:p>
        </p:txBody>
      </p:sp>
      <p:sp>
        <p:nvSpPr>
          <p:cNvPr id="356" name="Google Shape;356;p9"/>
          <p:cNvSpPr/>
          <p:nvPr/>
        </p:nvSpPr>
        <p:spPr>
          <a:xfrm>
            <a:off x="6080760" y="2274570"/>
            <a:ext cx="2560320" cy="2560320"/>
          </a:xfrm>
          <a:prstGeom prst="rect">
            <a:avLst/>
          </a:prstGeom>
          <a:solidFill>
            <a:srgbClr val="FFF4E0"/>
          </a:soli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57" name="Google Shape;357;p9"/>
          <p:cNvSpPr/>
          <p:nvPr/>
        </p:nvSpPr>
        <p:spPr>
          <a:xfrm>
            <a:off x="6080760" y="2411730"/>
            <a:ext cx="25603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5200">
                <a:solidFill>
                  <a:srgbClr val="854F0B"/>
                </a:solidFill>
                <a:latin typeface="Century Gothic"/>
                <a:ea typeface="Century Gothic"/>
                <a:cs typeface="Century Gothic"/>
                <a:sym typeface="Century Gothic"/>
              </a:rPr>
              <a:t>0</a:t>
            </a:r>
            <a:endParaRPr sz="5200">
              <a:solidFill>
                <a:schemeClr val="lt1"/>
              </a:solidFill>
              <a:latin typeface="Century Gothic"/>
              <a:ea typeface="Century Gothic"/>
              <a:cs typeface="Century Gothic"/>
              <a:sym typeface="Century Gothic"/>
            </a:endParaRPr>
          </a:p>
        </p:txBody>
      </p:sp>
      <p:sp>
        <p:nvSpPr>
          <p:cNvPr id="358" name="Google Shape;358;p9"/>
          <p:cNvSpPr/>
          <p:nvPr/>
        </p:nvSpPr>
        <p:spPr>
          <a:xfrm>
            <a:off x="6080760" y="3188970"/>
            <a:ext cx="25603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1A3A5C"/>
                </a:solidFill>
                <a:latin typeface="Century Gothic"/>
                <a:ea typeface="Century Gothic"/>
                <a:cs typeface="Century Gothic"/>
                <a:sym typeface="Century Gothic"/>
              </a:rPr>
              <a:t>Hard failures</a:t>
            </a:r>
            <a:endParaRPr sz="1400">
              <a:solidFill>
                <a:schemeClr val="lt1"/>
              </a:solidFill>
              <a:latin typeface="Century Gothic"/>
              <a:ea typeface="Century Gothic"/>
              <a:cs typeface="Century Gothic"/>
              <a:sym typeface="Century Gothic"/>
            </a:endParaRPr>
          </a:p>
        </p:txBody>
      </p:sp>
      <p:sp>
        <p:nvSpPr>
          <p:cNvPr id="359" name="Google Shape;359;p9"/>
          <p:cNvSpPr/>
          <p:nvPr/>
        </p:nvSpPr>
        <p:spPr>
          <a:xfrm>
            <a:off x="6172200" y="3554730"/>
            <a:ext cx="2377440" cy="10972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100">
                <a:solidFill>
                  <a:srgbClr val="555555"/>
                </a:solidFill>
                <a:latin typeface="Century Gothic"/>
                <a:ea typeface="Century Gothic"/>
                <a:cs typeface="Century Gothic"/>
                <a:sym typeface="Century Gothic"/>
              </a:rPr>
              <a:t>All findings treated as documented limitations — pipeline kept auditable</a:t>
            </a:r>
            <a:endParaRPr sz="1100">
              <a:solidFill>
                <a:schemeClr val="lt1"/>
              </a:solidFill>
              <a:latin typeface="Century Gothic"/>
              <a:ea typeface="Century Gothic"/>
              <a:cs typeface="Century Gothic"/>
              <a:sym typeface="Century Gothic"/>
            </a:endParaRPr>
          </a:p>
        </p:txBody>
      </p:sp>
      <p:sp>
        <p:nvSpPr>
          <p:cNvPr id="360" name="Google Shape;360;p9"/>
          <p:cNvSpPr/>
          <p:nvPr/>
        </p:nvSpPr>
        <p:spPr>
          <a:xfrm>
            <a:off x="411480" y="5063490"/>
            <a:ext cx="83210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200">
                <a:solidFill>
                  <a:srgbClr val="888888"/>
                </a:solidFill>
                <a:latin typeface="Century Gothic"/>
                <a:ea typeface="Century Gothic"/>
                <a:cs typeface="Century Gothic"/>
                <a:sym typeface="Century Gothic"/>
              </a:rPr>
              <a:t>Both layers together ensure structural integrity and business rule compliance across the entire pipeline.</a:t>
            </a:r>
            <a:endParaRPr sz="1200">
              <a:solidFill>
                <a:schemeClr val="lt1"/>
              </a:solidFill>
              <a:latin typeface="Century Gothic"/>
              <a:ea typeface="Century Gothic"/>
              <a:cs typeface="Century Gothic"/>
              <a:sym typeface="Century Gothic"/>
            </a:endParaRPr>
          </a:p>
        </p:txBody>
      </p:sp>
      <p:sp>
        <p:nvSpPr>
          <p:cNvPr id="361" name="Google Shape;361;p9"/>
          <p:cNvSpPr/>
          <p:nvPr/>
        </p:nvSpPr>
        <p:spPr>
          <a:xfrm>
            <a:off x="8046720" y="5630418"/>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0"/>
          <p:cNvSpPr/>
          <p:nvPr/>
        </p:nvSpPr>
        <p:spPr>
          <a:xfrm>
            <a:off x="-2132" y="3953"/>
            <a:ext cx="9138849" cy="68362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68" name="Google Shape;368;p10"/>
          <p:cNvSpPr/>
          <p:nvPr/>
        </p:nvSpPr>
        <p:spPr>
          <a:xfrm>
            <a:off x="1244" y="3952"/>
            <a:ext cx="93387" cy="6453463"/>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69" name="Google Shape;369;p10"/>
          <p:cNvSpPr/>
          <p:nvPr/>
        </p:nvSpPr>
        <p:spPr>
          <a:xfrm>
            <a:off x="887" y="6445356"/>
            <a:ext cx="9128725" cy="407804"/>
          </a:xfrm>
          <a:prstGeom prst="rect">
            <a:avLst/>
          </a:prstGeom>
          <a:solidFill>
            <a:srgbClr val="1A5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70" name="Google Shape;370;p10"/>
          <p:cNvSpPr/>
          <p:nvPr/>
        </p:nvSpPr>
        <p:spPr>
          <a:xfrm>
            <a:off x="572654" y="1694064"/>
            <a:ext cx="8114146" cy="1289396"/>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None/>
            </a:pPr>
            <a:r>
              <a:rPr b="1" lang="en-US" sz="3200">
                <a:solidFill>
                  <a:srgbClr val="FFFFFF"/>
                </a:solidFill>
                <a:latin typeface="Century Gothic"/>
                <a:ea typeface="Century Gothic"/>
                <a:cs typeface="Century Gothic"/>
                <a:sym typeface="Century Gothic"/>
              </a:rPr>
              <a:t>Data quality is not just about</a:t>
            </a:r>
            <a:endParaRPr sz="3200">
              <a:solidFill>
                <a:schemeClr val="lt1"/>
              </a:solidFill>
              <a:latin typeface="Century Gothic"/>
              <a:ea typeface="Century Gothic"/>
              <a:cs typeface="Century Gothic"/>
              <a:sym typeface="Century Gothic"/>
            </a:endParaRPr>
          </a:p>
          <a:p>
            <a:pPr indent="0" lvl="0" marL="0" marR="0" rtl="0" algn="l">
              <a:lnSpc>
                <a:spcPct val="130000"/>
              </a:lnSpc>
              <a:spcBef>
                <a:spcPts val="0"/>
              </a:spcBef>
              <a:spcAft>
                <a:spcPts val="0"/>
              </a:spcAft>
              <a:buNone/>
            </a:pPr>
            <a:r>
              <a:rPr b="1" lang="en-US" sz="3200">
                <a:solidFill>
                  <a:srgbClr val="FFFFFF"/>
                </a:solidFill>
                <a:latin typeface="Century Gothic"/>
                <a:ea typeface="Century Gothic"/>
                <a:cs typeface="Century Gothic"/>
                <a:sym typeface="Century Gothic"/>
              </a:rPr>
              <a:t>cleaning data.</a:t>
            </a:r>
            <a:endParaRPr sz="3200">
              <a:solidFill>
                <a:schemeClr val="lt1"/>
              </a:solidFill>
              <a:latin typeface="Century Gothic"/>
              <a:ea typeface="Century Gothic"/>
              <a:cs typeface="Century Gothic"/>
              <a:sym typeface="Century Gothic"/>
            </a:endParaRPr>
          </a:p>
        </p:txBody>
      </p:sp>
      <p:sp>
        <p:nvSpPr>
          <p:cNvPr id="371" name="Google Shape;371;p10"/>
          <p:cNvSpPr/>
          <p:nvPr/>
        </p:nvSpPr>
        <p:spPr>
          <a:xfrm>
            <a:off x="586509" y="2996854"/>
            <a:ext cx="8100291" cy="1015076"/>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None/>
            </a:pPr>
            <a:r>
              <a:rPr lang="en-US" sz="2000">
                <a:solidFill>
                  <a:srgbClr val="A0C4F0"/>
                </a:solidFill>
                <a:latin typeface="Century Gothic"/>
                <a:ea typeface="Century Gothic"/>
                <a:cs typeface="Century Gothic"/>
                <a:sym typeface="Century Gothic"/>
              </a:rPr>
              <a:t>It’s about making sure everyone who touches</a:t>
            </a:r>
            <a:endParaRPr sz="2000">
              <a:solidFill>
                <a:schemeClr val="lt1"/>
              </a:solidFill>
              <a:latin typeface="Century Gothic"/>
              <a:ea typeface="Century Gothic"/>
              <a:cs typeface="Century Gothic"/>
              <a:sym typeface="Century Gothic"/>
            </a:endParaRPr>
          </a:p>
          <a:p>
            <a:pPr indent="0" lvl="0" marL="0" marR="0" rtl="0" algn="l">
              <a:lnSpc>
                <a:spcPct val="140000"/>
              </a:lnSpc>
              <a:spcBef>
                <a:spcPts val="0"/>
              </a:spcBef>
              <a:spcAft>
                <a:spcPts val="0"/>
              </a:spcAft>
              <a:buNone/>
            </a:pPr>
            <a:r>
              <a:rPr lang="en-US" sz="2000">
                <a:solidFill>
                  <a:srgbClr val="A0C4F0"/>
                </a:solidFill>
                <a:latin typeface="Century Gothic"/>
                <a:ea typeface="Century Gothic"/>
                <a:cs typeface="Century Gothic"/>
                <a:sym typeface="Century Gothic"/>
              </a:rPr>
              <a:t>the data downstream can trust what they see.</a:t>
            </a:r>
            <a:endParaRPr sz="2000">
              <a:solidFill>
                <a:schemeClr val="lt1"/>
              </a:solidFill>
              <a:latin typeface="Century Gothic"/>
              <a:ea typeface="Century Gothic"/>
              <a:cs typeface="Century Gothic"/>
              <a:sym typeface="Century Gothic"/>
            </a:endParaRPr>
          </a:p>
        </p:txBody>
      </p:sp>
      <p:sp>
        <p:nvSpPr>
          <p:cNvPr id="372" name="Google Shape;372;p10"/>
          <p:cNvSpPr/>
          <p:nvPr/>
        </p:nvSpPr>
        <p:spPr>
          <a:xfrm>
            <a:off x="457200" y="4194810"/>
            <a:ext cx="4114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300">
              <a:solidFill>
                <a:schemeClr val="lt1"/>
              </a:solidFill>
              <a:latin typeface="Century Gothic"/>
              <a:ea typeface="Century Gothic"/>
              <a:cs typeface="Century Gothic"/>
              <a:sym typeface="Century Gothic"/>
            </a:endParaRPr>
          </a:p>
        </p:txBody>
      </p:sp>
      <p:sp>
        <p:nvSpPr>
          <p:cNvPr id="373" name="Google Shape;373;p10"/>
          <p:cNvSpPr/>
          <p:nvPr/>
        </p:nvSpPr>
        <p:spPr>
          <a:xfrm>
            <a:off x="8046720" y="5630418"/>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000">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1"/>
          <p:cNvSpPr txBox="1"/>
          <p:nvPr>
            <p:ph type="title"/>
          </p:nvPr>
        </p:nvSpPr>
        <p:spPr>
          <a:xfrm>
            <a:off x="158263" y="211015"/>
            <a:ext cx="5447036" cy="112541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Century Gothic"/>
              <a:buNone/>
            </a:pPr>
            <a:r>
              <a:rPr lang="en-US">
                <a:solidFill>
                  <a:schemeClr val="dk1"/>
                </a:solidFill>
              </a:rPr>
              <a:t>MONTHLY SALES TREND</a:t>
            </a:r>
            <a:endParaRPr/>
          </a:p>
        </p:txBody>
      </p:sp>
      <p:pic>
        <p:nvPicPr>
          <p:cNvPr descr="A line graph with numbers and text&#10;&#10;AI-generated content may be incorrect." id="380" name="Google Shape;380;p11"/>
          <p:cNvPicPr preferRelativeResize="0"/>
          <p:nvPr/>
        </p:nvPicPr>
        <p:blipFill rotWithShape="1">
          <a:blip r:embed="rId3">
            <a:alphaModFix/>
          </a:blip>
          <a:srcRect b="0" l="0" r="0" t="0"/>
          <a:stretch/>
        </p:blipFill>
        <p:spPr>
          <a:xfrm>
            <a:off x="517591" y="1109770"/>
            <a:ext cx="8371885" cy="4017109"/>
          </a:xfrm>
          <a:prstGeom prst="rect">
            <a:avLst/>
          </a:prstGeom>
          <a:noFill/>
          <a:ln>
            <a:noFill/>
          </a:ln>
        </p:spPr>
      </p:pic>
      <p:sp>
        <p:nvSpPr>
          <p:cNvPr id="381" name="Google Shape;381;p11"/>
          <p:cNvSpPr txBox="1"/>
          <p:nvPr/>
        </p:nvSpPr>
        <p:spPr>
          <a:xfrm>
            <a:off x="517591" y="5319868"/>
            <a:ext cx="4581426"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Oct 2016: R$354</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Feb 2017: R$286k</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Nov 2017: R$1.18M</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Avg MoM: +</a:t>
            </a:r>
            <a:r>
              <a:rPr b="1" lang="en-US" sz="1800">
                <a:solidFill>
                  <a:schemeClr val="lt1"/>
                </a:solidFill>
                <a:latin typeface="Century Gothic"/>
                <a:ea typeface="Century Gothic"/>
                <a:cs typeface="Century Gothic"/>
                <a:sym typeface="Century Gothic"/>
              </a:rPr>
              <a:t>8.8%</a:t>
            </a:r>
            <a:endParaRPr sz="1800">
              <a:solidFill>
                <a:schemeClr val="lt1"/>
              </a:solidFill>
              <a:latin typeface="Century Gothic"/>
              <a:ea typeface="Century Gothic"/>
              <a:cs typeface="Century Gothic"/>
              <a:sym typeface="Century Gothic"/>
            </a:endParaRPr>
          </a:p>
        </p:txBody>
      </p:sp>
      <p:sp>
        <p:nvSpPr>
          <p:cNvPr id="382" name="Google Shape;382;p11"/>
          <p:cNvSpPr txBox="1"/>
          <p:nvPr/>
        </p:nvSpPr>
        <p:spPr>
          <a:xfrm>
            <a:off x="4308050" y="5458367"/>
            <a:ext cx="458142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Data pipeline transforms 9 raw CSVs into a time-series that immediately shows business momentum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2"/>
          <p:cNvSpPr txBox="1"/>
          <p:nvPr>
            <p:ph type="title"/>
          </p:nvPr>
        </p:nvSpPr>
        <p:spPr>
          <a:xfrm>
            <a:off x="351692" y="316523"/>
            <a:ext cx="6554867" cy="1524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Century Gothic"/>
              <a:buNone/>
            </a:pPr>
            <a:r>
              <a:rPr lang="en-US">
                <a:solidFill>
                  <a:schemeClr val="dk1"/>
                </a:solidFill>
              </a:rPr>
              <a:t>TOP PRODUCT CATEGORIES</a:t>
            </a:r>
            <a:endParaRPr/>
          </a:p>
        </p:txBody>
      </p:sp>
      <p:pic>
        <p:nvPicPr>
          <p:cNvPr descr="A bar graph with blue bars&#10;&#10;AI-generated content may be incorrect." id="389" name="Google Shape;389;p12"/>
          <p:cNvPicPr preferRelativeResize="0"/>
          <p:nvPr/>
        </p:nvPicPr>
        <p:blipFill rotWithShape="1">
          <a:blip r:embed="rId3">
            <a:alphaModFix/>
          </a:blip>
          <a:srcRect b="0" l="0" r="0" t="0"/>
          <a:stretch/>
        </p:blipFill>
        <p:spPr>
          <a:xfrm>
            <a:off x="66197" y="1750570"/>
            <a:ext cx="5439058" cy="4866322"/>
          </a:xfrm>
          <a:prstGeom prst="rect">
            <a:avLst/>
          </a:prstGeom>
          <a:noFill/>
          <a:ln>
            <a:noFill/>
          </a:ln>
        </p:spPr>
      </p:pic>
      <p:sp>
        <p:nvSpPr>
          <p:cNvPr id="390" name="Google Shape;390;p12"/>
          <p:cNvSpPr txBox="1"/>
          <p:nvPr/>
        </p:nvSpPr>
        <p:spPr>
          <a:xfrm>
            <a:off x="5589886" y="1766991"/>
            <a:ext cx="3487917"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Top categories = Beauty &amp; Health, Watches &amp; Gifts, Bed/Bath/Table</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Accounts for R$4M of Revenue (25.2%)</a:t>
            </a:r>
            <a:endParaRPr/>
          </a:p>
        </p:txBody>
      </p:sp>
      <p:sp>
        <p:nvSpPr>
          <p:cNvPr id="391" name="Google Shape;391;p12"/>
          <p:cNvSpPr txBox="1"/>
          <p:nvPr/>
        </p:nvSpPr>
        <p:spPr>
          <a:xfrm>
            <a:off x="5693790" y="5116101"/>
            <a:ext cx="319568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Defend top 3 while explore upselling for top 4-5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3"/>
          <p:cNvSpPr txBox="1"/>
          <p:nvPr>
            <p:ph type="title"/>
          </p:nvPr>
        </p:nvSpPr>
        <p:spPr>
          <a:xfrm>
            <a:off x="123092" y="451338"/>
            <a:ext cx="6554867" cy="116058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200"/>
              <a:buFont typeface="Century Gothic"/>
              <a:buNone/>
            </a:pPr>
            <a:r>
              <a:rPr lang="en-US" sz="3200" cap="none">
                <a:solidFill>
                  <a:schemeClr val="lt1"/>
                </a:solidFill>
                <a:latin typeface="Century Gothic"/>
                <a:ea typeface="Century Gothic"/>
                <a:cs typeface="Century Gothic"/>
                <a:sym typeface="Century Gothic"/>
              </a:rPr>
              <a:t>REVENUE BY STATE</a:t>
            </a:r>
            <a:endParaRPr/>
          </a:p>
        </p:txBody>
      </p:sp>
      <p:pic>
        <p:nvPicPr>
          <p:cNvPr descr="A screenshot of a black screen&#10;&#10;AI-generated content may be incorrect." id="398" name="Google Shape;398;p13"/>
          <p:cNvPicPr preferRelativeResize="0"/>
          <p:nvPr/>
        </p:nvPicPr>
        <p:blipFill rotWithShape="1">
          <a:blip r:embed="rId3">
            <a:alphaModFix/>
          </a:blip>
          <a:srcRect b="0" l="0" r="0" t="0"/>
          <a:stretch/>
        </p:blipFill>
        <p:spPr>
          <a:xfrm>
            <a:off x="329938" y="1569174"/>
            <a:ext cx="4209021" cy="5020161"/>
          </a:xfrm>
          <a:prstGeom prst="rect">
            <a:avLst/>
          </a:prstGeom>
          <a:noFill/>
          <a:ln>
            <a:noFill/>
          </a:ln>
        </p:spPr>
      </p:pic>
      <p:sp>
        <p:nvSpPr>
          <p:cNvPr id="399" name="Google Shape;399;p13"/>
          <p:cNvSpPr txBox="1"/>
          <p:nvPr/>
        </p:nvSpPr>
        <p:spPr>
          <a:xfrm>
            <a:off x="4749156" y="1611923"/>
            <a:ext cx="4086600" cy="20319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Sao Paulo is 3x the next state (R$5.9M)</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Retention for top 3 (SP, RJ, MG)</a:t>
            </a:r>
            <a:endParaRPr/>
          </a:p>
          <a:p>
            <a:pPr indent="-342900" lvl="0" marL="457200" rtl="0" algn="l">
              <a:spcBef>
                <a:spcPts val="0"/>
              </a:spcBef>
              <a:spcAft>
                <a:spcPts val="0"/>
              </a:spcAft>
              <a:buClr>
                <a:schemeClr val="lt1"/>
              </a:buClr>
              <a:buSzPts val="1800"/>
              <a:buChar char="•"/>
            </a:pPr>
            <a:r>
              <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Acquisition for RS &amp; PR (most developed but low market penetration)</a:t>
            </a:r>
            <a:endParaRPr sz="1800">
              <a:solidFill>
                <a:schemeClr val="lt1"/>
              </a:solidFill>
              <a:latin typeface="Century Gothic"/>
              <a:ea typeface="Century Gothic"/>
              <a:cs typeface="Century Gothic"/>
              <a:sym typeface="Century Gothic"/>
            </a:endParaRPr>
          </a:p>
        </p:txBody>
      </p:sp>
      <p:sp>
        <p:nvSpPr>
          <p:cNvPr id="400" name="Google Shape;400;p13"/>
          <p:cNvSpPr txBox="1"/>
          <p:nvPr/>
        </p:nvSpPr>
        <p:spPr>
          <a:xfrm>
            <a:off x="4840732" y="4203668"/>
            <a:ext cx="358683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Revenue is geographically concentrated in Southeast Brazil. Consolidate and accelerate in South BR further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5"/>
          <p:cNvSpPr/>
          <p:nvPr/>
        </p:nvSpPr>
        <p:spPr>
          <a:xfrm>
            <a:off x="0" y="857250"/>
            <a:ext cx="9144000" cy="5143500"/>
          </a:xfrm>
          <a:prstGeom prst="rect">
            <a:avLst/>
          </a:prstGeom>
          <a:solidFill>
            <a:srgbClr val="FFFFFF"/>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07" name="Google Shape;407;p15"/>
          <p:cNvSpPr/>
          <p:nvPr/>
        </p:nvSpPr>
        <p:spPr>
          <a:xfrm>
            <a:off x="457200" y="1200150"/>
            <a:ext cx="92869" cy="92869"/>
          </a:xfrm>
          <a:prstGeom prst="ellipse">
            <a:avLst/>
          </a:prstGeom>
          <a:solidFill>
            <a:srgbClr val="178F8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08" name="Google Shape;408;p15"/>
          <p:cNvSpPr/>
          <p:nvPr/>
        </p:nvSpPr>
        <p:spPr>
          <a:xfrm>
            <a:off x="628650" y="1135856"/>
            <a:ext cx="1928813" cy="21431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28575">
            <a:noAutofit/>
          </a:bodyPr>
          <a:lstStyle/>
          <a:p>
            <a:pPr indent="0" lvl="0" marL="0" marR="0" rtl="0" algn="l">
              <a:spcBef>
                <a:spcPts val="0"/>
              </a:spcBef>
              <a:spcAft>
                <a:spcPts val="0"/>
              </a:spcAft>
              <a:buNone/>
            </a:pPr>
            <a:r>
              <a:rPr b="1" lang="en-US" sz="731">
                <a:solidFill>
                  <a:srgbClr val="178F8A"/>
                </a:solidFill>
                <a:latin typeface="Arial"/>
                <a:ea typeface="Arial"/>
                <a:cs typeface="Arial"/>
                <a:sym typeface="Arial"/>
              </a:rPr>
              <a:t>CUSTOMER RETENTION</a:t>
            </a:r>
            <a:endParaRPr/>
          </a:p>
        </p:txBody>
      </p:sp>
      <p:sp>
        <p:nvSpPr>
          <p:cNvPr id="409" name="Google Shape;409;p15"/>
          <p:cNvSpPr/>
          <p:nvPr/>
        </p:nvSpPr>
        <p:spPr>
          <a:xfrm>
            <a:off x="457200" y="1414462"/>
            <a:ext cx="5429250" cy="61436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913">
                <a:solidFill>
                  <a:srgbClr val="1F2933"/>
                </a:solidFill>
                <a:latin typeface="Play"/>
                <a:ea typeface="Play"/>
                <a:cs typeface="Play"/>
                <a:sym typeface="Play"/>
              </a:rPr>
              <a:t>RFM shows the biggest opportunity is converting valuable one-time buyers.</a:t>
            </a:r>
            <a:endParaRPr/>
          </a:p>
        </p:txBody>
      </p:sp>
      <p:sp>
        <p:nvSpPr>
          <p:cNvPr id="410" name="Google Shape;410;p15"/>
          <p:cNvSpPr/>
          <p:nvPr/>
        </p:nvSpPr>
        <p:spPr>
          <a:xfrm>
            <a:off x="457201" y="2035969"/>
            <a:ext cx="4822031" cy="3143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56">
                <a:solidFill>
                  <a:srgbClr val="6B7280"/>
                </a:solidFill>
                <a:latin typeface="Arial"/>
                <a:ea typeface="Arial"/>
                <a:cs typeface="Arial"/>
                <a:sym typeface="Arial"/>
              </a:rPr>
              <a:t>Only 3.05% of customers are repeat buyers, so frequency is scored with honest order-count buckets rather than misleading percentiles.</a:t>
            </a:r>
            <a:endParaRPr/>
          </a:p>
        </p:txBody>
      </p:sp>
      <p:sp>
        <p:nvSpPr>
          <p:cNvPr id="411" name="Google Shape;411;p15"/>
          <p:cNvSpPr/>
          <p:nvPr/>
        </p:nvSpPr>
        <p:spPr>
          <a:xfrm>
            <a:off x="6429375" y="1443038"/>
            <a:ext cx="1357313" cy="2571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1744">
                <a:solidFill>
                  <a:srgbClr val="1F2933"/>
                </a:solidFill>
                <a:latin typeface="Arial"/>
                <a:ea typeface="Arial"/>
                <a:cs typeface="Arial"/>
                <a:sym typeface="Arial"/>
              </a:rPr>
              <a:t>95,420</a:t>
            </a:r>
            <a:endParaRPr/>
          </a:p>
        </p:txBody>
      </p:sp>
      <p:sp>
        <p:nvSpPr>
          <p:cNvPr id="412" name="Google Shape;412;p15"/>
          <p:cNvSpPr/>
          <p:nvPr/>
        </p:nvSpPr>
        <p:spPr>
          <a:xfrm>
            <a:off x="6429375" y="1700212"/>
            <a:ext cx="1357313" cy="15716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31">
                <a:solidFill>
                  <a:srgbClr val="6B7280"/>
                </a:solidFill>
                <a:latin typeface="Arial"/>
                <a:ea typeface="Arial"/>
                <a:cs typeface="Arial"/>
                <a:sym typeface="Arial"/>
              </a:rPr>
              <a:t>customers scored</a:t>
            </a:r>
            <a:endParaRPr/>
          </a:p>
        </p:txBody>
      </p:sp>
      <p:sp>
        <p:nvSpPr>
          <p:cNvPr id="413" name="Google Shape;413;p15"/>
          <p:cNvSpPr/>
          <p:nvPr/>
        </p:nvSpPr>
        <p:spPr>
          <a:xfrm>
            <a:off x="6429375" y="1928813"/>
            <a:ext cx="1357313" cy="2571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1744">
                <a:solidFill>
                  <a:srgbClr val="1F2933"/>
                </a:solidFill>
                <a:latin typeface="Arial"/>
                <a:ea typeface="Arial"/>
                <a:cs typeface="Arial"/>
                <a:sym typeface="Arial"/>
              </a:rPr>
              <a:t>2,913</a:t>
            </a:r>
            <a:endParaRPr/>
          </a:p>
        </p:txBody>
      </p:sp>
      <p:sp>
        <p:nvSpPr>
          <p:cNvPr id="414" name="Google Shape;414;p15"/>
          <p:cNvSpPr/>
          <p:nvPr/>
        </p:nvSpPr>
        <p:spPr>
          <a:xfrm>
            <a:off x="6429375" y="2185987"/>
            <a:ext cx="1357313" cy="15716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31">
                <a:solidFill>
                  <a:srgbClr val="6B7280"/>
                </a:solidFill>
                <a:latin typeface="Arial"/>
                <a:ea typeface="Arial"/>
                <a:cs typeface="Arial"/>
                <a:sym typeface="Arial"/>
              </a:rPr>
              <a:t>repeat customers</a:t>
            </a:r>
            <a:endParaRPr/>
          </a:p>
        </p:txBody>
      </p:sp>
      <p:sp>
        <p:nvSpPr>
          <p:cNvPr id="415" name="Google Shape;415;p15"/>
          <p:cNvSpPr/>
          <p:nvPr/>
        </p:nvSpPr>
        <p:spPr>
          <a:xfrm>
            <a:off x="457200" y="2357437"/>
            <a:ext cx="7786688" cy="271463"/>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16" name="Google Shape;416;p15"/>
          <p:cNvSpPr/>
          <p:nvPr/>
        </p:nvSpPr>
        <p:spPr>
          <a:xfrm>
            <a:off x="457200" y="2414588"/>
            <a:ext cx="1857375" cy="1428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675">
                <a:solidFill>
                  <a:srgbClr val="6B7280"/>
                </a:solidFill>
                <a:latin typeface="Arial"/>
                <a:ea typeface="Arial"/>
                <a:cs typeface="Arial"/>
                <a:sym typeface="Arial"/>
              </a:rPr>
              <a:t>Segment</a:t>
            </a:r>
            <a:endParaRPr/>
          </a:p>
        </p:txBody>
      </p:sp>
      <p:sp>
        <p:nvSpPr>
          <p:cNvPr id="417" name="Google Shape;417;p15"/>
          <p:cNvSpPr/>
          <p:nvPr/>
        </p:nvSpPr>
        <p:spPr>
          <a:xfrm>
            <a:off x="3243263" y="2414588"/>
            <a:ext cx="714375" cy="1428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675">
                <a:solidFill>
                  <a:srgbClr val="6B7280"/>
                </a:solidFill>
                <a:latin typeface="Arial"/>
                <a:ea typeface="Arial"/>
                <a:cs typeface="Arial"/>
                <a:sym typeface="Arial"/>
              </a:rPr>
              <a:t>Customers</a:t>
            </a:r>
            <a:endParaRPr/>
          </a:p>
        </p:txBody>
      </p:sp>
      <p:sp>
        <p:nvSpPr>
          <p:cNvPr id="418" name="Google Shape;418;p15"/>
          <p:cNvSpPr/>
          <p:nvPr/>
        </p:nvSpPr>
        <p:spPr>
          <a:xfrm>
            <a:off x="4171951" y="2414588"/>
            <a:ext cx="535781" cy="1428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675">
                <a:solidFill>
                  <a:srgbClr val="6B7280"/>
                </a:solidFill>
                <a:latin typeface="Arial"/>
                <a:ea typeface="Arial"/>
                <a:cs typeface="Arial"/>
                <a:sym typeface="Arial"/>
              </a:rPr>
              <a:t>Share</a:t>
            </a:r>
            <a:endParaRPr/>
          </a:p>
        </p:txBody>
      </p:sp>
      <p:sp>
        <p:nvSpPr>
          <p:cNvPr id="419" name="Google Shape;419;p15"/>
          <p:cNvSpPr/>
          <p:nvPr/>
        </p:nvSpPr>
        <p:spPr>
          <a:xfrm>
            <a:off x="4993482" y="2414588"/>
            <a:ext cx="750094" cy="1428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675">
                <a:solidFill>
                  <a:srgbClr val="6B7280"/>
                </a:solidFill>
                <a:latin typeface="Arial"/>
                <a:ea typeface="Arial"/>
                <a:cs typeface="Arial"/>
                <a:sym typeface="Arial"/>
              </a:rPr>
              <a:t>Gross sales</a:t>
            </a:r>
            <a:endParaRPr/>
          </a:p>
        </p:txBody>
      </p:sp>
      <p:sp>
        <p:nvSpPr>
          <p:cNvPr id="420" name="Google Shape;420;p15"/>
          <p:cNvSpPr/>
          <p:nvPr/>
        </p:nvSpPr>
        <p:spPr>
          <a:xfrm>
            <a:off x="5886450" y="2414588"/>
            <a:ext cx="1750219" cy="1428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675">
                <a:solidFill>
                  <a:srgbClr val="6B7280"/>
                </a:solidFill>
                <a:latin typeface="Arial"/>
                <a:ea typeface="Arial"/>
                <a:cs typeface="Arial"/>
                <a:sym typeface="Arial"/>
              </a:rPr>
              <a:t>Campaign use</a:t>
            </a:r>
            <a:endParaRPr/>
          </a:p>
        </p:txBody>
      </p:sp>
      <p:sp>
        <p:nvSpPr>
          <p:cNvPr id="421" name="Google Shape;421;p15"/>
          <p:cNvSpPr/>
          <p:nvPr/>
        </p:nvSpPr>
        <p:spPr>
          <a:xfrm>
            <a:off x="457200" y="2921794"/>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22" name="Google Shape;422;p15"/>
          <p:cNvSpPr/>
          <p:nvPr/>
        </p:nvSpPr>
        <p:spPr>
          <a:xfrm>
            <a:off x="457200" y="2714625"/>
            <a:ext cx="71438" cy="71438"/>
          </a:xfrm>
          <a:prstGeom prst="ellipse">
            <a:avLst/>
          </a:prstGeom>
          <a:solidFill>
            <a:srgbClr val="178F8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23" name="Google Shape;423;p15"/>
          <p:cNvSpPr/>
          <p:nvPr/>
        </p:nvSpPr>
        <p:spPr>
          <a:xfrm>
            <a:off x="585788" y="2664619"/>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88">
                <a:solidFill>
                  <a:srgbClr val="1F2933"/>
                </a:solidFill>
                <a:latin typeface="Arial"/>
                <a:ea typeface="Arial"/>
                <a:cs typeface="Arial"/>
                <a:sym typeface="Arial"/>
              </a:rPr>
              <a:t>Recent New Customers</a:t>
            </a:r>
            <a:endParaRPr/>
          </a:p>
        </p:txBody>
      </p:sp>
      <p:sp>
        <p:nvSpPr>
          <p:cNvPr id="424" name="Google Shape;424;p15"/>
          <p:cNvSpPr/>
          <p:nvPr/>
        </p:nvSpPr>
        <p:spPr>
          <a:xfrm>
            <a:off x="2778919" y="2721769"/>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25" name="Google Shape;425;p15"/>
          <p:cNvSpPr/>
          <p:nvPr/>
        </p:nvSpPr>
        <p:spPr>
          <a:xfrm>
            <a:off x="2778919" y="2721769"/>
            <a:ext cx="398984" cy="57150"/>
          </a:xfrm>
          <a:prstGeom prst="rect">
            <a:avLst/>
          </a:prstGeom>
          <a:solidFill>
            <a:srgbClr val="178F8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26" name="Google Shape;426;p15"/>
          <p:cNvSpPr/>
          <p:nvPr/>
        </p:nvSpPr>
        <p:spPr>
          <a:xfrm>
            <a:off x="3243263" y="2664619"/>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23,179</a:t>
            </a:r>
            <a:endParaRPr/>
          </a:p>
        </p:txBody>
      </p:sp>
      <p:sp>
        <p:nvSpPr>
          <p:cNvPr id="427" name="Google Shape;427;p15"/>
          <p:cNvSpPr/>
          <p:nvPr/>
        </p:nvSpPr>
        <p:spPr>
          <a:xfrm>
            <a:off x="4171951" y="2664619"/>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24.29%</a:t>
            </a:r>
            <a:endParaRPr/>
          </a:p>
        </p:txBody>
      </p:sp>
      <p:sp>
        <p:nvSpPr>
          <p:cNvPr id="428" name="Google Shape;428;p15"/>
          <p:cNvSpPr/>
          <p:nvPr/>
        </p:nvSpPr>
        <p:spPr>
          <a:xfrm>
            <a:off x="4993482" y="2664619"/>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R$1.46M</a:t>
            </a:r>
            <a:endParaRPr/>
          </a:p>
        </p:txBody>
      </p:sp>
      <p:sp>
        <p:nvSpPr>
          <p:cNvPr id="429" name="Google Shape;429;p15"/>
          <p:cNvSpPr/>
          <p:nvPr/>
        </p:nvSpPr>
        <p:spPr>
          <a:xfrm>
            <a:off x="5886450" y="2664619"/>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Second-purchase coupon</a:t>
            </a:r>
            <a:endParaRPr/>
          </a:p>
        </p:txBody>
      </p:sp>
      <p:sp>
        <p:nvSpPr>
          <p:cNvPr id="430" name="Google Shape;430;p15"/>
          <p:cNvSpPr/>
          <p:nvPr/>
        </p:nvSpPr>
        <p:spPr>
          <a:xfrm>
            <a:off x="457200" y="3221832"/>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31" name="Google Shape;431;p15"/>
          <p:cNvSpPr/>
          <p:nvPr/>
        </p:nvSpPr>
        <p:spPr>
          <a:xfrm>
            <a:off x="457200" y="3014662"/>
            <a:ext cx="71438" cy="71438"/>
          </a:xfrm>
          <a:prstGeom prst="ellipse">
            <a:avLst/>
          </a:prstGeom>
          <a:solidFill>
            <a:srgbClr val="178F8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32" name="Google Shape;432;p15"/>
          <p:cNvSpPr/>
          <p:nvPr/>
        </p:nvSpPr>
        <p:spPr>
          <a:xfrm>
            <a:off x="585788" y="2964656"/>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88">
                <a:solidFill>
                  <a:srgbClr val="1F2933"/>
                </a:solidFill>
                <a:latin typeface="Arial"/>
                <a:ea typeface="Arial"/>
                <a:cs typeface="Arial"/>
                <a:sym typeface="Arial"/>
              </a:rPr>
              <a:t>Core / Mid-Value Customers</a:t>
            </a:r>
            <a:endParaRPr/>
          </a:p>
        </p:txBody>
      </p:sp>
      <p:sp>
        <p:nvSpPr>
          <p:cNvPr id="433" name="Google Shape;433;p15"/>
          <p:cNvSpPr/>
          <p:nvPr/>
        </p:nvSpPr>
        <p:spPr>
          <a:xfrm>
            <a:off x="2778919" y="3021806"/>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34" name="Google Shape;434;p15"/>
          <p:cNvSpPr/>
          <p:nvPr/>
        </p:nvSpPr>
        <p:spPr>
          <a:xfrm>
            <a:off x="2778919" y="3021806"/>
            <a:ext cx="414338" cy="57150"/>
          </a:xfrm>
          <a:prstGeom prst="rect">
            <a:avLst/>
          </a:prstGeom>
          <a:solidFill>
            <a:srgbClr val="178F8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35" name="Google Shape;435;p15"/>
          <p:cNvSpPr/>
          <p:nvPr/>
        </p:nvSpPr>
        <p:spPr>
          <a:xfrm>
            <a:off x="3243263" y="2964656"/>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24,071</a:t>
            </a:r>
            <a:endParaRPr/>
          </a:p>
        </p:txBody>
      </p:sp>
      <p:sp>
        <p:nvSpPr>
          <p:cNvPr id="436" name="Google Shape;436;p15"/>
          <p:cNvSpPr/>
          <p:nvPr/>
        </p:nvSpPr>
        <p:spPr>
          <a:xfrm>
            <a:off x="4171951" y="2964656"/>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25.23%</a:t>
            </a:r>
            <a:endParaRPr/>
          </a:p>
        </p:txBody>
      </p:sp>
      <p:sp>
        <p:nvSpPr>
          <p:cNvPr id="437" name="Google Shape;437;p15"/>
          <p:cNvSpPr/>
          <p:nvPr/>
        </p:nvSpPr>
        <p:spPr>
          <a:xfrm>
            <a:off x="4993482" y="2964656"/>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R$2.70M</a:t>
            </a:r>
            <a:endParaRPr/>
          </a:p>
        </p:txBody>
      </p:sp>
      <p:sp>
        <p:nvSpPr>
          <p:cNvPr id="438" name="Google Shape;438;p15"/>
          <p:cNvSpPr/>
          <p:nvPr/>
        </p:nvSpPr>
        <p:spPr>
          <a:xfrm>
            <a:off x="5886450" y="2964656"/>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General nurture</a:t>
            </a:r>
            <a:endParaRPr/>
          </a:p>
        </p:txBody>
      </p:sp>
      <p:sp>
        <p:nvSpPr>
          <p:cNvPr id="439" name="Google Shape;439;p15"/>
          <p:cNvSpPr/>
          <p:nvPr/>
        </p:nvSpPr>
        <p:spPr>
          <a:xfrm>
            <a:off x="457200" y="3521869"/>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40" name="Google Shape;440;p15"/>
          <p:cNvSpPr/>
          <p:nvPr/>
        </p:nvSpPr>
        <p:spPr>
          <a:xfrm>
            <a:off x="457200" y="3314700"/>
            <a:ext cx="71438" cy="71438"/>
          </a:xfrm>
          <a:prstGeom prst="ellipse">
            <a:avLst/>
          </a:prstGeom>
          <a:solidFill>
            <a:srgbClr val="6B7280"/>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41" name="Google Shape;441;p15"/>
          <p:cNvSpPr/>
          <p:nvPr/>
        </p:nvSpPr>
        <p:spPr>
          <a:xfrm>
            <a:off x="585788" y="3264694"/>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88">
                <a:solidFill>
                  <a:srgbClr val="1F2933"/>
                </a:solidFill>
                <a:latin typeface="Arial"/>
                <a:ea typeface="Arial"/>
                <a:cs typeface="Arial"/>
                <a:sym typeface="Arial"/>
              </a:rPr>
              <a:t>Dormant Low Value</a:t>
            </a:r>
            <a:endParaRPr/>
          </a:p>
        </p:txBody>
      </p:sp>
      <p:sp>
        <p:nvSpPr>
          <p:cNvPr id="442" name="Google Shape;442;p15"/>
          <p:cNvSpPr/>
          <p:nvPr/>
        </p:nvSpPr>
        <p:spPr>
          <a:xfrm>
            <a:off x="2778919" y="3321844"/>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43" name="Google Shape;443;p15"/>
          <p:cNvSpPr/>
          <p:nvPr/>
        </p:nvSpPr>
        <p:spPr>
          <a:xfrm>
            <a:off x="2778919" y="3321844"/>
            <a:ext cx="205852" cy="57150"/>
          </a:xfrm>
          <a:prstGeom prst="rect">
            <a:avLst/>
          </a:prstGeom>
          <a:solidFill>
            <a:srgbClr val="6B7280"/>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44" name="Google Shape;444;p15"/>
          <p:cNvSpPr/>
          <p:nvPr/>
        </p:nvSpPr>
        <p:spPr>
          <a:xfrm>
            <a:off x="3243263" y="3264694"/>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11,959</a:t>
            </a:r>
            <a:endParaRPr/>
          </a:p>
        </p:txBody>
      </p:sp>
      <p:sp>
        <p:nvSpPr>
          <p:cNvPr id="445" name="Google Shape;445;p15"/>
          <p:cNvSpPr/>
          <p:nvPr/>
        </p:nvSpPr>
        <p:spPr>
          <a:xfrm>
            <a:off x="4171951" y="3264694"/>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12.53%</a:t>
            </a:r>
            <a:endParaRPr/>
          </a:p>
        </p:txBody>
      </p:sp>
      <p:sp>
        <p:nvSpPr>
          <p:cNvPr id="446" name="Google Shape;446;p15"/>
          <p:cNvSpPr/>
          <p:nvPr/>
        </p:nvSpPr>
        <p:spPr>
          <a:xfrm>
            <a:off x="4993482" y="3264694"/>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R$523k</a:t>
            </a:r>
            <a:endParaRPr/>
          </a:p>
        </p:txBody>
      </p:sp>
      <p:sp>
        <p:nvSpPr>
          <p:cNvPr id="447" name="Google Shape;447;p15"/>
          <p:cNvSpPr/>
          <p:nvPr/>
        </p:nvSpPr>
        <p:spPr>
          <a:xfrm>
            <a:off x="5886450" y="3264694"/>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Low-cost reactivation</a:t>
            </a:r>
            <a:endParaRPr/>
          </a:p>
        </p:txBody>
      </p:sp>
      <p:sp>
        <p:nvSpPr>
          <p:cNvPr id="448" name="Google Shape;448;p15"/>
          <p:cNvSpPr/>
          <p:nvPr/>
        </p:nvSpPr>
        <p:spPr>
          <a:xfrm>
            <a:off x="457200" y="3821907"/>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49" name="Google Shape;449;p15"/>
          <p:cNvSpPr/>
          <p:nvPr/>
        </p:nvSpPr>
        <p:spPr>
          <a:xfrm>
            <a:off x="457200" y="3614737"/>
            <a:ext cx="71438" cy="71438"/>
          </a:xfrm>
          <a:prstGeom prst="ellipse">
            <a:avLst/>
          </a:prstGeom>
          <a:solidFill>
            <a:srgbClr val="C77721"/>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50" name="Google Shape;450;p15"/>
          <p:cNvSpPr/>
          <p:nvPr/>
        </p:nvSpPr>
        <p:spPr>
          <a:xfrm>
            <a:off x="585788" y="3564731"/>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88">
                <a:solidFill>
                  <a:srgbClr val="1F2933"/>
                </a:solidFill>
                <a:latin typeface="Arial"/>
                <a:ea typeface="Arial"/>
                <a:cs typeface="Arial"/>
                <a:sym typeface="Arial"/>
              </a:rPr>
              <a:t>At-Risk High Spenders</a:t>
            </a:r>
            <a:endParaRPr/>
          </a:p>
        </p:txBody>
      </p:sp>
      <p:sp>
        <p:nvSpPr>
          <p:cNvPr id="451" name="Google Shape;451;p15"/>
          <p:cNvSpPr/>
          <p:nvPr/>
        </p:nvSpPr>
        <p:spPr>
          <a:xfrm>
            <a:off x="2778919" y="3621881"/>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52" name="Google Shape;452;p15"/>
          <p:cNvSpPr/>
          <p:nvPr/>
        </p:nvSpPr>
        <p:spPr>
          <a:xfrm>
            <a:off x="2778919" y="3621881"/>
            <a:ext cx="194061" cy="57150"/>
          </a:xfrm>
          <a:prstGeom prst="rect">
            <a:avLst/>
          </a:prstGeom>
          <a:solidFill>
            <a:srgbClr val="C77721"/>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53" name="Google Shape;453;p15"/>
          <p:cNvSpPr/>
          <p:nvPr/>
        </p:nvSpPr>
        <p:spPr>
          <a:xfrm>
            <a:off x="3243263" y="3564731"/>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11,274</a:t>
            </a:r>
            <a:endParaRPr/>
          </a:p>
        </p:txBody>
      </p:sp>
      <p:sp>
        <p:nvSpPr>
          <p:cNvPr id="454" name="Google Shape;454;p15"/>
          <p:cNvSpPr/>
          <p:nvPr/>
        </p:nvSpPr>
        <p:spPr>
          <a:xfrm>
            <a:off x="4171951" y="3564731"/>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11.82%</a:t>
            </a:r>
            <a:endParaRPr/>
          </a:p>
        </p:txBody>
      </p:sp>
      <p:sp>
        <p:nvSpPr>
          <p:cNvPr id="455" name="Google Shape;455;p15"/>
          <p:cNvSpPr/>
          <p:nvPr/>
        </p:nvSpPr>
        <p:spPr>
          <a:xfrm>
            <a:off x="4993482" y="3564731"/>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R$1.59M</a:t>
            </a:r>
            <a:endParaRPr/>
          </a:p>
        </p:txBody>
      </p:sp>
      <p:sp>
        <p:nvSpPr>
          <p:cNvPr id="456" name="Google Shape;456;p15"/>
          <p:cNvSpPr/>
          <p:nvPr/>
        </p:nvSpPr>
        <p:spPr>
          <a:xfrm>
            <a:off x="5886450" y="3564731"/>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Win-back campaign</a:t>
            </a:r>
            <a:endParaRPr/>
          </a:p>
        </p:txBody>
      </p:sp>
      <p:sp>
        <p:nvSpPr>
          <p:cNvPr id="457" name="Google Shape;457;p15"/>
          <p:cNvSpPr/>
          <p:nvPr/>
        </p:nvSpPr>
        <p:spPr>
          <a:xfrm>
            <a:off x="457200" y="4121944"/>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58" name="Google Shape;458;p15"/>
          <p:cNvSpPr/>
          <p:nvPr/>
        </p:nvSpPr>
        <p:spPr>
          <a:xfrm>
            <a:off x="457200" y="3914775"/>
            <a:ext cx="71438" cy="71438"/>
          </a:xfrm>
          <a:prstGeom prst="ellipse">
            <a:avLst/>
          </a:prstGeom>
          <a:solidFill>
            <a:srgbClr val="2F8F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59" name="Google Shape;459;p15"/>
          <p:cNvSpPr/>
          <p:nvPr/>
        </p:nvSpPr>
        <p:spPr>
          <a:xfrm>
            <a:off x="585788" y="3864769"/>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788">
                <a:solidFill>
                  <a:srgbClr val="1F2933"/>
                </a:solidFill>
                <a:latin typeface="Arial"/>
                <a:ea typeface="Arial"/>
                <a:cs typeface="Arial"/>
                <a:sym typeface="Arial"/>
              </a:rPr>
              <a:t>High-Value New Customers</a:t>
            </a:r>
            <a:endParaRPr/>
          </a:p>
        </p:txBody>
      </p:sp>
      <p:sp>
        <p:nvSpPr>
          <p:cNvPr id="460" name="Google Shape;460;p15"/>
          <p:cNvSpPr/>
          <p:nvPr/>
        </p:nvSpPr>
        <p:spPr>
          <a:xfrm>
            <a:off x="2778919" y="3921919"/>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61" name="Google Shape;461;p15"/>
          <p:cNvSpPr/>
          <p:nvPr/>
        </p:nvSpPr>
        <p:spPr>
          <a:xfrm>
            <a:off x="2778919" y="3921919"/>
            <a:ext cx="190739" cy="57150"/>
          </a:xfrm>
          <a:prstGeom prst="rect">
            <a:avLst/>
          </a:prstGeom>
          <a:solidFill>
            <a:srgbClr val="2F8F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62" name="Google Shape;462;p15"/>
          <p:cNvSpPr/>
          <p:nvPr/>
        </p:nvSpPr>
        <p:spPr>
          <a:xfrm>
            <a:off x="3243263" y="3864769"/>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11,081</a:t>
            </a:r>
            <a:endParaRPr/>
          </a:p>
        </p:txBody>
      </p:sp>
      <p:sp>
        <p:nvSpPr>
          <p:cNvPr id="463" name="Google Shape;463;p15"/>
          <p:cNvSpPr/>
          <p:nvPr/>
        </p:nvSpPr>
        <p:spPr>
          <a:xfrm>
            <a:off x="4171951" y="3864769"/>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11.61%</a:t>
            </a:r>
            <a:endParaRPr/>
          </a:p>
        </p:txBody>
      </p:sp>
      <p:sp>
        <p:nvSpPr>
          <p:cNvPr id="464" name="Google Shape;464;p15"/>
          <p:cNvSpPr/>
          <p:nvPr/>
        </p:nvSpPr>
        <p:spPr>
          <a:xfrm>
            <a:off x="4993482" y="3864769"/>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788">
                <a:solidFill>
                  <a:srgbClr val="2F8F5B"/>
                </a:solidFill>
                <a:latin typeface="Arial"/>
                <a:ea typeface="Arial"/>
                <a:cs typeface="Arial"/>
                <a:sym typeface="Arial"/>
              </a:rPr>
              <a:t>R$4.34M</a:t>
            </a:r>
            <a:endParaRPr/>
          </a:p>
        </p:txBody>
      </p:sp>
      <p:sp>
        <p:nvSpPr>
          <p:cNvPr id="465" name="Google Shape;465;p15"/>
          <p:cNvSpPr/>
          <p:nvPr/>
        </p:nvSpPr>
        <p:spPr>
          <a:xfrm>
            <a:off x="5886450" y="3864769"/>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Priority second-purchase</a:t>
            </a:r>
            <a:endParaRPr/>
          </a:p>
        </p:txBody>
      </p:sp>
      <p:sp>
        <p:nvSpPr>
          <p:cNvPr id="466" name="Google Shape;466;p15"/>
          <p:cNvSpPr/>
          <p:nvPr/>
        </p:nvSpPr>
        <p:spPr>
          <a:xfrm>
            <a:off x="457200" y="4421982"/>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67" name="Google Shape;467;p15"/>
          <p:cNvSpPr/>
          <p:nvPr/>
        </p:nvSpPr>
        <p:spPr>
          <a:xfrm>
            <a:off x="457200" y="4214812"/>
            <a:ext cx="71438" cy="71438"/>
          </a:xfrm>
          <a:prstGeom prst="ellipse">
            <a:avLst/>
          </a:prstGeom>
          <a:solidFill>
            <a:srgbClr val="2F8F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68" name="Google Shape;468;p15"/>
          <p:cNvSpPr/>
          <p:nvPr/>
        </p:nvSpPr>
        <p:spPr>
          <a:xfrm>
            <a:off x="585788" y="4164806"/>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788">
                <a:solidFill>
                  <a:srgbClr val="1F2933"/>
                </a:solidFill>
                <a:latin typeface="Arial"/>
                <a:ea typeface="Arial"/>
                <a:cs typeface="Arial"/>
                <a:sym typeface="Arial"/>
              </a:rPr>
              <a:t>Big Spenders - One-Time Buyers</a:t>
            </a:r>
            <a:endParaRPr/>
          </a:p>
        </p:txBody>
      </p:sp>
      <p:sp>
        <p:nvSpPr>
          <p:cNvPr id="469" name="Google Shape;469;p15"/>
          <p:cNvSpPr/>
          <p:nvPr/>
        </p:nvSpPr>
        <p:spPr>
          <a:xfrm>
            <a:off x="2778919" y="4221956"/>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70" name="Google Shape;470;p15"/>
          <p:cNvSpPr/>
          <p:nvPr/>
        </p:nvSpPr>
        <p:spPr>
          <a:xfrm>
            <a:off x="2778919" y="4221956"/>
            <a:ext cx="188363" cy="57150"/>
          </a:xfrm>
          <a:prstGeom prst="rect">
            <a:avLst/>
          </a:prstGeom>
          <a:solidFill>
            <a:srgbClr val="2F8F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71" name="Google Shape;471;p15"/>
          <p:cNvSpPr/>
          <p:nvPr/>
        </p:nvSpPr>
        <p:spPr>
          <a:xfrm>
            <a:off x="3243263" y="4164806"/>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10,943</a:t>
            </a:r>
            <a:endParaRPr/>
          </a:p>
        </p:txBody>
      </p:sp>
      <p:sp>
        <p:nvSpPr>
          <p:cNvPr id="472" name="Google Shape;472;p15"/>
          <p:cNvSpPr/>
          <p:nvPr/>
        </p:nvSpPr>
        <p:spPr>
          <a:xfrm>
            <a:off x="4171951" y="4164806"/>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11.47%</a:t>
            </a:r>
            <a:endParaRPr/>
          </a:p>
        </p:txBody>
      </p:sp>
      <p:sp>
        <p:nvSpPr>
          <p:cNvPr id="473" name="Google Shape;473;p15"/>
          <p:cNvSpPr/>
          <p:nvPr/>
        </p:nvSpPr>
        <p:spPr>
          <a:xfrm>
            <a:off x="4993482" y="4164806"/>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1" lang="en-US" sz="788">
                <a:solidFill>
                  <a:srgbClr val="2F8F5B"/>
                </a:solidFill>
                <a:latin typeface="Arial"/>
                <a:ea typeface="Arial"/>
                <a:cs typeface="Arial"/>
                <a:sym typeface="Arial"/>
              </a:rPr>
              <a:t>R$4.32M</a:t>
            </a:r>
            <a:endParaRPr/>
          </a:p>
        </p:txBody>
      </p:sp>
      <p:sp>
        <p:nvSpPr>
          <p:cNvPr id="474" name="Google Shape;474;p15"/>
          <p:cNvSpPr/>
          <p:nvPr/>
        </p:nvSpPr>
        <p:spPr>
          <a:xfrm>
            <a:off x="5886450" y="4164806"/>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Premium cross-sell</a:t>
            </a:r>
            <a:endParaRPr/>
          </a:p>
        </p:txBody>
      </p:sp>
      <p:sp>
        <p:nvSpPr>
          <p:cNvPr id="475" name="Google Shape;475;p15"/>
          <p:cNvSpPr/>
          <p:nvPr/>
        </p:nvSpPr>
        <p:spPr>
          <a:xfrm>
            <a:off x="457200" y="4722019"/>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76" name="Google Shape;476;p15"/>
          <p:cNvSpPr/>
          <p:nvPr/>
        </p:nvSpPr>
        <p:spPr>
          <a:xfrm>
            <a:off x="457200" y="4514850"/>
            <a:ext cx="71438" cy="71438"/>
          </a:xfrm>
          <a:prstGeom prst="ellipse">
            <a:avLst/>
          </a:prstGeom>
          <a:solidFill>
            <a:srgbClr val="34699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77" name="Google Shape;477;p15"/>
          <p:cNvSpPr/>
          <p:nvPr/>
        </p:nvSpPr>
        <p:spPr>
          <a:xfrm>
            <a:off x="585788" y="4464844"/>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88">
                <a:solidFill>
                  <a:srgbClr val="1F2933"/>
                </a:solidFill>
                <a:latin typeface="Arial"/>
                <a:ea typeface="Arial"/>
                <a:cs typeface="Arial"/>
                <a:sym typeface="Arial"/>
              </a:rPr>
              <a:t>Recent Repeat Buyers</a:t>
            </a:r>
            <a:endParaRPr/>
          </a:p>
        </p:txBody>
      </p:sp>
      <p:sp>
        <p:nvSpPr>
          <p:cNvPr id="478" name="Google Shape;478;p15"/>
          <p:cNvSpPr/>
          <p:nvPr/>
        </p:nvSpPr>
        <p:spPr>
          <a:xfrm>
            <a:off x="2778919" y="4521994"/>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79" name="Google Shape;479;p15"/>
          <p:cNvSpPr/>
          <p:nvPr/>
        </p:nvSpPr>
        <p:spPr>
          <a:xfrm>
            <a:off x="2778919" y="4521994"/>
            <a:ext cx="26129" cy="57150"/>
          </a:xfrm>
          <a:prstGeom prst="rect">
            <a:avLst/>
          </a:prstGeom>
          <a:solidFill>
            <a:srgbClr val="34699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80" name="Google Shape;480;p15"/>
          <p:cNvSpPr/>
          <p:nvPr/>
        </p:nvSpPr>
        <p:spPr>
          <a:xfrm>
            <a:off x="3243263" y="4464844"/>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1,518</a:t>
            </a:r>
            <a:endParaRPr/>
          </a:p>
        </p:txBody>
      </p:sp>
      <p:sp>
        <p:nvSpPr>
          <p:cNvPr id="481" name="Google Shape;481;p15"/>
          <p:cNvSpPr/>
          <p:nvPr/>
        </p:nvSpPr>
        <p:spPr>
          <a:xfrm>
            <a:off x="4171951" y="4464844"/>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1.59%</a:t>
            </a:r>
            <a:endParaRPr/>
          </a:p>
        </p:txBody>
      </p:sp>
      <p:sp>
        <p:nvSpPr>
          <p:cNvPr id="482" name="Google Shape;482;p15"/>
          <p:cNvSpPr/>
          <p:nvPr/>
        </p:nvSpPr>
        <p:spPr>
          <a:xfrm>
            <a:off x="4993482" y="4464844"/>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R$453k</a:t>
            </a:r>
            <a:endParaRPr/>
          </a:p>
        </p:txBody>
      </p:sp>
      <p:sp>
        <p:nvSpPr>
          <p:cNvPr id="483" name="Google Shape;483;p15"/>
          <p:cNvSpPr/>
          <p:nvPr/>
        </p:nvSpPr>
        <p:spPr>
          <a:xfrm>
            <a:off x="5886450" y="4464844"/>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Loyalty campaign</a:t>
            </a:r>
            <a:endParaRPr/>
          </a:p>
        </p:txBody>
      </p:sp>
      <p:sp>
        <p:nvSpPr>
          <p:cNvPr id="484" name="Google Shape;484;p15"/>
          <p:cNvSpPr/>
          <p:nvPr/>
        </p:nvSpPr>
        <p:spPr>
          <a:xfrm>
            <a:off x="457200" y="5022057"/>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85" name="Google Shape;485;p15"/>
          <p:cNvSpPr/>
          <p:nvPr/>
        </p:nvSpPr>
        <p:spPr>
          <a:xfrm>
            <a:off x="457200" y="4814887"/>
            <a:ext cx="71438" cy="71438"/>
          </a:xfrm>
          <a:prstGeom prst="ellipse">
            <a:avLst/>
          </a:prstGeom>
          <a:solidFill>
            <a:srgbClr val="34699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86" name="Google Shape;486;p15"/>
          <p:cNvSpPr/>
          <p:nvPr/>
        </p:nvSpPr>
        <p:spPr>
          <a:xfrm>
            <a:off x="585788" y="4764881"/>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88">
                <a:solidFill>
                  <a:srgbClr val="1F2933"/>
                </a:solidFill>
                <a:latin typeface="Arial"/>
                <a:ea typeface="Arial"/>
                <a:cs typeface="Arial"/>
                <a:sym typeface="Arial"/>
              </a:rPr>
              <a:t>At-Risk Repeat Buyers</a:t>
            </a:r>
            <a:endParaRPr/>
          </a:p>
        </p:txBody>
      </p:sp>
      <p:sp>
        <p:nvSpPr>
          <p:cNvPr id="487" name="Google Shape;487;p15"/>
          <p:cNvSpPr/>
          <p:nvPr/>
        </p:nvSpPr>
        <p:spPr>
          <a:xfrm>
            <a:off x="2778919" y="4822031"/>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88" name="Google Shape;488;p15"/>
          <p:cNvSpPr/>
          <p:nvPr/>
        </p:nvSpPr>
        <p:spPr>
          <a:xfrm>
            <a:off x="2778919" y="4822031"/>
            <a:ext cx="22618" cy="57150"/>
          </a:xfrm>
          <a:prstGeom prst="rect">
            <a:avLst/>
          </a:prstGeom>
          <a:solidFill>
            <a:srgbClr val="34699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89" name="Google Shape;489;p15"/>
          <p:cNvSpPr/>
          <p:nvPr/>
        </p:nvSpPr>
        <p:spPr>
          <a:xfrm>
            <a:off x="3243263" y="4764881"/>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1,314</a:t>
            </a:r>
            <a:endParaRPr/>
          </a:p>
        </p:txBody>
      </p:sp>
      <p:sp>
        <p:nvSpPr>
          <p:cNvPr id="490" name="Google Shape;490;p15"/>
          <p:cNvSpPr/>
          <p:nvPr/>
        </p:nvSpPr>
        <p:spPr>
          <a:xfrm>
            <a:off x="4171951" y="4764881"/>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1.38%</a:t>
            </a:r>
            <a:endParaRPr/>
          </a:p>
        </p:txBody>
      </p:sp>
      <p:sp>
        <p:nvSpPr>
          <p:cNvPr id="491" name="Google Shape;491;p15"/>
          <p:cNvSpPr/>
          <p:nvPr/>
        </p:nvSpPr>
        <p:spPr>
          <a:xfrm>
            <a:off x="4993482" y="4764881"/>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R$402k</a:t>
            </a:r>
            <a:endParaRPr/>
          </a:p>
        </p:txBody>
      </p:sp>
      <p:sp>
        <p:nvSpPr>
          <p:cNvPr id="492" name="Google Shape;492;p15"/>
          <p:cNvSpPr/>
          <p:nvPr/>
        </p:nvSpPr>
        <p:spPr>
          <a:xfrm>
            <a:off x="5886450" y="4764881"/>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Win-back repeat</a:t>
            </a:r>
            <a:endParaRPr/>
          </a:p>
        </p:txBody>
      </p:sp>
      <p:sp>
        <p:nvSpPr>
          <p:cNvPr id="493" name="Google Shape;493;p15"/>
          <p:cNvSpPr/>
          <p:nvPr/>
        </p:nvSpPr>
        <p:spPr>
          <a:xfrm>
            <a:off x="457200" y="5322094"/>
            <a:ext cx="7786688" cy="7144"/>
          </a:xfrm>
          <a:prstGeom prst="rect">
            <a:avLst/>
          </a:prstGeom>
          <a:solidFill>
            <a:srgbClr val="D9DE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94" name="Google Shape;494;p15"/>
          <p:cNvSpPr/>
          <p:nvPr/>
        </p:nvSpPr>
        <p:spPr>
          <a:xfrm>
            <a:off x="457200" y="5114925"/>
            <a:ext cx="71438" cy="71438"/>
          </a:xfrm>
          <a:prstGeom prst="ellipse">
            <a:avLst/>
          </a:prstGeom>
          <a:solidFill>
            <a:srgbClr val="34699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95" name="Google Shape;495;p15"/>
          <p:cNvSpPr/>
          <p:nvPr/>
        </p:nvSpPr>
        <p:spPr>
          <a:xfrm>
            <a:off x="585788" y="5064919"/>
            <a:ext cx="2143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88">
                <a:solidFill>
                  <a:srgbClr val="1F2933"/>
                </a:solidFill>
                <a:latin typeface="Arial"/>
                <a:ea typeface="Arial"/>
                <a:cs typeface="Arial"/>
                <a:sym typeface="Arial"/>
              </a:rPr>
              <a:t>Champions</a:t>
            </a:r>
            <a:endParaRPr/>
          </a:p>
        </p:txBody>
      </p:sp>
      <p:sp>
        <p:nvSpPr>
          <p:cNvPr id="496" name="Google Shape;496;p15"/>
          <p:cNvSpPr/>
          <p:nvPr/>
        </p:nvSpPr>
        <p:spPr>
          <a:xfrm>
            <a:off x="2778919" y="5122069"/>
            <a:ext cx="414338" cy="57150"/>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97" name="Google Shape;497;p15"/>
          <p:cNvSpPr/>
          <p:nvPr/>
        </p:nvSpPr>
        <p:spPr>
          <a:xfrm>
            <a:off x="2778919" y="5122069"/>
            <a:ext cx="1394" cy="57150"/>
          </a:xfrm>
          <a:prstGeom prst="rect">
            <a:avLst/>
          </a:prstGeom>
          <a:solidFill>
            <a:srgbClr val="34699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498" name="Google Shape;498;p15"/>
          <p:cNvSpPr/>
          <p:nvPr/>
        </p:nvSpPr>
        <p:spPr>
          <a:xfrm>
            <a:off x="3243263" y="5064919"/>
            <a:ext cx="71437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81</a:t>
            </a:r>
            <a:endParaRPr/>
          </a:p>
        </p:txBody>
      </p:sp>
      <p:sp>
        <p:nvSpPr>
          <p:cNvPr id="499" name="Google Shape;499;p15"/>
          <p:cNvSpPr/>
          <p:nvPr/>
        </p:nvSpPr>
        <p:spPr>
          <a:xfrm>
            <a:off x="4171951" y="5064919"/>
            <a:ext cx="535781"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0.08%</a:t>
            </a:r>
            <a:endParaRPr/>
          </a:p>
        </p:txBody>
      </p:sp>
      <p:sp>
        <p:nvSpPr>
          <p:cNvPr id="500" name="Google Shape;500;p15"/>
          <p:cNvSpPr/>
          <p:nvPr/>
        </p:nvSpPr>
        <p:spPr>
          <a:xfrm>
            <a:off x="4993482" y="5064919"/>
            <a:ext cx="750094"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788">
                <a:solidFill>
                  <a:srgbClr val="1F2933"/>
                </a:solidFill>
                <a:latin typeface="Arial"/>
                <a:ea typeface="Arial"/>
                <a:cs typeface="Arial"/>
                <a:sym typeface="Arial"/>
              </a:rPr>
              <a:t>R$50k</a:t>
            </a:r>
            <a:endParaRPr/>
          </a:p>
        </p:txBody>
      </p:sp>
      <p:sp>
        <p:nvSpPr>
          <p:cNvPr id="501" name="Google Shape;501;p15"/>
          <p:cNvSpPr/>
          <p:nvPr/>
        </p:nvSpPr>
        <p:spPr>
          <a:xfrm>
            <a:off x="5886450" y="5064919"/>
            <a:ext cx="1785938"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VIP treatment</a:t>
            </a:r>
            <a:endParaRPr/>
          </a:p>
        </p:txBody>
      </p:sp>
      <p:sp>
        <p:nvSpPr>
          <p:cNvPr id="502" name="Google Shape;502;p15"/>
          <p:cNvSpPr/>
          <p:nvPr/>
        </p:nvSpPr>
        <p:spPr>
          <a:xfrm>
            <a:off x="457200" y="5743575"/>
            <a:ext cx="5857875" cy="128588"/>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563">
                <a:solidFill>
                  <a:srgbClr val="8A94A3"/>
                </a:solidFill>
                <a:latin typeface="Arial"/>
                <a:ea typeface="Arial"/>
                <a:cs typeface="Arial"/>
                <a:sym typeface="Arial"/>
              </a:rPr>
              <a:t>Source: local Olist warehouse, fact_sales. Gross item sales include product price plus freight value.</a:t>
            </a:r>
            <a:endParaRPr/>
          </a:p>
        </p:txBody>
      </p:sp>
      <p:sp>
        <p:nvSpPr>
          <p:cNvPr id="503" name="Google Shape;503;p15"/>
          <p:cNvSpPr/>
          <p:nvPr/>
        </p:nvSpPr>
        <p:spPr>
          <a:xfrm>
            <a:off x="8358187" y="5715000"/>
            <a:ext cx="242888" cy="128588"/>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563">
                <a:solidFill>
                  <a:srgbClr val="8A94A3"/>
                </a:solidFill>
                <a:latin typeface="Arial"/>
                <a:ea typeface="Arial"/>
                <a:cs typeface="Arial"/>
                <a:sym typeface="Arial"/>
              </a:rPr>
              <a:t>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16"/>
          <p:cNvSpPr/>
          <p:nvPr/>
        </p:nvSpPr>
        <p:spPr>
          <a:xfrm>
            <a:off x="0" y="857250"/>
            <a:ext cx="9144000" cy="5143500"/>
          </a:xfrm>
          <a:prstGeom prst="rect">
            <a:avLst/>
          </a:prstGeom>
          <a:solidFill>
            <a:srgbClr val="FFFFFF"/>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10" name="Google Shape;510;p16"/>
          <p:cNvSpPr/>
          <p:nvPr/>
        </p:nvSpPr>
        <p:spPr>
          <a:xfrm>
            <a:off x="457200" y="1200150"/>
            <a:ext cx="92869" cy="92869"/>
          </a:xfrm>
          <a:prstGeom prst="ellipse">
            <a:avLst/>
          </a:prstGeom>
          <a:solidFill>
            <a:srgbClr val="2F8F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11" name="Google Shape;511;p16"/>
          <p:cNvSpPr/>
          <p:nvPr/>
        </p:nvSpPr>
        <p:spPr>
          <a:xfrm>
            <a:off x="628650" y="1135856"/>
            <a:ext cx="1928813" cy="21431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28575">
            <a:noAutofit/>
          </a:bodyPr>
          <a:lstStyle/>
          <a:p>
            <a:pPr indent="0" lvl="0" marL="0" marR="0" rtl="0" algn="l">
              <a:spcBef>
                <a:spcPts val="0"/>
              </a:spcBef>
              <a:spcAft>
                <a:spcPts val="0"/>
              </a:spcAft>
              <a:buNone/>
            </a:pPr>
            <a:r>
              <a:rPr b="1" lang="en-US" sz="731">
                <a:solidFill>
                  <a:srgbClr val="2F8F5B"/>
                </a:solidFill>
                <a:latin typeface="Arial"/>
                <a:ea typeface="Arial"/>
                <a:cs typeface="Arial"/>
                <a:sym typeface="Arial"/>
              </a:rPr>
              <a:t>CAMPAIGN PRIORITIES</a:t>
            </a:r>
            <a:endParaRPr/>
          </a:p>
        </p:txBody>
      </p:sp>
      <p:sp>
        <p:nvSpPr>
          <p:cNvPr id="512" name="Google Shape;512;p16"/>
          <p:cNvSpPr/>
          <p:nvPr/>
        </p:nvSpPr>
        <p:spPr>
          <a:xfrm>
            <a:off x="457200" y="1414463"/>
            <a:ext cx="5715000" cy="6572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913">
                <a:solidFill>
                  <a:srgbClr val="1F2933"/>
                </a:solidFill>
                <a:latin typeface="Play"/>
                <a:ea typeface="Play"/>
                <a:cs typeface="Play"/>
                <a:sym typeface="Play"/>
              </a:rPr>
              <a:t>Do not start with broad loyalty; first convert high-value one-time buyers.</a:t>
            </a:r>
            <a:endParaRPr/>
          </a:p>
        </p:txBody>
      </p:sp>
      <p:sp>
        <p:nvSpPr>
          <p:cNvPr id="513" name="Google Shape;513;p16"/>
          <p:cNvSpPr/>
          <p:nvPr/>
        </p:nvSpPr>
        <p:spPr>
          <a:xfrm>
            <a:off x="457200" y="2085975"/>
            <a:ext cx="5429250" cy="3143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56">
                <a:solidFill>
                  <a:srgbClr val="6B7280"/>
                </a:solidFill>
                <a:latin typeface="Arial"/>
                <a:ea typeface="Arial"/>
                <a:cs typeface="Arial"/>
                <a:sym typeface="Arial"/>
              </a:rPr>
              <a:t>The RFM result points to a staged retention strategy: second purchase first, win-back second, loyalty only for the small repeat base.</a:t>
            </a:r>
            <a:endParaRPr/>
          </a:p>
        </p:txBody>
      </p:sp>
      <p:sp>
        <p:nvSpPr>
          <p:cNvPr id="514" name="Google Shape;514;p16"/>
          <p:cNvSpPr/>
          <p:nvPr/>
        </p:nvSpPr>
        <p:spPr>
          <a:xfrm>
            <a:off x="6372225" y="1200150"/>
            <a:ext cx="1657350" cy="1657350"/>
          </a:xfrm>
          <a:prstGeom prst="ellipse">
            <a:avLst/>
          </a:prstGeom>
          <a:solidFill>
            <a:srgbClr val="E0EF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15" name="Google Shape;515;p16"/>
          <p:cNvSpPr/>
          <p:nvPr/>
        </p:nvSpPr>
        <p:spPr>
          <a:xfrm>
            <a:off x="6676549" y="1524953"/>
            <a:ext cx="1049655" cy="1049655"/>
          </a:xfrm>
          <a:prstGeom prst="ellipse">
            <a:avLst/>
          </a:prstGeom>
          <a:solidFill>
            <a:srgbClr val="FFFFFF"/>
          </a:solidFill>
          <a:ln cap="flat" cmpd="sng" w="19050">
            <a:solidFill>
              <a:srgbClr val="2F8F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16" name="Google Shape;516;p16"/>
          <p:cNvSpPr/>
          <p:nvPr/>
        </p:nvSpPr>
        <p:spPr>
          <a:xfrm>
            <a:off x="6607969" y="1850231"/>
            <a:ext cx="1250156" cy="3429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1" lang="en-US" sz="2925">
                <a:solidFill>
                  <a:srgbClr val="2F8F5B"/>
                </a:solidFill>
                <a:latin typeface="Arial"/>
                <a:ea typeface="Arial"/>
                <a:cs typeface="Arial"/>
                <a:sym typeface="Arial"/>
              </a:rPr>
              <a:t>3.05%</a:t>
            </a:r>
            <a:endParaRPr/>
          </a:p>
        </p:txBody>
      </p:sp>
      <p:sp>
        <p:nvSpPr>
          <p:cNvPr id="517" name="Google Shape;517;p16"/>
          <p:cNvSpPr/>
          <p:nvPr/>
        </p:nvSpPr>
        <p:spPr>
          <a:xfrm>
            <a:off x="6647251" y="2271719"/>
            <a:ext cx="1107300" cy="228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spcBef>
                <a:spcPts val="0"/>
              </a:spcBef>
              <a:spcAft>
                <a:spcPts val="0"/>
              </a:spcAft>
              <a:buNone/>
            </a:pPr>
            <a:r>
              <a:rPr b="0" lang="en-US" sz="750">
                <a:solidFill>
                  <a:srgbClr val="6B7280"/>
                </a:solidFill>
                <a:latin typeface="Arial"/>
                <a:ea typeface="Arial"/>
                <a:cs typeface="Arial"/>
                <a:sym typeface="Arial"/>
              </a:rPr>
              <a:t>repeat-customer share</a:t>
            </a:r>
            <a:endParaRPr/>
          </a:p>
        </p:txBody>
      </p:sp>
      <p:sp>
        <p:nvSpPr>
          <p:cNvPr id="518" name="Google Shape;518;p16"/>
          <p:cNvSpPr/>
          <p:nvPr/>
        </p:nvSpPr>
        <p:spPr>
          <a:xfrm>
            <a:off x="521500" y="2864700"/>
            <a:ext cx="1857300" cy="1700100"/>
          </a:xfrm>
          <a:prstGeom prst="rect">
            <a:avLst/>
          </a:prstGeom>
          <a:solidFill>
            <a:srgbClr val="E0EFE7"/>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19" name="Google Shape;519;p16"/>
          <p:cNvSpPr/>
          <p:nvPr/>
        </p:nvSpPr>
        <p:spPr>
          <a:xfrm>
            <a:off x="457200" y="2857500"/>
            <a:ext cx="64294" cy="1700213"/>
          </a:xfrm>
          <a:prstGeom prst="rect">
            <a:avLst/>
          </a:prstGeom>
          <a:solidFill>
            <a:srgbClr val="2F8F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20" name="Google Shape;520;p16"/>
          <p:cNvSpPr/>
          <p:nvPr/>
        </p:nvSpPr>
        <p:spPr>
          <a:xfrm>
            <a:off x="614362" y="3000375"/>
            <a:ext cx="357188" cy="2000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13">
                <a:solidFill>
                  <a:srgbClr val="2F8F5B"/>
                </a:solidFill>
                <a:latin typeface="Arial"/>
                <a:ea typeface="Arial"/>
                <a:cs typeface="Arial"/>
                <a:sym typeface="Arial"/>
              </a:rPr>
              <a:t>01</a:t>
            </a:r>
            <a:endParaRPr/>
          </a:p>
        </p:txBody>
      </p:sp>
      <p:sp>
        <p:nvSpPr>
          <p:cNvPr id="521" name="Google Shape;521;p16"/>
          <p:cNvSpPr/>
          <p:nvPr/>
        </p:nvSpPr>
        <p:spPr>
          <a:xfrm>
            <a:off x="614213" y="3278925"/>
            <a:ext cx="1464600" cy="314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181">
                <a:solidFill>
                  <a:srgbClr val="1F2933"/>
                </a:solidFill>
                <a:latin typeface="Play"/>
                <a:ea typeface="Play"/>
                <a:cs typeface="Play"/>
                <a:sym typeface="Play"/>
              </a:rPr>
              <a:t>High-value new customers</a:t>
            </a:r>
            <a:endParaRPr/>
          </a:p>
        </p:txBody>
      </p:sp>
      <p:sp>
        <p:nvSpPr>
          <p:cNvPr id="522" name="Google Shape;522;p16"/>
          <p:cNvSpPr/>
          <p:nvPr/>
        </p:nvSpPr>
        <p:spPr>
          <a:xfrm>
            <a:off x="614363" y="3671887"/>
            <a:ext cx="1464469" cy="8573"/>
          </a:xfrm>
          <a:prstGeom prst="rect">
            <a:avLst/>
          </a:prstGeom>
          <a:solidFill>
            <a:srgbClr val="2F8F5B"/>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23" name="Google Shape;523;p16"/>
          <p:cNvSpPr/>
          <p:nvPr/>
        </p:nvSpPr>
        <p:spPr>
          <a:xfrm>
            <a:off x="614363" y="3771900"/>
            <a:ext cx="1485900" cy="15716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788">
                <a:solidFill>
                  <a:srgbClr val="2F8F5B"/>
                </a:solidFill>
                <a:latin typeface="Arial"/>
                <a:ea typeface="Arial"/>
                <a:cs typeface="Arial"/>
                <a:sym typeface="Arial"/>
              </a:rPr>
              <a:t>11,081 customers | R$4.34M</a:t>
            </a:r>
            <a:endParaRPr/>
          </a:p>
        </p:txBody>
      </p:sp>
      <p:sp>
        <p:nvSpPr>
          <p:cNvPr id="524" name="Google Shape;524;p16"/>
          <p:cNvSpPr/>
          <p:nvPr/>
        </p:nvSpPr>
        <p:spPr>
          <a:xfrm>
            <a:off x="614363" y="3993356"/>
            <a:ext cx="14859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44">
                <a:solidFill>
                  <a:srgbClr val="1F2933"/>
                </a:solidFill>
                <a:latin typeface="Arial"/>
                <a:ea typeface="Arial"/>
                <a:cs typeface="Arial"/>
                <a:sym typeface="Arial"/>
              </a:rPr>
              <a:t>Priority second-purchase offer</a:t>
            </a:r>
            <a:endParaRPr/>
          </a:p>
        </p:txBody>
      </p:sp>
      <p:sp>
        <p:nvSpPr>
          <p:cNvPr id="525" name="Google Shape;525;p16"/>
          <p:cNvSpPr/>
          <p:nvPr/>
        </p:nvSpPr>
        <p:spPr>
          <a:xfrm>
            <a:off x="614363" y="4236244"/>
            <a:ext cx="1464469" cy="3429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Recent one-time buyers already proved willingness to spend.</a:t>
            </a:r>
            <a:endParaRPr/>
          </a:p>
        </p:txBody>
      </p:sp>
      <p:sp>
        <p:nvSpPr>
          <p:cNvPr id="526" name="Google Shape;526;p16"/>
          <p:cNvSpPr/>
          <p:nvPr/>
        </p:nvSpPr>
        <p:spPr>
          <a:xfrm>
            <a:off x="2471738" y="2857500"/>
            <a:ext cx="1857375" cy="1700213"/>
          </a:xfrm>
          <a:prstGeom prst="rect">
            <a:avLst/>
          </a:prstGeom>
          <a:solidFill>
            <a:srgbClr val="F8E8D4"/>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27" name="Google Shape;527;p16"/>
          <p:cNvSpPr/>
          <p:nvPr/>
        </p:nvSpPr>
        <p:spPr>
          <a:xfrm>
            <a:off x="2471738" y="2857500"/>
            <a:ext cx="64294" cy="1700213"/>
          </a:xfrm>
          <a:prstGeom prst="rect">
            <a:avLst/>
          </a:prstGeom>
          <a:solidFill>
            <a:srgbClr val="C77721"/>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28" name="Google Shape;528;p16"/>
          <p:cNvSpPr/>
          <p:nvPr/>
        </p:nvSpPr>
        <p:spPr>
          <a:xfrm>
            <a:off x="2628900" y="3000375"/>
            <a:ext cx="357188" cy="2000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13">
                <a:solidFill>
                  <a:srgbClr val="C77721"/>
                </a:solidFill>
                <a:latin typeface="Arial"/>
                <a:ea typeface="Arial"/>
                <a:cs typeface="Arial"/>
                <a:sym typeface="Arial"/>
              </a:rPr>
              <a:t>02</a:t>
            </a:r>
            <a:endParaRPr/>
          </a:p>
        </p:txBody>
      </p:sp>
      <p:sp>
        <p:nvSpPr>
          <p:cNvPr id="529" name="Google Shape;529;p16"/>
          <p:cNvSpPr/>
          <p:nvPr/>
        </p:nvSpPr>
        <p:spPr>
          <a:xfrm>
            <a:off x="2628900" y="3271838"/>
            <a:ext cx="1464469" cy="3143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181">
                <a:solidFill>
                  <a:srgbClr val="1F2933"/>
                </a:solidFill>
                <a:latin typeface="Play"/>
                <a:ea typeface="Play"/>
                <a:cs typeface="Play"/>
                <a:sym typeface="Play"/>
              </a:rPr>
              <a:t>At-risk high spenders</a:t>
            </a:r>
            <a:endParaRPr/>
          </a:p>
        </p:txBody>
      </p:sp>
      <p:sp>
        <p:nvSpPr>
          <p:cNvPr id="530" name="Google Shape;530;p16"/>
          <p:cNvSpPr/>
          <p:nvPr/>
        </p:nvSpPr>
        <p:spPr>
          <a:xfrm>
            <a:off x="2628900" y="3671887"/>
            <a:ext cx="1464469" cy="8573"/>
          </a:xfrm>
          <a:prstGeom prst="rect">
            <a:avLst/>
          </a:prstGeom>
          <a:solidFill>
            <a:srgbClr val="C77721"/>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31" name="Google Shape;531;p16"/>
          <p:cNvSpPr/>
          <p:nvPr/>
        </p:nvSpPr>
        <p:spPr>
          <a:xfrm>
            <a:off x="2628900" y="3771900"/>
            <a:ext cx="1485900" cy="15716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788">
                <a:solidFill>
                  <a:srgbClr val="C77721"/>
                </a:solidFill>
                <a:latin typeface="Arial"/>
                <a:ea typeface="Arial"/>
                <a:cs typeface="Arial"/>
                <a:sym typeface="Arial"/>
              </a:rPr>
              <a:t>11,274 customers | R$1.59M</a:t>
            </a:r>
            <a:endParaRPr/>
          </a:p>
        </p:txBody>
      </p:sp>
      <p:sp>
        <p:nvSpPr>
          <p:cNvPr id="532" name="Google Shape;532;p16"/>
          <p:cNvSpPr/>
          <p:nvPr/>
        </p:nvSpPr>
        <p:spPr>
          <a:xfrm>
            <a:off x="2628900" y="3993356"/>
            <a:ext cx="14859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44">
                <a:solidFill>
                  <a:srgbClr val="1F2933"/>
                </a:solidFill>
                <a:latin typeface="Arial"/>
                <a:ea typeface="Arial"/>
                <a:cs typeface="Arial"/>
                <a:sym typeface="Arial"/>
              </a:rPr>
              <a:t>Timed win-back campaign</a:t>
            </a:r>
            <a:endParaRPr/>
          </a:p>
        </p:txBody>
      </p:sp>
      <p:sp>
        <p:nvSpPr>
          <p:cNvPr id="533" name="Google Shape;533;p16"/>
          <p:cNvSpPr/>
          <p:nvPr/>
        </p:nvSpPr>
        <p:spPr>
          <a:xfrm>
            <a:off x="2628900" y="4236244"/>
            <a:ext cx="1464469" cy="3429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High value is present, but recency has weakened.</a:t>
            </a:r>
            <a:endParaRPr/>
          </a:p>
        </p:txBody>
      </p:sp>
      <p:sp>
        <p:nvSpPr>
          <p:cNvPr id="534" name="Google Shape;534;p16"/>
          <p:cNvSpPr/>
          <p:nvPr/>
        </p:nvSpPr>
        <p:spPr>
          <a:xfrm>
            <a:off x="4486275" y="2857500"/>
            <a:ext cx="1857375" cy="1700213"/>
          </a:xfrm>
          <a:prstGeom prst="rect">
            <a:avLst/>
          </a:prstGeom>
          <a:solidFill>
            <a:srgbClr val="E2EAF3"/>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35" name="Google Shape;535;p16"/>
          <p:cNvSpPr/>
          <p:nvPr/>
        </p:nvSpPr>
        <p:spPr>
          <a:xfrm>
            <a:off x="4486275" y="2857500"/>
            <a:ext cx="64294" cy="1700213"/>
          </a:xfrm>
          <a:prstGeom prst="rect">
            <a:avLst/>
          </a:prstGeom>
          <a:solidFill>
            <a:srgbClr val="34699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36" name="Google Shape;536;p16"/>
          <p:cNvSpPr/>
          <p:nvPr/>
        </p:nvSpPr>
        <p:spPr>
          <a:xfrm>
            <a:off x="4643437" y="3000375"/>
            <a:ext cx="357188" cy="2000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13">
                <a:solidFill>
                  <a:srgbClr val="34699A"/>
                </a:solidFill>
                <a:latin typeface="Arial"/>
                <a:ea typeface="Arial"/>
                <a:cs typeface="Arial"/>
                <a:sym typeface="Arial"/>
              </a:rPr>
              <a:t>03</a:t>
            </a:r>
            <a:endParaRPr/>
          </a:p>
        </p:txBody>
      </p:sp>
      <p:sp>
        <p:nvSpPr>
          <p:cNvPr id="537" name="Google Shape;537;p16"/>
          <p:cNvSpPr/>
          <p:nvPr/>
        </p:nvSpPr>
        <p:spPr>
          <a:xfrm>
            <a:off x="4643438" y="3271838"/>
            <a:ext cx="1464469" cy="3143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181">
                <a:solidFill>
                  <a:srgbClr val="1F2933"/>
                </a:solidFill>
                <a:latin typeface="Play"/>
                <a:ea typeface="Play"/>
                <a:cs typeface="Play"/>
                <a:sym typeface="Play"/>
              </a:rPr>
              <a:t>Recent repeat buyers</a:t>
            </a:r>
            <a:endParaRPr/>
          </a:p>
        </p:txBody>
      </p:sp>
      <p:sp>
        <p:nvSpPr>
          <p:cNvPr id="538" name="Google Shape;538;p16"/>
          <p:cNvSpPr/>
          <p:nvPr/>
        </p:nvSpPr>
        <p:spPr>
          <a:xfrm>
            <a:off x="4643438" y="3671887"/>
            <a:ext cx="1464469" cy="8573"/>
          </a:xfrm>
          <a:prstGeom prst="rect">
            <a:avLst/>
          </a:prstGeom>
          <a:solidFill>
            <a:srgbClr val="34699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39" name="Google Shape;539;p16"/>
          <p:cNvSpPr/>
          <p:nvPr/>
        </p:nvSpPr>
        <p:spPr>
          <a:xfrm>
            <a:off x="4643438" y="3771900"/>
            <a:ext cx="1485900" cy="15716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788">
                <a:solidFill>
                  <a:srgbClr val="34699A"/>
                </a:solidFill>
                <a:latin typeface="Arial"/>
                <a:ea typeface="Arial"/>
                <a:cs typeface="Arial"/>
                <a:sym typeface="Arial"/>
              </a:rPr>
              <a:t>1,518 customers | R$453k</a:t>
            </a:r>
            <a:endParaRPr/>
          </a:p>
        </p:txBody>
      </p:sp>
      <p:sp>
        <p:nvSpPr>
          <p:cNvPr id="540" name="Google Shape;540;p16"/>
          <p:cNvSpPr/>
          <p:nvPr/>
        </p:nvSpPr>
        <p:spPr>
          <a:xfrm>
            <a:off x="4643438" y="3993356"/>
            <a:ext cx="14859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44">
                <a:solidFill>
                  <a:srgbClr val="1F2933"/>
                </a:solidFill>
                <a:latin typeface="Arial"/>
                <a:ea typeface="Arial"/>
                <a:cs typeface="Arial"/>
                <a:sym typeface="Arial"/>
              </a:rPr>
              <a:t>Loyalty rewards</a:t>
            </a:r>
            <a:endParaRPr/>
          </a:p>
        </p:txBody>
      </p:sp>
      <p:sp>
        <p:nvSpPr>
          <p:cNvPr id="541" name="Google Shape;541;p16"/>
          <p:cNvSpPr/>
          <p:nvPr/>
        </p:nvSpPr>
        <p:spPr>
          <a:xfrm>
            <a:off x="4643438" y="4236244"/>
            <a:ext cx="1464469" cy="3429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This small base has already crossed the repeat threshold.</a:t>
            </a:r>
            <a:endParaRPr/>
          </a:p>
        </p:txBody>
      </p:sp>
      <p:sp>
        <p:nvSpPr>
          <p:cNvPr id="542" name="Google Shape;542;p16"/>
          <p:cNvSpPr/>
          <p:nvPr/>
        </p:nvSpPr>
        <p:spPr>
          <a:xfrm>
            <a:off x="6500813" y="2857500"/>
            <a:ext cx="1857375" cy="1700213"/>
          </a:xfrm>
          <a:prstGeom prst="rect">
            <a:avLst/>
          </a:prstGeom>
          <a:solidFill>
            <a:srgbClr val="DDEDE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43" name="Google Shape;543;p16"/>
          <p:cNvSpPr/>
          <p:nvPr/>
        </p:nvSpPr>
        <p:spPr>
          <a:xfrm>
            <a:off x="6500813" y="2857500"/>
            <a:ext cx="64294" cy="1700213"/>
          </a:xfrm>
          <a:prstGeom prst="rect">
            <a:avLst/>
          </a:prstGeom>
          <a:solidFill>
            <a:srgbClr val="178F8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44" name="Google Shape;544;p16"/>
          <p:cNvSpPr/>
          <p:nvPr/>
        </p:nvSpPr>
        <p:spPr>
          <a:xfrm>
            <a:off x="6657975" y="3000375"/>
            <a:ext cx="357188" cy="2000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13">
                <a:solidFill>
                  <a:srgbClr val="178F8A"/>
                </a:solidFill>
                <a:latin typeface="Arial"/>
                <a:ea typeface="Arial"/>
                <a:cs typeface="Arial"/>
                <a:sym typeface="Arial"/>
              </a:rPr>
              <a:t>04</a:t>
            </a:r>
            <a:endParaRPr/>
          </a:p>
        </p:txBody>
      </p:sp>
      <p:sp>
        <p:nvSpPr>
          <p:cNvPr id="545" name="Google Shape;545;p16"/>
          <p:cNvSpPr/>
          <p:nvPr/>
        </p:nvSpPr>
        <p:spPr>
          <a:xfrm>
            <a:off x="6657975" y="3271838"/>
            <a:ext cx="1464469" cy="3143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181">
                <a:solidFill>
                  <a:srgbClr val="1F2933"/>
                </a:solidFill>
                <a:latin typeface="Play"/>
                <a:ea typeface="Play"/>
                <a:cs typeface="Play"/>
                <a:sym typeface="Play"/>
              </a:rPr>
              <a:t>Champions</a:t>
            </a:r>
            <a:endParaRPr/>
          </a:p>
        </p:txBody>
      </p:sp>
      <p:sp>
        <p:nvSpPr>
          <p:cNvPr id="546" name="Google Shape;546;p16"/>
          <p:cNvSpPr/>
          <p:nvPr/>
        </p:nvSpPr>
        <p:spPr>
          <a:xfrm>
            <a:off x="6657975" y="3671887"/>
            <a:ext cx="1464469" cy="8573"/>
          </a:xfrm>
          <a:prstGeom prst="rect">
            <a:avLst/>
          </a:prstGeom>
          <a:solidFill>
            <a:srgbClr val="178F8A"/>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47" name="Google Shape;547;p16"/>
          <p:cNvSpPr/>
          <p:nvPr/>
        </p:nvSpPr>
        <p:spPr>
          <a:xfrm>
            <a:off x="6657975" y="3771900"/>
            <a:ext cx="1485900" cy="15716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788">
                <a:solidFill>
                  <a:srgbClr val="178F8A"/>
                </a:solidFill>
                <a:latin typeface="Arial"/>
                <a:ea typeface="Arial"/>
                <a:cs typeface="Arial"/>
                <a:sym typeface="Arial"/>
              </a:rPr>
              <a:t>81 customers | R$50k</a:t>
            </a:r>
            <a:endParaRPr/>
          </a:p>
        </p:txBody>
      </p:sp>
      <p:sp>
        <p:nvSpPr>
          <p:cNvPr id="548" name="Google Shape;548;p16"/>
          <p:cNvSpPr/>
          <p:nvPr/>
        </p:nvSpPr>
        <p:spPr>
          <a:xfrm>
            <a:off x="6657975" y="3993356"/>
            <a:ext cx="14859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844">
                <a:solidFill>
                  <a:srgbClr val="1F2933"/>
                </a:solidFill>
                <a:latin typeface="Arial"/>
                <a:ea typeface="Arial"/>
                <a:cs typeface="Arial"/>
                <a:sym typeface="Arial"/>
              </a:rPr>
              <a:t>VIP treatment</a:t>
            </a:r>
            <a:endParaRPr/>
          </a:p>
        </p:txBody>
      </p:sp>
      <p:sp>
        <p:nvSpPr>
          <p:cNvPr id="549" name="Google Shape;549;p16"/>
          <p:cNvSpPr/>
          <p:nvPr/>
        </p:nvSpPr>
        <p:spPr>
          <a:xfrm>
            <a:off x="6657975" y="4236244"/>
            <a:ext cx="1464469" cy="3429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731">
                <a:solidFill>
                  <a:srgbClr val="6B7280"/>
                </a:solidFill>
                <a:latin typeface="Arial"/>
                <a:ea typeface="Arial"/>
                <a:cs typeface="Arial"/>
                <a:sym typeface="Arial"/>
              </a:rPr>
              <a:t>Tiny group with recent, frequent, high-value behavior.</a:t>
            </a:r>
            <a:endParaRPr/>
          </a:p>
        </p:txBody>
      </p:sp>
      <p:sp>
        <p:nvSpPr>
          <p:cNvPr id="550" name="Google Shape;550;p16"/>
          <p:cNvSpPr/>
          <p:nvPr/>
        </p:nvSpPr>
        <p:spPr>
          <a:xfrm>
            <a:off x="457200" y="4914900"/>
            <a:ext cx="7772400" cy="442913"/>
          </a:xfrm>
          <a:prstGeom prst="rect">
            <a:avLst/>
          </a:prstGeom>
          <a:solidFill>
            <a:srgbClr val="F4F6F8"/>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lt1"/>
              </a:solidFill>
              <a:latin typeface="Century Gothic"/>
              <a:ea typeface="Century Gothic"/>
              <a:cs typeface="Century Gothic"/>
              <a:sym typeface="Century Gothic"/>
            </a:endParaRPr>
          </a:p>
        </p:txBody>
      </p:sp>
      <p:sp>
        <p:nvSpPr>
          <p:cNvPr id="551" name="Google Shape;551;p16"/>
          <p:cNvSpPr/>
          <p:nvPr/>
        </p:nvSpPr>
        <p:spPr>
          <a:xfrm>
            <a:off x="628651" y="5029200"/>
            <a:ext cx="7393781" cy="214313"/>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13">
                <a:solidFill>
                  <a:srgbClr val="1F2933"/>
                </a:solidFill>
                <a:latin typeface="Arial"/>
                <a:ea typeface="Arial"/>
                <a:cs typeface="Arial"/>
                <a:sym typeface="Arial"/>
              </a:rPr>
              <a:t>Slide message: RFM scoring shows Olist's biggest customer opportunity is converting high-value one-time buyers into repeat customers.</a:t>
            </a:r>
            <a:endParaRPr/>
          </a:p>
        </p:txBody>
      </p:sp>
      <p:sp>
        <p:nvSpPr>
          <p:cNvPr id="552" name="Google Shape;552;p16"/>
          <p:cNvSpPr/>
          <p:nvPr/>
        </p:nvSpPr>
        <p:spPr>
          <a:xfrm>
            <a:off x="457200" y="5743575"/>
            <a:ext cx="5857875" cy="128588"/>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563">
                <a:solidFill>
                  <a:srgbClr val="8A94A3"/>
                </a:solidFill>
                <a:latin typeface="Arial"/>
                <a:ea typeface="Arial"/>
                <a:cs typeface="Arial"/>
                <a:sym typeface="Arial"/>
              </a:rPr>
              <a:t>Source: local Olist warehouse, fact_sales. Gross item sales include product price plus freight value.</a:t>
            </a:r>
            <a:endParaRPr/>
          </a:p>
        </p:txBody>
      </p:sp>
      <p:sp>
        <p:nvSpPr>
          <p:cNvPr id="553" name="Google Shape;553;p16"/>
          <p:cNvSpPr/>
          <p:nvPr/>
        </p:nvSpPr>
        <p:spPr>
          <a:xfrm>
            <a:off x="8358187" y="5715000"/>
            <a:ext cx="242888" cy="128588"/>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spcBef>
                <a:spcPts val="0"/>
              </a:spcBef>
              <a:spcAft>
                <a:spcPts val="0"/>
              </a:spcAft>
              <a:buNone/>
            </a:pPr>
            <a:r>
              <a:rPr b="0" lang="en-US" sz="563">
                <a:solidFill>
                  <a:srgbClr val="8A94A3"/>
                </a:solidFill>
                <a:latin typeface="Arial"/>
                <a:ea typeface="Arial"/>
                <a:cs typeface="Arial"/>
                <a:sym typeface="Arial"/>
              </a:rPr>
              <a:t>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g3eec741308c_1_0"/>
          <p:cNvSpPr txBox="1"/>
          <p:nvPr/>
        </p:nvSpPr>
        <p:spPr>
          <a:xfrm>
            <a:off x="0" y="-2890250"/>
            <a:ext cx="9144000" cy="6858000"/>
          </a:xfrm>
          <a:prstGeom prst="rect">
            <a:avLst/>
          </a:prstGeom>
          <a:solidFill>
            <a:srgbClr val="000000"/>
          </a:solidFill>
          <a:ln>
            <a:noFill/>
          </a:ln>
        </p:spPr>
        <p:txBody>
          <a:bodyPr anchorCtr="0" anchor="t" bIns="59425" lIns="91425" spcFirstLastPara="1" rIns="91425" wrap="square" tIns="59425">
            <a:norm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60" name="Google Shape;560;g3eec741308c_1_0"/>
          <p:cNvSpPr txBox="1"/>
          <p:nvPr/>
        </p:nvSpPr>
        <p:spPr>
          <a:xfrm>
            <a:off x="324597" y="225327"/>
            <a:ext cx="5303400" cy="3201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9900"/>
                </a:solidFill>
                <a:latin typeface="Play"/>
                <a:ea typeface="Play"/>
                <a:cs typeface="Play"/>
                <a:sym typeface="Play"/>
              </a:rPr>
              <a:t>BUSINESS INSIGHT CONCLUSION</a:t>
            </a:r>
            <a:endParaRPr b="0" i="0" sz="1800" u="none" cap="none" strike="noStrike">
              <a:solidFill>
                <a:srgbClr val="000000"/>
              </a:solidFill>
              <a:latin typeface="Arial"/>
              <a:ea typeface="Arial"/>
              <a:cs typeface="Arial"/>
              <a:sym typeface="Arial"/>
            </a:endParaRPr>
          </a:p>
        </p:txBody>
      </p:sp>
      <p:sp>
        <p:nvSpPr>
          <p:cNvPr id="561" name="Google Shape;561;g3eec741308c_1_0"/>
          <p:cNvSpPr txBox="1"/>
          <p:nvPr/>
        </p:nvSpPr>
        <p:spPr>
          <a:xfrm>
            <a:off x="324600" y="603523"/>
            <a:ext cx="8184000" cy="737400"/>
          </a:xfrm>
          <a:prstGeom prst="rect">
            <a:avLst/>
          </a:prstGeom>
          <a:noFill/>
          <a:ln>
            <a:noFill/>
          </a:ln>
        </p:spPr>
        <p:txBody>
          <a:bodyPr anchorCtr="0" anchor="t" bIns="11875" lIns="18275" spcFirstLastPara="1" rIns="18275" wrap="square" tIns="11875">
            <a:normAutofit fontScale="92500"/>
          </a:bodyPr>
          <a:lstStyle/>
          <a:p>
            <a:pPr indent="0" lvl="0" marL="0" marR="0" rtl="0" algn="l">
              <a:lnSpc>
                <a:spcPct val="100000"/>
              </a:lnSpc>
              <a:spcBef>
                <a:spcPts val="0"/>
              </a:spcBef>
              <a:spcAft>
                <a:spcPts val="0"/>
              </a:spcAft>
              <a:buClr>
                <a:srgbClr val="000000"/>
              </a:buClr>
              <a:buSzPct val="100000"/>
              <a:buFont typeface="Arial"/>
              <a:buNone/>
            </a:pPr>
            <a:r>
              <a:rPr b="1" i="0" lang="en-US" sz="2000" u="none" cap="none" strike="noStrike">
                <a:solidFill>
                  <a:srgbClr val="F2F2F2"/>
                </a:solidFill>
                <a:latin typeface="Arial"/>
                <a:ea typeface="Arial"/>
                <a:cs typeface="Arial"/>
                <a:sym typeface="Arial"/>
              </a:rPr>
              <a:t>From nine operational CSV files to an auditable decision model for GMV, seller performance, products, customers, and growth strategy.</a:t>
            </a:r>
            <a:endParaRPr b="0" i="0" sz="2000" u="none" cap="none" strike="noStrike">
              <a:solidFill>
                <a:srgbClr val="000000"/>
              </a:solidFill>
              <a:latin typeface="Arial"/>
              <a:ea typeface="Arial"/>
              <a:cs typeface="Arial"/>
              <a:sym typeface="Arial"/>
            </a:endParaRPr>
          </a:p>
        </p:txBody>
      </p:sp>
      <p:sp>
        <p:nvSpPr>
          <p:cNvPr id="562" name="Google Shape;562;g3eec741308c_1_0"/>
          <p:cNvSpPr/>
          <p:nvPr/>
        </p:nvSpPr>
        <p:spPr>
          <a:xfrm>
            <a:off x="502925" y="1536203"/>
            <a:ext cx="1874400" cy="947700"/>
          </a:xfrm>
          <a:prstGeom prst="roundRect">
            <a:avLst>
              <a:gd fmla="val 16667" name="adj"/>
            </a:avLst>
          </a:prstGeom>
          <a:solidFill>
            <a:srgbClr val="087C96"/>
          </a:solidFill>
          <a:ln cap="flat" cmpd="sng" w="12700">
            <a:solidFill>
              <a:srgbClr val="FFFFFF"/>
            </a:solidFill>
            <a:prstDash val="solid"/>
            <a:round/>
            <a:headEnd len="sm" w="sm" type="none"/>
            <a:tailEnd len="sm" w="sm" type="none"/>
          </a:ln>
        </p:spPr>
        <p:txBody>
          <a:bodyPr anchorCtr="0" anchor="t" bIns="35650" lIns="54850" spcFirstLastPara="1" rIns="54850" wrap="square" tIns="3565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Play"/>
                <a:ea typeface="Play"/>
                <a:cs typeface="Play"/>
                <a:sym typeface="Play"/>
              </a:rPr>
              <a:t>+8.8%</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E6F7FC"/>
                </a:solidFill>
                <a:latin typeface="Arial"/>
                <a:ea typeface="Arial"/>
                <a:cs typeface="Arial"/>
                <a:sym typeface="Arial"/>
              </a:rPr>
              <a:t>avg MoM GMV growth</a:t>
            </a:r>
            <a:endParaRPr b="0" i="0" sz="1200" u="none" cap="none" strike="noStrike">
              <a:solidFill>
                <a:srgbClr val="000000"/>
              </a:solidFill>
              <a:latin typeface="Arial"/>
              <a:ea typeface="Arial"/>
              <a:cs typeface="Arial"/>
              <a:sym typeface="Arial"/>
            </a:endParaRPr>
          </a:p>
        </p:txBody>
      </p:sp>
      <p:sp>
        <p:nvSpPr>
          <p:cNvPr id="563" name="Google Shape;563;g3eec741308c_1_0"/>
          <p:cNvSpPr/>
          <p:nvPr/>
        </p:nvSpPr>
        <p:spPr>
          <a:xfrm>
            <a:off x="2642625" y="1536200"/>
            <a:ext cx="1874400" cy="947700"/>
          </a:xfrm>
          <a:prstGeom prst="roundRect">
            <a:avLst>
              <a:gd fmla="val 16667" name="adj"/>
            </a:avLst>
          </a:prstGeom>
          <a:solidFill>
            <a:srgbClr val="075B78"/>
          </a:solidFill>
          <a:ln cap="flat" cmpd="sng" w="12700">
            <a:solidFill>
              <a:srgbClr val="FFFFFF"/>
            </a:solidFill>
            <a:prstDash val="solid"/>
            <a:round/>
            <a:headEnd len="sm" w="sm" type="none"/>
            <a:tailEnd len="sm" w="sm" type="none"/>
          </a:ln>
        </p:spPr>
        <p:txBody>
          <a:bodyPr anchorCtr="0" anchor="t" bIns="35650" lIns="54850" spcFirstLastPara="1" rIns="54850" wrap="square" tIns="3565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Play"/>
                <a:ea typeface="Play"/>
                <a:cs typeface="Play"/>
                <a:sym typeface="Play"/>
              </a:rPr>
              <a:t>R$4.0M</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E6F7FC"/>
                </a:solidFill>
                <a:latin typeface="Arial"/>
                <a:ea typeface="Arial"/>
                <a:cs typeface="Arial"/>
                <a:sym typeface="Arial"/>
              </a:rPr>
              <a:t>top 3 categories GMV (25.2% of total)</a:t>
            </a:r>
            <a:endParaRPr b="0" i="0" sz="1200" u="none" cap="none" strike="noStrike">
              <a:solidFill>
                <a:srgbClr val="E6F7F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E6F7FC"/>
              </a:solidFill>
              <a:latin typeface="Arial"/>
              <a:ea typeface="Arial"/>
              <a:cs typeface="Arial"/>
              <a:sym typeface="Arial"/>
            </a:endParaRPr>
          </a:p>
        </p:txBody>
      </p:sp>
      <p:sp>
        <p:nvSpPr>
          <p:cNvPr id="564" name="Google Shape;564;g3eec741308c_1_0"/>
          <p:cNvSpPr/>
          <p:nvPr/>
        </p:nvSpPr>
        <p:spPr>
          <a:xfrm>
            <a:off x="4713075" y="1556752"/>
            <a:ext cx="1874400" cy="906600"/>
          </a:xfrm>
          <a:prstGeom prst="roundRect">
            <a:avLst>
              <a:gd fmla="val 16667" name="adj"/>
            </a:avLst>
          </a:prstGeom>
          <a:solidFill>
            <a:srgbClr val="087C96"/>
          </a:solidFill>
          <a:ln cap="flat" cmpd="sng" w="12700">
            <a:solidFill>
              <a:srgbClr val="FFFFFF"/>
            </a:solidFill>
            <a:prstDash val="solid"/>
            <a:round/>
            <a:headEnd len="sm" w="sm" type="none"/>
            <a:tailEnd len="sm" w="sm" type="none"/>
          </a:ln>
        </p:spPr>
        <p:txBody>
          <a:bodyPr anchorCtr="0" anchor="t" bIns="35650" lIns="54850" spcFirstLastPara="1" rIns="54850" wrap="square" tIns="3565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Play"/>
                <a:ea typeface="Play"/>
                <a:cs typeface="Play"/>
                <a:sym typeface="Play"/>
              </a:rPr>
              <a:t>R$5.9M</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E6F7FC"/>
                </a:solidFill>
                <a:latin typeface="Arial"/>
                <a:ea typeface="Arial"/>
                <a:cs typeface="Arial"/>
                <a:sym typeface="Arial"/>
              </a:rPr>
              <a:t>São Paulo GMV (dominant market)</a:t>
            </a:r>
            <a:endParaRPr b="0" i="0" sz="1200" u="none" cap="none" strike="noStrike">
              <a:solidFill>
                <a:srgbClr val="E6F7F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E6F7FC"/>
              </a:solidFill>
              <a:latin typeface="Arial"/>
              <a:ea typeface="Arial"/>
              <a:cs typeface="Arial"/>
              <a:sym typeface="Arial"/>
            </a:endParaRPr>
          </a:p>
        </p:txBody>
      </p:sp>
      <p:sp>
        <p:nvSpPr>
          <p:cNvPr id="565" name="Google Shape;565;g3eec741308c_1_0"/>
          <p:cNvSpPr/>
          <p:nvPr/>
        </p:nvSpPr>
        <p:spPr>
          <a:xfrm>
            <a:off x="6783525" y="1572927"/>
            <a:ext cx="1874400" cy="906600"/>
          </a:xfrm>
          <a:prstGeom prst="roundRect">
            <a:avLst>
              <a:gd fmla="val 16667" name="adj"/>
            </a:avLst>
          </a:prstGeom>
          <a:solidFill>
            <a:srgbClr val="FF9900"/>
          </a:solidFill>
          <a:ln cap="flat" cmpd="sng" w="12700">
            <a:solidFill>
              <a:srgbClr val="FFFFFF"/>
            </a:solidFill>
            <a:prstDash val="solid"/>
            <a:round/>
            <a:headEnd len="sm" w="sm" type="none"/>
            <a:tailEnd len="sm" w="sm" type="none"/>
          </a:ln>
        </p:spPr>
        <p:txBody>
          <a:bodyPr anchorCtr="0" anchor="t" bIns="35650" lIns="54850" spcFirstLastPara="1" rIns="54850" wrap="square" tIns="3565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Play"/>
                <a:ea typeface="Play"/>
                <a:cs typeface="Play"/>
                <a:sym typeface="Play"/>
              </a:rPr>
              <a:t>3,095</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E6F7FC"/>
                </a:solidFill>
                <a:latin typeface="Arial"/>
                <a:ea typeface="Arial"/>
                <a:cs typeface="Arial"/>
                <a:sym typeface="Arial"/>
              </a:rPr>
              <a:t>active sellers</a:t>
            </a:r>
            <a:endParaRPr b="0" i="0" sz="1200" u="none" cap="none" strike="noStrike">
              <a:solidFill>
                <a:srgbClr val="000000"/>
              </a:solidFill>
              <a:latin typeface="Arial"/>
              <a:ea typeface="Arial"/>
              <a:cs typeface="Arial"/>
              <a:sym typeface="Arial"/>
            </a:endParaRPr>
          </a:p>
        </p:txBody>
      </p:sp>
      <p:sp>
        <p:nvSpPr>
          <p:cNvPr id="566" name="Google Shape;566;g3eec741308c_1_0"/>
          <p:cNvSpPr txBox="1"/>
          <p:nvPr/>
        </p:nvSpPr>
        <p:spPr>
          <a:xfrm>
            <a:off x="502920" y="2587752"/>
            <a:ext cx="3657600" cy="3201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Play"/>
                <a:ea typeface="Play"/>
                <a:cs typeface="Play"/>
                <a:sym typeface="Play"/>
              </a:rPr>
              <a:t>Recommended next moves</a:t>
            </a:r>
            <a:endParaRPr b="0" i="0" sz="2000" u="none" cap="none" strike="noStrike">
              <a:solidFill>
                <a:srgbClr val="000000"/>
              </a:solidFill>
              <a:latin typeface="Arial"/>
              <a:ea typeface="Arial"/>
              <a:cs typeface="Arial"/>
              <a:sym typeface="Arial"/>
            </a:endParaRPr>
          </a:p>
        </p:txBody>
      </p:sp>
      <p:sp>
        <p:nvSpPr>
          <p:cNvPr id="567" name="Google Shape;567;g3eec741308c_1_0"/>
          <p:cNvSpPr/>
          <p:nvPr/>
        </p:nvSpPr>
        <p:spPr>
          <a:xfrm>
            <a:off x="484663" y="2994875"/>
            <a:ext cx="2377500" cy="2066700"/>
          </a:xfrm>
          <a:prstGeom prst="roundRect">
            <a:avLst>
              <a:gd fmla="val 16667" name="adj"/>
            </a:avLst>
          </a:prstGeom>
          <a:solidFill>
            <a:srgbClr val="075B78"/>
          </a:solidFill>
          <a:ln cap="flat" cmpd="sng" w="12700">
            <a:solidFill>
              <a:srgbClr val="FFFFFF"/>
            </a:solidFill>
            <a:prstDash val="solid"/>
            <a:round/>
            <a:headEnd len="sm" w="sm" type="none"/>
            <a:tailEnd len="sm" w="sm" type="none"/>
          </a:ln>
        </p:spPr>
        <p:txBody>
          <a:bodyPr anchorCtr="0" anchor="t" bIns="59425" lIns="91425" spcFirstLastPara="1" rIns="91425" wrap="square" tIns="59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68" name="Google Shape;568;g3eec741308c_1_0"/>
          <p:cNvSpPr txBox="1"/>
          <p:nvPr/>
        </p:nvSpPr>
        <p:spPr>
          <a:xfrm>
            <a:off x="676687" y="3153377"/>
            <a:ext cx="2048400" cy="201300"/>
          </a:xfrm>
          <a:prstGeom prst="rect">
            <a:avLst/>
          </a:prstGeom>
          <a:noFill/>
          <a:ln>
            <a:noFill/>
          </a:ln>
        </p:spPr>
        <p:txBody>
          <a:bodyPr anchorCtr="0" anchor="t" bIns="0" lIns="0" spcFirstLastPara="1" rIns="0" wrap="square" tIns="0">
            <a:normAutofit lnSpcReduction="20000"/>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9900"/>
                </a:solidFill>
                <a:latin typeface="Play"/>
                <a:ea typeface="Play"/>
                <a:cs typeface="Play"/>
                <a:sym typeface="Play"/>
              </a:rPr>
              <a:t>01</a:t>
            </a:r>
            <a:endParaRPr b="0" i="0" sz="1500" u="none" cap="none" strike="noStrike">
              <a:solidFill>
                <a:srgbClr val="000000"/>
              </a:solidFill>
              <a:latin typeface="Arial"/>
              <a:ea typeface="Arial"/>
              <a:cs typeface="Arial"/>
              <a:sym typeface="Arial"/>
            </a:endParaRPr>
          </a:p>
        </p:txBody>
      </p:sp>
      <p:sp>
        <p:nvSpPr>
          <p:cNvPr id="569" name="Google Shape;569;g3eec741308c_1_0"/>
          <p:cNvSpPr txBox="1"/>
          <p:nvPr/>
        </p:nvSpPr>
        <p:spPr>
          <a:xfrm>
            <a:off x="740563" y="3474717"/>
            <a:ext cx="1938600" cy="5487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BEEFFF"/>
                </a:solidFill>
                <a:latin typeface="Play"/>
                <a:ea typeface="Play"/>
                <a:cs typeface="Play"/>
                <a:sym typeface="Play"/>
              </a:rPr>
              <a:t>Defend proven</a:t>
            </a:r>
            <a:br>
              <a:rPr b="0" i="0" lang="en-US" sz="1400" u="none" cap="none" strike="noStrike">
                <a:solidFill>
                  <a:srgbClr val="000000"/>
                </a:solidFill>
                <a:latin typeface="Arial"/>
                <a:ea typeface="Arial"/>
                <a:cs typeface="Arial"/>
                <a:sym typeface="Arial"/>
              </a:rPr>
            </a:br>
            <a:r>
              <a:rPr b="1" i="0" lang="en-US" sz="2000" u="none" cap="none" strike="noStrike">
                <a:solidFill>
                  <a:srgbClr val="BEEFFF"/>
                </a:solidFill>
                <a:latin typeface="Play"/>
                <a:ea typeface="Play"/>
                <a:cs typeface="Play"/>
                <a:sym typeface="Play"/>
              </a:rPr>
              <a:t>demand</a:t>
            </a:r>
            <a:endParaRPr b="0" i="0" sz="2000" u="none" cap="none" strike="noStrike">
              <a:solidFill>
                <a:srgbClr val="000000"/>
              </a:solidFill>
              <a:latin typeface="Arial"/>
              <a:ea typeface="Arial"/>
              <a:cs typeface="Arial"/>
              <a:sym typeface="Arial"/>
            </a:endParaRPr>
          </a:p>
        </p:txBody>
      </p:sp>
      <p:sp>
        <p:nvSpPr>
          <p:cNvPr id="570" name="Google Shape;570;g3eec741308c_1_0"/>
          <p:cNvSpPr txBox="1"/>
          <p:nvPr/>
        </p:nvSpPr>
        <p:spPr>
          <a:xfrm>
            <a:off x="704100" y="4024025"/>
            <a:ext cx="1938600" cy="947700"/>
          </a:xfrm>
          <a:prstGeom prst="rect">
            <a:avLst/>
          </a:prstGeom>
          <a:noFill/>
          <a:ln>
            <a:noFill/>
          </a:ln>
        </p:spPr>
        <p:txBody>
          <a:bodyPr anchorCtr="0" anchor="t" bIns="0" lIns="0" spcFirstLastPara="1" rIns="0" wrap="square" tIns="0">
            <a:normAutofit fontScale="85000" lnSpcReduction="20000"/>
          </a:bodyPr>
          <a:lstStyle/>
          <a:p>
            <a:pPr indent="0" lvl="0" marL="0" marR="0" rtl="0" algn="l">
              <a:lnSpc>
                <a:spcPct val="100000"/>
              </a:lnSpc>
              <a:spcBef>
                <a:spcPts val="0"/>
              </a:spcBef>
              <a:spcAft>
                <a:spcPts val="0"/>
              </a:spcAft>
              <a:buClr>
                <a:srgbClr val="000000"/>
              </a:buClr>
              <a:buSzPct val="100000"/>
              <a:buFont typeface="Arial"/>
              <a:buNone/>
            </a:pPr>
            <a:r>
              <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1300" u="none" cap="none" strike="noStrike">
                <a:solidFill>
                  <a:srgbClr val="FFFFFF"/>
                </a:solidFill>
                <a:latin typeface="Arial"/>
                <a:ea typeface="Arial"/>
                <a:cs typeface="Arial"/>
                <a:sym typeface="Arial"/>
              </a:rPr>
              <a:t>Prioritize high-GMV categories (Beauty &amp; Health, Watches &amp; Gifts, Bed/Bath/Table) and strong seller regions (SP, RJ, MG).</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1300" u="none" cap="none" strike="noStrike">
              <a:solidFill>
                <a:srgbClr val="FFFFFF"/>
              </a:solidFill>
              <a:latin typeface="Arial"/>
              <a:ea typeface="Arial"/>
              <a:cs typeface="Arial"/>
              <a:sym typeface="Arial"/>
            </a:endParaRPr>
          </a:p>
        </p:txBody>
      </p:sp>
      <p:sp>
        <p:nvSpPr>
          <p:cNvPr id="571" name="Google Shape;571;g3eec741308c_1_0"/>
          <p:cNvSpPr/>
          <p:nvPr/>
        </p:nvSpPr>
        <p:spPr>
          <a:xfrm>
            <a:off x="3227800" y="2994864"/>
            <a:ext cx="2377500" cy="1997100"/>
          </a:xfrm>
          <a:prstGeom prst="roundRect">
            <a:avLst>
              <a:gd fmla="val 16667" name="adj"/>
            </a:avLst>
          </a:prstGeom>
          <a:solidFill>
            <a:srgbClr val="075B78"/>
          </a:solidFill>
          <a:ln cap="flat" cmpd="sng" w="12700">
            <a:solidFill>
              <a:srgbClr val="FFFFFF"/>
            </a:solidFill>
            <a:prstDash val="solid"/>
            <a:round/>
            <a:headEnd len="sm" w="sm" type="none"/>
            <a:tailEnd len="sm" w="sm" type="none"/>
          </a:ln>
        </p:spPr>
        <p:txBody>
          <a:bodyPr anchorCtr="0" anchor="t" bIns="59425" lIns="91425" spcFirstLastPara="1" rIns="91425" wrap="square" tIns="59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72" name="Google Shape;572;g3eec741308c_1_0"/>
          <p:cNvSpPr txBox="1"/>
          <p:nvPr/>
        </p:nvSpPr>
        <p:spPr>
          <a:xfrm>
            <a:off x="3415300" y="3150114"/>
            <a:ext cx="2048400" cy="201300"/>
          </a:xfrm>
          <a:prstGeom prst="rect">
            <a:avLst/>
          </a:prstGeom>
          <a:noFill/>
          <a:ln>
            <a:noFill/>
          </a:ln>
        </p:spPr>
        <p:txBody>
          <a:bodyPr anchorCtr="0" anchor="t" bIns="0" lIns="0" spcFirstLastPara="1" rIns="0" wrap="square" tIns="0">
            <a:normAutofit lnSpcReduction="20000"/>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9900"/>
                </a:solidFill>
                <a:latin typeface="Play"/>
                <a:ea typeface="Play"/>
                <a:cs typeface="Play"/>
                <a:sym typeface="Play"/>
              </a:rPr>
              <a:t>02</a:t>
            </a:r>
            <a:endParaRPr b="0" i="0" sz="1500" u="none" cap="none" strike="noStrike">
              <a:solidFill>
                <a:srgbClr val="000000"/>
              </a:solidFill>
              <a:latin typeface="Arial"/>
              <a:ea typeface="Arial"/>
              <a:cs typeface="Arial"/>
              <a:sym typeface="Arial"/>
            </a:endParaRPr>
          </a:p>
        </p:txBody>
      </p:sp>
      <p:sp>
        <p:nvSpPr>
          <p:cNvPr id="573" name="Google Shape;573;g3eec741308c_1_0"/>
          <p:cNvSpPr txBox="1"/>
          <p:nvPr/>
        </p:nvSpPr>
        <p:spPr>
          <a:xfrm>
            <a:off x="3447288" y="3593592"/>
            <a:ext cx="1938600" cy="5487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BEEFFF"/>
                </a:solidFill>
                <a:latin typeface="Play"/>
                <a:ea typeface="Play"/>
                <a:cs typeface="Play"/>
                <a:sym typeface="Play"/>
              </a:rPr>
              <a:t>Grow seller</a:t>
            </a:r>
            <a:br>
              <a:rPr b="0" i="0" lang="en-US" sz="1400" u="none" cap="none" strike="noStrike">
                <a:solidFill>
                  <a:srgbClr val="000000"/>
                </a:solidFill>
                <a:latin typeface="Arial"/>
                <a:ea typeface="Arial"/>
                <a:cs typeface="Arial"/>
                <a:sym typeface="Arial"/>
              </a:rPr>
            </a:br>
            <a:r>
              <a:rPr b="1" i="0" lang="en-US" sz="2000" u="none" cap="none" strike="noStrike">
                <a:solidFill>
                  <a:srgbClr val="BEEFFF"/>
                </a:solidFill>
                <a:latin typeface="Play"/>
                <a:ea typeface="Play"/>
                <a:cs typeface="Play"/>
                <a:sym typeface="Play"/>
              </a:rPr>
              <a:t>success</a:t>
            </a:r>
            <a:endParaRPr b="0" i="0" sz="2000" u="none" cap="none" strike="noStrike">
              <a:solidFill>
                <a:srgbClr val="000000"/>
              </a:solidFill>
              <a:latin typeface="Arial"/>
              <a:ea typeface="Arial"/>
              <a:cs typeface="Arial"/>
              <a:sym typeface="Arial"/>
            </a:endParaRPr>
          </a:p>
        </p:txBody>
      </p:sp>
      <p:sp>
        <p:nvSpPr>
          <p:cNvPr id="574" name="Google Shape;574;g3eec741308c_1_0"/>
          <p:cNvSpPr txBox="1"/>
          <p:nvPr/>
        </p:nvSpPr>
        <p:spPr>
          <a:xfrm>
            <a:off x="3447300" y="4325091"/>
            <a:ext cx="1938600" cy="663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Arial"/>
                <a:ea typeface="Arial"/>
                <a:cs typeface="Arial"/>
                <a:sym typeface="Arial"/>
              </a:rPr>
              <a:t>Help sellers convert demand into repeat platform activity.</a:t>
            </a:r>
            <a:endParaRPr b="0" i="0" sz="1300" u="none" cap="none" strike="noStrike">
              <a:solidFill>
                <a:srgbClr val="000000"/>
              </a:solidFill>
              <a:latin typeface="Arial"/>
              <a:ea typeface="Arial"/>
              <a:cs typeface="Arial"/>
              <a:sym typeface="Arial"/>
            </a:endParaRPr>
          </a:p>
        </p:txBody>
      </p:sp>
      <p:sp>
        <p:nvSpPr>
          <p:cNvPr id="575" name="Google Shape;575;g3eec741308c_1_0"/>
          <p:cNvSpPr/>
          <p:nvPr/>
        </p:nvSpPr>
        <p:spPr>
          <a:xfrm>
            <a:off x="5970913" y="3011087"/>
            <a:ext cx="2377500" cy="1997100"/>
          </a:xfrm>
          <a:prstGeom prst="roundRect">
            <a:avLst>
              <a:gd fmla="val 16667" name="adj"/>
            </a:avLst>
          </a:prstGeom>
          <a:solidFill>
            <a:srgbClr val="075B78"/>
          </a:solidFill>
          <a:ln cap="flat" cmpd="sng" w="12700">
            <a:solidFill>
              <a:srgbClr val="FFFFFF"/>
            </a:solidFill>
            <a:prstDash val="solid"/>
            <a:round/>
            <a:headEnd len="sm" w="sm" type="none"/>
            <a:tailEnd len="sm" w="sm" type="none"/>
          </a:ln>
        </p:spPr>
        <p:txBody>
          <a:bodyPr anchorCtr="0" anchor="t" bIns="59425" lIns="91425" spcFirstLastPara="1" rIns="91425" wrap="square" tIns="59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76" name="Google Shape;576;g3eec741308c_1_0"/>
          <p:cNvSpPr txBox="1"/>
          <p:nvPr/>
        </p:nvSpPr>
        <p:spPr>
          <a:xfrm>
            <a:off x="6153787" y="3150189"/>
            <a:ext cx="2048400" cy="201300"/>
          </a:xfrm>
          <a:prstGeom prst="rect">
            <a:avLst/>
          </a:prstGeom>
          <a:noFill/>
          <a:ln>
            <a:noFill/>
          </a:ln>
        </p:spPr>
        <p:txBody>
          <a:bodyPr anchorCtr="0" anchor="t" bIns="0" lIns="0" spcFirstLastPara="1" rIns="0" wrap="square" tIns="0">
            <a:normAutofit lnSpcReduction="20000"/>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9900"/>
                </a:solidFill>
                <a:latin typeface="Play"/>
                <a:ea typeface="Play"/>
                <a:cs typeface="Play"/>
                <a:sym typeface="Play"/>
              </a:rPr>
              <a:t>03</a:t>
            </a:r>
            <a:endParaRPr b="0" i="0" sz="1500" u="none" cap="none" strike="noStrike">
              <a:solidFill>
                <a:srgbClr val="000000"/>
              </a:solidFill>
              <a:latin typeface="Arial"/>
              <a:ea typeface="Arial"/>
              <a:cs typeface="Arial"/>
              <a:sym typeface="Arial"/>
            </a:endParaRPr>
          </a:p>
        </p:txBody>
      </p:sp>
      <p:sp>
        <p:nvSpPr>
          <p:cNvPr id="577" name="Google Shape;577;g3eec741308c_1_0"/>
          <p:cNvSpPr txBox="1"/>
          <p:nvPr/>
        </p:nvSpPr>
        <p:spPr>
          <a:xfrm>
            <a:off x="6190488" y="3593592"/>
            <a:ext cx="1938600" cy="5487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BEEFFF"/>
                </a:solidFill>
                <a:latin typeface="Play"/>
                <a:ea typeface="Play"/>
                <a:cs typeface="Play"/>
                <a:sym typeface="Play"/>
              </a:rPr>
              <a:t>Manage by</a:t>
            </a:r>
            <a:br>
              <a:rPr b="0" i="0" lang="en-US" sz="1400" u="none" cap="none" strike="noStrike">
                <a:solidFill>
                  <a:srgbClr val="000000"/>
                </a:solidFill>
                <a:latin typeface="Arial"/>
                <a:ea typeface="Arial"/>
                <a:cs typeface="Arial"/>
                <a:sym typeface="Arial"/>
              </a:rPr>
            </a:br>
            <a:r>
              <a:rPr b="1" i="0" lang="en-US" sz="2000" u="none" cap="none" strike="noStrike">
                <a:solidFill>
                  <a:srgbClr val="BEEFFF"/>
                </a:solidFill>
                <a:latin typeface="Play"/>
                <a:ea typeface="Play"/>
                <a:cs typeface="Play"/>
                <a:sym typeface="Play"/>
              </a:rPr>
              <a:t>experiment</a:t>
            </a:r>
            <a:endParaRPr b="0" i="0" sz="2000" u="none" cap="none" strike="noStrike">
              <a:solidFill>
                <a:srgbClr val="000000"/>
              </a:solidFill>
              <a:latin typeface="Arial"/>
              <a:ea typeface="Arial"/>
              <a:cs typeface="Arial"/>
              <a:sym typeface="Arial"/>
            </a:endParaRPr>
          </a:p>
        </p:txBody>
      </p:sp>
      <p:sp>
        <p:nvSpPr>
          <p:cNvPr id="578" name="Google Shape;578;g3eec741308c_1_0"/>
          <p:cNvSpPr txBox="1"/>
          <p:nvPr/>
        </p:nvSpPr>
        <p:spPr>
          <a:xfrm>
            <a:off x="6190488" y="4325112"/>
            <a:ext cx="1938600" cy="384000"/>
          </a:xfrm>
          <a:prstGeom prst="rect">
            <a:avLst/>
          </a:prstGeom>
          <a:noFill/>
          <a:ln>
            <a:noFill/>
          </a:ln>
        </p:spPr>
        <p:txBody>
          <a:bodyPr anchorCtr="0" anchor="t" bIns="0" lIns="0" spcFirstLastPara="1" rIns="0" wrap="square" tIns="0">
            <a:normAutofit fontScale="775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US" sz="1300" u="none" cap="none" strike="noStrike">
                <a:solidFill>
                  <a:srgbClr val="FFFFFF"/>
                </a:solidFill>
                <a:latin typeface="Arial"/>
                <a:ea typeface="Arial"/>
                <a:cs typeface="Arial"/>
                <a:sym typeface="Arial"/>
              </a:rPr>
              <a:t>Track active sellers, GMV per seller, delivery, and reviews monthly.</a:t>
            </a:r>
            <a:endParaRPr b="0" i="0" sz="1300" u="none" cap="none" strike="noStrike">
              <a:solidFill>
                <a:srgbClr val="000000"/>
              </a:solidFill>
              <a:latin typeface="Arial"/>
              <a:ea typeface="Arial"/>
              <a:cs typeface="Arial"/>
              <a:sym typeface="Arial"/>
            </a:endParaRPr>
          </a:p>
        </p:txBody>
      </p:sp>
      <p:sp>
        <p:nvSpPr>
          <p:cNvPr id="579" name="Google Shape;579;g3eec741308c_1_0"/>
          <p:cNvSpPr/>
          <p:nvPr/>
        </p:nvSpPr>
        <p:spPr>
          <a:xfrm>
            <a:off x="640075" y="5251926"/>
            <a:ext cx="8064900" cy="1444200"/>
          </a:xfrm>
          <a:prstGeom prst="roundRect">
            <a:avLst>
              <a:gd fmla="val 16667" name="adj"/>
            </a:avLst>
          </a:prstGeom>
          <a:solidFill>
            <a:srgbClr val="087C96"/>
          </a:solidFill>
          <a:ln cap="flat" cmpd="sng" w="12700">
            <a:solidFill>
              <a:srgbClr val="FFFFFF"/>
            </a:solidFill>
            <a:prstDash val="solid"/>
            <a:round/>
            <a:headEnd len="sm" w="sm" type="none"/>
            <a:tailEnd len="sm" w="sm" type="none"/>
          </a:ln>
        </p:spPr>
        <p:txBody>
          <a:bodyPr anchorCtr="0" anchor="t" bIns="47525" lIns="73150" spcFirstLastPara="1" rIns="73150" wrap="square" tIns="475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Play"/>
                <a:ea typeface="Play"/>
                <a:cs typeface="Play"/>
                <a:sym typeface="Play"/>
              </a:rPr>
              <a:t>Final takeaway: use operational data to grow GMV, strengthen seller success, improve repeat demand, and keep the analytics pipeline auditable.</a:t>
            </a:r>
            <a:br>
              <a:rPr b="1" i="0" lang="en-US" sz="1800" u="none" cap="none" strike="noStrike">
                <a:solidFill>
                  <a:srgbClr val="FFFFFF"/>
                </a:solidFill>
                <a:latin typeface="Play"/>
                <a:ea typeface="Play"/>
                <a:cs typeface="Play"/>
                <a:sym typeface="Play"/>
              </a:rPr>
            </a:br>
            <a:r>
              <a:rPr b="1" i="0" lang="en-US" sz="1800" u="none" cap="none" strike="noStrike">
                <a:solidFill>
                  <a:srgbClr val="FFFFFF"/>
                </a:solidFill>
                <a:latin typeface="Play"/>
                <a:ea typeface="Play"/>
                <a:cs typeface="Play"/>
                <a:sym typeface="Play"/>
              </a:rPr>
              <a:t>Source: Local Olist DuckDB warehouse (fact_sales + dimensions).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3eec741308c_1_25"/>
          <p:cNvSpPr txBox="1"/>
          <p:nvPr>
            <p:ph type="title"/>
          </p:nvPr>
        </p:nvSpPr>
        <p:spPr>
          <a:xfrm>
            <a:off x="229129" y="176373"/>
            <a:ext cx="6555000" cy="152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Century Gothic"/>
              <a:buNone/>
            </a:pPr>
            <a:r>
              <a:rPr lang="en-US">
                <a:solidFill>
                  <a:schemeClr val="dk1"/>
                </a:solidFill>
              </a:rPr>
              <a:t>KEY LEARNINGS</a:t>
            </a:r>
            <a:endParaRPr/>
          </a:p>
        </p:txBody>
      </p:sp>
      <p:sp>
        <p:nvSpPr>
          <p:cNvPr id="586" name="Google Shape;586;g3eec741308c_1_25"/>
          <p:cNvSpPr txBox="1"/>
          <p:nvPr>
            <p:ph idx="1" type="body"/>
          </p:nvPr>
        </p:nvSpPr>
        <p:spPr>
          <a:xfrm>
            <a:off x="-5850" y="1636150"/>
            <a:ext cx="9157500" cy="4674600"/>
          </a:xfrm>
          <a:prstGeom prst="rect">
            <a:avLst/>
          </a:prstGeom>
          <a:noFill/>
          <a:ln>
            <a:noFill/>
          </a:ln>
        </p:spPr>
        <p:txBody>
          <a:bodyPr anchorCtr="0" anchor="ctr" bIns="45700" lIns="91425" spcFirstLastPara="1" rIns="91425" wrap="square" tIns="45700">
            <a:normAutofit lnSpcReduction="10000"/>
          </a:bodyPr>
          <a:lstStyle/>
          <a:p>
            <a:pPr indent="-285750" lvl="0" marL="285750" rtl="0" algn="l">
              <a:lnSpc>
                <a:spcPct val="100000"/>
              </a:lnSpc>
              <a:spcBef>
                <a:spcPts val="0"/>
              </a:spcBef>
              <a:spcAft>
                <a:spcPts val="0"/>
              </a:spcAft>
              <a:buSzPts val="1440"/>
              <a:buChar char="▶"/>
            </a:pPr>
            <a:r>
              <a:rPr b="1" lang="en-US" sz="1800">
                <a:solidFill>
                  <a:srgbClr val="000000"/>
                </a:solidFill>
              </a:rPr>
              <a:t>End-to-End Analytics Engineering Mastery</a:t>
            </a:r>
            <a:endParaRPr b="1" sz="1800">
              <a:solidFill>
                <a:srgbClr val="000000"/>
              </a:solidFill>
            </a:endParaRPr>
          </a:p>
          <a:p>
            <a:pPr indent="-285750" lvl="0" marL="285750" rtl="0" algn="l">
              <a:lnSpc>
                <a:spcPct val="100000"/>
              </a:lnSpc>
              <a:spcBef>
                <a:spcPts val="0"/>
              </a:spcBef>
              <a:spcAft>
                <a:spcPts val="0"/>
              </a:spcAft>
              <a:buSzPts val="1440"/>
              <a:buChar char="▶"/>
            </a:pPr>
            <a:r>
              <a:rPr lang="en-US" sz="1800">
                <a:solidFill>
                  <a:schemeClr val="lt1"/>
                </a:solidFill>
              </a:rPr>
              <a:t>Successfully built a complete modern analytics pipeline — from raw CSV files to a clean, documented star schema using DuckDB + dbt. </a:t>
            </a:r>
            <a:br>
              <a:rPr lang="en-US" sz="1800">
                <a:solidFill>
                  <a:schemeClr val="lt1"/>
                </a:solidFill>
              </a:rPr>
            </a:br>
            <a:r>
              <a:rPr lang="en-US" sz="1800">
                <a:solidFill>
                  <a:schemeClr val="lt1"/>
                </a:solidFill>
              </a:rPr>
              <a:t>This demonstrates the ability to productionize data workflows following analytics engineering best practices.</a:t>
            </a:r>
            <a:endParaRPr sz="1800">
              <a:solidFill>
                <a:schemeClr val="lt1"/>
              </a:solidFill>
            </a:endParaRPr>
          </a:p>
          <a:p>
            <a:pPr indent="-285750" lvl="0" marL="285750" rtl="0" algn="l">
              <a:lnSpc>
                <a:spcPct val="100000"/>
              </a:lnSpc>
              <a:spcBef>
                <a:spcPts val="0"/>
              </a:spcBef>
              <a:spcAft>
                <a:spcPts val="0"/>
              </a:spcAft>
              <a:buSzPts val="1440"/>
              <a:buChar char="▶"/>
            </a:pPr>
            <a:br>
              <a:rPr lang="en-US" sz="1800">
                <a:solidFill>
                  <a:schemeClr val="lt1"/>
                </a:solidFill>
              </a:rPr>
            </a:br>
            <a:r>
              <a:rPr b="1" lang="en-US" sz="1800">
                <a:solidFill>
                  <a:srgbClr val="000000"/>
                </a:solidFill>
              </a:rPr>
              <a:t>Data Quality as a Foundation for Trust</a:t>
            </a:r>
            <a:endParaRPr b="1" sz="1800">
              <a:solidFill>
                <a:srgbClr val="000000"/>
              </a:solidFill>
            </a:endParaRPr>
          </a:p>
          <a:p>
            <a:pPr indent="-285750" lvl="0" marL="285750" rtl="0" algn="l">
              <a:lnSpc>
                <a:spcPct val="100000"/>
              </a:lnSpc>
              <a:spcBef>
                <a:spcPts val="0"/>
              </a:spcBef>
              <a:spcAft>
                <a:spcPts val="0"/>
              </a:spcAft>
              <a:buSzPts val="1440"/>
              <a:buChar char="▶"/>
            </a:pPr>
            <a:r>
              <a:rPr lang="en-US" sz="1800">
                <a:solidFill>
                  <a:schemeClr val="lt1"/>
                </a:solidFill>
              </a:rPr>
              <a:t>Implemented a robust two-layer data quality approach (dbt native tests + custom Python business rule checks). </a:t>
            </a:r>
            <a:br>
              <a:rPr lang="en-US" sz="1800">
                <a:solidFill>
                  <a:schemeClr val="lt1"/>
                </a:solidFill>
              </a:rPr>
            </a:br>
            <a:r>
              <a:rPr lang="en-US" sz="1800">
                <a:solidFill>
                  <a:schemeClr val="lt1"/>
                </a:solidFill>
              </a:rPr>
              <a:t>This ensured structural integrity and reliable business metrics, proving that trustworthy insights start with trustworthy data.</a:t>
            </a:r>
            <a:endParaRPr sz="1800">
              <a:solidFill>
                <a:schemeClr val="lt1"/>
              </a:solidFill>
            </a:endParaRPr>
          </a:p>
          <a:p>
            <a:pPr indent="-285750" lvl="0" marL="285750" rtl="0" algn="l">
              <a:lnSpc>
                <a:spcPct val="100000"/>
              </a:lnSpc>
              <a:spcBef>
                <a:spcPts val="0"/>
              </a:spcBef>
              <a:spcAft>
                <a:spcPts val="0"/>
              </a:spcAft>
              <a:buSzPts val="1440"/>
              <a:buChar char="▶"/>
            </a:pPr>
            <a:br>
              <a:rPr lang="en-US" sz="1800">
                <a:solidFill>
                  <a:schemeClr val="lt1"/>
                </a:solidFill>
              </a:rPr>
            </a:br>
            <a:r>
              <a:rPr b="1" lang="en-US" sz="1800">
                <a:solidFill>
                  <a:srgbClr val="000000"/>
                </a:solidFill>
              </a:rPr>
              <a:t>Actionable Business Impact from Data</a:t>
            </a:r>
            <a:endParaRPr b="1" sz="1800">
              <a:solidFill>
                <a:srgbClr val="000000"/>
              </a:solidFill>
            </a:endParaRPr>
          </a:p>
          <a:p>
            <a:pPr indent="-285750" lvl="0" marL="285750" rtl="0" algn="l">
              <a:lnSpc>
                <a:spcPct val="100000"/>
              </a:lnSpc>
              <a:spcBef>
                <a:spcPts val="0"/>
              </a:spcBef>
              <a:spcAft>
                <a:spcPts val="0"/>
              </a:spcAft>
              <a:buSzPts val="1440"/>
              <a:buChar char="▶"/>
            </a:pPr>
            <a:r>
              <a:rPr lang="en-US" sz="1800">
                <a:solidFill>
                  <a:schemeClr val="lt1"/>
                </a:solidFill>
              </a:rPr>
              <a:t>Transformed raw transactional data into clear strategic recommendations — identifying +8.8% MoM GMV growth, high-value product categories, geographic concentration, and the critical opportunity in converting one-time high-value buyers into repeat customers.</a:t>
            </a:r>
            <a:endParaRPr sz="18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lice">
  <a:themeElements>
    <a:clrScheme name="Slice">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jacky</dc:creator>
</cp:coreProperties>
</file>