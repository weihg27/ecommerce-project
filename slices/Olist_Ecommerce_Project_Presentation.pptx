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83" r:id="rId1"/>
  </p:sldMasterIdLst>
  <p:notesMasterIdLst>
    <p:notesMasterId r:id="rId19"/>
  </p:notesMasterIdLst>
  <p:sldIdLst>
    <p:sldId id="256" r:id="rId2"/>
    <p:sldId id="257" r:id="rId3"/>
    <p:sldId id="258" r:id="rId4"/>
    <p:sldId id="265" r:id="rId5"/>
    <p:sldId id="266" r:id="rId6"/>
    <p:sldId id="267" r:id="rId7"/>
    <p:sldId id="268" r:id="rId8"/>
    <p:sldId id="269" r:id="rId9"/>
    <p:sldId id="270" r:id="rId10"/>
    <p:sldId id="271" r:id="rId11"/>
    <p:sldId id="260" r:id="rId12"/>
    <p:sldId id="261" r:id="rId13"/>
    <p:sldId id="262" r:id="rId14"/>
    <p:sldId id="263" r:id="rId15"/>
    <p:sldId id="272" r:id="rId16"/>
    <p:sldId id="273" r:id="rId17"/>
    <p:sldId id="264" r:id="rId1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40DB585-72E7-41C7-B8B4-31166C77D257}" v="6" dt="2026-06-08T08:41:20.233"/>
    <p1510:client id="{A0EE111F-F56D-490A-9982-3577EAE95C08}" v="386" dt="2026-06-08T13:19:51.878"/>
    <p1510:client id="{D8EE50BA-8E0A-40EF-8C58-402B5C6725EB}" v="293" dt="2026-06-09T01:29:14.204"/>
    <p1510:client id="{F492816E-2B29-46D8-B3B8-5ABAF1A79A35}" v="1" dt="2026-06-09T12:02:42.00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81" d="100"/>
          <a:sy n="81" d="100"/>
        </p:scale>
        <p:origin x="1498" y="53"/>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DE1E0FE-415D-4A86-A5CB-56FB2301993F}" type="datetimeFigureOut">
              <a:t>6/10/2026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B5C6805-D20B-405F-86DA-DC495A4FC83C}" type="slidenum">
              <a:t>‹#›</a:t>
            </a:fld>
            <a:endParaRPr lang="en-US"/>
          </a:p>
        </p:txBody>
      </p:sp>
    </p:spTree>
    <p:extLst>
      <p:ext uri="{BB962C8B-B14F-4D97-AF65-F5344CB8AC3E}">
        <p14:creationId xmlns:p14="http://schemas.microsoft.com/office/powerpoint/2010/main" val="32134450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Pilo: Problem Statement &amp; Dataset: </a:t>
            </a:r>
            <a:r>
              <a:rPr lang="en-US" dirty="0" err="1"/>
              <a:t>Olist</a:t>
            </a:r>
            <a:r>
              <a:rPr lang="en-US" dirty="0"/>
              <a:t> is a Brazilian marketplace connecting sellers to customers across multiple channels. 9 source CSV files: orders, customers, products, sellers, order items, payments, reviews, geolocation. Business questions: how is revenue trending, which products perform best, who are the most valuable customers? Our project analyzes the Brazilian E-Commerce Public Dataset by </a:t>
            </a:r>
            <a:r>
              <a:rPr lang="en-US" dirty="0" err="1"/>
              <a:t>Olist</a:t>
            </a:r>
            <a:r>
              <a:rPr lang="en-US" dirty="0"/>
              <a:t>. The goal was to build an end-to-end analytics workflow: load raw data into </a:t>
            </a:r>
            <a:r>
              <a:rPr lang="en-US" dirty="0" err="1"/>
              <a:t>DuckDB</a:t>
            </a:r>
            <a:r>
              <a:rPr lang="en-US" dirty="0"/>
              <a:t>, model it into a star schema using </a:t>
            </a:r>
            <a:r>
              <a:rPr lang="en-US" dirty="0" err="1"/>
              <a:t>dbt</a:t>
            </a:r>
            <a:r>
              <a:rPr lang="en-US" dirty="0"/>
              <a:t>, validate data quality with </a:t>
            </a:r>
            <a:r>
              <a:rPr lang="en-US" dirty="0" err="1"/>
              <a:t>dbt</a:t>
            </a:r>
            <a:r>
              <a:rPr lang="en-US" dirty="0"/>
              <a:t> tests, and then perform business analysis and visualization with Python and Pandas.</a:t>
            </a:r>
            <a:endParaRPr lang="en-US">
              <a:ea typeface="Calibri"/>
              <a:cs typeface="Calibri"/>
            </a:endParaRPr>
          </a:p>
        </p:txBody>
      </p:sp>
      <p:sp>
        <p:nvSpPr>
          <p:cNvPr id="4" name="Slide Number Placeholder 3"/>
          <p:cNvSpPr>
            <a:spLocks noGrp="1"/>
          </p:cNvSpPr>
          <p:nvPr>
            <p:ph type="sldNum" sz="quarter" idx="5"/>
          </p:nvPr>
        </p:nvSpPr>
        <p:spPr/>
        <p:txBody>
          <a:bodyPr/>
          <a:lstStyle/>
          <a:p>
            <a:fld id="{BB5C6805-D20B-405F-86DA-DC495A4FC83C}" type="slidenum">
              <a:rPr lang="en-US"/>
              <a:t>1</a:t>
            </a:fld>
            <a:endParaRPr lang="en-US"/>
          </a:p>
        </p:txBody>
      </p:sp>
    </p:spTree>
    <p:extLst>
      <p:ext uri="{BB962C8B-B14F-4D97-AF65-F5344CB8AC3E}">
        <p14:creationId xmlns:p14="http://schemas.microsoft.com/office/powerpoint/2010/main" val="98930536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Huang Wei: The workflow starts with CSV files from the </a:t>
            </a:r>
            <a:r>
              <a:rPr lang="en-US" dirty="0" err="1"/>
              <a:t>Olist</a:t>
            </a:r>
            <a:r>
              <a:rPr lang="en-US" dirty="0"/>
              <a:t> dataset. We loaded them into </a:t>
            </a:r>
            <a:r>
              <a:rPr lang="en-US" dirty="0" err="1"/>
              <a:t>DuckDB</a:t>
            </a:r>
            <a:r>
              <a:rPr lang="en-US" dirty="0"/>
              <a:t>, then used </a:t>
            </a:r>
            <a:r>
              <a:rPr lang="en-US" dirty="0" err="1"/>
              <a:t>dbt</a:t>
            </a:r>
            <a:r>
              <a:rPr lang="en-US" dirty="0"/>
              <a:t> to create staging models and dimensional warehouse tables. After validating the data with </a:t>
            </a:r>
            <a:r>
              <a:rPr lang="en-US" dirty="0" err="1"/>
              <a:t>dbt</a:t>
            </a:r>
            <a:r>
              <a:rPr lang="en-US" dirty="0"/>
              <a:t> tests, We used Pandas and Matplotlib to generate business insights and charts. We selected </a:t>
            </a:r>
            <a:r>
              <a:rPr lang="en-US" dirty="0" err="1"/>
              <a:t>DuckDB</a:t>
            </a:r>
            <a:r>
              <a:rPr lang="en-US" dirty="0"/>
              <a:t> as our analytical database because it can work directly with CSV files, and it is fully supported by </a:t>
            </a:r>
            <a:r>
              <a:rPr lang="en-US" dirty="0" err="1"/>
              <a:t>dbt</a:t>
            </a:r>
            <a:r>
              <a:rPr lang="en-US" dirty="0"/>
              <a:t>. We chose </a:t>
            </a:r>
            <a:r>
              <a:rPr lang="en-US" dirty="0" err="1"/>
              <a:t>dbt</a:t>
            </a:r>
            <a:r>
              <a:rPr lang="en-US" dirty="0"/>
              <a:t> because it follows analytics engineering best practices. It separates raw data from transformed business-ready models, makes transformations modular and reusable, provides built-in testing, and automatically documents data lineage. In our project, </a:t>
            </a:r>
            <a:r>
              <a:rPr lang="en-US" dirty="0" err="1"/>
              <a:t>dbt</a:t>
            </a:r>
            <a:r>
              <a:rPr lang="en-US" dirty="0"/>
              <a:t> helped us build a maintainable star schema on top of </a:t>
            </a:r>
            <a:r>
              <a:rPr lang="en-US" dirty="0" err="1"/>
              <a:t>DuckDB</a:t>
            </a:r>
            <a:r>
              <a:rPr lang="en-US" dirty="0"/>
              <a:t> while ensuring data quality through automated tests.</a:t>
            </a:r>
          </a:p>
        </p:txBody>
      </p:sp>
      <p:sp>
        <p:nvSpPr>
          <p:cNvPr id="4" name="Slide Number Placeholder 3"/>
          <p:cNvSpPr>
            <a:spLocks noGrp="1"/>
          </p:cNvSpPr>
          <p:nvPr>
            <p:ph type="sldNum" sz="quarter" idx="5"/>
          </p:nvPr>
        </p:nvSpPr>
        <p:spPr/>
        <p:txBody>
          <a:bodyPr/>
          <a:lstStyle/>
          <a:p>
            <a:fld id="{BB5C6805-D20B-405F-86DA-DC495A4FC83C}" type="slidenum">
              <a:t>2</a:t>
            </a:fld>
            <a:endParaRPr lang="en-US"/>
          </a:p>
        </p:txBody>
      </p:sp>
    </p:spTree>
    <p:extLst>
      <p:ext uri="{BB962C8B-B14F-4D97-AF65-F5344CB8AC3E}">
        <p14:creationId xmlns:p14="http://schemas.microsoft.com/office/powerpoint/2010/main" val="92946020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Dick: The warehouse uses a star schema. The central fact table is </a:t>
            </a:r>
            <a:r>
              <a:rPr lang="en-US" dirty="0" err="1"/>
              <a:t>fact_sales</a:t>
            </a:r>
            <a:r>
              <a:rPr lang="en-US" dirty="0"/>
              <a:t>, which contains transaction-level sales data. Around it are three dimensions: </a:t>
            </a:r>
            <a:r>
              <a:rPr lang="en-US" dirty="0" err="1"/>
              <a:t>dim_customer</a:t>
            </a:r>
            <a:r>
              <a:rPr lang="en-US" dirty="0"/>
              <a:t>, </a:t>
            </a:r>
            <a:r>
              <a:rPr lang="en-US" dirty="0" err="1"/>
              <a:t>dim_product</a:t>
            </a:r>
            <a:r>
              <a:rPr lang="en-US" dirty="0"/>
              <a:t>, and </a:t>
            </a:r>
            <a:r>
              <a:rPr lang="en-US" dirty="0" err="1"/>
              <a:t>dim_seller</a:t>
            </a:r>
            <a:r>
              <a:rPr lang="en-US" dirty="0"/>
              <a:t>. This structure simplifies analytical queries and reporting.</a:t>
            </a:r>
          </a:p>
        </p:txBody>
      </p:sp>
      <p:sp>
        <p:nvSpPr>
          <p:cNvPr id="4" name="Slide Number Placeholder 3"/>
          <p:cNvSpPr>
            <a:spLocks noGrp="1"/>
          </p:cNvSpPr>
          <p:nvPr>
            <p:ph type="sldNum" sz="quarter" idx="5"/>
          </p:nvPr>
        </p:nvSpPr>
        <p:spPr/>
        <p:txBody>
          <a:bodyPr/>
          <a:lstStyle/>
          <a:p>
            <a:fld id="{BB5C6805-D20B-405F-86DA-DC495A4FC83C}" type="slidenum">
              <a:rPr lang="en-US"/>
              <a:t>3</a:t>
            </a:fld>
            <a:endParaRPr lang="en-US"/>
          </a:p>
        </p:txBody>
      </p:sp>
    </p:spTree>
    <p:extLst>
      <p:ext uri="{BB962C8B-B14F-4D97-AF65-F5344CB8AC3E}">
        <p14:creationId xmlns:p14="http://schemas.microsoft.com/office/powerpoint/2010/main" val="24668239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i="1" dirty="0" err="1"/>
              <a:t>Jacky</a:t>
            </a:r>
            <a:r>
              <a:rPr lang="en-US" sz="1200" i="1" kern="1200" dirty="0" err="1">
                <a:solidFill>
                  <a:schemeClr val="tx1"/>
                </a:solidFill>
                <a:effectLst/>
                <a:latin typeface="+mn-lt"/>
                <a:ea typeface="+mn-ea"/>
                <a:cs typeface="+mn-cs"/>
              </a:rPr>
              <a:t>“My</a:t>
            </a:r>
            <a:r>
              <a:rPr lang="en-US" sz="1200" i="1" kern="1200" dirty="0">
                <a:solidFill>
                  <a:schemeClr val="tx1"/>
                </a:solidFill>
                <a:effectLst/>
                <a:latin typeface="+mn-lt"/>
                <a:ea typeface="+mn-ea"/>
                <a:cs typeface="+mn-cs"/>
              </a:rPr>
              <a:t> part of the project covers the data quality. The goal was to make sure the data feeding our dashboards and analysis is actually trustworthy — that primary keys are clean, relationships hold, and business rules like valid sales amounts are enforced. We will go through the two-layer approach used and what each layer catches.”</a:t>
            </a:r>
            <a:endParaRPr lang="en-US" sz="120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66187838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Jacky: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203736995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defRPr/>
            </a:pPr>
            <a:r>
              <a:rPr lang="en-US" i="1" dirty="0"/>
              <a:t>Jacky: “</a:t>
            </a:r>
            <a:r>
              <a:rPr lang="en-US" sz="1200" i="1" kern="1200" dirty="0">
                <a:solidFill>
                  <a:schemeClr val="tx1"/>
                </a:solidFill>
                <a:effectLst/>
                <a:latin typeface="+mn-lt"/>
                <a:ea typeface="+mn-ea"/>
                <a:cs typeface="+mn-cs"/>
              </a:rPr>
              <a:t>The first layer uses </a:t>
            </a:r>
            <a:r>
              <a:rPr lang="en-US" sz="1200" i="1" kern="1200" dirty="0" err="1">
                <a:solidFill>
                  <a:schemeClr val="tx1"/>
                </a:solidFill>
                <a:effectLst/>
                <a:latin typeface="+mn-lt"/>
                <a:ea typeface="+mn-ea"/>
                <a:cs typeface="+mn-cs"/>
              </a:rPr>
              <a:t>dbt’s</a:t>
            </a:r>
            <a:r>
              <a:rPr lang="en-US" sz="1200" i="1" kern="1200" dirty="0">
                <a:solidFill>
                  <a:schemeClr val="tx1"/>
                </a:solidFill>
                <a:effectLst/>
                <a:latin typeface="+mn-lt"/>
                <a:ea typeface="+mn-ea"/>
                <a:cs typeface="+mn-cs"/>
              </a:rPr>
              <a:t> built-in test types — unique and </a:t>
            </a:r>
            <a:r>
              <a:rPr lang="en-US" sz="1200" i="1" kern="1200" dirty="0" err="1">
                <a:solidFill>
                  <a:schemeClr val="tx1"/>
                </a:solidFill>
                <a:effectLst/>
                <a:latin typeface="+mn-lt"/>
                <a:ea typeface="+mn-ea"/>
                <a:cs typeface="+mn-cs"/>
              </a:rPr>
              <a:t>not_null</a:t>
            </a:r>
            <a:r>
              <a:rPr lang="en-US" sz="1200" i="1" kern="1200" dirty="0">
                <a:solidFill>
                  <a:schemeClr val="tx1"/>
                </a:solidFill>
                <a:effectLst/>
                <a:latin typeface="+mn-lt"/>
                <a:ea typeface="+mn-ea"/>
                <a:cs typeface="+mn-cs"/>
              </a:rPr>
              <a:t> — applied to the primary keys of all </a:t>
            </a:r>
            <a:r>
              <a:rPr lang="en-US" sz="1200" i="1" kern="1200" dirty="0" err="1">
                <a:solidFill>
                  <a:schemeClr val="tx1"/>
                </a:solidFill>
                <a:effectLst/>
                <a:latin typeface="+mn-lt"/>
                <a:ea typeface="+mn-ea"/>
                <a:cs typeface="+mn-cs"/>
              </a:rPr>
              <a:t>three dimension</a:t>
            </a:r>
            <a:r>
              <a:rPr lang="en-US" sz="1200" i="1" kern="1200" dirty="0">
                <a:solidFill>
                  <a:schemeClr val="tx1"/>
                </a:solidFill>
                <a:effectLst/>
                <a:latin typeface="+mn-lt"/>
                <a:ea typeface="+mn-ea"/>
                <a:cs typeface="+mn-cs"/>
              </a:rPr>
              <a:t> tables and the fact table. In total, 7 tests, and all 7 passed.”</a:t>
            </a:r>
            <a:endParaRPr lang="en-US" sz="120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29332424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defRPr/>
            </a:pPr>
            <a:r>
              <a:rPr lang="en-US" i="1" dirty="0"/>
              <a:t>Jacky: “</a:t>
            </a:r>
            <a:r>
              <a:rPr lang="en-US" sz="1200" i="1" kern="1200" dirty="0">
                <a:solidFill>
                  <a:schemeClr val="tx1"/>
                </a:solidFill>
                <a:effectLst/>
                <a:latin typeface="+mn-lt"/>
                <a:ea typeface="+mn-ea"/>
                <a:cs typeface="+mn-cs"/>
              </a:rPr>
              <a:t>The second layer goes beyond structure.  Here a Python script called data_quality.py runs four additional SQL checks directly against </a:t>
            </a:r>
            <a:r>
              <a:rPr lang="en-US" sz="1200" i="1" kern="1200" dirty="0" err="1">
                <a:solidFill>
                  <a:schemeClr val="tx1"/>
                </a:solidFill>
                <a:effectLst/>
                <a:latin typeface="+mn-lt"/>
                <a:ea typeface="+mn-ea"/>
                <a:cs typeface="+mn-cs"/>
              </a:rPr>
              <a:t>DuckDB</a:t>
            </a:r>
            <a:r>
              <a:rPr lang="en-US" sz="1200" i="1" kern="1200" dirty="0">
                <a:solidFill>
                  <a:schemeClr val="tx1"/>
                </a:solidFill>
                <a:effectLst/>
                <a:latin typeface="+mn-lt"/>
                <a:ea typeface="+mn-ea"/>
                <a:cs typeface="+mn-cs"/>
              </a:rPr>
              <a:t> to catch business rule violations that </a:t>
            </a:r>
            <a:r>
              <a:rPr lang="en-US" sz="1200" i="1" kern="1200" dirty="0" err="1">
                <a:solidFill>
                  <a:schemeClr val="tx1"/>
                </a:solidFill>
                <a:effectLst/>
                <a:latin typeface="+mn-lt"/>
                <a:ea typeface="+mn-ea"/>
                <a:cs typeface="+mn-cs"/>
              </a:rPr>
              <a:t>dbt’s</a:t>
            </a:r>
            <a:r>
              <a:rPr lang="en-US" sz="1200" i="1" kern="1200" dirty="0">
                <a:solidFill>
                  <a:schemeClr val="tx1"/>
                </a:solidFill>
                <a:effectLst/>
                <a:latin typeface="+mn-lt"/>
                <a:ea typeface="+mn-ea"/>
                <a:cs typeface="+mn-cs"/>
              </a:rPr>
              <a:t> built-in tests don’t cover.”</a:t>
            </a:r>
            <a:endParaRPr lang="en-US" sz="120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255782888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defRPr/>
            </a:pPr>
            <a:r>
              <a:rPr lang="en-US" dirty="0"/>
              <a:t>Jacky: The</a:t>
            </a:r>
            <a:r>
              <a:rPr lang="en-US" sz="1200" kern="1200" dirty="0">
                <a:solidFill>
                  <a:schemeClr val="tx1"/>
                </a:solidFill>
                <a:effectLst/>
                <a:latin typeface="+mn-lt"/>
                <a:ea typeface="+mn-ea"/>
                <a:cs typeface="+mn-cs"/>
              </a:rPr>
              <a:t> script stores each check’s name and SQL in a Python dictionary, then loops through them — running each query against </a:t>
            </a:r>
            <a:r>
              <a:rPr lang="en-US" sz="1200" kern="1200" dirty="0" err="1">
                <a:solidFill>
                  <a:schemeClr val="tx1"/>
                </a:solidFill>
                <a:effectLst/>
                <a:latin typeface="+mn-lt"/>
                <a:ea typeface="+mn-ea"/>
                <a:cs typeface="+mn-cs"/>
              </a:rPr>
              <a:t>DuckDB</a:t>
            </a:r>
            <a:r>
              <a:rPr lang="en-US" sz="1200" kern="1200" dirty="0">
                <a:solidFill>
                  <a:schemeClr val="tx1"/>
                </a:solidFill>
                <a:effectLst/>
                <a:latin typeface="+mn-lt"/>
                <a:ea typeface="+mn-ea"/>
                <a:cs typeface="+mn-cs"/>
              </a:rPr>
              <a:t> and printing the row count. A result of 0 means the check passed. Anything above 0 flags the number of affected rows for investigation.</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322191245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defRPr/>
            </a:pPr>
            <a:r>
              <a:rPr lang="en-US" i="1" dirty="0"/>
              <a:t>Jacky: </a:t>
            </a:r>
            <a:r>
              <a:rPr lang="en-US" sz="1200" i="1" kern="1200" dirty="0">
                <a:solidFill>
                  <a:schemeClr val="tx1"/>
                </a:solidFill>
                <a:effectLst/>
                <a:latin typeface="+mn-lt"/>
                <a:ea typeface="+mn-ea"/>
                <a:cs typeface="+mn-cs"/>
              </a:rPr>
              <a:t>“Together, these two layers give us complementary coverage. </a:t>
            </a:r>
            <a:r>
              <a:rPr lang="en-US" sz="1200" i="1" kern="1200" dirty="0" err="1">
                <a:solidFill>
                  <a:schemeClr val="tx1"/>
                </a:solidFill>
                <a:effectLst/>
                <a:latin typeface="+mn-lt"/>
                <a:ea typeface="+mn-ea"/>
                <a:cs typeface="+mn-cs"/>
              </a:rPr>
              <a:t>dbt</a:t>
            </a:r>
            <a:r>
              <a:rPr lang="en-US" sz="1200" i="1" kern="1200" dirty="0">
                <a:solidFill>
                  <a:schemeClr val="tx1"/>
                </a:solidFill>
                <a:effectLst/>
                <a:latin typeface="+mn-lt"/>
                <a:ea typeface="+mn-ea"/>
                <a:cs typeface="+mn-cs"/>
              </a:rPr>
              <a:t> catches structural problems at the schema level — things that would break joins. The Python script catches business rule violations at the row level — things that would silently corrupt analysis.”</a:t>
            </a:r>
            <a:endParaRPr lang="en-US" sz="120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304046417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Jacky: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302091560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Sean: This chart shows monthly revenue over time. Revenue generally increased during 2017 and 2018, indicating significant growth in the platform during the observed period. The trend also shows seasonal fluctuations, which are common in e-commerce businesses.</a:t>
            </a:r>
          </a:p>
        </p:txBody>
      </p:sp>
      <p:sp>
        <p:nvSpPr>
          <p:cNvPr id="4" name="Slide Number Placeholder 3"/>
          <p:cNvSpPr>
            <a:spLocks noGrp="1"/>
          </p:cNvSpPr>
          <p:nvPr>
            <p:ph type="sldNum" sz="quarter" idx="5"/>
          </p:nvPr>
        </p:nvSpPr>
        <p:spPr/>
        <p:txBody>
          <a:bodyPr/>
          <a:lstStyle/>
          <a:p>
            <a:fld id="{BB5C6805-D20B-405F-86DA-DC495A4FC83C}" type="slidenum">
              <a:rPr lang="en-US"/>
              <a:t>11</a:t>
            </a:fld>
            <a:endParaRPr lang="en-US"/>
          </a:p>
        </p:txBody>
      </p:sp>
    </p:spTree>
    <p:extLst>
      <p:ext uri="{BB962C8B-B14F-4D97-AF65-F5344CB8AC3E}">
        <p14:creationId xmlns:p14="http://schemas.microsoft.com/office/powerpoint/2010/main" val="100433325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Sean: The highest-revenue product categories were Beauty &amp; Health, Watches &amp; Gifts, and Bed, Bath &amp; Table. These categories contributed a large share of total revenue and could be prioritized for marketing and inventory planning.</a:t>
            </a:r>
          </a:p>
        </p:txBody>
      </p:sp>
      <p:sp>
        <p:nvSpPr>
          <p:cNvPr id="4" name="Slide Number Placeholder 3"/>
          <p:cNvSpPr>
            <a:spLocks noGrp="1"/>
          </p:cNvSpPr>
          <p:nvPr>
            <p:ph type="sldNum" sz="quarter" idx="5"/>
          </p:nvPr>
        </p:nvSpPr>
        <p:spPr/>
        <p:txBody>
          <a:bodyPr/>
          <a:lstStyle/>
          <a:p>
            <a:fld id="{BB5C6805-D20B-405F-86DA-DC495A4FC83C}" type="slidenum">
              <a:rPr lang="en-US"/>
              <a:t>12</a:t>
            </a:fld>
            <a:endParaRPr lang="en-US"/>
          </a:p>
        </p:txBody>
      </p:sp>
    </p:spTree>
    <p:extLst>
      <p:ext uri="{BB962C8B-B14F-4D97-AF65-F5344CB8AC3E}">
        <p14:creationId xmlns:p14="http://schemas.microsoft.com/office/powerpoint/2010/main" val="264963437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Sean: Revenue was heavily concentrated in São Paulo (SP), followed by Rio de Janeiro and Minas Gerais. This suggests that customer demand is strongest in Brazil’s largest economic regions.</a:t>
            </a:r>
          </a:p>
        </p:txBody>
      </p:sp>
      <p:sp>
        <p:nvSpPr>
          <p:cNvPr id="4" name="Slide Number Placeholder 3"/>
          <p:cNvSpPr>
            <a:spLocks noGrp="1"/>
          </p:cNvSpPr>
          <p:nvPr>
            <p:ph type="sldNum" sz="quarter" idx="5"/>
          </p:nvPr>
        </p:nvSpPr>
        <p:spPr/>
        <p:txBody>
          <a:bodyPr/>
          <a:lstStyle/>
          <a:p>
            <a:fld id="{BB5C6805-D20B-405F-86DA-DC495A4FC83C}" type="slidenum">
              <a:rPr lang="en-US"/>
              <a:t>13</a:t>
            </a:fld>
            <a:endParaRPr lang="en-US"/>
          </a:p>
        </p:txBody>
      </p:sp>
    </p:spTree>
    <p:extLst>
      <p:ext uri="{BB962C8B-B14F-4D97-AF65-F5344CB8AC3E}">
        <p14:creationId xmlns:p14="http://schemas.microsoft.com/office/powerpoint/2010/main" val="57729002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Annie: For</a:t>
            </a:r>
            <a:r>
              <a:rPr lang="en-US" dirty="0"/>
              <a:t> customer analysis, We calculated Recency, Frequency, and Monetary value using the customer’s unique identifier. The results show that some customers placed many repeat orders, indicating a segment of loyal, high-value customers that could be targeted for retention programs.</a:t>
            </a:r>
          </a:p>
        </p:txBody>
      </p:sp>
      <p:sp>
        <p:nvSpPr>
          <p:cNvPr id="4" name="Slide Number Placeholder 3"/>
          <p:cNvSpPr>
            <a:spLocks noGrp="1"/>
          </p:cNvSpPr>
          <p:nvPr>
            <p:ph type="sldNum" sz="quarter" idx="5"/>
          </p:nvPr>
        </p:nvSpPr>
        <p:spPr/>
        <p:txBody>
          <a:bodyPr/>
          <a:lstStyle/>
          <a:p>
            <a:fld id="{BB5C6805-D20B-405F-86DA-DC495A4FC83C}" type="slidenum">
              <a:rPr lang="en-US"/>
              <a:t>14</a:t>
            </a:fld>
            <a:endParaRPr lang="en-US"/>
          </a:p>
        </p:txBody>
      </p:sp>
    </p:spTree>
    <p:extLst>
      <p:ext uri="{BB962C8B-B14F-4D97-AF65-F5344CB8AC3E}">
        <p14:creationId xmlns:p14="http://schemas.microsoft.com/office/powerpoint/2010/main" val="22273439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sz="1200" b="0" i="0" kern="1200" dirty="0">
                <a:effectLst/>
              </a:rPr>
              <a:t>This slide explains why customer retention is the most important customer strategy question in the </a:t>
            </a:r>
            <a:r>
              <a:rPr lang="en-SG" sz="1200" b="0" i="0" kern="1200" dirty="0" err="1">
                <a:effectLst/>
              </a:rPr>
              <a:t>Olist</a:t>
            </a:r>
            <a:r>
              <a:rPr lang="en-SG" sz="1200" b="0" i="0" kern="1200" dirty="0">
                <a:effectLst/>
              </a:rPr>
              <a:t> dataset. The key point is that only 2,913 out of 95,420 customers are repeat buyers, which is just 3.05% of the customer base. Because repeat purchasing is so rare, a standard frequency percentile score would exaggerate small differences between mostly one-time customers.</a:t>
            </a:r>
          </a:p>
          <a:p>
            <a:endParaRPr lang="en-SG" sz="1200" b="0" i="0" kern="1200" dirty="0">
              <a:effectLst/>
            </a:endParaRPr>
          </a:p>
          <a:p>
            <a:r>
              <a:rPr lang="en-SG" sz="1200" b="0" i="0" kern="1200" dirty="0">
                <a:effectLst/>
              </a:rPr>
              <a:t>The RFM scoring therefore uses a more honest frequency method:</a:t>
            </a:r>
          </a:p>
          <a:p>
            <a:endParaRPr lang="en-US" dirty="0"/>
          </a:p>
          <a:p>
            <a:r>
              <a:rPr lang="en-US" dirty="0"/>
              <a:t>1 order = low frequency</a:t>
            </a:r>
          </a:p>
          <a:p>
            <a:r>
              <a:rPr lang="en-US" dirty="0"/>
              <a:t>2 orders = repeat buyer</a:t>
            </a:r>
          </a:p>
          <a:p>
            <a:r>
              <a:rPr lang="en-US" dirty="0"/>
              <a:t>3-5 orders = strong repeat buyer</a:t>
            </a:r>
          </a:p>
          <a:p>
            <a:r>
              <a:rPr lang="en-US" dirty="0"/>
              <a:t>6+ orders = very frequent buyer</a:t>
            </a:r>
          </a:p>
          <a:p>
            <a:endParaRPr lang="en-SG" dirty="0"/>
          </a:p>
          <a:p>
            <a:r>
              <a:rPr lang="en-SG" sz="1200" b="0" i="0" kern="1200" dirty="0">
                <a:effectLst/>
              </a:rPr>
              <a:t>The segment table shows that most customers are either new, mid-value, dormant, or one-time high spenders. The most commercially important insight is that the high-value one-time groups are large and valuable. High-Value New Customers and Big Spenders - One-Time Buyers together represent more than 22,000 customers and more than R$8M in gross item sales.</a:t>
            </a:r>
          </a:p>
          <a:p>
            <a:r>
              <a:rPr lang="en-SG" sz="1200" b="0" i="0" kern="1200" dirty="0">
                <a:effectLst/>
              </a:rPr>
              <a:t>The business takeaway is that </a:t>
            </a:r>
            <a:r>
              <a:rPr lang="en-SG" sz="1200" b="0" i="0" kern="1200" dirty="0" err="1">
                <a:effectLst/>
              </a:rPr>
              <a:t>Olist</a:t>
            </a:r>
            <a:r>
              <a:rPr lang="en-SG" sz="1200" b="0" i="0" kern="1200" dirty="0">
                <a:effectLst/>
              </a:rPr>
              <a:t> should not treat retention as a generic loyalty problem yet. The first priority is to convert valuable one-time buyers into second-time buyers, because that is where the largest customer value opportunity sits.</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sz="1200" b="0" i="0" kern="1200" dirty="0">
                <a:effectLst/>
              </a:rPr>
              <a:t>This slide translates the RFM results into campaign priorities. Since only 3.05% of customers are repeat buyers, broad loyalty campaigns would reach a very small part of the customer base. A staged retention strategy is more practical.</a:t>
            </a:r>
          </a:p>
          <a:p>
            <a:r>
              <a:rPr lang="en-SG" sz="1200" b="0" i="0" kern="1200" dirty="0">
                <a:effectLst/>
              </a:rPr>
              <a:t>The first priority is High-Value New Customers. These customers purchased recently, bought only once, and generated high gross item sales. They are the best audience for second-purchase coupons, category recommendations, or limited-time follow-up offers.</a:t>
            </a:r>
          </a:p>
          <a:p>
            <a:r>
              <a:rPr lang="en-SG" sz="1200" b="0" i="0" kern="1200" dirty="0">
                <a:effectLst/>
              </a:rPr>
              <a:t>The second priority is At-Risk High Spenders. These customers generated meaningful sales but have not purchased recently. They are good candidates for win-back campaigns, especially if offers are personalized around previous product categories.</a:t>
            </a:r>
          </a:p>
          <a:p>
            <a:r>
              <a:rPr lang="en-SG" sz="1200" b="0" i="0" kern="1200" dirty="0">
                <a:effectLst/>
              </a:rPr>
              <a:t>The third priority is Recent Repeat Buyers. This group is much smaller, but they have already shown repeat purchase </a:t>
            </a:r>
            <a:r>
              <a:rPr lang="en-SG" sz="1200" b="0" i="0" kern="1200" dirty="0" err="1">
                <a:effectLst/>
              </a:rPr>
              <a:t>behavior</a:t>
            </a:r>
            <a:r>
              <a:rPr lang="en-SG" sz="1200" b="0" i="0" kern="1200" dirty="0">
                <a:effectLst/>
              </a:rPr>
              <a:t>. They are the right audience for loyalty rewards, early access, or benefits that encourage continued engagement.</a:t>
            </a:r>
          </a:p>
          <a:p>
            <a:r>
              <a:rPr lang="en-SG" sz="1200" b="0" i="0" kern="1200" dirty="0">
                <a:effectLst/>
              </a:rPr>
              <a:t>Champions are the smallest group, but they show the strongest combination of recency, frequency, and monetary value. They should receive VIP treatment, premium offers, or early access campaigns.</a:t>
            </a:r>
          </a:p>
          <a:p>
            <a:r>
              <a:rPr lang="en-SG" sz="1200" b="0" i="0" kern="1200" dirty="0">
                <a:effectLst/>
              </a:rPr>
              <a:t>The main presenter message is:</a:t>
            </a:r>
          </a:p>
          <a:p>
            <a:r>
              <a:rPr lang="en-SG" sz="1200" b="0" i="0" kern="1200" dirty="0">
                <a:effectLst/>
              </a:rPr>
              <a:t>RFM scoring shows </a:t>
            </a:r>
            <a:r>
              <a:rPr lang="en-SG" sz="1200" b="0" i="0" kern="1200" dirty="0" err="1">
                <a:effectLst/>
              </a:rPr>
              <a:t>Olist's</a:t>
            </a:r>
            <a:r>
              <a:rPr lang="en-SG" sz="1200" b="0" i="0" kern="1200">
                <a:effectLst/>
              </a:rPr>
              <a:t> biggest customer opportunity is converting high-value one-time buyers into repeat customers, while using win-back campaigns for older high-spend customers and loyalty offers for the small repeat-buyer base.</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Michelle: In summary, this project demonstrates an end-to-end analytics engineering workflow using </a:t>
            </a:r>
            <a:r>
              <a:rPr lang="en-US" dirty="0" err="1"/>
              <a:t>DuckDB</a:t>
            </a:r>
            <a:r>
              <a:rPr lang="en-US" dirty="0"/>
              <a:t> and </a:t>
            </a:r>
            <a:r>
              <a:rPr lang="en-US" dirty="0" err="1"/>
              <a:t>dbt</a:t>
            </a:r>
            <a:r>
              <a:rPr lang="en-US" dirty="0"/>
              <a:t>. We learned how to design a star schema, implement automated data quality tests, and generate business insights from transactional data. Key findings include strong revenue growth, high-performing product categories, concentration of sales in São Paulo, and evidence of repeat customer behavior. </a:t>
            </a:r>
          </a:p>
        </p:txBody>
      </p:sp>
      <p:sp>
        <p:nvSpPr>
          <p:cNvPr id="4" name="Slide Number Placeholder 3"/>
          <p:cNvSpPr>
            <a:spLocks noGrp="1"/>
          </p:cNvSpPr>
          <p:nvPr>
            <p:ph type="sldNum" sz="quarter" idx="5"/>
          </p:nvPr>
        </p:nvSpPr>
        <p:spPr/>
        <p:txBody>
          <a:bodyPr/>
          <a:lstStyle/>
          <a:p>
            <a:fld id="{BB5C6805-D20B-405F-86DA-DC495A4FC83C}" type="slidenum">
              <a:rPr lang="en-US"/>
              <a:t>17</a:t>
            </a:fld>
            <a:endParaRPr lang="en-US"/>
          </a:p>
        </p:txBody>
      </p:sp>
    </p:spTree>
    <p:extLst>
      <p:ext uri="{BB962C8B-B14F-4D97-AF65-F5344CB8AC3E}">
        <p14:creationId xmlns:p14="http://schemas.microsoft.com/office/powerpoint/2010/main" val="407208015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4334933" y="1169931"/>
            <a:ext cx="4814835" cy="4993802"/>
            <a:chOff x="4334933" y="1169931"/>
            <a:chExt cx="4814835" cy="4993802"/>
          </a:xfrm>
        </p:grpSpPr>
        <p:cxnSp>
          <p:nvCxnSpPr>
            <p:cNvPr id="17" name="Straight Connector 16"/>
            <p:cNvCxnSpPr/>
            <p:nvPr/>
          </p:nvCxnSpPr>
          <p:spPr>
            <a:xfrm flipH="1">
              <a:off x="6009259" y="1169931"/>
              <a:ext cx="3134741" cy="3134741"/>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p:cNvCxnSpPr/>
            <p:nvPr/>
          </p:nvCxnSpPr>
          <p:spPr>
            <a:xfrm flipH="1">
              <a:off x="4334933" y="1348898"/>
              <a:ext cx="4814835" cy="4814835"/>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5225595" y="1469269"/>
              <a:ext cx="3912054" cy="3912054"/>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p:cNvCxnSpPr/>
            <p:nvPr/>
          </p:nvCxnSpPr>
          <p:spPr>
            <a:xfrm flipH="1">
              <a:off x="5304588" y="1307856"/>
              <a:ext cx="3839412" cy="3839412"/>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p:cNvCxnSpPr/>
            <p:nvPr/>
          </p:nvCxnSpPr>
          <p:spPr>
            <a:xfrm flipH="1">
              <a:off x="5707078" y="1770196"/>
              <a:ext cx="3430571" cy="3430570"/>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grpSp>
      <p:sp>
        <p:nvSpPr>
          <p:cNvPr id="2" name="Title 1"/>
          <p:cNvSpPr>
            <a:spLocks noGrp="1"/>
          </p:cNvSpPr>
          <p:nvPr>
            <p:ph type="ctrTitle"/>
          </p:nvPr>
        </p:nvSpPr>
        <p:spPr>
          <a:xfrm>
            <a:off x="533400" y="533400"/>
            <a:ext cx="6154713" cy="3124201"/>
          </a:xfrm>
        </p:spPr>
        <p:txBody>
          <a:bodyPr anchor="b">
            <a:normAutofit/>
          </a:bodyPr>
          <a:lstStyle>
            <a:lvl1pPr algn="l">
              <a:defRPr sz="4400">
                <a:effectLst/>
              </a:defRPr>
            </a:lvl1pPr>
          </a:lstStyle>
          <a:p>
            <a:r>
              <a:rPr lang="en-US" dirty="0"/>
              <a:t>Click to edit Master title style</a:t>
            </a:r>
          </a:p>
        </p:txBody>
      </p:sp>
      <p:sp>
        <p:nvSpPr>
          <p:cNvPr id="3" name="Subtitle 2"/>
          <p:cNvSpPr>
            <a:spLocks noGrp="1"/>
          </p:cNvSpPr>
          <p:nvPr>
            <p:ph type="subTitle" idx="1"/>
          </p:nvPr>
        </p:nvSpPr>
        <p:spPr>
          <a:xfrm>
            <a:off x="533400" y="3843868"/>
            <a:ext cx="4954250" cy="1913466"/>
          </a:xfrm>
        </p:spPr>
        <p:txBody>
          <a:bodyPr anchor="t">
            <a:normAutofit/>
          </a:bodyPr>
          <a:lstStyle>
            <a:lvl1pPr marL="0" indent="0" algn="l">
              <a:buNone/>
              <a:defRPr sz="2000">
                <a:solidFill>
                  <a:schemeClr val="bg2">
                    <a:lumMod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B61BEF0D-F0BB-DE4B-95CE-6DB70DBA9567}" type="datetimeFigureOut">
              <a:rPr lang="en-US" dirty="0"/>
              <a:pPr/>
              <a:t>6/10/2026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28363552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33400" y="4495800"/>
            <a:ext cx="6554867" cy="1524000"/>
          </a:xfrm>
        </p:spPr>
        <p:txBody>
          <a:bodyPr/>
          <a:lstStyle/>
          <a:p>
            <a:r>
              <a:rPr lang="en-US" dirty="0"/>
              <a:t>Click to edit Master title style</a:t>
            </a:r>
          </a:p>
        </p:txBody>
      </p:sp>
      <p:sp>
        <p:nvSpPr>
          <p:cNvPr id="3" name="Content Placeholder 2"/>
          <p:cNvSpPr>
            <a:spLocks noGrp="1"/>
          </p:cNvSpPr>
          <p:nvPr>
            <p:ph idx="1"/>
          </p:nvPr>
        </p:nvSpPr>
        <p:spPr>
          <a:xfrm>
            <a:off x="533400" y="533400"/>
            <a:ext cx="6554867" cy="3767670"/>
          </a:xfrm>
        </p:spPr>
        <p:txBody>
          <a:bodyPr anchor="ct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6/10/2026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2832689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33400" y="1981199"/>
            <a:ext cx="6402468" cy="2319867"/>
          </a:xfrm>
        </p:spPr>
        <p:txBody>
          <a:bodyPr anchor="b">
            <a:normAutofit/>
          </a:bodyPr>
          <a:lstStyle>
            <a:lvl1pPr algn="l">
              <a:defRPr sz="3200" b="0" cap="all"/>
            </a:lvl1pPr>
          </a:lstStyle>
          <a:p>
            <a:r>
              <a:rPr lang="en-US" dirty="0"/>
              <a:t>Click to edit Master title style</a:t>
            </a:r>
          </a:p>
        </p:txBody>
      </p:sp>
      <p:sp>
        <p:nvSpPr>
          <p:cNvPr id="3" name="Text Placeholder 2"/>
          <p:cNvSpPr>
            <a:spLocks noGrp="1"/>
          </p:cNvSpPr>
          <p:nvPr>
            <p:ph type="body" idx="1"/>
          </p:nvPr>
        </p:nvSpPr>
        <p:spPr>
          <a:xfrm>
            <a:off x="533400" y="4487333"/>
            <a:ext cx="6402467" cy="1532467"/>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6/10/2026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9577812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33400" y="4495800"/>
            <a:ext cx="6554867" cy="1524000"/>
          </a:xfrm>
        </p:spPr>
        <p:txBody>
          <a:bodyPr>
            <a:normAutofit/>
          </a:bodyPr>
          <a:lstStyle>
            <a:lvl1pPr>
              <a:defRPr sz="3200"/>
            </a:lvl1pPr>
          </a:lstStyle>
          <a:p>
            <a:r>
              <a:rPr lang="en-US" dirty="0"/>
              <a:t>Click to edit Master title style</a:t>
            </a:r>
          </a:p>
        </p:txBody>
      </p:sp>
      <p:sp>
        <p:nvSpPr>
          <p:cNvPr id="11" name="Content Placeholder 3"/>
          <p:cNvSpPr>
            <a:spLocks noGrp="1"/>
          </p:cNvSpPr>
          <p:nvPr>
            <p:ph sz="half" idx="13"/>
          </p:nvPr>
        </p:nvSpPr>
        <p:spPr>
          <a:xfrm>
            <a:off x="533400" y="533400"/>
            <a:ext cx="3949967" cy="3767667"/>
          </a:xfrm>
        </p:spPr>
        <p:txBody>
          <a:bodyPr anchor="ct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5"/>
          <p:cNvSpPr>
            <a:spLocks noGrp="1"/>
          </p:cNvSpPr>
          <p:nvPr>
            <p:ph sz="quarter" idx="4"/>
          </p:nvPr>
        </p:nvSpPr>
        <p:spPr>
          <a:xfrm>
            <a:off x="4662362" y="533400"/>
            <a:ext cx="3948238" cy="3759200"/>
          </a:xfrm>
        </p:spPr>
        <p:txBody>
          <a:bodyPr anchor="ct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B61BEF0D-F0BB-DE4B-95CE-6DB70DBA9567}" type="datetimeFigureOut">
              <a:rPr lang="en-US" dirty="0"/>
              <a:pPr/>
              <a:t>6/10/2026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7473742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533400" y="4495800"/>
            <a:ext cx="6554867" cy="1524000"/>
          </a:xfrm>
        </p:spPr>
        <p:txBody>
          <a:bodyPr>
            <a:normAutofit/>
          </a:bodyPr>
          <a:lstStyle>
            <a:lvl1pPr>
              <a:defRPr sz="3200"/>
            </a:lvl1pPr>
          </a:lstStyle>
          <a:p>
            <a:r>
              <a:rPr lang="en-US" dirty="0"/>
              <a:t>Click to edit Master title style</a:t>
            </a:r>
          </a:p>
        </p:txBody>
      </p:sp>
      <p:sp>
        <p:nvSpPr>
          <p:cNvPr id="3" name="Text Placeholder 2"/>
          <p:cNvSpPr>
            <a:spLocks noGrp="1"/>
          </p:cNvSpPr>
          <p:nvPr>
            <p:ph type="body" idx="1"/>
          </p:nvPr>
        </p:nvSpPr>
        <p:spPr>
          <a:xfrm>
            <a:off x="762001" y="533400"/>
            <a:ext cx="3716866" cy="609600"/>
          </a:xfrm>
        </p:spPr>
        <p:txBody>
          <a:bodyPr anchor="b">
            <a:noAutofit/>
          </a:bodyPr>
          <a:lstStyle>
            <a:lvl1pPr marL="0" indent="0">
              <a:buNone/>
              <a:defRPr sz="2400" b="0" cap="all">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533399" y="1143000"/>
            <a:ext cx="3945467" cy="3158067"/>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855016" y="566738"/>
            <a:ext cx="3764051" cy="576262"/>
          </a:xfrm>
        </p:spPr>
        <p:txBody>
          <a:bodyPr anchor="b">
            <a:noAutofit/>
          </a:bodyPr>
          <a:lstStyle>
            <a:lvl1pPr marL="0" indent="0">
              <a:buNone/>
              <a:defRPr sz="2400" b="0" cap="all">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4662362" y="1143000"/>
            <a:ext cx="3956705" cy="3149600"/>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B61BEF0D-F0BB-DE4B-95CE-6DB70DBA9567}" type="datetimeFigureOut">
              <a:rPr lang="en-US" dirty="0"/>
              <a:pPr/>
              <a:t>6/10/2026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23012475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33400" y="4495800"/>
            <a:ext cx="6554867" cy="1524000"/>
          </a:xfrm>
        </p:spPr>
        <p:txBody>
          <a:bodyPr>
            <a:normAutofit/>
          </a:bodyPr>
          <a:lstStyle>
            <a:lvl1pPr>
              <a:defRPr sz="3200"/>
            </a:lvl1pPr>
          </a:lstStyle>
          <a:p>
            <a:r>
              <a:rPr lang="en-US" dirty="0"/>
              <a:t>Click to edit Master title style</a:t>
            </a:r>
          </a:p>
        </p:txBody>
      </p:sp>
      <p:sp>
        <p:nvSpPr>
          <p:cNvPr id="3" name="Date Placeholder 2"/>
          <p:cNvSpPr>
            <a:spLocks noGrp="1"/>
          </p:cNvSpPr>
          <p:nvPr>
            <p:ph type="dt" sz="half" idx="10"/>
          </p:nvPr>
        </p:nvSpPr>
        <p:spPr/>
        <p:txBody>
          <a:bodyPr/>
          <a:lstStyle/>
          <a:p>
            <a:fld id="{B61BEF0D-F0BB-DE4B-95CE-6DB70DBA9567}" type="datetimeFigureOut">
              <a:rPr lang="en-US" dirty="0"/>
              <a:pPr/>
              <a:t>6/10/2026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36617209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dirty="0"/>
              <a:pPr/>
              <a:t>6/10/2026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19861176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418667" y="533400"/>
            <a:ext cx="3200400" cy="1524000"/>
          </a:xfrm>
        </p:spPr>
        <p:txBody>
          <a:bodyPr anchor="b">
            <a:normAutofit/>
          </a:bodyPr>
          <a:lstStyle>
            <a:lvl1pPr algn="l">
              <a:defRPr sz="2000" b="0"/>
            </a:lvl1pPr>
          </a:lstStyle>
          <a:p>
            <a:r>
              <a:rPr lang="en-US" dirty="0"/>
              <a:t>Click to edit Master title style</a:t>
            </a:r>
          </a:p>
        </p:txBody>
      </p:sp>
      <p:sp>
        <p:nvSpPr>
          <p:cNvPr id="3" name="Content Placeholder 2"/>
          <p:cNvSpPr>
            <a:spLocks noGrp="1"/>
          </p:cNvSpPr>
          <p:nvPr>
            <p:ph idx="1"/>
          </p:nvPr>
        </p:nvSpPr>
        <p:spPr>
          <a:xfrm>
            <a:off x="533399" y="533400"/>
            <a:ext cx="4438755" cy="5486400"/>
          </a:xfrm>
        </p:spPr>
        <p:txBody>
          <a:bodyPr anchor="ct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5418667" y="2209802"/>
            <a:ext cx="3200400" cy="2091267"/>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6/10/2026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33364008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495800" y="1447800"/>
            <a:ext cx="3563258" cy="1143000"/>
          </a:xfrm>
        </p:spPr>
        <p:txBody>
          <a:bodyPr anchor="b">
            <a:normAutofit/>
          </a:bodyPr>
          <a:lstStyle>
            <a:lvl1pPr algn="l">
              <a:defRPr sz="2400" b="0"/>
            </a:lvl1pPr>
          </a:lstStyle>
          <a:p>
            <a:r>
              <a:rPr lang="en-US" dirty="0"/>
              <a:t>Click to edit Master title style</a:t>
            </a:r>
          </a:p>
        </p:txBody>
      </p:sp>
      <p:sp>
        <p:nvSpPr>
          <p:cNvPr id="17" name="Picture Placeholder 2"/>
          <p:cNvSpPr>
            <a:spLocks noGrp="1" noChangeAspect="1"/>
          </p:cNvSpPr>
          <p:nvPr>
            <p:ph type="pic" idx="13"/>
          </p:nvPr>
        </p:nvSpPr>
        <p:spPr>
          <a:xfrm>
            <a:off x="762000" y="914400"/>
            <a:ext cx="3280974" cy="4800600"/>
          </a:xfrm>
          <a:prstGeom prst="snip2DiagRect">
            <a:avLst>
              <a:gd name="adj1" fmla="val 10815"/>
              <a:gd name="adj2" fmla="val 0"/>
            </a:avLst>
          </a:prstGeom>
          <a:ln w="15875">
            <a:solidFill>
              <a:schemeClr val="tx1">
                <a:alpha val="4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endParaRPr lang="en-US" dirty="0"/>
          </a:p>
        </p:txBody>
      </p:sp>
      <p:sp>
        <p:nvSpPr>
          <p:cNvPr id="4" name="Text Placeholder 3"/>
          <p:cNvSpPr>
            <a:spLocks noGrp="1"/>
          </p:cNvSpPr>
          <p:nvPr>
            <p:ph type="body" sz="half" idx="2"/>
          </p:nvPr>
        </p:nvSpPr>
        <p:spPr>
          <a:xfrm>
            <a:off x="4496027" y="2743200"/>
            <a:ext cx="3564223" cy="2082800"/>
          </a:xfrm>
        </p:spPr>
        <p:txBody>
          <a:bodyPr anchor="t">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6/10/2026</a:t>
            </a:fld>
            <a:endParaRPr lang="en-US" dirty="0"/>
          </a:p>
        </p:txBody>
      </p:sp>
      <p:sp>
        <p:nvSpPr>
          <p:cNvPr id="6" name="Footer Placeholder 5"/>
          <p:cNvSpPr>
            <a:spLocks noGrp="1"/>
          </p:cNvSpPr>
          <p:nvPr>
            <p:ph type="ftr" sz="quarter" idx="11"/>
          </p:nvPr>
        </p:nvSpPr>
        <p:spPr>
          <a:xfrm>
            <a:off x="533400" y="6172200"/>
            <a:ext cx="5811724" cy="365125"/>
          </a:xfrm>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28787922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33400" y="4495800"/>
            <a:ext cx="6554867" cy="1524000"/>
          </a:xfrm>
        </p:spPr>
        <p:txBody>
          <a:bodyPr/>
          <a:lstStyle/>
          <a:p>
            <a:r>
              <a:rPr lang="en-US" dirty="0"/>
              <a:t>Click to edit Master title style</a:t>
            </a:r>
          </a:p>
        </p:txBody>
      </p:sp>
      <p:sp>
        <p:nvSpPr>
          <p:cNvPr id="6" name="Picture Placeholder 2"/>
          <p:cNvSpPr>
            <a:spLocks noGrp="1" noChangeAspect="1"/>
          </p:cNvSpPr>
          <p:nvPr>
            <p:ph type="pic" idx="13"/>
          </p:nvPr>
        </p:nvSpPr>
        <p:spPr>
          <a:xfrm>
            <a:off x="533400" y="533400"/>
            <a:ext cx="8077200" cy="3124200"/>
          </a:xfrm>
          <a:prstGeom prst="snip2DiagRect">
            <a:avLst>
              <a:gd name="adj1" fmla="val 10815"/>
              <a:gd name="adj2" fmla="val 0"/>
            </a:avLst>
          </a:prstGeom>
          <a:ln w="15875">
            <a:solidFill>
              <a:schemeClr val="tx1">
                <a:alpha val="4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endParaRPr lang="en-US" dirty="0"/>
          </a:p>
        </p:txBody>
      </p:sp>
      <p:sp>
        <p:nvSpPr>
          <p:cNvPr id="9" name="Text Placeholder 9"/>
          <p:cNvSpPr>
            <a:spLocks noGrp="1"/>
          </p:cNvSpPr>
          <p:nvPr>
            <p:ph type="body" sz="quarter" idx="14"/>
          </p:nvPr>
        </p:nvSpPr>
        <p:spPr>
          <a:xfrm>
            <a:off x="762002" y="3843867"/>
            <a:ext cx="7281332" cy="457200"/>
          </a:xfrm>
        </p:spPr>
        <p:txBody>
          <a:bodyPr anchor="t">
            <a:normAutofit/>
          </a:bodyPr>
          <a:lstStyle>
            <a:lvl1pPr marL="0" indent="0">
              <a:buFontTx/>
              <a:buNone/>
              <a:defRPr sz="16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Click to edit Master text styles</a:t>
            </a:r>
          </a:p>
        </p:txBody>
      </p:sp>
      <p:sp>
        <p:nvSpPr>
          <p:cNvPr id="3" name="Date Placeholder 2"/>
          <p:cNvSpPr>
            <a:spLocks noGrp="1"/>
          </p:cNvSpPr>
          <p:nvPr>
            <p:ph type="dt" sz="half" idx="10"/>
          </p:nvPr>
        </p:nvSpPr>
        <p:spPr/>
        <p:txBody>
          <a:bodyPr/>
          <a:lstStyle/>
          <a:p>
            <a:fld id="{B61BEF0D-F0BB-DE4B-95CE-6DB70DBA9567}" type="datetimeFigureOut">
              <a:rPr lang="en-US" dirty="0"/>
              <a:pPr/>
              <a:t>6/10/2026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71785542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533400" y="533400"/>
            <a:ext cx="8077200" cy="2895600"/>
          </a:xfrm>
        </p:spPr>
        <p:txBody>
          <a:bodyPr anchor="ctr">
            <a:normAutofit/>
          </a:bodyPr>
          <a:lstStyle>
            <a:lvl1pPr algn="l">
              <a:defRPr sz="2800" b="0" cap="all"/>
            </a:lvl1pPr>
          </a:lstStyle>
          <a:p>
            <a:r>
              <a:rPr lang="en-US" dirty="0"/>
              <a:t>Click to edit Master title style</a:t>
            </a:r>
          </a:p>
        </p:txBody>
      </p:sp>
      <p:sp>
        <p:nvSpPr>
          <p:cNvPr id="3" name="Text Placeholder 2"/>
          <p:cNvSpPr>
            <a:spLocks noGrp="1"/>
          </p:cNvSpPr>
          <p:nvPr>
            <p:ph type="body" idx="1"/>
          </p:nvPr>
        </p:nvSpPr>
        <p:spPr>
          <a:xfrm>
            <a:off x="533400" y="4114800"/>
            <a:ext cx="6383552" cy="1905000"/>
          </a:xfrm>
        </p:spPr>
        <p:txBody>
          <a:bodyPr anchor="ctr">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6/10/2026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162722967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56283" y="533400"/>
            <a:ext cx="6859787" cy="2895600"/>
          </a:xfrm>
        </p:spPr>
        <p:txBody>
          <a:bodyPr anchor="ctr">
            <a:normAutofit/>
          </a:bodyPr>
          <a:lstStyle>
            <a:lvl1pPr algn="l">
              <a:defRPr sz="2800" b="0" cap="all">
                <a:solidFill>
                  <a:schemeClr val="tx1"/>
                </a:solidFill>
              </a:defRPr>
            </a:lvl1pPr>
          </a:lstStyle>
          <a:p>
            <a:r>
              <a:rPr lang="en-US" dirty="0"/>
              <a:t>Click to edit Master title style</a:t>
            </a:r>
          </a:p>
        </p:txBody>
      </p:sp>
      <p:sp>
        <p:nvSpPr>
          <p:cNvPr id="10" name="Text Placeholder 9"/>
          <p:cNvSpPr>
            <a:spLocks noGrp="1"/>
          </p:cNvSpPr>
          <p:nvPr>
            <p:ph type="body" sz="quarter" idx="13"/>
          </p:nvPr>
        </p:nvSpPr>
        <p:spPr>
          <a:xfrm>
            <a:off x="1066800" y="3429000"/>
            <a:ext cx="6402467" cy="482600"/>
          </a:xfrm>
        </p:spPr>
        <p:txBody>
          <a:bodyPr anchor="ctr"/>
          <a:lstStyle>
            <a:lvl1pPr marL="0" indent="0">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Click to edit Master text styles</a:t>
            </a:r>
          </a:p>
        </p:txBody>
      </p:sp>
      <p:sp>
        <p:nvSpPr>
          <p:cNvPr id="3" name="Text Placeholder 2"/>
          <p:cNvSpPr>
            <a:spLocks noGrp="1"/>
          </p:cNvSpPr>
          <p:nvPr>
            <p:ph type="body" idx="1"/>
          </p:nvPr>
        </p:nvSpPr>
        <p:spPr>
          <a:xfrm>
            <a:off x="533400" y="4301070"/>
            <a:ext cx="6382361" cy="1718730"/>
          </a:xfrm>
        </p:spPr>
        <p:txBody>
          <a:bodyPr anchor="ctr">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6/10/2026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
        <p:nvSpPr>
          <p:cNvPr id="14" name="TextBox 13"/>
          <p:cNvSpPr txBox="1"/>
          <p:nvPr/>
        </p:nvSpPr>
        <p:spPr>
          <a:xfrm>
            <a:off x="228600" y="710624"/>
            <a:ext cx="457319"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5" name="TextBox 14"/>
          <p:cNvSpPr txBox="1"/>
          <p:nvPr/>
        </p:nvSpPr>
        <p:spPr>
          <a:xfrm>
            <a:off x="7696200" y="2768601"/>
            <a:ext cx="457319"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spTree>
    <p:extLst>
      <p:ext uri="{BB962C8B-B14F-4D97-AF65-F5344CB8AC3E}">
        <p14:creationId xmlns:p14="http://schemas.microsoft.com/office/powerpoint/2010/main" val="13560285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533400" y="3429000"/>
            <a:ext cx="6382361" cy="1697400"/>
          </a:xfrm>
        </p:spPr>
        <p:txBody>
          <a:bodyPr anchor="b">
            <a:normAutofit/>
          </a:bodyPr>
          <a:lstStyle>
            <a:lvl1pPr algn="l">
              <a:defRPr sz="2800" b="0" cap="all"/>
            </a:lvl1pPr>
          </a:lstStyle>
          <a:p>
            <a:r>
              <a:rPr lang="en-US" dirty="0"/>
              <a:t>Click to edit Master title style</a:t>
            </a:r>
          </a:p>
        </p:txBody>
      </p:sp>
      <p:sp>
        <p:nvSpPr>
          <p:cNvPr id="3" name="Text Placeholder 2"/>
          <p:cNvSpPr>
            <a:spLocks noGrp="1"/>
          </p:cNvSpPr>
          <p:nvPr>
            <p:ph type="body" idx="1"/>
          </p:nvPr>
        </p:nvSpPr>
        <p:spPr>
          <a:xfrm>
            <a:off x="533400" y="5132980"/>
            <a:ext cx="6383552" cy="886819"/>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6/10/2026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283350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856284" y="533400"/>
            <a:ext cx="6859786" cy="2895600"/>
          </a:xfrm>
        </p:spPr>
        <p:txBody>
          <a:bodyPr anchor="ctr">
            <a:normAutofit/>
          </a:bodyPr>
          <a:lstStyle>
            <a:lvl1pPr algn="l">
              <a:defRPr sz="2800" b="0" cap="all">
                <a:solidFill>
                  <a:schemeClr val="tx1"/>
                </a:solidFill>
              </a:defRPr>
            </a:lvl1pPr>
          </a:lstStyle>
          <a:p>
            <a:r>
              <a:rPr lang="en-US" dirty="0"/>
              <a:t>Click to edit Master title style</a:t>
            </a:r>
          </a:p>
        </p:txBody>
      </p:sp>
      <p:sp>
        <p:nvSpPr>
          <p:cNvPr id="10" name="Text Placeholder 9"/>
          <p:cNvSpPr>
            <a:spLocks noGrp="1"/>
          </p:cNvSpPr>
          <p:nvPr>
            <p:ph type="body" sz="quarter" idx="13"/>
          </p:nvPr>
        </p:nvSpPr>
        <p:spPr>
          <a:xfrm>
            <a:off x="533400" y="3886200"/>
            <a:ext cx="6382361" cy="1049866"/>
          </a:xfrm>
        </p:spPr>
        <p:txBody>
          <a:bodyPr vert="horz" lIns="91440" tIns="45720" rIns="91440" bIns="45720" rtlCol="0" anchor="b">
            <a:normAutofit/>
          </a:bodyPr>
          <a:lstStyle>
            <a:lvl1pPr>
              <a:buNone/>
              <a:defRPr lang="en-US" sz="2000" b="0" cap="all" dirty="0">
                <a:ln w="3175" cmpd="sng">
                  <a:noFill/>
                </a:ln>
                <a:solidFill>
                  <a:schemeClr val="tx1"/>
                </a:solidFill>
                <a:effectLst/>
              </a:defRPr>
            </a:lvl1pPr>
          </a:lstStyle>
          <a:p>
            <a:pPr marL="0" lvl="0">
              <a:spcBef>
                <a:spcPct val="0"/>
              </a:spcBef>
              <a:buNone/>
            </a:pPr>
            <a:r>
              <a:rPr lang="en-US" dirty="0"/>
              <a:t>Click to edit Master text styles</a:t>
            </a:r>
          </a:p>
        </p:txBody>
      </p:sp>
      <p:sp>
        <p:nvSpPr>
          <p:cNvPr id="3" name="Text Placeholder 2"/>
          <p:cNvSpPr>
            <a:spLocks noGrp="1"/>
          </p:cNvSpPr>
          <p:nvPr>
            <p:ph type="body" idx="1"/>
          </p:nvPr>
        </p:nvSpPr>
        <p:spPr>
          <a:xfrm>
            <a:off x="533400" y="4953000"/>
            <a:ext cx="6382360" cy="1066800"/>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6/10/2026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
        <p:nvSpPr>
          <p:cNvPr id="14" name="TextBox 13"/>
          <p:cNvSpPr txBox="1"/>
          <p:nvPr/>
        </p:nvSpPr>
        <p:spPr>
          <a:xfrm>
            <a:off x="228600" y="710624"/>
            <a:ext cx="457319"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5" name="TextBox 14"/>
          <p:cNvSpPr txBox="1"/>
          <p:nvPr/>
        </p:nvSpPr>
        <p:spPr>
          <a:xfrm>
            <a:off x="7696200" y="2768601"/>
            <a:ext cx="457319"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spTree>
    <p:extLst>
      <p:ext uri="{BB962C8B-B14F-4D97-AF65-F5344CB8AC3E}">
        <p14:creationId xmlns:p14="http://schemas.microsoft.com/office/powerpoint/2010/main" val="96717726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533400" y="533400"/>
            <a:ext cx="7525658" cy="2895600"/>
          </a:xfrm>
        </p:spPr>
        <p:txBody>
          <a:bodyPr vert="horz" lIns="91440" tIns="45720" rIns="91440" bIns="45720" rtlCol="0" anchor="ctr">
            <a:normAutofit/>
          </a:bodyPr>
          <a:lstStyle>
            <a:lvl1pPr>
              <a:defRPr lang="en-US" sz="2800" b="0" dirty="0"/>
            </a:lvl1pPr>
          </a:lstStyle>
          <a:p>
            <a:pPr marL="0" lvl="0"/>
            <a:r>
              <a:rPr lang="en-US" dirty="0"/>
              <a:t>Click to edit Master title style</a:t>
            </a:r>
          </a:p>
        </p:txBody>
      </p:sp>
      <p:sp>
        <p:nvSpPr>
          <p:cNvPr id="10" name="Text Placeholder 9"/>
          <p:cNvSpPr>
            <a:spLocks noGrp="1"/>
          </p:cNvSpPr>
          <p:nvPr>
            <p:ph type="body" sz="quarter" idx="13"/>
          </p:nvPr>
        </p:nvSpPr>
        <p:spPr>
          <a:xfrm>
            <a:off x="533400" y="3928534"/>
            <a:ext cx="6382361" cy="838200"/>
          </a:xfrm>
        </p:spPr>
        <p:txBody>
          <a:bodyPr vert="horz" lIns="91440" tIns="45720" rIns="91440" bIns="45720" rtlCol="0" anchor="b">
            <a:normAutofit/>
          </a:bodyPr>
          <a:lstStyle>
            <a:lvl1pPr>
              <a:buNone/>
              <a:defRPr lang="en-US" sz="2000" b="0" cap="all" dirty="0">
                <a:ln w="3175" cmpd="sng">
                  <a:noFill/>
                </a:ln>
                <a:solidFill>
                  <a:schemeClr val="tx1"/>
                </a:solidFill>
                <a:effectLst/>
              </a:defRPr>
            </a:lvl1pPr>
          </a:lstStyle>
          <a:p>
            <a:pPr marL="0" lvl="0">
              <a:spcBef>
                <a:spcPct val="0"/>
              </a:spcBef>
              <a:buNone/>
            </a:pPr>
            <a:r>
              <a:rPr lang="en-US" dirty="0"/>
              <a:t>Click to edit Master text styles</a:t>
            </a:r>
          </a:p>
        </p:txBody>
      </p:sp>
      <p:sp>
        <p:nvSpPr>
          <p:cNvPr id="3" name="Text Placeholder 2"/>
          <p:cNvSpPr>
            <a:spLocks noGrp="1"/>
          </p:cNvSpPr>
          <p:nvPr>
            <p:ph type="body" idx="1"/>
          </p:nvPr>
        </p:nvSpPr>
        <p:spPr>
          <a:xfrm>
            <a:off x="533400" y="4766735"/>
            <a:ext cx="6382360" cy="1253065"/>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6/10/2026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8432380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533400" y="4495800"/>
            <a:ext cx="6554867" cy="1524000"/>
          </a:xfrm>
        </p:spPr>
        <p:txBody>
          <a:bodyPr>
            <a:normAutofit/>
          </a:bodyPr>
          <a:lstStyle>
            <a:lvl1pPr algn="l">
              <a:defRPr sz="2800"/>
            </a:lvl1pPr>
          </a:lstStyle>
          <a:p>
            <a:r>
              <a:rPr lang="en-US" dirty="0"/>
              <a:t>Click to edit Master title style</a:t>
            </a:r>
          </a:p>
        </p:txBody>
      </p:sp>
      <p:sp>
        <p:nvSpPr>
          <p:cNvPr id="3" name="Vertical Text Placeholder 2"/>
          <p:cNvSpPr>
            <a:spLocks noGrp="1"/>
          </p:cNvSpPr>
          <p:nvPr>
            <p:ph type="body" orient="vert" idx="1"/>
          </p:nvPr>
        </p:nvSpPr>
        <p:spPr>
          <a:xfrm>
            <a:off x="533400" y="533401"/>
            <a:ext cx="6554867" cy="3767670"/>
          </a:xfrm>
        </p:spPr>
        <p:txBody>
          <a:bodyPr vert="eaVert" ancho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6/10/2026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84663088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66406" y="533400"/>
            <a:ext cx="2044194" cy="4419600"/>
          </a:xfrm>
        </p:spPr>
        <p:txBody>
          <a:bodyPr vert="eaVert">
            <a:normAutofit/>
          </a:bodyPr>
          <a:lstStyle>
            <a:lvl1pPr>
              <a:defRPr sz="2800"/>
            </a:lvl1pPr>
          </a:lstStyle>
          <a:p>
            <a:r>
              <a:rPr lang="en-US" dirty="0"/>
              <a:t>Click to edit Master title style</a:t>
            </a:r>
          </a:p>
        </p:txBody>
      </p:sp>
      <p:sp>
        <p:nvSpPr>
          <p:cNvPr id="3" name="Vertical Text Placeholder 2"/>
          <p:cNvSpPr>
            <a:spLocks noGrp="1"/>
          </p:cNvSpPr>
          <p:nvPr>
            <p:ph type="body" orient="vert" idx="1"/>
          </p:nvPr>
        </p:nvSpPr>
        <p:spPr>
          <a:xfrm>
            <a:off x="533400" y="533400"/>
            <a:ext cx="5850012" cy="5486400"/>
          </a:xfrm>
        </p:spPr>
        <p:txBody>
          <a:bodyPr vert="eaVert" ancho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6/10/2026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6788720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3905123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6011487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2">
        <a:schemeClr val="bg2"/>
      </p:bgRef>
    </p:bg>
    <p:spTree>
      <p:nvGrpSpPr>
        <p:cNvPr id="1" name=""/>
        <p:cNvGrpSpPr/>
        <p:nvPr/>
      </p:nvGrpSpPr>
      <p:grpSpPr>
        <a:xfrm>
          <a:off x="0" y="0"/>
          <a:ext cx="0" cy="0"/>
          <a:chOff x="0" y="0"/>
          <a:chExt cx="0" cy="0"/>
        </a:xfrm>
      </p:grpSpPr>
      <p:grpSp>
        <p:nvGrpSpPr>
          <p:cNvPr id="7" name="Group 6"/>
          <p:cNvGrpSpPr/>
          <p:nvPr/>
        </p:nvGrpSpPr>
        <p:grpSpPr>
          <a:xfrm>
            <a:off x="6670675" y="3894667"/>
            <a:ext cx="2470456" cy="2658533"/>
            <a:chOff x="6687077" y="3259666"/>
            <a:chExt cx="2981857" cy="3208867"/>
          </a:xfrm>
        </p:grpSpPr>
        <p:cxnSp>
          <p:nvCxnSpPr>
            <p:cNvPr id="8" name="Straight Connector 7"/>
            <p:cNvCxnSpPr/>
            <p:nvPr/>
          </p:nvCxnSpPr>
          <p:spPr>
            <a:xfrm flipH="1">
              <a:off x="8756120" y="3259666"/>
              <a:ext cx="912814" cy="912812"/>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Straight Connector 8"/>
            <p:cNvCxnSpPr/>
            <p:nvPr/>
          </p:nvCxnSpPr>
          <p:spPr>
            <a:xfrm flipH="1">
              <a:off x="6687077" y="3486677"/>
              <a:ext cx="2981857" cy="2981856"/>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 name="Straight Connector 9"/>
            <p:cNvCxnSpPr/>
            <p:nvPr/>
          </p:nvCxnSpPr>
          <p:spPr>
            <a:xfrm flipH="1">
              <a:off x="7772400" y="3581400"/>
              <a:ext cx="1896534" cy="1896533"/>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 name="Straight Connector 10"/>
            <p:cNvCxnSpPr/>
            <p:nvPr/>
          </p:nvCxnSpPr>
          <p:spPr>
            <a:xfrm flipH="1">
              <a:off x="7923214" y="3433394"/>
              <a:ext cx="1739738" cy="173974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Straight Connector 11"/>
            <p:cNvCxnSpPr/>
            <p:nvPr/>
          </p:nvCxnSpPr>
          <p:spPr>
            <a:xfrm flipH="1">
              <a:off x="8398935" y="3985317"/>
              <a:ext cx="1264017" cy="1264016"/>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grpSp>
      <p:sp>
        <p:nvSpPr>
          <p:cNvPr id="2" name="Title Placeholder 1"/>
          <p:cNvSpPr>
            <a:spLocks noGrp="1"/>
          </p:cNvSpPr>
          <p:nvPr>
            <p:ph type="title"/>
          </p:nvPr>
        </p:nvSpPr>
        <p:spPr>
          <a:xfrm>
            <a:off x="533400" y="4495800"/>
            <a:ext cx="6554867" cy="1524000"/>
          </a:xfrm>
          <a:prstGeom prst="rect">
            <a:avLst/>
          </a:prstGeom>
          <a:effectLst/>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533400" y="533401"/>
            <a:ext cx="6554867" cy="3767670"/>
          </a:xfrm>
          <a:prstGeom prst="rect">
            <a:avLst/>
          </a:prstGeom>
        </p:spPr>
        <p:txBody>
          <a:bodyPr vert="horz" lIns="91440" tIns="45720" rIns="91440" bIns="45720" rtlCol="0" anchor="ct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7430245" y="6172203"/>
            <a:ext cx="1200463" cy="365125"/>
          </a:xfrm>
          <a:prstGeom prst="rect">
            <a:avLst/>
          </a:prstGeom>
        </p:spPr>
        <p:txBody>
          <a:bodyPr vert="horz" lIns="91440" tIns="45720" rIns="91440" bIns="45720" rtlCol="0" anchor="t"/>
          <a:lstStyle>
            <a:lvl1pPr algn="r">
              <a:defRPr sz="1000" b="0" i="0">
                <a:solidFill>
                  <a:schemeClr val="bg2">
                    <a:lumMod val="50000"/>
                  </a:schemeClr>
                </a:solidFill>
                <a:effectLst/>
                <a:latin typeface="+mn-lt"/>
              </a:defRPr>
            </a:lvl1pPr>
          </a:lstStyle>
          <a:p>
            <a:fld id="{B61BEF0D-F0BB-DE4B-95CE-6DB70DBA9567}" type="datetimeFigureOut">
              <a:rPr lang="en-US" dirty="0"/>
              <a:pPr/>
              <a:t>6/10/2026</a:t>
            </a:fld>
            <a:endParaRPr lang="en-US" dirty="0"/>
          </a:p>
        </p:txBody>
      </p:sp>
      <p:sp>
        <p:nvSpPr>
          <p:cNvPr id="5" name="Footer Placeholder 4"/>
          <p:cNvSpPr>
            <a:spLocks noGrp="1"/>
          </p:cNvSpPr>
          <p:nvPr>
            <p:ph type="ftr" sz="quarter" idx="3"/>
          </p:nvPr>
        </p:nvSpPr>
        <p:spPr>
          <a:xfrm>
            <a:off x="533400" y="6172200"/>
            <a:ext cx="5811724" cy="365125"/>
          </a:xfrm>
          <a:prstGeom prst="rect">
            <a:avLst/>
          </a:prstGeom>
        </p:spPr>
        <p:txBody>
          <a:bodyPr vert="horz" lIns="91440" tIns="45720" rIns="91440" bIns="45720" rtlCol="0" anchor="t"/>
          <a:lstStyle>
            <a:lvl1pPr algn="l">
              <a:defRPr sz="1000" b="0" i="0">
                <a:solidFill>
                  <a:schemeClr val="bg2">
                    <a:lumMod val="50000"/>
                  </a:schemeClr>
                </a:solidFill>
                <a:effectLst/>
                <a:latin typeface="+mn-lt"/>
              </a:defRPr>
            </a:lvl1pPr>
          </a:lstStyle>
          <a:p>
            <a:endParaRPr lang="en-US" dirty="0"/>
          </a:p>
        </p:txBody>
      </p:sp>
      <p:sp>
        <p:nvSpPr>
          <p:cNvPr id="6" name="Slide Number Placeholder 5"/>
          <p:cNvSpPr>
            <a:spLocks noGrp="1"/>
          </p:cNvSpPr>
          <p:nvPr>
            <p:ph type="sldNum" sz="quarter" idx="4"/>
          </p:nvPr>
        </p:nvSpPr>
        <p:spPr>
          <a:xfrm>
            <a:off x="7774426" y="5578478"/>
            <a:ext cx="856907" cy="669925"/>
          </a:xfrm>
          <a:prstGeom prst="rect">
            <a:avLst/>
          </a:prstGeom>
        </p:spPr>
        <p:txBody>
          <a:bodyPr vert="horz" lIns="91440" tIns="45720" rIns="91440" bIns="45720" rtlCol="0" anchor="b"/>
          <a:lstStyle>
            <a:lvl1pPr algn="r">
              <a:defRPr sz="2800" b="0" i="0">
                <a:solidFill>
                  <a:schemeClr val="bg2">
                    <a:lumMod val="50000"/>
                  </a:schemeClr>
                </a:solidFill>
                <a:effectLst/>
                <a:latin typeface="+mn-lt"/>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1226655712"/>
      </p:ext>
    </p:extLst>
  </p:cSld>
  <p:clrMap bg1="dk1" tx1="lt1" bg2="dk2" tx2="lt2" accent1="accent1" accent2="accent2" accent3="accent3" accent4="accent4" accent5="accent5" accent6="accent6" hlink="hlink" folHlink="folHlink"/>
  <p:sldLayoutIdLst>
    <p:sldLayoutId id="2147483784" r:id="rId1"/>
    <p:sldLayoutId id="2147483785" r:id="rId2"/>
    <p:sldLayoutId id="2147483786" r:id="rId3"/>
    <p:sldLayoutId id="2147483787" r:id="rId4"/>
    <p:sldLayoutId id="2147483788" r:id="rId5"/>
    <p:sldLayoutId id="2147483789" r:id="rId6"/>
    <p:sldLayoutId id="2147483790" r:id="rId7"/>
    <p:sldLayoutId id="2147483791" r:id="rId8"/>
    <p:sldLayoutId id="2147483792" r:id="rId9"/>
    <p:sldLayoutId id="2147483793" r:id="rId10"/>
    <p:sldLayoutId id="2147483794" r:id="rId11"/>
    <p:sldLayoutId id="2147483795" r:id="rId12"/>
    <p:sldLayoutId id="2147483796" r:id="rId13"/>
    <p:sldLayoutId id="2147483797" r:id="rId14"/>
    <p:sldLayoutId id="2147483798" r:id="rId15"/>
    <p:sldLayoutId id="2147483799" r:id="rId16"/>
    <p:sldLayoutId id="2147483800" r:id="rId17"/>
    <p:sldLayoutId id="2147483801" r:id="rId18"/>
    <p:sldLayoutId id="2147483802" r:id="rId19"/>
  </p:sldLayoutIdLst>
  <p:txStyles>
    <p:titleStyle>
      <a:lvl1pPr algn="l" defTabSz="457200" rtl="0" eaLnBrk="1" latinLnBrk="0" hangingPunct="1">
        <a:spcBef>
          <a:spcPct val="0"/>
        </a:spcBef>
        <a:buNone/>
        <a:defRPr sz="3200" kern="1200" cap="all">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tx1"/>
        </a:buClr>
        <a:buSzPct val="80000"/>
        <a:buFont typeface="Wingdings 3" panose="05040102010807070707" pitchFamily="18" charset="2"/>
        <a:buChar char=""/>
        <a:defRPr sz="2000" kern="1200" cap="none">
          <a:solidFill>
            <a:schemeClr val="bg2">
              <a:lumMod val="7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tx1"/>
        </a:buClr>
        <a:buSzPct val="80000"/>
        <a:buFont typeface="Wingdings 3" panose="05040102010807070707" pitchFamily="18" charset="2"/>
        <a:buChar char=""/>
        <a:defRPr sz="1800" kern="1200" cap="none">
          <a:solidFill>
            <a:schemeClr val="bg2">
              <a:lumMod val="7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tx1"/>
        </a:buClr>
        <a:buSzPct val="80000"/>
        <a:buFont typeface="Wingdings 3" panose="05040102010807070707" pitchFamily="18" charset="2"/>
        <a:buChar char=""/>
        <a:defRPr sz="1600" kern="1200" cap="none">
          <a:solidFill>
            <a:schemeClr val="bg2">
              <a:lumMod val="7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8.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8.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9.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9.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87569" y="211015"/>
            <a:ext cx="7385636" cy="3006971"/>
          </a:xfrm>
        </p:spPr>
        <p:txBody>
          <a:bodyPr/>
          <a:lstStyle/>
          <a:p>
            <a:r>
              <a:rPr>
                <a:solidFill>
                  <a:schemeClr val="bg1"/>
                </a:solidFill>
              </a:rPr>
              <a:t>Project Overview</a:t>
            </a:r>
          </a:p>
        </p:txBody>
      </p:sp>
      <p:sp>
        <p:nvSpPr>
          <p:cNvPr id="3" name="Subtitle 2"/>
          <p:cNvSpPr>
            <a:spLocks noGrp="1"/>
          </p:cNvSpPr>
          <p:nvPr>
            <p:ph type="subTitle" idx="1"/>
          </p:nvPr>
        </p:nvSpPr>
        <p:spPr>
          <a:xfrm>
            <a:off x="187569" y="3609406"/>
            <a:ext cx="7134741" cy="1913466"/>
          </a:xfrm>
        </p:spPr>
        <p:txBody>
          <a:bodyPr/>
          <a:lstStyle/>
          <a:p>
            <a:r>
              <a:rPr sz="1800" dirty="0">
                <a:solidFill>
                  <a:schemeClr val="tx1"/>
                </a:solidFill>
              </a:rPr>
              <a:t>Brazilian E-Commerce Public Dataset by </a:t>
            </a:r>
            <a:r>
              <a:rPr sz="1800" dirty="0" err="1">
                <a:solidFill>
                  <a:schemeClr val="tx1"/>
                </a:solidFill>
              </a:rPr>
              <a:t>Olist</a:t>
            </a:r>
            <a:endParaRPr lang="en-US" sz="1800">
              <a:solidFill>
                <a:schemeClr val="tx1"/>
              </a:solidFill>
            </a:endParaRPr>
          </a:p>
          <a:p>
            <a:r>
              <a:rPr sz="1800" dirty="0">
                <a:solidFill>
                  <a:schemeClr val="tx1"/>
                </a:solidFill>
              </a:rPr>
              <a:t>Tools: </a:t>
            </a:r>
            <a:r>
              <a:rPr sz="1800" dirty="0" err="1">
                <a:solidFill>
                  <a:schemeClr val="tx1"/>
                </a:solidFill>
              </a:rPr>
              <a:t>DuckDB</a:t>
            </a:r>
            <a:r>
              <a:rPr sz="1800" dirty="0">
                <a:solidFill>
                  <a:schemeClr val="tx1"/>
                </a:solidFill>
              </a:rPr>
              <a:t>, </a:t>
            </a:r>
            <a:r>
              <a:rPr sz="1800" dirty="0" err="1">
                <a:solidFill>
                  <a:schemeClr val="tx1"/>
                </a:solidFill>
              </a:rPr>
              <a:t>dbt</a:t>
            </a:r>
            <a:r>
              <a:rPr sz="1800" dirty="0">
                <a:solidFill>
                  <a:schemeClr val="tx1"/>
                </a:solidFill>
              </a:rPr>
              <a:t>, Python, Pandas, Matplotlib</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9646" y="1905000"/>
            <a:ext cx="6554867" cy="1524000"/>
          </a:xfrm>
        </p:spPr>
        <p:txBody>
          <a:bodyPr/>
          <a:lstStyle/>
          <a:p>
            <a:r>
              <a:rPr>
                <a:solidFill>
                  <a:schemeClr val="bg1"/>
                </a:solidFill>
              </a:rPr>
              <a:t>Architecture</a:t>
            </a:r>
          </a:p>
        </p:txBody>
      </p:sp>
      <p:sp>
        <p:nvSpPr>
          <p:cNvPr id="3" name="Content Placeholder 2"/>
          <p:cNvSpPr>
            <a:spLocks noGrp="1"/>
          </p:cNvSpPr>
          <p:nvPr>
            <p:ph idx="1"/>
          </p:nvPr>
        </p:nvSpPr>
        <p:spPr>
          <a:xfrm>
            <a:off x="2" y="2667000"/>
            <a:ext cx="9151527" cy="2478132"/>
          </a:xfrm>
        </p:spPr>
        <p:txBody>
          <a:bodyPr/>
          <a:lstStyle/>
          <a:p>
            <a:r>
              <a:rPr sz="1800" dirty="0">
                <a:solidFill>
                  <a:schemeClr val="tx1"/>
                </a:solidFill>
              </a:rPr>
              <a:t>CSV Files → </a:t>
            </a:r>
            <a:r>
              <a:rPr sz="1800" dirty="0" err="1">
                <a:solidFill>
                  <a:schemeClr val="tx1"/>
                </a:solidFill>
              </a:rPr>
              <a:t>DuckDB</a:t>
            </a:r>
            <a:r>
              <a:rPr sz="1800" dirty="0">
                <a:solidFill>
                  <a:schemeClr val="tx1"/>
                </a:solidFill>
              </a:rPr>
              <a:t> → </a:t>
            </a:r>
            <a:r>
              <a:rPr sz="1800" dirty="0" err="1">
                <a:solidFill>
                  <a:schemeClr val="tx1"/>
                </a:solidFill>
              </a:rPr>
              <a:t>dbt</a:t>
            </a:r>
            <a:r>
              <a:rPr sz="1800" dirty="0">
                <a:solidFill>
                  <a:schemeClr val="tx1"/>
                </a:solidFill>
              </a:rPr>
              <a:t> Staging → Star Schema → </a:t>
            </a:r>
            <a:r>
              <a:rPr sz="1800" dirty="0" err="1">
                <a:solidFill>
                  <a:schemeClr val="tx1"/>
                </a:solidFill>
              </a:rPr>
              <a:t>dbt</a:t>
            </a:r>
            <a:r>
              <a:rPr sz="1800" dirty="0">
                <a:solidFill>
                  <a:schemeClr val="tx1"/>
                </a:solidFill>
              </a:rPr>
              <a:t> Tests → Analytics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8600" y="1055077"/>
            <a:ext cx="6554867" cy="1096108"/>
          </a:xfrm>
        </p:spPr>
        <p:txBody>
          <a:bodyPr/>
          <a:lstStyle/>
          <a:p>
            <a:r>
              <a:rPr>
                <a:solidFill>
                  <a:schemeClr val="bg1"/>
                </a:solidFill>
              </a:rPr>
              <a:t>Star Schema</a:t>
            </a:r>
          </a:p>
        </p:txBody>
      </p:sp>
      <p:sp>
        <p:nvSpPr>
          <p:cNvPr id="3" name="Content Placeholder 2"/>
          <p:cNvSpPr>
            <a:spLocks noGrp="1"/>
          </p:cNvSpPr>
          <p:nvPr>
            <p:ph idx="1"/>
          </p:nvPr>
        </p:nvSpPr>
        <p:spPr>
          <a:xfrm>
            <a:off x="228600" y="5404339"/>
            <a:ext cx="7914743" cy="1452362"/>
          </a:xfrm>
        </p:spPr>
        <p:txBody>
          <a:bodyPr/>
          <a:lstStyle/>
          <a:p>
            <a:r>
              <a:rPr sz="1800" dirty="0">
                <a:solidFill>
                  <a:schemeClr val="tx1"/>
                </a:solidFill>
              </a:rPr>
              <a:t>Fact: fact_sales</a:t>
            </a:r>
            <a:endParaRPr lang="en-US" sz="1800">
              <a:solidFill>
                <a:schemeClr val="tx1"/>
              </a:solidFill>
            </a:endParaRPr>
          </a:p>
          <a:p>
            <a:r>
              <a:rPr sz="1800" dirty="0">
                <a:solidFill>
                  <a:schemeClr val="tx1"/>
                </a:solidFill>
              </a:rPr>
              <a:t>Dimensions: dim_customer, dim_product, dim_seller</a:t>
            </a:r>
          </a:p>
        </p:txBody>
      </p:sp>
      <p:sp>
        <p:nvSpPr>
          <p:cNvPr id="6" name="TextBox 5">
            <a:extLst>
              <a:ext uri="{FF2B5EF4-FFF2-40B4-BE49-F238E27FC236}">
                <a16:creationId xmlns:a16="http://schemas.microsoft.com/office/drawing/2014/main" id="{04EF12ED-33EF-9957-3B97-7463A89DAB56}"/>
              </a:ext>
            </a:extLst>
          </p:cNvPr>
          <p:cNvSpPr txBox="1"/>
          <p:nvPr/>
        </p:nvSpPr>
        <p:spPr>
          <a:xfrm>
            <a:off x="1635369" y="3587262"/>
            <a:ext cx="1676401" cy="461665"/>
          </a:xfrm>
          <a:prstGeom prst="rect">
            <a:avLst/>
          </a:prstGeom>
          <a:solidFill>
            <a:schemeClr val="tx2"/>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dirty="0">
                <a:solidFill>
                  <a:srgbClr val="262626"/>
                </a:solidFill>
              </a:rPr>
              <a:t>fact_sales</a:t>
            </a:r>
            <a:endParaRPr lang="en-US" dirty="0" err="1"/>
          </a:p>
        </p:txBody>
      </p:sp>
      <p:cxnSp>
        <p:nvCxnSpPr>
          <p:cNvPr id="7" name="Straight Arrow Connector 6">
            <a:extLst>
              <a:ext uri="{FF2B5EF4-FFF2-40B4-BE49-F238E27FC236}">
                <a16:creationId xmlns:a16="http://schemas.microsoft.com/office/drawing/2014/main" id="{AC5512C5-C53E-14C9-4EF9-AA712CFA0101}"/>
              </a:ext>
            </a:extLst>
          </p:cNvPr>
          <p:cNvCxnSpPr/>
          <p:nvPr/>
        </p:nvCxnSpPr>
        <p:spPr>
          <a:xfrm>
            <a:off x="3399691" y="3827584"/>
            <a:ext cx="914400" cy="914400"/>
          </a:xfrm>
          <a:prstGeom prst="straightConnector1">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3323F2A7-D149-A20A-C67B-63EE505FFF10}"/>
              </a:ext>
            </a:extLst>
          </p:cNvPr>
          <p:cNvCxnSpPr/>
          <p:nvPr/>
        </p:nvCxnSpPr>
        <p:spPr>
          <a:xfrm flipH="1">
            <a:off x="3387969" y="2854568"/>
            <a:ext cx="926123" cy="926124"/>
          </a:xfrm>
          <a:prstGeom prst="straightConnector1">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EC5D17D2-6ECC-7755-BD96-903481ED9970}"/>
              </a:ext>
            </a:extLst>
          </p:cNvPr>
          <p:cNvCxnSpPr/>
          <p:nvPr/>
        </p:nvCxnSpPr>
        <p:spPr>
          <a:xfrm flipH="1">
            <a:off x="3382107" y="3792416"/>
            <a:ext cx="1002322" cy="11722"/>
          </a:xfrm>
          <a:prstGeom prst="straightConnector1">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23FF5A8C-374B-8EDF-352F-1397BC3928AC}"/>
              </a:ext>
            </a:extLst>
          </p:cNvPr>
          <p:cNvSpPr txBox="1"/>
          <p:nvPr/>
        </p:nvSpPr>
        <p:spPr>
          <a:xfrm>
            <a:off x="4337537" y="2725616"/>
            <a:ext cx="1875693" cy="381055"/>
          </a:xfrm>
          <a:prstGeom prst="rect">
            <a:avLst/>
          </a:prstGeom>
          <a:solidFill>
            <a:schemeClr val="tx2"/>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a:solidFill>
                  <a:schemeClr val="bg1"/>
                </a:solidFill>
              </a:rPr>
              <a:t>dim_customer</a:t>
            </a:r>
            <a:endParaRPr lang="en-US">
              <a:solidFill>
                <a:schemeClr val="bg1"/>
              </a:solidFill>
            </a:endParaRPr>
          </a:p>
        </p:txBody>
      </p:sp>
      <p:sp>
        <p:nvSpPr>
          <p:cNvPr id="12" name="TextBox 11">
            <a:extLst>
              <a:ext uri="{FF2B5EF4-FFF2-40B4-BE49-F238E27FC236}">
                <a16:creationId xmlns:a16="http://schemas.microsoft.com/office/drawing/2014/main" id="{631376E8-905C-7EA0-3B85-AC1E4178D408}"/>
              </a:ext>
            </a:extLst>
          </p:cNvPr>
          <p:cNvSpPr txBox="1"/>
          <p:nvPr/>
        </p:nvSpPr>
        <p:spPr>
          <a:xfrm>
            <a:off x="4337537" y="3593121"/>
            <a:ext cx="1875691" cy="369332"/>
          </a:xfrm>
          <a:prstGeom prst="rect">
            <a:avLst/>
          </a:prstGeom>
          <a:solidFill>
            <a:schemeClr val="tx2"/>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a:solidFill>
                  <a:schemeClr val="bg1"/>
                </a:solidFill>
              </a:rPr>
              <a:t>dim_product</a:t>
            </a:r>
          </a:p>
        </p:txBody>
      </p:sp>
      <p:sp>
        <p:nvSpPr>
          <p:cNvPr id="13" name="TextBox 12">
            <a:extLst>
              <a:ext uri="{FF2B5EF4-FFF2-40B4-BE49-F238E27FC236}">
                <a16:creationId xmlns:a16="http://schemas.microsoft.com/office/drawing/2014/main" id="{01694F03-80DB-14BD-997A-67B2221B4F0F}"/>
              </a:ext>
            </a:extLst>
          </p:cNvPr>
          <p:cNvSpPr txBox="1"/>
          <p:nvPr/>
        </p:nvSpPr>
        <p:spPr>
          <a:xfrm>
            <a:off x="4337537" y="4577860"/>
            <a:ext cx="1875692" cy="369332"/>
          </a:xfrm>
          <a:prstGeom prst="rect">
            <a:avLst/>
          </a:prstGeom>
          <a:solidFill>
            <a:schemeClr val="tx2"/>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a:solidFill>
                  <a:schemeClr val="bg1"/>
                </a:solidFill>
              </a:rPr>
              <a:t>dim_seller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2665" y="10702"/>
            <a:ext cx="9149326" cy="6836950"/>
          </a:xfrm>
          <a:prstGeom prst="rect">
            <a:avLst/>
          </a:prstGeom>
          <a:solidFill>
            <a:srgbClr val="1A3A5C"/>
          </a:solidFill>
          <a:ln/>
        </p:spPr>
        <p:txBody>
          <a:bodyPr/>
          <a:lstStyle/>
          <a:p>
            <a:endParaRPr lang="en-US"/>
          </a:p>
        </p:txBody>
      </p:sp>
      <p:sp>
        <p:nvSpPr>
          <p:cNvPr id="3" name="Shape 1"/>
          <p:cNvSpPr/>
          <p:nvPr/>
        </p:nvSpPr>
        <p:spPr>
          <a:xfrm>
            <a:off x="1954" y="2354"/>
            <a:ext cx="88769" cy="6438188"/>
          </a:xfrm>
          <a:prstGeom prst="rect">
            <a:avLst/>
          </a:prstGeom>
          <a:solidFill>
            <a:srgbClr val="1A5EA8"/>
          </a:solidFill>
          <a:ln/>
        </p:spPr>
        <p:txBody>
          <a:bodyPr/>
          <a:lstStyle/>
          <a:p>
            <a:endParaRPr lang="en-US"/>
          </a:p>
        </p:txBody>
      </p:sp>
      <p:sp>
        <p:nvSpPr>
          <p:cNvPr id="4" name="Shape 2"/>
          <p:cNvSpPr/>
          <p:nvPr/>
        </p:nvSpPr>
        <p:spPr>
          <a:xfrm>
            <a:off x="-1421" y="6462268"/>
            <a:ext cx="9143467" cy="398211"/>
          </a:xfrm>
          <a:prstGeom prst="rect">
            <a:avLst/>
          </a:prstGeom>
          <a:solidFill>
            <a:srgbClr val="1A5EA8"/>
          </a:solidFill>
          <a:ln/>
        </p:spPr>
        <p:txBody>
          <a:bodyPr/>
          <a:lstStyle/>
          <a:p>
            <a:endParaRPr lang="en-US"/>
          </a:p>
        </p:txBody>
      </p:sp>
      <p:sp>
        <p:nvSpPr>
          <p:cNvPr id="5" name="Text 3"/>
          <p:cNvSpPr/>
          <p:nvPr/>
        </p:nvSpPr>
        <p:spPr>
          <a:xfrm>
            <a:off x="457200" y="1588770"/>
            <a:ext cx="8229600" cy="457200"/>
          </a:xfrm>
          <a:prstGeom prst="rect">
            <a:avLst/>
          </a:prstGeom>
          <a:noFill/>
          <a:ln/>
        </p:spPr>
        <p:txBody>
          <a:bodyPr wrap="square" rtlCol="0" anchor="ctr"/>
          <a:lstStyle/>
          <a:p>
            <a:endParaRPr lang="en-US" sz="1400" dirty="0"/>
          </a:p>
        </p:txBody>
      </p:sp>
      <p:sp>
        <p:nvSpPr>
          <p:cNvPr id="6" name="Text 4"/>
          <p:cNvSpPr/>
          <p:nvPr/>
        </p:nvSpPr>
        <p:spPr>
          <a:xfrm>
            <a:off x="623453" y="2037194"/>
            <a:ext cx="7947893" cy="973514"/>
          </a:xfrm>
          <a:prstGeom prst="rect">
            <a:avLst/>
          </a:prstGeom>
          <a:noFill/>
          <a:ln/>
        </p:spPr>
        <p:txBody>
          <a:bodyPr wrap="square" rtlCol="0" anchor="ctr"/>
          <a:lstStyle/>
          <a:p>
            <a:r>
              <a:rPr lang="en-US" sz="5200" b="1" dirty="0">
                <a:solidFill>
                  <a:srgbClr val="FFFFFF"/>
                </a:solidFill>
              </a:rPr>
              <a:t>Data Quality</a:t>
            </a:r>
            <a:endParaRPr lang="en-US" sz="5200" dirty="0"/>
          </a:p>
        </p:txBody>
      </p:sp>
      <p:sp>
        <p:nvSpPr>
          <p:cNvPr id="7" name="Text 5"/>
          <p:cNvSpPr/>
          <p:nvPr/>
        </p:nvSpPr>
        <p:spPr>
          <a:xfrm>
            <a:off x="669636" y="3014866"/>
            <a:ext cx="7897090" cy="494144"/>
          </a:xfrm>
          <a:prstGeom prst="rect">
            <a:avLst/>
          </a:prstGeom>
          <a:noFill/>
          <a:ln/>
        </p:spPr>
        <p:txBody>
          <a:bodyPr wrap="square" rtlCol="0" anchor="ctr"/>
          <a:lstStyle/>
          <a:p>
            <a:r>
              <a:rPr lang="en-US" sz="2000" dirty="0">
                <a:solidFill>
                  <a:srgbClr val="A0C4F0"/>
                </a:solidFill>
              </a:rPr>
              <a:t>Olist Brazilian E-Commerce Project</a:t>
            </a:r>
            <a:endParaRPr lang="en-US" sz="2000" dirty="0"/>
          </a:p>
        </p:txBody>
      </p:sp>
      <p:sp>
        <p:nvSpPr>
          <p:cNvPr id="8" name="Shape 6"/>
          <p:cNvSpPr/>
          <p:nvPr/>
        </p:nvSpPr>
        <p:spPr>
          <a:xfrm>
            <a:off x="771236" y="3783330"/>
            <a:ext cx="2377440" cy="384048"/>
          </a:xfrm>
          <a:prstGeom prst="rect">
            <a:avLst/>
          </a:prstGeom>
          <a:solidFill>
            <a:srgbClr val="1A5EA8"/>
          </a:solidFill>
          <a:ln/>
        </p:spPr>
        <p:txBody>
          <a:bodyPr/>
          <a:lstStyle/>
          <a:p>
            <a:endParaRPr lang="en-US"/>
          </a:p>
        </p:txBody>
      </p:sp>
      <p:sp>
        <p:nvSpPr>
          <p:cNvPr id="9" name="Text 7"/>
          <p:cNvSpPr/>
          <p:nvPr/>
        </p:nvSpPr>
        <p:spPr>
          <a:xfrm>
            <a:off x="595745" y="3783330"/>
            <a:ext cx="2377440" cy="384048"/>
          </a:xfrm>
          <a:prstGeom prst="rect">
            <a:avLst/>
          </a:prstGeom>
          <a:noFill/>
          <a:ln/>
        </p:spPr>
        <p:txBody>
          <a:bodyPr wrap="square" lIns="0" tIns="0" rIns="0" bIns="0" rtlCol="0" anchor="ctr"/>
          <a:lstStyle/>
          <a:p>
            <a:pPr algn="ctr"/>
            <a:r>
              <a:rPr lang="en-US" sz="1300" b="1" dirty="0">
                <a:solidFill>
                  <a:srgbClr val="FFFFFF"/>
                </a:solidFill>
              </a:rPr>
              <a:t>dbt Native Tests</a:t>
            </a:r>
            <a:endParaRPr lang="en-US" sz="1300" dirty="0"/>
          </a:p>
        </p:txBody>
      </p:sp>
      <p:sp>
        <p:nvSpPr>
          <p:cNvPr id="10" name="Shape 8"/>
          <p:cNvSpPr/>
          <p:nvPr/>
        </p:nvSpPr>
        <p:spPr>
          <a:xfrm>
            <a:off x="3376814" y="3783330"/>
            <a:ext cx="2377440" cy="384048"/>
          </a:xfrm>
          <a:prstGeom prst="rect">
            <a:avLst/>
          </a:prstGeom>
          <a:solidFill>
            <a:srgbClr val="1A5EA8"/>
          </a:solidFill>
          <a:ln/>
        </p:spPr>
        <p:txBody>
          <a:bodyPr/>
          <a:lstStyle/>
          <a:p>
            <a:endParaRPr lang="en-US"/>
          </a:p>
        </p:txBody>
      </p:sp>
      <p:sp>
        <p:nvSpPr>
          <p:cNvPr id="11" name="Text 9"/>
          <p:cNvSpPr/>
          <p:nvPr/>
        </p:nvSpPr>
        <p:spPr>
          <a:xfrm>
            <a:off x="3376814" y="3783330"/>
            <a:ext cx="2377440" cy="384048"/>
          </a:xfrm>
          <a:prstGeom prst="rect">
            <a:avLst/>
          </a:prstGeom>
          <a:noFill/>
          <a:ln/>
        </p:spPr>
        <p:txBody>
          <a:bodyPr wrap="square" lIns="0" tIns="0" rIns="0" bIns="0" rtlCol="0" anchor="ctr"/>
          <a:lstStyle/>
          <a:p>
            <a:pPr algn="ctr"/>
            <a:r>
              <a:rPr lang="en-US" sz="1300" b="1" dirty="0">
                <a:solidFill>
                  <a:srgbClr val="FFFFFF"/>
                </a:solidFill>
              </a:rPr>
              <a:t>data_quality.py</a:t>
            </a:r>
            <a:endParaRPr lang="en-US" sz="1300" dirty="0"/>
          </a:p>
        </p:txBody>
      </p:sp>
      <p:sp>
        <p:nvSpPr>
          <p:cNvPr id="12" name="Shape 10"/>
          <p:cNvSpPr/>
          <p:nvPr/>
        </p:nvSpPr>
        <p:spPr>
          <a:xfrm>
            <a:off x="5982393" y="3783330"/>
            <a:ext cx="2377440" cy="384048"/>
          </a:xfrm>
          <a:prstGeom prst="rect">
            <a:avLst/>
          </a:prstGeom>
          <a:solidFill>
            <a:srgbClr val="1A5EA8"/>
          </a:solidFill>
          <a:ln/>
        </p:spPr>
        <p:txBody>
          <a:bodyPr/>
          <a:lstStyle/>
          <a:p>
            <a:endParaRPr lang="en-US"/>
          </a:p>
        </p:txBody>
      </p:sp>
      <p:sp>
        <p:nvSpPr>
          <p:cNvPr id="13" name="Text 11"/>
          <p:cNvSpPr/>
          <p:nvPr/>
        </p:nvSpPr>
        <p:spPr>
          <a:xfrm>
            <a:off x="5982393" y="3783330"/>
            <a:ext cx="2377440" cy="384048"/>
          </a:xfrm>
          <a:prstGeom prst="rect">
            <a:avLst/>
          </a:prstGeom>
          <a:noFill/>
          <a:ln/>
        </p:spPr>
        <p:txBody>
          <a:bodyPr wrap="square" lIns="0" tIns="0" rIns="0" bIns="0" rtlCol="0" anchor="ctr"/>
          <a:lstStyle/>
          <a:p>
            <a:pPr algn="ctr"/>
            <a:r>
              <a:rPr lang="en-US" sz="1300" b="1" dirty="0">
                <a:solidFill>
                  <a:srgbClr val="FFFFFF"/>
                </a:solidFill>
              </a:rPr>
              <a:t>Two-Layer Approach</a:t>
            </a:r>
            <a:endParaRPr lang="en-US" sz="1300" dirty="0"/>
          </a:p>
        </p:txBody>
      </p:sp>
      <p:sp>
        <p:nvSpPr>
          <p:cNvPr id="14" name="Text 12"/>
          <p:cNvSpPr/>
          <p:nvPr/>
        </p:nvSpPr>
        <p:spPr>
          <a:xfrm>
            <a:off x="8046720" y="5630418"/>
            <a:ext cx="914400" cy="274320"/>
          </a:xfrm>
          <a:prstGeom prst="rect">
            <a:avLst/>
          </a:prstGeom>
          <a:noFill/>
          <a:ln/>
        </p:spPr>
        <p:txBody>
          <a:bodyPr wrap="square" rtlCol="0" anchor="ctr"/>
          <a:lstStyle/>
          <a:p>
            <a:pPr algn="r"/>
            <a:endParaRPr lang="en-US" sz="1000" dirty="0"/>
          </a:p>
        </p:txBody>
      </p:sp>
    </p:spTree>
    <p:extLst>
      <p:ext uri="{BB962C8B-B14F-4D97-AF65-F5344CB8AC3E}">
        <p14:creationId xmlns:p14="http://schemas.microsoft.com/office/powerpoint/2010/main" val="17789453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5630" y="223"/>
            <a:ext cx="9181122" cy="6862528"/>
          </a:xfrm>
          <a:prstGeom prst="rect">
            <a:avLst/>
          </a:prstGeom>
          <a:solidFill>
            <a:srgbClr val="F5F8FC"/>
          </a:solidFill>
          <a:ln/>
        </p:spPr>
        <p:txBody>
          <a:bodyPr/>
          <a:lstStyle/>
          <a:p>
            <a:endParaRPr lang="en-US"/>
          </a:p>
        </p:txBody>
      </p:sp>
      <p:sp>
        <p:nvSpPr>
          <p:cNvPr id="3" name="Shape 1"/>
          <p:cNvSpPr/>
          <p:nvPr/>
        </p:nvSpPr>
        <p:spPr>
          <a:xfrm>
            <a:off x="401781" y="5625984"/>
            <a:ext cx="8340438" cy="374766"/>
          </a:xfrm>
          <a:prstGeom prst="rect">
            <a:avLst/>
          </a:prstGeom>
          <a:solidFill>
            <a:srgbClr val="1A5EA8"/>
          </a:solidFill>
          <a:ln/>
        </p:spPr>
        <p:txBody>
          <a:bodyPr/>
          <a:lstStyle/>
          <a:p>
            <a:endParaRPr lang="en-US"/>
          </a:p>
        </p:txBody>
      </p:sp>
      <p:sp>
        <p:nvSpPr>
          <p:cNvPr id="4" name="Shape 2"/>
          <p:cNvSpPr/>
          <p:nvPr/>
        </p:nvSpPr>
        <p:spPr>
          <a:xfrm>
            <a:off x="411480" y="1113282"/>
            <a:ext cx="2194560" cy="292608"/>
          </a:xfrm>
          <a:prstGeom prst="rect">
            <a:avLst/>
          </a:prstGeom>
          <a:solidFill>
            <a:srgbClr val="1A5EA8"/>
          </a:solidFill>
          <a:ln/>
        </p:spPr>
        <p:txBody>
          <a:bodyPr/>
          <a:lstStyle/>
          <a:p>
            <a:endParaRPr lang="en-US"/>
          </a:p>
        </p:txBody>
      </p:sp>
      <p:sp>
        <p:nvSpPr>
          <p:cNvPr id="5" name="Text 3"/>
          <p:cNvSpPr/>
          <p:nvPr/>
        </p:nvSpPr>
        <p:spPr>
          <a:xfrm>
            <a:off x="411480" y="1113282"/>
            <a:ext cx="2194560" cy="292608"/>
          </a:xfrm>
          <a:prstGeom prst="rect">
            <a:avLst/>
          </a:prstGeom>
          <a:noFill/>
          <a:ln/>
        </p:spPr>
        <p:txBody>
          <a:bodyPr wrap="square" lIns="0" tIns="0" rIns="0" bIns="0" rtlCol="0" anchor="ctr"/>
          <a:lstStyle/>
          <a:p>
            <a:pPr algn="ctr"/>
            <a:r>
              <a:rPr lang="en-US" sz="1000" b="1" dirty="0">
                <a:solidFill>
                  <a:srgbClr val="FFFFFF"/>
                </a:solidFill>
              </a:rPr>
              <a:t>Overview</a:t>
            </a:r>
            <a:endParaRPr lang="en-US" sz="1000" dirty="0"/>
          </a:p>
        </p:txBody>
      </p:sp>
      <p:sp>
        <p:nvSpPr>
          <p:cNvPr id="6" name="Text 4"/>
          <p:cNvSpPr/>
          <p:nvPr/>
        </p:nvSpPr>
        <p:spPr>
          <a:xfrm>
            <a:off x="411480" y="1497330"/>
            <a:ext cx="8321040" cy="502920"/>
          </a:xfrm>
          <a:prstGeom prst="rect">
            <a:avLst/>
          </a:prstGeom>
          <a:noFill/>
          <a:ln/>
        </p:spPr>
        <p:txBody>
          <a:bodyPr wrap="square" rtlCol="0" anchor="ctr"/>
          <a:lstStyle/>
          <a:p>
            <a:r>
              <a:rPr lang="en-US" sz="2800" b="1" dirty="0">
                <a:solidFill>
                  <a:srgbClr val="1A3A5C"/>
                </a:solidFill>
              </a:rPr>
              <a:t>A Two-Layer Quality Approach</a:t>
            </a:r>
            <a:endParaRPr lang="en-US" sz="2800" dirty="0"/>
          </a:p>
        </p:txBody>
      </p:sp>
      <p:sp>
        <p:nvSpPr>
          <p:cNvPr id="7" name="Shape 5"/>
          <p:cNvSpPr/>
          <p:nvPr/>
        </p:nvSpPr>
        <p:spPr>
          <a:xfrm>
            <a:off x="411480" y="2064258"/>
            <a:ext cx="8321040" cy="0"/>
          </a:xfrm>
          <a:prstGeom prst="line">
            <a:avLst/>
          </a:prstGeom>
          <a:noFill/>
          <a:ln w="19050">
            <a:solidFill>
              <a:srgbClr val="1A5EA8"/>
            </a:solidFill>
            <a:prstDash val="solid"/>
          </a:ln>
        </p:spPr>
        <p:txBody>
          <a:bodyPr/>
          <a:lstStyle/>
          <a:p>
            <a:endParaRPr lang="en-US"/>
          </a:p>
        </p:txBody>
      </p:sp>
      <p:sp>
        <p:nvSpPr>
          <p:cNvPr id="8" name="Shape 6"/>
          <p:cNvSpPr/>
          <p:nvPr/>
        </p:nvSpPr>
        <p:spPr>
          <a:xfrm>
            <a:off x="411480" y="2228850"/>
            <a:ext cx="3931920" cy="3017520"/>
          </a:xfrm>
          <a:prstGeom prst="rect">
            <a:avLst/>
          </a:prstGeom>
          <a:solidFill>
            <a:srgbClr val="EAF3DE"/>
          </a:solidFill>
          <a:ln w="12700">
            <a:solidFill>
              <a:srgbClr val="B8D9A0"/>
            </a:solidFill>
            <a:prstDash val="solid"/>
          </a:ln>
        </p:spPr>
        <p:txBody>
          <a:bodyPr/>
          <a:lstStyle/>
          <a:p>
            <a:endParaRPr lang="en-US"/>
          </a:p>
        </p:txBody>
      </p:sp>
      <p:sp>
        <p:nvSpPr>
          <p:cNvPr id="9" name="Shape 7"/>
          <p:cNvSpPr/>
          <p:nvPr/>
        </p:nvSpPr>
        <p:spPr>
          <a:xfrm>
            <a:off x="411480" y="2228850"/>
            <a:ext cx="3931920" cy="475488"/>
          </a:xfrm>
          <a:prstGeom prst="rect">
            <a:avLst/>
          </a:prstGeom>
          <a:solidFill>
            <a:srgbClr val="3B6D11"/>
          </a:solidFill>
          <a:ln/>
        </p:spPr>
        <p:txBody>
          <a:bodyPr/>
          <a:lstStyle/>
          <a:p>
            <a:endParaRPr lang="en-US"/>
          </a:p>
        </p:txBody>
      </p:sp>
      <p:sp>
        <p:nvSpPr>
          <p:cNvPr id="10" name="Text 8"/>
          <p:cNvSpPr/>
          <p:nvPr/>
        </p:nvSpPr>
        <p:spPr>
          <a:xfrm>
            <a:off x="411480" y="2228850"/>
            <a:ext cx="3931920" cy="475488"/>
          </a:xfrm>
          <a:prstGeom prst="rect">
            <a:avLst/>
          </a:prstGeom>
          <a:noFill/>
          <a:ln/>
        </p:spPr>
        <p:txBody>
          <a:bodyPr wrap="square" lIns="0" tIns="0" rIns="0" bIns="0" rtlCol="0" anchor="ctr"/>
          <a:lstStyle/>
          <a:p>
            <a:pPr algn="ctr"/>
            <a:r>
              <a:rPr lang="en-US" sz="1500" b="1" dirty="0">
                <a:solidFill>
                  <a:srgbClr val="FFFFFF"/>
                </a:solidFill>
              </a:rPr>
              <a:t>Layer 1 — dbt</a:t>
            </a:r>
            <a:endParaRPr lang="en-US" sz="1500" dirty="0"/>
          </a:p>
        </p:txBody>
      </p:sp>
      <p:sp>
        <p:nvSpPr>
          <p:cNvPr id="11" name="Text 9"/>
          <p:cNvSpPr/>
          <p:nvPr/>
        </p:nvSpPr>
        <p:spPr>
          <a:xfrm>
            <a:off x="594360" y="2823210"/>
            <a:ext cx="3566160" cy="2194560"/>
          </a:xfrm>
          <a:prstGeom prst="rect">
            <a:avLst/>
          </a:prstGeom>
          <a:noFill/>
          <a:ln/>
        </p:spPr>
        <p:txBody>
          <a:bodyPr wrap="square" rtlCol="0" anchor="t"/>
          <a:lstStyle/>
          <a:p>
            <a:pPr>
              <a:lnSpc>
                <a:spcPct val="140000"/>
              </a:lnSpc>
            </a:pPr>
            <a:r>
              <a:rPr lang="en-US" sz="1400" dirty="0">
                <a:solidFill>
                  <a:srgbClr val="1A3A5C"/>
                </a:solidFill>
              </a:rPr>
              <a:t>Structural integrity
</a:t>
            </a:r>
            <a:endParaRPr lang="en-US" sz="1400" dirty="0"/>
          </a:p>
          <a:p>
            <a:pPr>
              <a:lnSpc>
                <a:spcPct val="140000"/>
              </a:lnSpc>
            </a:pPr>
            <a:r>
              <a:rPr lang="en-US" sz="1400" dirty="0">
                <a:solidFill>
                  <a:srgbClr val="1A3A5C"/>
                </a:solidFill>
              </a:rPr>
              <a:t>unique + not_null tests
</a:t>
            </a:r>
            <a:endParaRPr lang="en-US" sz="1400" dirty="0"/>
          </a:p>
          <a:p>
            <a:pPr>
              <a:lnSpc>
                <a:spcPct val="140000"/>
              </a:lnSpc>
            </a:pPr>
            <a:r>
              <a:rPr lang="en-US" sz="1400" dirty="0">
                <a:solidFill>
                  <a:srgbClr val="1A3A5C"/>
                </a:solidFill>
              </a:rPr>
              <a:t>Runs on every model refresh
</a:t>
            </a:r>
            <a:endParaRPr lang="en-US" sz="1400" dirty="0"/>
          </a:p>
          <a:p>
            <a:pPr>
              <a:lnSpc>
                <a:spcPct val="140000"/>
              </a:lnSpc>
            </a:pPr>
            <a:r>
              <a:rPr lang="en-US" sz="1400" dirty="0">
                <a:solidFill>
                  <a:srgbClr val="1A3A5C"/>
                </a:solidFill>
              </a:rPr>
              <a:t>7 tests — all passed</a:t>
            </a:r>
            <a:endParaRPr lang="en-US" sz="1400" dirty="0"/>
          </a:p>
        </p:txBody>
      </p:sp>
      <p:sp>
        <p:nvSpPr>
          <p:cNvPr id="12" name="Shape 10"/>
          <p:cNvSpPr/>
          <p:nvPr/>
        </p:nvSpPr>
        <p:spPr>
          <a:xfrm>
            <a:off x="4800600" y="2228850"/>
            <a:ext cx="3931920" cy="3017520"/>
          </a:xfrm>
          <a:prstGeom prst="rect">
            <a:avLst/>
          </a:prstGeom>
          <a:solidFill>
            <a:srgbClr val="EEEDFE"/>
          </a:solidFill>
          <a:ln w="12700">
            <a:solidFill>
              <a:srgbClr val="C5C0F5"/>
            </a:solidFill>
            <a:prstDash val="solid"/>
          </a:ln>
        </p:spPr>
        <p:txBody>
          <a:bodyPr/>
          <a:lstStyle/>
          <a:p>
            <a:endParaRPr lang="en-US"/>
          </a:p>
        </p:txBody>
      </p:sp>
      <p:sp>
        <p:nvSpPr>
          <p:cNvPr id="13" name="Shape 11"/>
          <p:cNvSpPr/>
          <p:nvPr/>
        </p:nvSpPr>
        <p:spPr>
          <a:xfrm>
            <a:off x="4800600" y="2228850"/>
            <a:ext cx="3931920" cy="475488"/>
          </a:xfrm>
          <a:prstGeom prst="rect">
            <a:avLst/>
          </a:prstGeom>
          <a:solidFill>
            <a:srgbClr val="3C3489"/>
          </a:solidFill>
          <a:ln/>
        </p:spPr>
        <p:txBody>
          <a:bodyPr/>
          <a:lstStyle/>
          <a:p>
            <a:endParaRPr lang="en-US"/>
          </a:p>
        </p:txBody>
      </p:sp>
      <p:sp>
        <p:nvSpPr>
          <p:cNvPr id="14" name="Text 12"/>
          <p:cNvSpPr/>
          <p:nvPr/>
        </p:nvSpPr>
        <p:spPr>
          <a:xfrm>
            <a:off x="4800600" y="2228850"/>
            <a:ext cx="3931920" cy="475488"/>
          </a:xfrm>
          <a:prstGeom prst="rect">
            <a:avLst/>
          </a:prstGeom>
          <a:noFill/>
          <a:ln/>
        </p:spPr>
        <p:txBody>
          <a:bodyPr wrap="square" lIns="0" tIns="0" rIns="0" bIns="0" rtlCol="0" anchor="ctr"/>
          <a:lstStyle/>
          <a:p>
            <a:pPr algn="ctr"/>
            <a:r>
              <a:rPr lang="en-US" sz="1500" b="1" dirty="0">
                <a:solidFill>
                  <a:srgbClr val="FFFFFF"/>
                </a:solidFill>
              </a:rPr>
              <a:t>Layer 2 — Python</a:t>
            </a:r>
            <a:endParaRPr lang="en-US" sz="1500" dirty="0"/>
          </a:p>
        </p:txBody>
      </p:sp>
      <p:sp>
        <p:nvSpPr>
          <p:cNvPr id="15" name="Text 13"/>
          <p:cNvSpPr/>
          <p:nvPr/>
        </p:nvSpPr>
        <p:spPr>
          <a:xfrm>
            <a:off x="4983480" y="2823210"/>
            <a:ext cx="3566160" cy="2194560"/>
          </a:xfrm>
          <a:prstGeom prst="rect">
            <a:avLst/>
          </a:prstGeom>
          <a:noFill/>
          <a:ln/>
        </p:spPr>
        <p:txBody>
          <a:bodyPr wrap="square" rtlCol="0" anchor="t"/>
          <a:lstStyle/>
          <a:p>
            <a:pPr>
              <a:lnSpc>
                <a:spcPct val="140000"/>
              </a:lnSpc>
            </a:pPr>
            <a:r>
              <a:rPr lang="en-US" sz="1400" dirty="0">
                <a:solidFill>
                  <a:srgbClr val="1A3A5C"/>
                </a:solidFill>
              </a:rPr>
              <a:t>Business rule checks
</a:t>
            </a:r>
            <a:endParaRPr lang="en-US" sz="1400" dirty="0"/>
          </a:p>
          <a:p>
            <a:pPr>
              <a:lnSpc>
                <a:spcPct val="140000"/>
              </a:lnSpc>
            </a:pPr>
            <a:r>
              <a:rPr lang="en-US" sz="1400" dirty="0">
                <a:solidFill>
                  <a:srgbClr val="1A3A5C"/>
                </a:solidFill>
              </a:rPr>
              <a:t>Null FKs + negative amounts
</a:t>
            </a:r>
            <a:endParaRPr lang="en-US" sz="1400" dirty="0"/>
          </a:p>
          <a:p>
            <a:pPr>
              <a:lnSpc>
                <a:spcPct val="140000"/>
              </a:lnSpc>
            </a:pPr>
            <a:r>
              <a:rPr lang="en-US" sz="1400" dirty="0">
                <a:solidFill>
                  <a:srgbClr val="1A3A5C"/>
                </a:solidFill>
              </a:rPr>
              <a:t>SQL run against DuckDB
</a:t>
            </a:r>
            <a:endParaRPr lang="en-US" sz="1400" dirty="0"/>
          </a:p>
          <a:p>
            <a:pPr>
              <a:lnSpc>
                <a:spcPct val="140000"/>
              </a:lnSpc>
            </a:pPr>
            <a:r>
              <a:rPr lang="en-US" sz="1400" dirty="0">
                <a:solidFill>
                  <a:srgbClr val="1A3A5C"/>
                </a:solidFill>
              </a:rPr>
              <a:t>4 custom checks</a:t>
            </a:r>
            <a:endParaRPr lang="en-US" sz="1400" dirty="0"/>
          </a:p>
        </p:txBody>
      </p:sp>
      <p:sp>
        <p:nvSpPr>
          <p:cNvPr id="16" name="Shape 14"/>
          <p:cNvSpPr/>
          <p:nvPr/>
        </p:nvSpPr>
        <p:spPr>
          <a:xfrm>
            <a:off x="4370832" y="3509010"/>
            <a:ext cx="402336" cy="402336"/>
          </a:xfrm>
          <a:prstGeom prst="rect">
            <a:avLst/>
          </a:prstGeom>
          <a:solidFill>
            <a:srgbClr val="1A5EA8"/>
          </a:solidFill>
          <a:ln/>
        </p:spPr>
        <p:txBody>
          <a:bodyPr/>
          <a:lstStyle/>
          <a:p>
            <a:endParaRPr lang="en-US"/>
          </a:p>
        </p:txBody>
      </p:sp>
      <p:sp>
        <p:nvSpPr>
          <p:cNvPr id="17" name="Text 15"/>
          <p:cNvSpPr/>
          <p:nvPr/>
        </p:nvSpPr>
        <p:spPr>
          <a:xfrm>
            <a:off x="4370832" y="3509010"/>
            <a:ext cx="402336" cy="402336"/>
          </a:xfrm>
          <a:prstGeom prst="rect">
            <a:avLst/>
          </a:prstGeom>
          <a:noFill/>
          <a:ln/>
        </p:spPr>
        <p:txBody>
          <a:bodyPr wrap="square" lIns="0" tIns="0" rIns="0" bIns="0" rtlCol="0" anchor="ctr"/>
          <a:lstStyle/>
          <a:p>
            <a:pPr algn="ctr"/>
            <a:r>
              <a:rPr lang="en-US" sz="2000" b="1" dirty="0">
                <a:solidFill>
                  <a:srgbClr val="FFFFFF"/>
                </a:solidFill>
              </a:rPr>
              <a:t>+</a:t>
            </a:r>
            <a:endParaRPr lang="en-US" sz="2000" dirty="0"/>
          </a:p>
        </p:txBody>
      </p:sp>
      <p:sp>
        <p:nvSpPr>
          <p:cNvPr id="18" name="Text 16"/>
          <p:cNvSpPr/>
          <p:nvPr/>
        </p:nvSpPr>
        <p:spPr>
          <a:xfrm>
            <a:off x="8046720" y="5630418"/>
            <a:ext cx="914400" cy="274320"/>
          </a:xfrm>
          <a:prstGeom prst="rect">
            <a:avLst/>
          </a:prstGeom>
          <a:noFill/>
          <a:ln/>
        </p:spPr>
        <p:txBody>
          <a:bodyPr wrap="square" rtlCol="0" anchor="ctr"/>
          <a:lstStyle/>
          <a:p>
            <a:pPr algn="r"/>
            <a:endParaRPr lang="en-US" sz="1000" dirty="0"/>
          </a:p>
        </p:txBody>
      </p:sp>
    </p:spTree>
    <p:extLst>
      <p:ext uri="{BB962C8B-B14F-4D97-AF65-F5344CB8AC3E}">
        <p14:creationId xmlns:p14="http://schemas.microsoft.com/office/powerpoint/2010/main" val="30745218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777" y="-131"/>
            <a:ext cx="9148796" cy="6864125"/>
          </a:xfrm>
          <a:prstGeom prst="rect">
            <a:avLst/>
          </a:prstGeom>
          <a:solidFill>
            <a:srgbClr val="F5F8FC"/>
          </a:solidFill>
          <a:ln/>
        </p:spPr>
        <p:txBody>
          <a:bodyPr/>
          <a:lstStyle/>
          <a:p>
            <a:endParaRPr lang="en-US"/>
          </a:p>
        </p:txBody>
      </p:sp>
      <p:sp>
        <p:nvSpPr>
          <p:cNvPr id="3" name="Shape 1"/>
          <p:cNvSpPr/>
          <p:nvPr/>
        </p:nvSpPr>
        <p:spPr>
          <a:xfrm>
            <a:off x="397164" y="6060093"/>
            <a:ext cx="8326580" cy="370148"/>
          </a:xfrm>
          <a:prstGeom prst="rect">
            <a:avLst/>
          </a:prstGeom>
          <a:solidFill>
            <a:srgbClr val="1A5EA8"/>
          </a:solidFill>
          <a:ln/>
        </p:spPr>
        <p:txBody>
          <a:bodyPr/>
          <a:lstStyle/>
          <a:p>
            <a:endParaRPr lang="en-US"/>
          </a:p>
        </p:txBody>
      </p:sp>
      <p:sp>
        <p:nvSpPr>
          <p:cNvPr id="4" name="Shape 2"/>
          <p:cNvSpPr/>
          <p:nvPr/>
        </p:nvSpPr>
        <p:spPr>
          <a:xfrm>
            <a:off x="397625" y="1261064"/>
            <a:ext cx="2194560" cy="292608"/>
          </a:xfrm>
          <a:prstGeom prst="rect">
            <a:avLst/>
          </a:prstGeom>
          <a:solidFill>
            <a:srgbClr val="3B6D11"/>
          </a:solidFill>
          <a:ln/>
        </p:spPr>
        <p:txBody>
          <a:bodyPr/>
          <a:lstStyle/>
          <a:p>
            <a:endParaRPr lang="en-US"/>
          </a:p>
        </p:txBody>
      </p:sp>
      <p:sp>
        <p:nvSpPr>
          <p:cNvPr id="5" name="Text 3"/>
          <p:cNvSpPr/>
          <p:nvPr/>
        </p:nvSpPr>
        <p:spPr>
          <a:xfrm>
            <a:off x="328353" y="1261064"/>
            <a:ext cx="2194560" cy="292608"/>
          </a:xfrm>
          <a:prstGeom prst="rect">
            <a:avLst/>
          </a:prstGeom>
          <a:noFill/>
          <a:ln/>
        </p:spPr>
        <p:txBody>
          <a:bodyPr wrap="square" lIns="0" tIns="0" rIns="0" bIns="0" rtlCol="0" anchor="ctr"/>
          <a:lstStyle/>
          <a:p>
            <a:pPr algn="ctr"/>
            <a:r>
              <a:rPr lang="en-US" sz="1000" b="1" dirty="0">
                <a:solidFill>
                  <a:srgbClr val="FFFFFF"/>
                </a:solidFill>
              </a:rPr>
              <a:t>Layer 1 — dbt</a:t>
            </a:r>
            <a:endParaRPr lang="en-US" sz="1000" dirty="0"/>
          </a:p>
        </p:txBody>
      </p:sp>
      <p:sp>
        <p:nvSpPr>
          <p:cNvPr id="6" name="Text 4"/>
          <p:cNvSpPr/>
          <p:nvPr/>
        </p:nvSpPr>
        <p:spPr>
          <a:xfrm>
            <a:off x="619298" y="1645112"/>
            <a:ext cx="8034713" cy="502920"/>
          </a:xfrm>
          <a:prstGeom prst="rect">
            <a:avLst/>
          </a:prstGeom>
          <a:noFill/>
          <a:ln/>
        </p:spPr>
        <p:txBody>
          <a:bodyPr wrap="square" rtlCol="0" anchor="ctr"/>
          <a:lstStyle/>
          <a:p>
            <a:r>
              <a:rPr lang="en-US" sz="2800" b="1" dirty="0">
                <a:solidFill>
                  <a:srgbClr val="1A3A5C"/>
                </a:solidFill>
              </a:rPr>
              <a:t>dbt Native Tests</a:t>
            </a:r>
            <a:endParaRPr lang="en-US" sz="2800" dirty="0"/>
          </a:p>
        </p:txBody>
      </p:sp>
      <p:sp>
        <p:nvSpPr>
          <p:cNvPr id="7" name="Shape 5"/>
          <p:cNvSpPr/>
          <p:nvPr/>
        </p:nvSpPr>
        <p:spPr>
          <a:xfrm flipV="1">
            <a:off x="457662" y="2105826"/>
            <a:ext cx="8154786" cy="87742"/>
          </a:xfrm>
          <a:prstGeom prst="line">
            <a:avLst/>
          </a:prstGeom>
          <a:noFill/>
          <a:ln w="19050">
            <a:solidFill>
              <a:srgbClr val="3B6D11"/>
            </a:solidFill>
            <a:prstDash val="solid"/>
          </a:ln>
        </p:spPr>
        <p:txBody>
          <a:bodyPr/>
          <a:lstStyle/>
          <a:p>
            <a:endParaRPr lang="en-US"/>
          </a:p>
        </p:txBody>
      </p:sp>
      <p:sp>
        <p:nvSpPr>
          <p:cNvPr id="8" name="Shape 6"/>
          <p:cNvSpPr/>
          <p:nvPr/>
        </p:nvSpPr>
        <p:spPr>
          <a:xfrm>
            <a:off x="660861" y="2376632"/>
            <a:ext cx="2331720" cy="384048"/>
          </a:xfrm>
          <a:prstGeom prst="rect">
            <a:avLst/>
          </a:prstGeom>
          <a:solidFill>
            <a:srgbClr val="1A3A5C"/>
          </a:solidFill>
          <a:ln/>
        </p:spPr>
        <p:txBody>
          <a:bodyPr/>
          <a:lstStyle/>
          <a:p>
            <a:endParaRPr lang="en-US"/>
          </a:p>
        </p:txBody>
      </p:sp>
      <p:sp>
        <p:nvSpPr>
          <p:cNvPr id="9" name="Text 7"/>
          <p:cNvSpPr/>
          <p:nvPr/>
        </p:nvSpPr>
        <p:spPr>
          <a:xfrm>
            <a:off x="328353" y="2376632"/>
            <a:ext cx="2331720" cy="384048"/>
          </a:xfrm>
          <a:prstGeom prst="rect">
            <a:avLst/>
          </a:prstGeom>
          <a:noFill/>
          <a:ln/>
        </p:spPr>
        <p:txBody>
          <a:bodyPr wrap="square" lIns="0" tIns="0" rIns="0" bIns="0" rtlCol="0" anchor="ctr"/>
          <a:lstStyle/>
          <a:p>
            <a:pPr algn="ctr"/>
            <a:r>
              <a:rPr lang="en-US" sz="1300" b="1" dirty="0">
                <a:solidFill>
                  <a:srgbClr val="FFFFFF"/>
                </a:solidFill>
              </a:rPr>
              <a:t>Table</a:t>
            </a:r>
            <a:endParaRPr lang="en-US" sz="1300" dirty="0"/>
          </a:p>
        </p:txBody>
      </p:sp>
      <p:sp>
        <p:nvSpPr>
          <p:cNvPr id="10" name="Shape 8"/>
          <p:cNvSpPr/>
          <p:nvPr/>
        </p:nvSpPr>
        <p:spPr>
          <a:xfrm>
            <a:off x="3084021" y="2376632"/>
            <a:ext cx="2560320" cy="384048"/>
          </a:xfrm>
          <a:prstGeom prst="rect">
            <a:avLst/>
          </a:prstGeom>
          <a:solidFill>
            <a:srgbClr val="1A3A5C"/>
          </a:solidFill>
          <a:ln/>
        </p:spPr>
        <p:txBody>
          <a:bodyPr/>
          <a:lstStyle/>
          <a:p>
            <a:endParaRPr lang="en-US"/>
          </a:p>
        </p:txBody>
      </p:sp>
      <p:sp>
        <p:nvSpPr>
          <p:cNvPr id="11" name="Text 9"/>
          <p:cNvSpPr/>
          <p:nvPr/>
        </p:nvSpPr>
        <p:spPr>
          <a:xfrm>
            <a:off x="2751513" y="2376632"/>
            <a:ext cx="2560320" cy="384048"/>
          </a:xfrm>
          <a:prstGeom prst="rect">
            <a:avLst/>
          </a:prstGeom>
          <a:noFill/>
          <a:ln/>
        </p:spPr>
        <p:txBody>
          <a:bodyPr wrap="square" lIns="0" tIns="0" rIns="0" bIns="0" rtlCol="0" anchor="ctr"/>
          <a:lstStyle/>
          <a:p>
            <a:pPr algn="ctr"/>
            <a:r>
              <a:rPr lang="en-US" sz="1300" b="1" dirty="0">
                <a:solidFill>
                  <a:srgbClr val="FFFFFF"/>
                </a:solidFill>
              </a:rPr>
              <a:t>Column</a:t>
            </a:r>
            <a:endParaRPr lang="en-US" sz="1300" dirty="0"/>
          </a:p>
        </p:txBody>
      </p:sp>
      <p:sp>
        <p:nvSpPr>
          <p:cNvPr id="12" name="Shape 10"/>
          <p:cNvSpPr/>
          <p:nvPr/>
        </p:nvSpPr>
        <p:spPr>
          <a:xfrm>
            <a:off x="5634180" y="2376632"/>
            <a:ext cx="2950098" cy="384048"/>
          </a:xfrm>
          <a:prstGeom prst="rect">
            <a:avLst/>
          </a:prstGeom>
          <a:solidFill>
            <a:srgbClr val="1A3A5C"/>
          </a:solidFill>
          <a:ln/>
        </p:spPr>
        <p:txBody>
          <a:bodyPr/>
          <a:lstStyle/>
          <a:p>
            <a:endParaRPr lang="en-US"/>
          </a:p>
        </p:txBody>
      </p:sp>
      <p:sp>
        <p:nvSpPr>
          <p:cNvPr id="13" name="Text 11"/>
          <p:cNvSpPr/>
          <p:nvPr/>
        </p:nvSpPr>
        <p:spPr>
          <a:xfrm>
            <a:off x="5532582" y="2376632"/>
            <a:ext cx="3291840" cy="384048"/>
          </a:xfrm>
          <a:prstGeom prst="rect">
            <a:avLst/>
          </a:prstGeom>
          <a:noFill/>
          <a:ln/>
        </p:spPr>
        <p:txBody>
          <a:bodyPr wrap="square" lIns="0" tIns="0" rIns="0" bIns="0" rtlCol="0" anchor="ctr"/>
          <a:lstStyle/>
          <a:p>
            <a:pPr algn="ctr"/>
            <a:r>
              <a:rPr lang="en-US" sz="1300" b="1" dirty="0">
                <a:solidFill>
                  <a:srgbClr val="FFFFFF"/>
                </a:solidFill>
              </a:rPr>
              <a:t>Tests Applied</a:t>
            </a:r>
            <a:endParaRPr lang="en-US" sz="1300" dirty="0"/>
          </a:p>
        </p:txBody>
      </p:sp>
      <p:sp>
        <p:nvSpPr>
          <p:cNvPr id="14" name="Shape 12"/>
          <p:cNvSpPr/>
          <p:nvPr/>
        </p:nvSpPr>
        <p:spPr>
          <a:xfrm>
            <a:off x="660861" y="2760680"/>
            <a:ext cx="2331720" cy="411480"/>
          </a:xfrm>
          <a:prstGeom prst="rect">
            <a:avLst/>
          </a:prstGeom>
          <a:solidFill>
            <a:srgbClr val="F5F8FC"/>
          </a:solidFill>
          <a:ln w="6350">
            <a:solidFill>
              <a:srgbClr val="DDDDDD"/>
            </a:solidFill>
            <a:prstDash val="solid"/>
          </a:ln>
        </p:spPr>
        <p:txBody>
          <a:bodyPr/>
          <a:lstStyle/>
          <a:p>
            <a:endParaRPr lang="en-US"/>
          </a:p>
        </p:txBody>
      </p:sp>
      <p:sp>
        <p:nvSpPr>
          <p:cNvPr id="15" name="Text 13"/>
          <p:cNvSpPr/>
          <p:nvPr/>
        </p:nvSpPr>
        <p:spPr>
          <a:xfrm>
            <a:off x="641465" y="2760680"/>
            <a:ext cx="2018608" cy="411480"/>
          </a:xfrm>
          <a:prstGeom prst="rect">
            <a:avLst/>
          </a:prstGeom>
          <a:noFill/>
          <a:ln/>
        </p:spPr>
        <p:txBody>
          <a:bodyPr wrap="square" rtlCol="0" anchor="ctr"/>
          <a:lstStyle/>
          <a:p>
            <a:r>
              <a:rPr lang="en-US" sz="1300" dirty="0">
                <a:solidFill>
                  <a:srgbClr val="1A5EA8"/>
                </a:solidFill>
                <a:latin typeface="Courier New" pitchFamily="34" charset="0"/>
                <a:ea typeface="Courier New" pitchFamily="34" charset="-122"/>
                <a:cs typeface="Courier New" pitchFamily="34" charset="-120"/>
              </a:rPr>
              <a:t>dim_customer</a:t>
            </a:r>
            <a:endParaRPr lang="en-US" sz="1300" dirty="0"/>
          </a:p>
        </p:txBody>
      </p:sp>
      <p:sp>
        <p:nvSpPr>
          <p:cNvPr id="16" name="Shape 14"/>
          <p:cNvSpPr/>
          <p:nvPr/>
        </p:nvSpPr>
        <p:spPr>
          <a:xfrm>
            <a:off x="3084021" y="2760680"/>
            <a:ext cx="2560320" cy="411480"/>
          </a:xfrm>
          <a:prstGeom prst="rect">
            <a:avLst/>
          </a:prstGeom>
          <a:solidFill>
            <a:srgbClr val="F5F8FC"/>
          </a:solidFill>
          <a:ln w="6350">
            <a:solidFill>
              <a:srgbClr val="DDDDDD"/>
            </a:solidFill>
            <a:prstDash val="solid"/>
          </a:ln>
        </p:spPr>
        <p:txBody>
          <a:bodyPr/>
          <a:lstStyle/>
          <a:p>
            <a:endParaRPr lang="en-US"/>
          </a:p>
        </p:txBody>
      </p:sp>
      <p:sp>
        <p:nvSpPr>
          <p:cNvPr id="17" name="Text 15"/>
          <p:cNvSpPr/>
          <p:nvPr/>
        </p:nvSpPr>
        <p:spPr>
          <a:xfrm>
            <a:off x="3073862" y="2760680"/>
            <a:ext cx="2237971" cy="416098"/>
          </a:xfrm>
          <a:prstGeom prst="rect">
            <a:avLst/>
          </a:prstGeom>
          <a:noFill/>
          <a:ln/>
        </p:spPr>
        <p:txBody>
          <a:bodyPr wrap="square" rtlCol="0" anchor="ctr"/>
          <a:lstStyle/>
          <a:p>
            <a:r>
              <a:rPr lang="en-US" sz="1300" dirty="0">
                <a:solidFill>
                  <a:srgbClr val="1A5EA8"/>
                </a:solidFill>
                <a:latin typeface="Courier New" pitchFamily="34" charset="0"/>
                <a:ea typeface="Courier New" pitchFamily="34" charset="-122"/>
                <a:cs typeface="Courier New" pitchFamily="34" charset="-120"/>
              </a:rPr>
              <a:t>customer_id</a:t>
            </a:r>
            <a:endParaRPr lang="en-US" sz="1300" dirty="0"/>
          </a:p>
        </p:txBody>
      </p:sp>
      <p:sp>
        <p:nvSpPr>
          <p:cNvPr id="18" name="Shape 16"/>
          <p:cNvSpPr/>
          <p:nvPr/>
        </p:nvSpPr>
        <p:spPr>
          <a:xfrm>
            <a:off x="5735781" y="2760680"/>
            <a:ext cx="2857732" cy="429952"/>
          </a:xfrm>
          <a:prstGeom prst="rect">
            <a:avLst/>
          </a:prstGeom>
          <a:solidFill>
            <a:srgbClr val="F5F8FC"/>
          </a:solidFill>
          <a:ln w="6350">
            <a:solidFill>
              <a:srgbClr val="DDDDDD"/>
            </a:solidFill>
            <a:prstDash val="solid"/>
          </a:ln>
        </p:spPr>
        <p:txBody>
          <a:bodyPr/>
          <a:lstStyle/>
          <a:p>
            <a:endParaRPr lang="en-US"/>
          </a:p>
        </p:txBody>
      </p:sp>
      <p:sp>
        <p:nvSpPr>
          <p:cNvPr id="19" name="Text 17"/>
          <p:cNvSpPr/>
          <p:nvPr/>
        </p:nvSpPr>
        <p:spPr>
          <a:xfrm>
            <a:off x="5725622" y="2760680"/>
            <a:ext cx="2978727" cy="420716"/>
          </a:xfrm>
          <a:prstGeom prst="rect">
            <a:avLst/>
          </a:prstGeom>
          <a:noFill/>
          <a:ln/>
        </p:spPr>
        <p:txBody>
          <a:bodyPr wrap="square" rtlCol="0" anchor="ctr"/>
          <a:lstStyle/>
          <a:p>
            <a:r>
              <a:rPr lang="en-US" sz="1300" dirty="0">
                <a:solidFill>
                  <a:srgbClr val="1A3A5C"/>
                </a:solidFill>
                <a:latin typeface="Arial" pitchFamily="34" charset="0"/>
                <a:ea typeface="Arial" pitchFamily="34" charset="-122"/>
                <a:cs typeface="Arial" pitchFamily="34" charset="-120"/>
              </a:rPr>
              <a:t>unique + not_null</a:t>
            </a:r>
            <a:endParaRPr lang="en-US" sz="1300" dirty="0"/>
          </a:p>
        </p:txBody>
      </p:sp>
      <p:sp>
        <p:nvSpPr>
          <p:cNvPr id="20" name="Shape 18"/>
          <p:cNvSpPr/>
          <p:nvPr/>
        </p:nvSpPr>
        <p:spPr>
          <a:xfrm>
            <a:off x="660861" y="3199592"/>
            <a:ext cx="2331720" cy="411480"/>
          </a:xfrm>
          <a:prstGeom prst="rect">
            <a:avLst/>
          </a:prstGeom>
          <a:solidFill>
            <a:srgbClr val="EAF3FB"/>
          </a:solidFill>
          <a:ln w="6350">
            <a:solidFill>
              <a:srgbClr val="DDDDDD"/>
            </a:solidFill>
            <a:prstDash val="solid"/>
          </a:ln>
        </p:spPr>
        <p:txBody>
          <a:bodyPr/>
          <a:lstStyle/>
          <a:p>
            <a:endParaRPr lang="en-US"/>
          </a:p>
        </p:txBody>
      </p:sp>
      <p:sp>
        <p:nvSpPr>
          <p:cNvPr id="21" name="Text 19"/>
          <p:cNvSpPr/>
          <p:nvPr/>
        </p:nvSpPr>
        <p:spPr>
          <a:xfrm>
            <a:off x="646083" y="3199592"/>
            <a:ext cx="2013990" cy="411480"/>
          </a:xfrm>
          <a:prstGeom prst="rect">
            <a:avLst/>
          </a:prstGeom>
          <a:noFill/>
          <a:ln/>
        </p:spPr>
        <p:txBody>
          <a:bodyPr wrap="square" rtlCol="0" anchor="ctr"/>
          <a:lstStyle/>
          <a:p>
            <a:r>
              <a:rPr lang="en-US" sz="1300" dirty="0">
                <a:solidFill>
                  <a:srgbClr val="1A5EA8"/>
                </a:solidFill>
                <a:latin typeface="Courier New" pitchFamily="34" charset="0"/>
                <a:ea typeface="Courier New" pitchFamily="34" charset="-122"/>
                <a:cs typeface="Courier New" pitchFamily="34" charset="-120"/>
              </a:rPr>
              <a:t>dim_product</a:t>
            </a:r>
            <a:endParaRPr lang="en-US" sz="1300" dirty="0"/>
          </a:p>
        </p:txBody>
      </p:sp>
      <p:sp>
        <p:nvSpPr>
          <p:cNvPr id="22" name="Shape 20"/>
          <p:cNvSpPr/>
          <p:nvPr/>
        </p:nvSpPr>
        <p:spPr>
          <a:xfrm>
            <a:off x="3084021" y="3199592"/>
            <a:ext cx="2560320" cy="411480"/>
          </a:xfrm>
          <a:prstGeom prst="rect">
            <a:avLst/>
          </a:prstGeom>
          <a:solidFill>
            <a:srgbClr val="EAF3FB"/>
          </a:solidFill>
          <a:ln w="6350">
            <a:solidFill>
              <a:srgbClr val="DDDDDD"/>
            </a:solidFill>
            <a:prstDash val="solid"/>
          </a:ln>
        </p:spPr>
        <p:txBody>
          <a:bodyPr/>
          <a:lstStyle/>
          <a:p>
            <a:endParaRPr lang="en-US"/>
          </a:p>
        </p:txBody>
      </p:sp>
      <p:sp>
        <p:nvSpPr>
          <p:cNvPr id="23" name="Text 21"/>
          <p:cNvSpPr/>
          <p:nvPr/>
        </p:nvSpPr>
        <p:spPr>
          <a:xfrm>
            <a:off x="3092334" y="3199592"/>
            <a:ext cx="2219499" cy="411480"/>
          </a:xfrm>
          <a:prstGeom prst="rect">
            <a:avLst/>
          </a:prstGeom>
          <a:noFill/>
          <a:ln/>
        </p:spPr>
        <p:txBody>
          <a:bodyPr wrap="square" rtlCol="0" anchor="ctr"/>
          <a:lstStyle/>
          <a:p>
            <a:r>
              <a:rPr lang="en-US" sz="1300" dirty="0">
                <a:solidFill>
                  <a:srgbClr val="1A5EA8"/>
                </a:solidFill>
                <a:latin typeface="Courier New" pitchFamily="34" charset="0"/>
                <a:ea typeface="Courier New" pitchFamily="34" charset="-122"/>
                <a:cs typeface="Courier New" pitchFamily="34" charset="-120"/>
              </a:rPr>
              <a:t>product_id</a:t>
            </a:r>
            <a:endParaRPr lang="en-US" sz="1300" dirty="0"/>
          </a:p>
        </p:txBody>
      </p:sp>
      <p:sp>
        <p:nvSpPr>
          <p:cNvPr id="24" name="Shape 22"/>
          <p:cNvSpPr/>
          <p:nvPr/>
        </p:nvSpPr>
        <p:spPr>
          <a:xfrm>
            <a:off x="5735781" y="3194974"/>
            <a:ext cx="2843878" cy="434570"/>
          </a:xfrm>
          <a:prstGeom prst="rect">
            <a:avLst/>
          </a:prstGeom>
          <a:solidFill>
            <a:srgbClr val="EAF3FB"/>
          </a:solidFill>
          <a:ln w="6350">
            <a:solidFill>
              <a:srgbClr val="DDDDDD"/>
            </a:solidFill>
            <a:prstDash val="solid"/>
          </a:ln>
        </p:spPr>
        <p:txBody>
          <a:bodyPr/>
          <a:lstStyle/>
          <a:p>
            <a:endParaRPr lang="en-US"/>
          </a:p>
        </p:txBody>
      </p:sp>
      <p:sp>
        <p:nvSpPr>
          <p:cNvPr id="25" name="Text 23"/>
          <p:cNvSpPr/>
          <p:nvPr/>
        </p:nvSpPr>
        <p:spPr>
          <a:xfrm>
            <a:off x="5744094" y="3199592"/>
            <a:ext cx="2955637" cy="416098"/>
          </a:xfrm>
          <a:prstGeom prst="rect">
            <a:avLst/>
          </a:prstGeom>
          <a:noFill/>
          <a:ln/>
        </p:spPr>
        <p:txBody>
          <a:bodyPr wrap="square" rtlCol="0" anchor="ctr"/>
          <a:lstStyle/>
          <a:p>
            <a:r>
              <a:rPr lang="en-US" sz="1300" dirty="0">
                <a:solidFill>
                  <a:srgbClr val="1A3A5C"/>
                </a:solidFill>
                <a:latin typeface="Arial" pitchFamily="34" charset="0"/>
                <a:ea typeface="Arial" pitchFamily="34" charset="-122"/>
                <a:cs typeface="Arial" pitchFamily="34" charset="-120"/>
              </a:rPr>
              <a:t>unique + not_null</a:t>
            </a:r>
            <a:endParaRPr lang="en-US" sz="1300" dirty="0"/>
          </a:p>
        </p:txBody>
      </p:sp>
      <p:sp>
        <p:nvSpPr>
          <p:cNvPr id="26" name="Shape 24"/>
          <p:cNvSpPr/>
          <p:nvPr/>
        </p:nvSpPr>
        <p:spPr>
          <a:xfrm>
            <a:off x="660861" y="3638504"/>
            <a:ext cx="2331720" cy="411480"/>
          </a:xfrm>
          <a:prstGeom prst="rect">
            <a:avLst/>
          </a:prstGeom>
          <a:solidFill>
            <a:srgbClr val="F5F8FC"/>
          </a:solidFill>
          <a:ln w="6350">
            <a:solidFill>
              <a:srgbClr val="DDDDDD"/>
            </a:solidFill>
            <a:prstDash val="solid"/>
          </a:ln>
        </p:spPr>
        <p:txBody>
          <a:bodyPr/>
          <a:lstStyle/>
          <a:p>
            <a:endParaRPr lang="en-US"/>
          </a:p>
        </p:txBody>
      </p:sp>
      <p:sp>
        <p:nvSpPr>
          <p:cNvPr id="27" name="Text 25"/>
          <p:cNvSpPr/>
          <p:nvPr/>
        </p:nvSpPr>
        <p:spPr>
          <a:xfrm>
            <a:off x="641465" y="3638504"/>
            <a:ext cx="2018608" cy="411480"/>
          </a:xfrm>
          <a:prstGeom prst="rect">
            <a:avLst/>
          </a:prstGeom>
          <a:noFill/>
          <a:ln/>
        </p:spPr>
        <p:txBody>
          <a:bodyPr wrap="square" rtlCol="0" anchor="ctr"/>
          <a:lstStyle/>
          <a:p>
            <a:r>
              <a:rPr lang="en-US" sz="1300" dirty="0">
                <a:solidFill>
                  <a:srgbClr val="1A5EA8"/>
                </a:solidFill>
                <a:latin typeface="Courier New" pitchFamily="34" charset="0"/>
                <a:ea typeface="Courier New" pitchFamily="34" charset="-122"/>
                <a:cs typeface="Courier New" pitchFamily="34" charset="-120"/>
              </a:rPr>
              <a:t>dim_seller</a:t>
            </a:r>
            <a:endParaRPr lang="en-US" sz="1300" dirty="0"/>
          </a:p>
        </p:txBody>
      </p:sp>
      <p:sp>
        <p:nvSpPr>
          <p:cNvPr id="28" name="Shape 26"/>
          <p:cNvSpPr/>
          <p:nvPr/>
        </p:nvSpPr>
        <p:spPr>
          <a:xfrm>
            <a:off x="3084021" y="3638504"/>
            <a:ext cx="2560320" cy="411480"/>
          </a:xfrm>
          <a:prstGeom prst="rect">
            <a:avLst/>
          </a:prstGeom>
          <a:solidFill>
            <a:srgbClr val="F5F8FC"/>
          </a:solidFill>
          <a:ln w="6350">
            <a:solidFill>
              <a:srgbClr val="DDDDDD"/>
            </a:solidFill>
            <a:prstDash val="solid"/>
          </a:ln>
        </p:spPr>
        <p:txBody>
          <a:bodyPr/>
          <a:lstStyle/>
          <a:p>
            <a:endParaRPr lang="en-US"/>
          </a:p>
        </p:txBody>
      </p:sp>
      <p:sp>
        <p:nvSpPr>
          <p:cNvPr id="29" name="Text 27"/>
          <p:cNvSpPr/>
          <p:nvPr/>
        </p:nvSpPr>
        <p:spPr>
          <a:xfrm>
            <a:off x="3096952" y="3638504"/>
            <a:ext cx="2214881" cy="411480"/>
          </a:xfrm>
          <a:prstGeom prst="rect">
            <a:avLst/>
          </a:prstGeom>
          <a:noFill/>
          <a:ln/>
        </p:spPr>
        <p:txBody>
          <a:bodyPr wrap="square" rtlCol="0" anchor="ctr"/>
          <a:lstStyle/>
          <a:p>
            <a:r>
              <a:rPr lang="en-US" sz="1300" dirty="0">
                <a:solidFill>
                  <a:srgbClr val="1A5EA8"/>
                </a:solidFill>
                <a:latin typeface="Courier New" pitchFamily="34" charset="0"/>
                <a:ea typeface="Courier New" pitchFamily="34" charset="-122"/>
                <a:cs typeface="Courier New" pitchFamily="34" charset="-120"/>
              </a:rPr>
              <a:t>seller_id</a:t>
            </a:r>
            <a:endParaRPr lang="en-US" sz="1300" dirty="0"/>
          </a:p>
        </p:txBody>
      </p:sp>
      <p:sp>
        <p:nvSpPr>
          <p:cNvPr id="30" name="Shape 28"/>
          <p:cNvSpPr/>
          <p:nvPr/>
        </p:nvSpPr>
        <p:spPr>
          <a:xfrm>
            <a:off x="5749635" y="3633886"/>
            <a:ext cx="2834643" cy="420716"/>
          </a:xfrm>
          <a:prstGeom prst="rect">
            <a:avLst/>
          </a:prstGeom>
          <a:solidFill>
            <a:srgbClr val="F5F8FC"/>
          </a:solidFill>
          <a:ln w="6350">
            <a:solidFill>
              <a:srgbClr val="DDDDDD"/>
            </a:solidFill>
            <a:prstDash val="solid"/>
          </a:ln>
        </p:spPr>
        <p:txBody>
          <a:bodyPr/>
          <a:lstStyle/>
          <a:p>
            <a:endParaRPr lang="en-US"/>
          </a:p>
        </p:txBody>
      </p:sp>
      <p:sp>
        <p:nvSpPr>
          <p:cNvPr id="31" name="Text 29"/>
          <p:cNvSpPr/>
          <p:nvPr/>
        </p:nvSpPr>
        <p:spPr>
          <a:xfrm>
            <a:off x="5762567" y="3638504"/>
            <a:ext cx="2932546" cy="411480"/>
          </a:xfrm>
          <a:prstGeom prst="rect">
            <a:avLst/>
          </a:prstGeom>
          <a:noFill/>
          <a:ln/>
        </p:spPr>
        <p:txBody>
          <a:bodyPr wrap="square" rtlCol="0" anchor="ctr"/>
          <a:lstStyle/>
          <a:p>
            <a:r>
              <a:rPr lang="en-US" sz="1300" dirty="0">
                <a:solidFill>
                  <a:srgbClr val="1A3A5C"/>
                </a:solidFill>
                <a:latin typeface="Arial" pitchFamily="34" charset="0"/>
                <a:ea typeface="Arial" pitchFamily="34" charset="-122"/>
                <a:cs typeface="Arial" pitchFamily="34" charset="-120"/>
              </a:rPr>
              <a:t>unique + not_null</a:t>
            </a:r>
            <a:endParaRPr lang="en-US" sz="1300" dirty="0"/>
          </a:p>
        </p:txBody>
      </p:sp>
      <p:sp>
        <p:nvSpPr>
          <p:cNvPr id="32" name="Shape 30"/>
          <p:cNvSpPr/>
          <p:nvPr/>
        </p:nvSpPr>
        <p:spPr>
          <a:xfrm>
            <a:off x="660861" y="4077416"/>
            <a:ext cx="2331720" cy="411480"/>
          </a:xfrm>
          <a:prstGeom prst="rect">
            <a:avLst/>
          </a:prstGeom>
          <a:solidFill>
            <a:srgbClr val="EAF3FB"/>
          </a:solidFill>
          <a:ln w="6350">
            <a:solidFill>
              <a:srgbClr val="DDDDDD"/>
            </a:solidFill>
            <a:prstDash val="solid"/>
          </a:ln>
        </p:spPr>
        <p:txBody>
          <a:bodyPr/>
          <a:lstStyle/>
          <a:p>
            <a:endParaRPr lang="en-US"/>
          </a:p>
        </p:txBody>
      </p:sp>
      <p:sp>
        <p:nvSpPr>
          <p:cNvPr id="33" name="Text 31"/>
          <p:cNvSpPr/>
          <p:nvPr/>
        </p:nvSpPr>
        <p:spPr>
          <a:xfrm>
            <a:off x="641465" y="4077416"/>
            <a:ext cx="2018608" cy="411480"/>
          </a:xfrm>
          <a:prstGeom prst="rect">
            <a:avLst/>
          </a:prstGeom>
          <a:noFill/>
          <a:ln/>
        </p:spPr>
        <p:txBody>
          <a:bodyPr wrap="square" rtlCol="0" anchor="ctr"/>
          <a:lstStyle/>
          <a:p>
            <a:r>
              <a:rPr lang="en-US" sz="1300" dirty="0">
                <a:solidFill>
                  <a:srgbClr val="1A5EA8"/>
                </a:solidFill>
                <a:latin typeface="Courier New" pitchFamily="34" charset="0"/>
                <a:ea typeface="Courier New" pitchFamily="34" charset="-122"/>
                <a:cs typeface="Courier New" pitchFamily="34" charset="-120"/>
              </a:rPr>
              <a:t>fact_sales</a:t>
            </a:r>
            <a:endParaRPr lang="en-US" sz="1300" dirty="0"/>
          </a:p>
        </p:txBody>
      </p:sp>
      <p:sp>
        <p:nvSpPr>
          <p:cNvPr id="34" name="Shape 32"/>
          <p:cNvSpPr/>
          <p:nvPr/>
        </p:nvSpPr>
        <p:spPr>
          <a:xfrm>
            <a:off x="3084021" y="4077416"/>
            <a:ext cx="2560320" cy="411480"/>
          </a:xfrm>
          <a:prstGeom prst="rect">
            <a:avLst/>
          </a:prstGeom>
          <a:solidFill>
            <a:srgbClr val="EAF3FB"/>
          </a:solidFill>
          <a:ln w="6350">
            <a:solidFill>
              <a:srgbClr val="DDDDDD"/>
            </a:solidFill>
            <a:prstDash val="solid"/>
          </a:ln>
        </p:spPr>
        <p:txBody>
          <a:bodyPr/>
          <a:lstStyle/>
          <a:p>
            <a:endParaRPr lang="en-US"/>
          </a:p>
        </p:txBody>
      </p:sp>
      <p:sp>
        <p:nvSpPr>
          <p:cNvPr id="35" name="Text 33"/>
          <p:cNvSpPr/>
          <p:nvPr/>
        </p:nvSpPr>
        <p:spPr>
          <a:xfrm>
            <a:off x="3096952" y="4077416"/>
            <a:ext cx="2214881" cy="411480"/>
          </a:xfrm>
          <a:prstGeom prst="rect">
            <a:avLst/>
          </a:prstGeom>
          <a:noFill/>
          <a:ln/>
        </p:spPr>
        <p:txBody>
          <a:bodyPr wrap="square" rtlCol="0" anchor="ctr"/>
          <a:lstStyle/>
          <a:p>
            <a:r>
              <a:rPr lang="en-US" sz="1300" dirty="0">
                <a:solidFill>
                  <a:srgbClr val="1A5EA8"/>
                </a:solidFill>
                <a:latin typeface="Courier New" pitchFamily="34" charset="0"/>
                <a:ea typeface="Courier New" pitchFamily="34" charset="-122"/>
                <a:cs typeface="Courier New" pitchFamily="34" charset="-120"/>
              </a:rPr>
              <a:t>order_id</a:t>
            </a:r>
            <a:endParaRPr lang="en-US" sz="1300" dirty="0"/>
          </a:p>
        </p:txBody>
      </p:sp>
      <p:sp>
        <p:nvSpPr>
          <p:cNvPr id="36" name="Shape 34"/>
          <p:cNvSpPr/>
          <p:nvPr/>
        </p:nvSpPr>
        <p:spPr>
          <a:xfrm>
            <a:off x="5721927" y="4072798"/>
            <a:ext cx="2866967" cy="416098"/>
          </a:xfrm>
          <a:prstGeom prst="rect">
            <a:avLst/>
          </a:prstGeom>
          <a:solidFill>
            <a:srgbClr val="EAF3FB"/>
          </a:solidFill>
          <a:ln w="6350">
            <a:solidFill>
              <a:srgbClr val="DDDDDD"/>
            </a:solidFill>
            <a:prstDash val="solid"/>
          </a:ln>
        </p:spPr>
        <p:txBody>
          <a:bodyPr/>
          <a:lstStyle/>
          <a:p>
            <a:endParaRPr lang="en-US"/>
          </a:p>
        </p:txBody>
      </p:sp>
      <p:sp>
        <p:nvSpPr>
          <p:cNvPr id="37" name="Text 35"/>
          <p:cNvSpPr/>
          <p:nvPr/>
        </p:nvSpPr>
        <p:spPr>
          <a:xfrm>
            <a:off x="5785657" y="4077416"/>
            <a:ext cx="2909456" cy="411480"/>
          </a:xfrm>
          <a:prstGeom prst="rect">
            <a:avLst/>
          </a:prstGeom>
          <a:noFill/>
          <a:ln/>
        </p:spPr>
        <p:txBody>
          <a:bodyPr wrap="square" rtlCol="0" anchor="ctr"/>
          <a:lstStyle/>
          <a:p>
            <a:r>
              <a:rPr lang="en-US" sz="1300" dirty="0">
                <a:solidFill>
                  <a:srgbClr val="1A3A5C"/>
                </a:solidFill>
                <a:latin typeface="Arial" pitchFamily="34" charset="0"/>
                <a:ea typeface="Arial" pitchFamily="34" charset="-122"/>
                <a:cs typeface="Arial" pitchFamily="34" charset="-120"/>
              </a:rPr>
              <a:t>not_null</a:t>
            </a:r>
            <a:endParaRPr lang="en-US" sz="1300" dirty="0"/>
          </a:p>
        </p:txBody>
      </p:sp>
      <p:sp>
        <p:nvSpPr>
          <p:cNvPr id="38" name="Shape 36"/>
          <p:cNvSpPr/>
          <p:nvPr/>
        </p:nvSpPr>
        <p:spPr>
          <a:xfrm>
            <a:off x="485370" y="4799792"/>
            <a:ext cx="8016242" cy="475488"/>
          </a:xfrm>
          <a:prstGeom prst="rect">
            <a:avLst/>
          </a:prstGeom>
          <a:solidFill>
            <a:srgbClr val="EAF3DE"/>
          </a:solidFill>
          <a:ln w="12700">
            <a:solidFill>
              <a:srgbClr val="B8D9A0"/>
            </a:solidFill>
            <a:prstDash val="solid"/>
          </a:ln>
        </p:spPr>
        <p:txBody>
          <a:bodyPr/>
          <a:lstStyle/>
          <a:p>
            <a:endParaRPr lang="en-US"/>
          </a:p>
        </p:txBody>
      </p:sp>
      <p:sp>
        <p:nvSpPr>
          <p:cNvPr id="39" name="Text 37"/>
          <p:cNvSpPr/>
          <p:nvPr/>
        </p:nvSpPr>
        <p:spPr>
          <a:xfrm>
            <a:off x="328353" y="4799792"/>
            <a:ext cx="8321040" cy="475488"/>
          </a:xfrm>
          <a:prstGeom prst="rect">
            <a:avLst/>
          </a:prstGeom>
          <a:noFill/>
          <a:ln/>
        </p:spPr>
        <p:txBody>
          <a:bodyPr wrap="square" lIns="0" tIns="0" rIns="0" bIns="0" rtlCol="0" anchor="ctr"/>
          <a:lstStyle/>
          <a:p>
            <a:pPr algn="ctr"/>
            <a:r>
              <a:rPr lang="en-US" sz="1400" b="1" dirty="0">
                <a:solidFill>
                  <a:srgbClr val="3B6D11"/>
                </a:solidFill>
              </a:rPr>
              <a:t>All 7 tests passed  ✔</a:t>
            </a:r>
            <a:endParaRPr lang="en-US" sz="1400" dirty="0"/>
          </a:p>
        </p:txBody>
      </p:sp>
      <p:sp>
        <p:nvSpPr>
          <p:cNvPr id="40" name="Text 38"/>
          <p:cNvSpPr/>
          <p:nvPr/>
        </p:nvSpPr>
        <p:spPr>
          <a:xfrm>
            <a:off x="7963593" y="5778200"/>
            <a:ext cx="914400" cy="274320"/>
          </a:xfrm>
          <a:prstGeom prst="rect">
            <a:avLst/>
          </a:prstGeom>
          <a:noFill/>
          <a:ln/>
        </p:spPr>
        <p:txBody>
          <a:bodyPr wrap="square" rtlCol="0" anchor="ctr"/>
          <a:lstStyle/>
          <a:p>
            <a:pPr algn="r"/>
            <a:endParaRPr lang="en-US" sz="1000" dirty="0"/>
          </a:p>
        </p:txBody>
      </p:sp>
    </p:spTree>
    <p:extLst>
      <p:ext uri="{BB962C8B-B14F-4D97-AF65-F5344CB8AC3E}">
        <p14:creationId xmlns:p14="http://schemas.microsoft.com/office/powerpoint/2010/main" val="20512616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23977" y="-4751"/>
            <a:ext cx="9169574" cy="6863416"/>
          </a:xfrm>
          <a:prstGeom prst="rect">
            <a:avLst/>
          </a:prstGeom>
          <a:solidFill>
            <a:srgbClr val="F5F8FC"/>
          </a:solidFill>
          <a:ln/>
        </p:spPr>
        <p:txBody>
          <a:bodyPr/>
          <a:lstStyle/>
          <a:p>
            <a:endParaRPr lang="en-US"/>
          </a:p>
        </p:txBody>
      </p:sp>
      <p:sp>
        <p:nvSpPr>
          <p:cNvPr id="3" name="Shape 1"/>
          <p:cNvSpPr/>
          <p:nvPr/>
        </p:nvSpPr>
        <p:spPr>
          <a:xfrm>
            <a:off x="420254" y="5625984"/>
            <a:ext cx="8377384" cy="374766"/>
          </a:xfrm>
          <a:prstGeom prst="rect">
            <a:avLst/>
          </a:prstGeom>
          <a:solidFill>
            <a:srgbClr val="1A5EA8"/>
          </a:solidFill>
          <a:ln/>
        </p:spPr>
        <p:txBody>
          <a:bodyPr/>
          <a:lstStyle/>
          <a:p>
            <a:endParaRPr lang="en-US"/>
          </a:p>
        </p:txBody>
      </p:sp>
      <p:sp>
        <p:nvSpPr>
          <p:cNvPr id="4" name="Shape 2"/>
          <p:cNvSpPr/>
          <p:nvPr/>
        </p:nvSpPr>
        <p:spPr>
          <a:xfrm>
            <a:off x="411480" y="1113282"/>
            <a:ext cx="2194560" cy="292608"/>
          </a:xfrm>
          <a:prstGeom prst="rect">
            <a:avLst/>
          </a:prstGeom>
          <a:solidFill>
            <a:srgbClr val="3C3489"/>
          </a:solidFill>
          <a:ln/>
        </p:spPr>
        <p:txBody>
          <a:bodyPr/>
          <a:lstStyle/>
          <a:p>
            <a:endParaRPr lang="en-US"/>
          </a:p>
        </p:txBody>
      </p:sp>
      <p:sp>
        <p:nvSpPr>
          <p:cNvPr id="5" name="Text 3"/>
          <p:cNvSpPr/>
          <p:nvPr/>
        </p:nvSpPr>
        <p:spPr>
          <a:xfrm>
            <a:off x="411480" y="1113282"/>
            <a:ext cx="2194560" cy="292608"/>
          </a:xfrm>
          <a:prstGeom prst="rect">
            <a:avLst/>
          </a:prstGeom>
          <a:noFill/>
          <a:ln/>
        </p:spPr>
        <p:txBody>
          <a:bodyPr wrap="square" lIns="0" tIns="0" rIns="0" bIns="0" rtlCol="0" anchor="ctr"/>
          <a:lstStyle/>
          <a:p>
            <a:pPr algn="ctr"/>
            <a:r>
              <a:rPr lang="en-US" sz="1000" b="1" dirty="0">
                <a:solidFill>
                  <a:srgbClr val="FFFFFF"/>
                </a:solidFill>
              </a:rPr>
              <a:t>Layer 2 — Python</a:t>
            </a:r>
            <a:endParaRPr lang="en-US" sz="1000" dirty="0"/>
          </a:p>
        </p:txBody>
      </p:sp>
      <p:sp>
        <p:nvSpPr>
          <p:cNvPr id="6" name="Text 4"/>
          <p:cNvSpPr/>
          <p:nvPr/>
        </p:nvSpPr>
        <p:spPr>
          <a:xfrm>
            <a:off x="411480" y="1497330"/>
            <a:ext cx="8321040" cy="502920"/>
          </a:xfrm>
          <a:prstGeom prst="rect">
            <a:avLst/>
          </a:prstGeom>
          <a:noFill/>
          <a:ln/>
        </p:spPr>
        <p:txBody>
          <a:bodyPr wrap="square" rtlCol="0" anchor="ctr"/>
          <a:lstStyle/>
          <a:p>
            <a:r>
              <a:rPr lang="en-US" sz="2600" b="1" dirty="0">
                <a:solidFill>
                  <a:srgbClr val="1A3A5C"/>
                </a:solidFill>
              </a:rPr>
              <a:t>4 Custom Checks via data_quality.py</a:t>
            </a:r>
            <a:endParaRPr lang="en-US" sz="2600" dirty="0"/>
          </a:p>
        </p:txBody>
      </p:sp>
      <p:sp>
        <p:nvSpPr>
          <p:cNvPr id="7" name="Shape 5"/>
          <p:cNvSpPr/>
          <p:nvPr/>
        </p:nvSpPr>
        <p:spPr>
          <a:xfrm>
            <a:off x="411480" y="2064258"/>
            <a:ext cx="8321040" cy="0"/>
          </a:xfrm>
          <a:prstGeom prst="line">
            <a:avLst/>
          </a:prstGeom>
          <a:noFill/>
          <a:ln w="19050">
            <a:solidFill>
              <a:srgbClr val="3C3489"/>
            </a:solidFill>
            <a:prstDash val="solid"/>
          </a:ln>
        </p:spPr>
        <p:txBody>
          <a:bodyPr/>
          <a:lstStyle/>
          <a:p>
            <a:endParaRPr lang="en-US"/>
          </a:p>
        </p:txBody>
      </p:sp>
      <p:sp>
        <p:nvSpPr>
          <p:cNvPr id="8" name="Shape 6"/>
          <p:cNvSpPr/>
          <p:nvPr/>
        </p:nvSpPr>
        <p:spPr>
          <a:xfrm>
            <a:off x="411480" y="2228850"/>
            <a:ext cx="2057400" cy="384048"/>
          </a:xfrm>
          <a:prstGeom prst="rect">
            <a:avLst/>
          </a:prstGeom>
          <a:solidFill>
            <a:srgbClr val="1A3A5C"/>
          </a:solidFill>
          <a:ln/>
        </p:spPr>
        <p:txBody>
          <a:bodyPr/>
          <a:lstStyle/>
          <a:p>
            <a:endParaRPr lang="en-US"/>
          </a:p>
        </p:txBody>
      </p:sp>
      <p:sp>
        <p:nvSpPr>
          <p:cNvPr id="9" name="Text 7"/>
          <p:cNvSpPr/>
          <p:nvPr/>
        </p:nvSpPr>
        <p:spPr>
          <a:xfrm>
            <a:off x="411480" y="2228850"/>
            <a:ext cx="2057400" cy="384048"/>
          </a:xfrm>
          <a:prstGeom prst="rect">
            <a:avLst/>
          </a:prstGeom>
          <a:noFill/>
          <a:ln/>
        </p:spPr>
        <p:txBody>
          <a:bodyPr wrap="square" lIns="0" tIns="0" rIns="0" bIns="0" rtlCol="0" anchor="ctr"/>
          <a:lstStyle/>
          <a:p>
            <a:pPr algn="ctr"/>
            <a:r>
              <a:rPr lang="en-US" sz="1300" b="1" dirty="0">
                <a:solidFill>
                  <a:srgbClr val="FFFFFF"/>
                </a:solidFill>
              </a:rPr>
              <a:t>Check</a:t>
            </a:r>
            <a:endParaRPr lang="en-US" sz="1300" dirty="0"/>
          </a:p>
        </p:txBody>
      </p:sp>
      <p:sp>
        <p:nvSpPr>
          <p:cNvPr id="10" name="Shape 8"/>
          <p:cNvSpPr/>
          <p:nvPr/>
        </p:nvSpPr>
        <p:spPr>
          <a:xfrm>
            <a:off x="2560320" y="2228850"/>
            <a:ext cx="2926080" cy="384048"/>
          </a:xfrm>
          <a:prstGeom prst="rect">
            <a:avLst/>
          </a:prstGeom>
          <a:solidFill>
            <a:srgbClr val="1A3A5C"/>
          </a:solidFill>
          <a:ln/>
        </p:spPr>
        <p:txBody>
          <a:bodyPr/>
          <a:lstStyle/>
          <a:p>
            <a:endParaRPr lang="en-US"/>
          </a:p>
        </p:txBody>
      </p:sp>
      <p:sp>
        <p:nvSpPr>
          <p:cNvPr id="11" name="Text 9"/>
          <p:cNvSpPr/>
          <p:nvPr/>
        </p:nvSpPr>
        <p:spPr>
          <a:xfrm>
            <a:off x="2560320" y="2228850"/>
            <a:ext cx="2926080" cy="384048"/>
          </a:xfrm>
          <a:prstGeom prst="rect">
            <a:avLst/>
          </a:prstGeom>
          <a:noFill/>
          <a:ln/>
        </p:spPr>
        <p:txBody>
          <a:bodyPr wrap="square" lIns="0" tIns="0" rIns="0" bIns="0" rtlCol="0" anchor="ctr"/>
          <a:lstStyle/>
          <a:p>
            <a:pPr algn="ctr"/>
            <a:r>
              <a:rPr lang="en-US" sz="1300" b="1" dirty="0">
                <a:solidFill>
                  <a:srgbClr val="FFFFFF"/>
                </a:solidFill>
              </a:rPr>
              <a:t>SQL Condition</a:t>
            </a:r>
            <a:endParaRPr lang="en-US" sz="1300" dirty="0"/>
          </a:p>
        </p:txBody>
      </p:sp>
      <p:sp>
        <p:nvSpPr>
          <p:cNvPr id="12" name="Shape 10"/>
          <p:cNvSpPr/>
          <p:nvPr/>
        </p:nvSpPr>
        <p:spPr>
          <a:xfrm>
            <a:off x="5577840" y="2228850"/>
            <a:ext cx="3200400" cy="384048"/>
          </a:xfrm>
          <a:prstGeom prst="rect">
            <a:avLst/>
          </a:prstGeom>
          <a:solidFill>
            <a:srgbClr val="1A3A5C"/>
          </a:solidFill>
          <a:ln/>
        </p:spPr>
        <p:txBody>
          <a:bodyPr/>
          <a:lstStyle/>
          <a:p>
            <a:endParaRPr lang="en-US"/>
          </a:p>
        </p:txBody>
      </p:sp>
      <p:sp>
        <p:nvSpPr>
          <p:cNvPr id="13" name="Text 11"/>
          <p:cNvSpPr/>
          <p:nvPr/>
        </p:nvSpPr>
        <p:spPr>
          <a:xfrm>
            <a:off x="5577840" y="2228850"/>
            <a:ext cx="3200400" cy="384048"/>
          </a:xfrm>
          <a:prstGeom prst="rect">
            <a:avLst/>
          </a:prstGeom>
          <a:noFill/>
          <a:ln/>
        </p:spPr>
        <p:txBody>
          <a:bodyPr wrap="square" lIns="0" tIns="0" rIns="0" bIns="0" rtlCol="0" anchor="ctr"/>
          <a:lstStyle/>
          <a:p>
            <a:pPr algn="ctr"/>
            <a:r>
              <a:rPr lang="en-US" sz="1300" b="1" dirty="0">
                <a:solidFill>
                  <a:srgbClr val="FFFFFF"/>
                </a:solidFill>
              </a:rPr>
              <a:t>Why It Matters</a:t>
            </a:r>
            <a:endParaRPr lang="en-US" sz="1300" dirty="0"/>
          </a:p>
        </p:txBody>
      </p:sp>
      <p:sp>
        <p:nvSpPr>
          <p:cNvPr id="14" name="Shape 12"/>
          <p:cNvSpPr/>
          <p:nvPr/>
        </p:nvSpPr>
        <p:spPr>
          <a:xfrm>
            <a:off x="411480" y="2612898"/>
            <a:ext cx="2057400" cy="429768"/>
          </a:xfrm>
          <a:prstGeom prst="rect">
            <a:avLst/>
          </a:prstGeom>
          <a:solidFill>
            <a:srgbClr val="F5F8FC"/>
          </a:solidFill>
          <a:ln w="6350">
            <a:solidFill>
              <a:srgbClr val="DDDDDD"/>
            </a:solidFill>
            <a:prstDash val="solid"/>
          </a:ln>
        </p:spPr>
        <p:txBody>
          <a:bodyPr/>
          <a:lstStyle/>
          <a:p>
            <a:endParaRPr lang="en-US"/>
          </a:p>
        </p:txBody>
      </p:sp>
      <p:sp>
        <p:nvSpPr>
          <p:cNvPr id="15" name="Text 13"/>
          <p:cNvSpPr/>
          <p:nvPr/>
        </p:nvSpPr>
        <p:spPr>
          <a:xfrm>
            <a:off x="502920" y="2612898"/>
            <a:ext cx="1965960" cy="429768"/>
          </a:xfrm>
          <a:prstGeom prst="rect">
            <a:avLst/>
          </a:prstGeom>
          <a:noFill/>
          <a:ln/>
        </p:spPr>
        <p:txBody>
          <a:bodyPr wrap="square" rtlCol="0" anchor="ctr"/>
          <a:lstStyle/>
          <a:p>
            <a:r>
              <a:rPr lang="en-US" sz="1200" dirty="0">
                <a:solidFill>
                  <a:srgbClr val="1A3A5C"/>
                </a:solidFill>
                <a:latin typeface="Arial" pitchFamily="34" charset="0"/>
                <a:ea typeface="Arial" pitchFamily="34" charset="-122"/>
                <a:cs typeface="Arial" pitchFamily="34" charset="-120"/>
              </a:rPr>
              <a:t>Null customer_id</a:t>
            </a:r>
            <a:endParaRPr lang="en-US" sz="1200" dirty="0"/>
          </a:p>
        </p:txBody>
      </p:sp>
      <p:sp>
        <p:nvSpPr>
          <p:cNvPr id="16" name="Shape 14"/>
          <p:cNvSpPr/>
          <p:nvPr/>
        </p:nvSpPr>
        <p:spPr>
          <a:xfrm>
            <a:off x="2560320" y="2612898"/>
            <a:ext cx="2926080" cy="429768"/>
          </a:xfrm>
          <a:prstGeom prst="rect">
            <a:avLst/>
          </a:prstGeom>
          <a:solidFill>
            <a:srgbClr val="F5F8FC"/>
          </a:solidFill>
          <a:ln w="6350">
            <a:solidFill>
              <a:srgbClr val="DDDDDD"/>
            </a:solidFill>
            <a:prstDash val="solid"/>
          </a:ln>
        </p:spPr>
        <p:txBody>
          <a:bodyPr/>
          <a:lstStyle/>
          <a:p>
            <a:endParaRPr lang="en-US"/>
          </a:p>
        </p:txBody>
      </p:sp>
      <p:sp>
        <p:nvSpPr>
          <p:cNvPr id="17" name="Text 15"/>
          <p:cNvSpPr/>
          <p:nvPr/>
        </p:nvSpPr>
        <p:spPr>
          <a:xfrm>
            <a:off x="2651760" y="2612898"/>
            <a:ext cx="2834640" cy="429768"/>
          </a:xfrm>
          <a:prstGeom prst="rect">
            <a:avLst/>
          </a:prstGeom>
          <a:noFill/>
          <a:ln/>
        </p:spPr>
        <p:txBody>
          <a:bodyPr wrap="square" rtlCol="0" anchor="ctr"/>
          <a:lstStyle/>
          <a:p>
            <a:r>
              <a:rPr lang="en-US" sz="1200" dirty="0">
                <a:solidFill>
                  <a:srgbClr val="1A5EA8"/>
                </a:solidFill>
                <a:latin typeface="Courier New" pitchFamily="34" charset="0"/>
                <a:ea typeface="Courier New" pitchFamily="34" charset="-122"/>
                <a:cs typeface="Courier New" pitchFamily="34" charset="-120"/>
              </a:rPr>
              <a:t>customer_id IS NULL</a:t>
            </a:r>
            <a:endParaRPr lang="en-US" sz="1200" dirty="0"/>
          </a:p>
        </p:txBody>
      </p:sp>
      <p:sp>
        <p:nvSpPr>
          <p:cNvPr id="18" name="Shape 16"/>
          <p:cNvSpPr/>
          <p:nvPr/>
        </p:nvSpPr>
        <p:spPr>
          <a:xfrm>
            <a:off x="5577840" y="2612898"/>
            <a:ext cx="3200400" cy="429768"/>
          </a:xfrm>
          <a:prstGeom prst="rect">
            <a:avLst/>
          </a:prstGeom>
          <a:solidFill>
            <a:srgbClr val="F5F8FC"/>
          </a:solidFill>
          <a:ln w="6350">
            <a:solidFill>
              <a:srgbClr val="DDDDDD"/>
            </a:solidFill>
            <a:prstDash val="solid"/>
          </a:ln>
        </p:spPr>
        <p:txBody>
          <a:bodyPr/>
          <a:lstStyle/>
          <a:p>
            <a:endParaRPr lang="en-US"/>
          </a:p>
        </p:txBody>
      </p:sp>
      <p:sp>
        <p:nvSpPr>
          <p:cNvPr id="19" name="Text 17"/>
          <p:cNvSpPr/>
          <p:nvPr/>
        </p:nvSpPr>
        <p:spPr>
          <a:xfrm>
            <a:off x="5669280" y="2612898"/>
            <a:ext cx="3108960" cy="429768"/>
          </a:xfrm>
          <a:prstGeom prst="rect">
            <a:avLst/>
          </a:prstGeom>
          <a:noFill/>
          <a:ln/>
        </p:spPr>
        <p:txBody>
          <a:bodyPr wrap="square" rtlCol="0" anchor="ctr"/>
          <a:lstStyle/>
          <a:p>
            <a:r>
              <a:rPr lang="en-US" sz="1200" dirty="0">
                <a:solidFill>
                  <a:srgbClr val="1A3A5C"/>
                </a:solidFill>
                <a:latin typeface="Arial" pitchFamily="34" charset="0"/>
                <a:ea typeface="Arial" pitchFamily="34" charset="-122"/>
                <a:cs typeface="Arial" pitchFamily="34" charset="-120"/>
              </a:rPr>
              <a:t>Breaks customer segment analysis</a:t>
            </a:r>
            <a:endParaRPr lang="en-US" sz="1200" dirty="0"/>
          </a:p>
        </p:txBody>
      </p:sp>
      <p:sp>
        <p:nvSpPr>
          <p:cNvPr id="20" name="Shape 18"/>
          <p:cNvSpPr/>
          <p:nvPr/>
        </p:nvSpPr>
        <p:spPr>
          <a:xfrm>
            <a:off x="411480" y="3070098"/>
            <a:ext cx="2057400" cy="429768"/>
          </a:xfrm>
          <a:prstGeom prst="rect">
            <a:avLst/>
          </a:prstGeom>
          <a:solidFill>
            <a:srgbClr val="EAF3FB"/>
          </a:solidFill>
          <a:ln w="6350">
            <a:solidFill>
              <a:srgbClr val="DDDDDD"/>
            </a:solidFill>
            <a:prstDash val="solid"/>
          </a:ln>
        </p:spPr>
        <p:txBody>
          <a:bodyPr/>
          <a:lstStyle/>
          <a:p>
            <a:endParaRPr lang="en-US"/>
          </a:p>
        </p:txBody>
      </p:sp>
      <p:sp>
        <p:nvSpPr>
          <p:cNvPr id="21" name="Text 19"/>
          <p:cNvSpPr/>
          <p:nvPr/>
        </p:nvSpPr>
        <p:spPr>
          <a:xfrm>
            <a:off x="502920" y="3070098"/>
            <a:ext cx="1965960" cy="429768"/>
          </a:xfrm>
          <a:prstGeom prst="rect">
            <a:avLst/>
          </a:prstGeom>
          <a:noFill/>
          <a:ln/>
        </p:spPr>
        <p:txBody>
          <a:bodyPr wrap="square" rtlCol="0" anchor="ctr"/>
          <a:lstStyle/>
          <a:p>
            <a:r>
              <a:rPr lang="en-US" sz="1200" dirty="0">
                <a:solidFill>
                  <a:srgbClr val="1A3A5C"/>
                </a:solidFill>
                <a:latin typeface="Arial" pitchFamily="34" charset="0"/>
                <a:ea typeface="Arial" pitchFamily="34" charset="-122"/>
                <a:cs typeface="Arial" pitchFamily="34" charset="-120"/>
              </a:rPr>
              <a:t>Null product_id</a:t>
            </a:r>
            <a:endParaRPr lang="en-US" sz="1200" dirty="0"/>
          </a:p>
        </p:txBody>
      </p:sp>
      <p:sp>
        <p:nvSpPr>
          <p:cNvPr id="22" name="Shape 20"/>
          <p:cNvSpPr/>
          <p:nvPr/>
        </p:nvSpPr>
        <p:spPr>
          <a:xfrm>
            <a:off x="2560320" y="3070098"/>
            <a:ext cx="2926080" cy="429768"/>
          </a:xfrm>
          <a:prstGeom prst="rect">
            <a:avLst/>
          </a:prstGeom>
          <a:solidFill>
            <a:srgbClr val="EAF3FB"/>
          </a:solidFill>
          <a:ln w="6350">
            <a:solidFill>
              <a:srgbClr val="DDDDDD"/>
            </a:solidFill>
            <a:prstDash val="solid"/>
          </a:ln>
        </p:spPr>
        <p:txBody>
          <a:bodyPr/>
          <a:lstStyle/>
          <a:p>
            <a:endParaRPr lang="en-US"/>
          </a:p>
        </p:txBody>
      </p:sp>
      <p:sp>
        <p:nvSpPr>
          <p:cNvPr id="23" name="Text 21"/>
          <p:cNvSpPr/>
          <p:nvPr/>
        </p:nvSpPr>
        <p:spPr>
          <a:xfrm>
            <a:off x="2651760" y="3070098"/>
            <a:ext cx="2834640" cy="429768"/>
          </a:xfrm>
          <a:prstGeom prst="rect">
            <a:avLst/>
          </a:prstGeom>
          <a:noFill/>
          <a:ln/>
        </p:spPr>
        <p:txBody>
          <a:bodyPr wrap="square" rtlCol="0" anchor="ctr"/>
          <a:lstStyle/>
          <a:p>
            <a:r>
              <a:rPr lang="en-US" sz="1200" dirty="0">
                <a:solidFill>
                  <a:srgbClr val="1A5EA8"/>
                </a:solidFill>
                <a:latin typeface="Courier New" pitchFamily="34" charset="0"/>
                <a:ea typeface="Courier New" pitchFamily="34" charset="-122"/>
                <a:cs typeface="Courier New" pitchFamily="34" charset="-120"/>
              </a:rPr>
              <a:t>product_id IS NULL</a:t>
            </a:r>
            <a:endParaRPr lang="en-US" sz="1200" dirty="0"/>
          </a:p>
        </p:txBody>
      </p:sp>
      <p:sp>
        <p:nvSpPr>
          <p:cNvPr id="24" name="Shape 22"/>
          <p:cNvSpPr/>
          <p:nvPr/>
        </p:nvSpPr>
        <p:spPr>
          <a:xfrm>
            <a:off x="5577840" y="3070098"/>
            <a:ext cx="3200400" cy="429768"/>
          </a:xfrm>
          <a:prstGeom prst="rect">
            <a:avLst/>
          </a:prstGeom>
          <a:solidFill>
            <a:srgbClr val="EAF3FB"/>
          </a:solidFill>
          <a:ln w="6350">
            <a:solidFill>
              <a:srgbClr val="DDDDDD"/>
            </a:solidFill>
            <a:prstDash val="solid"/>
          </a:ln>
        </p:spPr>
        <p:txBody>
          <a:bodyPr/>
          <a:lstStyle/>
          <a:p>
            <a:endParaRPr lang="en-US"/>
          </a:p>
        </p:txBody>
      </p:sp>
      <p:sp>
        <p:nvSpPr>
          <p:cNvPr id="25" name="Text 23"/>
          <p:cNvSpPr/>
          <p:nvPr/>
        </p:nvSpPr>
        <p:spPr>
          <a:xfrm>
            <a:off x="5669280" y="3070098"/>
            <a:ext cx="3108960" cy="429768"/>
          </a:xfrm>
          <a:prstGeom prst="rect">
            <a:avLst/>
          </a:prstGeom>
          <a:noFill/>
          <a:ln/>
        </p:spPr>
        <p:txBody>
          <a:bodyPr wrap="square" rtlCol="0" anchor="ctr"/>
          <a:lstStyle/>
          <a:p>
            <a:r>
              <a:rPr lang="en-US" sz="1200" dirty="0">
                <a:solidFill>
                  <a:srgbClr val="1A3A5C"/>
                </a:solidFill>
                <a:latin typeface="Arial" pitchFamily="34" charset="0"/>
                <a:ea typeface="Arial" pitchFamily="34" charset="-122"/>
                <a:cs typeface="Arial" pitchFamily="34" charset="-120"/>
              </a:rPr>
              <a:t>Breaks category &amp; revenue analysis</a:t>
            </a:r>
            <a:endParaRPr lang="en-US" sz="1200" dirty="0"/>
          </a:p>
        </p:txBody>
      </p:sp>
      <p:sp>
        <p:nvSpPr>
          <p:cNvPr id="26" name="Shape 24"/>
          <p:cNvSpPr/>
          <p:nvPr/>
        </p:nvSpPr>
        <p:spPr>
          <a:xfrm>
            <a:off x="411480" y="3527298"/>
            <a:ext cx="2057400" cy="429768"/>
          </a:xfrm>
          <a:prstGeom prst="rect">
            <a:avLst/>
          </a:prstGeom>
          <a:solidFill>
            <a:srgbClr val="F5F8FC"/>
          </a:solidFill>
          <a:ln w="6350">
            <a:solidFill>
              <a:srgbClr val="DDDDDD"/>
            </a:solidFill>
            <a:prstDash val="solid"/>
          </a:ln>
        </p:spPr>
        <p:txBody>
          <a:bodyPr/>
          <a:lstStyle/>
          <a:p>
            <a:endParaRPr lang="en-US"/>
          </a:p>
        </p:txBody>
      </p:sp>
      <p:sp>
        <p:nvSpPr>
          <p:cNvPr id="27" name="Text 25"/>
          <p:cNvSpPr/>
          <p:nvPr/>
        </p:nvSpPr>
        <p:spPr>
          <a:xfrm>
            <a:off x="502920" y="3527298"/>
            <a:ext cx="1965960" cy="429768"/>
          </a:xfrm>
          <a:prstGeom prst="rect">
            <a:avLst/>
          </a:prstGeom>
          <a:noFill/>
          <a:ln/>
        </p:spPr>
        <p:txBody>
          <a:bodyPr wrap="square" rtlCol="0" anchor="ctr"/>
          <a:lstStyle/>
          <a:p>
            <a:r>
              <a:rPr lang="en-US" sz="1200" dirty="0">
                <a:solidFill>
                  <a:srgbClr val="1A3A5C"/>
                </a:solidFill>
                <a:latin typeface="Arial" pitchFamily="34" charset="0"/>
                <a:ea typeface="Arial" pitchFamily="34" charset="-122"/>
                <a:cs typeface="Arial" pitchFamily="34" charset="-120"/>
              </a:rPr>
              <a:t>Null seller_id</a:t>
            </a:r>
            <a:endParaRPr lang="en-US" sz="1200" dirty="0"/>
          </a:p>
        </p:txBody>
      </p:sp>
      <p:sp>
        <p:nvSpPr>
          <p:cNvPr id="28" name="Shape 26"/>
          <p:cNvSpPr/>
          <p:nvPr/>
        </p:nvSpPr>
        <p:spPr>
          <a:xfrm>
            <a:off x="2560320" y="3527298"/>
            <a:ext cx="2926080" cy="429768"/>
          </a:xfrm>
          <a:prstGeom prst="rect">
            <a:avLst/>
          </a:prstGeom>
          <a:solidFill>
            <a:srgbClr val="F5F8FC"/>
          </a:solidFill>
          <a:ln w="6350">
            <a:solidFill>
              <a:srgbClr val="DDDDDD"/>
            </a:solidFill>
            <a:prstDash val="solid"/>
          </a:ln>
        </p:spPr>
        <p:txBody>
          <a:bodyPr/>
          <a:lstStyle/>
          <a:p>
            <a:endParaRPr lang="en-US"/>
          </a:p>
        </p:txBody>
      </p:sp>
      <p:sp>
        <p:nvSpPr>
          <p:cNvPr id="29" name="Text 27"/>
          <p:cNvSpPr/>
          <p:nvPr/>
        </p:nvSpPr>
        <p:spPr>
          <a:xfrm>
            <a:off x="2651760" y="3527298"/>
            <a:ext cx="2834640" cy="429768"/>
          </a:xfrm>
          <a:prstGeom prst="rect">
            <a:avLst/>
          </a:prstGeom>
          <a:noFill/>
          <a:ln/>
        </p:spPr>
        <p:txBody>
          <a:bodyPr wrap="square" rtlCol="0" anchor="ctr"/>
          <a:lstStyle/>
          <a:p>
            <a:r>
              <a:rPr lang="en-US" sz="1200" dirty="0">
                <a:solidFill>
                  <a:srgbClr val="1A5EA8"/>
                </a:solidFill>
                <a:latin typeface="Courier New" pitchFamily="34" charset="0"/>
                <a:ea typeface="Courier New" pitchFamily="34" charset="-122"/>
                <a:cs typeface="Courier New" pitchFamily="34" charset="-120"/>
              </a:rPr>
              <a:t>seller_id IS NULL</a:t>
            </a:r>
            <a:endParaRPr lang="en-US" sz="1200" dirty="0"/>
          </a:p>
        </p:txBody>
      </p:sp>
      <p:sp>
        <p:nvSpPr>
          <p:cNvPr id="30" name="Shape 28"/>
          <p:cNvSpPr/>
          <p:nvPr/>
        </p:nvSpPr>
        <p:spPr>
          <a:xfrm>
            <a:off x="5577840" y="3527298"/>
            <a:ext cx="3200400" cy="429768"/>
          </a:xfrm>
          <a:prstGeom prst="rect">
            <a:avLst/>
          </a:prstGeom>
          <a:solidFill>
            <a:srgbClr val="F5F8FC"/>
          </a:solidFill>
          <a:ln w="6350">
            <a:solidFill>
              <a:srgbClr val="DDDDDD"/>
            </a:solidFill>
            <a:prstDash val="solid"/>
          </a:ln>
        </p:spPr>
        <p:txBody>
          <a:bodyPr/>
          <a:lstStyle/>
          <a:p>
            <a:endParaRPr lang="en-US"/>
          </a:p>
        </p:txBody>
      </p:sp>
      <p:sp>
        <p:nvSpPr>
          <p:cNvPr id="31" name="Text 29"/>
          <p:cNvSpPr/>
          <p:nvPr/>
        </p:nvSpPr>
        <p:spPr>
          <a:xfrm>
            <a:off x="5669280" y="3527298"/>
            <a:ext cx="3108960" cy="429768"/>
          </a:xfrm>
          <a:prstGeom prst="rect">
            <a:avLst/>
          </a:prstGeom>
          <a:noFill/>
          <a:ln/>
        </p:spPr>
        <p:txBody>
          <a:bodyPr wrap="square" rtlCol="0" anchor="ctr"/>
          <a:lstStyle/>
          <a:p>
            <a:r>
              <a:rPr lang="en-US" sz="1200" dirty="0">
                <a:solidFill>
                  <a:srgbClr val="1A3A5C"/>
                </a:solidFill>
                <a:latin typeface="Arial" pitchFamily="34" charset="0"/>
                <a:ea typeface="Arial" pitchFamily="34" charset="-122"/>
                <a:cs typeface="Arial" pitchFamily="34" charset="-120"/>
              </a:rPr>
              <a:t>Seller performance metrics unreliable</a:t>
            </a:r>
            <a:endParaRPr lang="en-US" sz="1200" dirty="0"/>
          </a:p>
        </p:txBody>
      </p:sp>
      <p:sp>
        <p:nvSpPr>
          <p:cNvPr id="32" name="Shape 30"/>
          <p:cNvSpPr/>
          <p:nvPr/>
        </p:nvSpPr>
        <p:spPr>
          <a:xfrm>
            <a:off x="411480" y="3984498"/>
            <a:ext cx="2057400" cy="429768"/>
          </a:xfrm>
          <a:prstGeom prst="rect">
            <a:avLst/>
          </a:prstGeom>
          <a:solidFill>
            <a:srgbClr val="EAF3FB"/>
          </a:solidFill>
          <a:ln w="6350">
            <a:solidFill>
              <a:srgbClr val="DDDDDD"/>
            </a:solidFill>
            <a:prstDash val="solid"/>
          </a:ln>
        </p:spPr>
        <p:txBody>
          <a:bodyPr/>
          <a:lstStyle/>
          <a:p>
            <a:endParaRPr lang="en-US"/>
          </a:p>
        </p:txBody>
      </p:sp>
      <p:sp>
        <p:nvSpPr>
          <p:cNvPr id="33" name="Text 31"/>
          <p:cNvSpPr/>
          <p:nvPr/>
        </p:nvSpPr>
        <p:spPr>
          <a:xfrm>
            <a:off x="502920" y="3984498"/>
            <a:ext cx="1965960" cy="429768"/>
          </a:xfrm>
          <a:prstGeom prst="rect">
            <a:avLst/>
          </a:prstGeom>
          <a:noFill/>
          <a:ln/>
        </p:spPr>
        <p:txBody>
          <a:bodyPr wrap="square" rtlCol="0" anchor="ctr"/>
          <a:lstStyle/>
          <a:p>
            <a:r>
              <a:rPr lang="en-US" sz="1200" dirty="0">
                <a:solidFill>
                  <a:srgbClr val="1A3A5C"/>
                </a:solidFill>
                <a:latin typeface="Arial" pitchFamily="34" charset="0"/>
                <a:ea typeface="Arial" pitchFamily="34" charset="-122"/>
                <a:cs typeface="Arial" pitchFamily="34" charset="-120"/>
              </a:rPr>
              <a:t>Negative sales amount</a:t>
            </a:r>
            <a:endParaRPr lang="en-US" sz="1200" dirty="0"/>
          </a:p>
        </p:txBody>
      </p:sp>
      <p:sp>
        <p:nvSpPr>
          <p:cNvPr id="34" name="Shape 32"/>
          <p:cNvSpPr/>
          <p:nvPr/>
        </p:nvSpPr>
        <p:spPr>
          <a:xfrm>
            <a:off x="2560320" y="3984498"/>
            <a:ext cx="2926080" cy="429768"/>
          </a:xfrm>
          <a:prstGeom prst="rect">
            <a:avLst/>
          </a:prstGeom>
          <a:solidFill>
            <a:srgbClr val="EAF3FB"/>
          </a:solidFill>
          <a:ln w="6350">
            <a:solidFill>
              <a:srgbClr val="DDDDDD"/>
            </a:solidFill>
            <a:prstDash val="solid"/>
          </a:ln>
        </p:spPr>
        <p:txBody>
          <a:bodyPr/>
          <a:lstStyle/>
          <a:p>
            <a:endParaRPr lang="en-US"/>
          </a:p>
        </p:txBody>
      </p:sp>
      <p:sp>
        <p:nvSpPr>
          <p:cNvPr id="35" name="Text 33"/>
          <p:cNvSpPr/>
          <p:nvPr/>
        </p:nvSpPr>
        <p:spPr>
          <a:xfrm>
            <a:off x="2651760" y="3984498"/>
            <a:ext cx="2834640" cy="429768"/>
          </a:xfrm>
          <a:prstGeom prst="rect">
            <a:avLst/>
          </a:prstGeom>
          <a:noFill/>
          <a:ln/>
        </p:spPr>
        <p:txBody>
          <a:bodyPr wrap="square" rtlCol="0" anchor="ctr"/>
          <a:lstStyle/>
          <a:p>
            <a:r>
              <a:rPr lang="en-US" sz="1200" dirty="0">
                <a:solidFill>
                  <a:srgbClr val="1A5EA8"/>
                </a:solidFill>
                <a:latin typeface="Courier New" pitchFamily="34" charset="0"/>
                <a:ea typeface="Courier New" pitchFamily="34" charset="-122"/>
                <a:cs typeface="Courier New" pitchFamily="34" charset="-120"/>
              </a:rPr>
              <a:t>sales_amount &lt; 0</a:t>
            </a:r>
            <a:endParaRPr lang="en-US" sz="1200" dirty="0"/>
          </a:p>
        </p:txBody>
      </p:sp>
      <p:sp>
        <p:nvSpPr>
          <p:cNvPr id="36" name="Shape 34"/>
          <p:cNvSpPr/>
          <p:nvPr/>
        </p:nvSpPr>
        <p:spPr>
          <a:xfrm>
            <a:off x="5577840" y="3984498"/>
            <a:ext cx="3200400" cy="429768"/>
          </a:xfrm>
          <a:prstGeom prst="rect">
            <a:avLst/>
          </a:prstGeom>
          <a:solidFill>
            <a:srgbClr val="EAF3FB"/>
          </a:solidFill>
          <a:ln w="6350">
            <a:solidFill>
              <a:srgbClr val="DDDDDD"/>
            </a:solidFill>
            <a:prstDash val="solid"/>
          </a:ln>
        </p:spPr>
        <p:txBody>
          <a:bodyPr/>
          <a:lstStyle/>
          <a:p>
            <a:endParaRPr lang="en-US"/>
          </a:p>
        </p:txBody>
      </p:sp>
      <p:sp>
        <p:nvSpPr>
          <p:cNvPr id="37" name="Text 35"/>
          <p:cNvSpPr/>
          <p:nvPr/>
        </p:nvSpPr>
        <p:spPr>
          <a:xfrm>
            <a:off x="5669280" y="3984498"/>
            <a:ext cx="3108960" cy="429768"/>
          </a:xfrm>
          <a:prstGeom prst="rect">
            <a:avLst/>
          </a:prstGeom>
          <a:noFill/>
          <a:ln/>
        </p:spPr>
        <p:txBody>
          <a:bodyPr wrap="square" rtlCol="0" anchor="ctr"/>
          <a:lstStyle/>
          <a:p>
            <a:r>
              <a:rPr lang="en-US" sz="1200" dirty="0">
                <a:solidFill>
                  <a:srgbClr val="1A3A5C"/>
                </a:solidFill>
                <a:latin typeface="Arial" pitchFamily="34" charset="0"/>
                <a:ea typeface="Arial" pitchFamily="34" charset="-122"/>
                <a:cs typeface="Arial" pitchFamily="34" charset="-120"/>
              </a:rPr>
              <a:t>Flags refunds or data entry errors</a:t>
            </a:r>
            <a:endParaRPr lang="en-US" sz="1200" dirty="0"/>
          </a:p>
        </p:txBody>
      </p:sp>
      <p:sp>
        <p:nvSpPr>
          <p:cNvPr id="38" name="Text 36"/>
          <p:cNvSpPr/>
          <p:nvPr/>
        </p:nvSpPr>
        <p:spPr>
          <a:xfrm>
            <a:off x="8046720" y="5630418"/>
            <a:ext cx="914400" cy="274320"/>
          </a:xfrm>
          <a:prstGeom prst="rect">
            <a:avLst/>
          </a:prstGeom>
          <a:noFill/>
          <a:ln/>
        </p:spPr>
        <p:txBody>
          <a:bodyPr wrap="square" rtlCol="0" anchor="ctr"/>
          <a:lstStyle/>
          <a:p>
            <a:pPr algn="r"/>
            <a:endParaRPr lang="en-US" sz="1000" dirty="0"/>
          </a:p>
        </p:txBody>
      </p:sp>
    </p:spTree>
    <p:extLst>
      <p:ext uri="{BB962C8B-B14F-4D97-AF65-F5344CB8AC3E}">
        <p14:creationId xmlns:p14="http://schemas.microsoft.com/office/powerpoint/2010/main" val="20759541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533" y="-2264"/>
            <a:ext cx="9145063" cy="6865015"/>
          </a:xfrm>
          <a:prstGeom prst="rect">
            <a:avLst/>
          </a:prstGeom>
          <a:solidFill>
            <a:srgbClr val="F5F8FC"/>
          </a:solidFill>
          <a:ln/>
        </p:spPr>
        <p:txBody>
          <a:bodyPr/>
          <a:lstStyle/>
          <a:p>
            <a:endParaRPr lang="en-US"/>
          </a:p>
        </p:txBody>
      </p:sp>
      <p:sp>
        <p:nvSpPr>
          <p:cNvPr id="3" name="Shape 1"/>
          <p:cNvSpPr/>
          <p:nvPr/>
        </p:nvSpPr>
        <p:spPr>
          <a:xfrm>
            <a:off x="406399" y="5625984"/>
            <a:ext cx="8317347" cy="374766"/>
          </a:xfrm>
          <a:prstGeom prst="rect">
            <a:avLst/>
          </a:prstGeom>
          <a:solidFill>
            <a:srgbClr val="1A5EA8"/>
          </a:solidFill>
          <a:ln/>
        </p:spPr>
        <p:txBody>
          <a:bodyPr/>
          <a:lstStyle/>
          <a:p>
            <a:endParaRPr lang="en-US"/>
          </a:p>
        </p:txBody>
      </p:sp>
      <p:sp>
        <p:nvSpPr>
          <p:cNvPr id="4" name="Shape 2"/>
          <p:cNvSpPr/>
          <p:nvPr/>
        </p:nvSpPr>
        <p:spPr>
          <a:xfrm>
            <a:off x="411480" y="1113282"/>
            <a:ext cx="2194560" cy="292608"/>
          </a:xfrm>
          <a:prstGeom prst="rect">
            <a:avLst/>
          </a:prstGeom>
          <a:solidFill>
            <a:srgbClr val="3C3489"/>
          </a:solidFill>
          <a:ln/>
        </p:spPr>
        <p:txBody>
          <a:bodyPr/>
          <a:lstStyle/>
          <a:p>
            <a:endParaRPr lang="en-US"/>
          </a:p>
        </p:txBody>
      </p:sp>
      <p:sp>
        <p:nvSpPr>
          <p:cNvPr id="5" name="Text 3"/>
          <p:cNvSpPr/>
          <p:nvPr/>
        </p:nvSpPr>
        <p:spPr>
          <a:xfrm>
            <a:off x="411480" y="1113282"/>
            <a:ext cx="2194560" cy="292608"/>
          </a:xfrm>
          <a:prstGeom prst="rect">
            <a:avLst/>
          </a:prstGeom>
          <a:noFill/>
          <a:ln/>
        </p:spPr>
        <p:txBody>
          <a:bodyPr wrap="square" lIns="0" tIns="0" rIns="0" bIns="0" rtlCol="0" anchor="ctr"/>
          <a:lstStyle/>
          <a:p>
            <a:pPr algn="ctr"/>
            <a:r>
              <a:rPr lang="en-US" sz="1000" b="1" dirty="0">
                <a:solidFill>
                  <a:srgbClr val="FFFFFF"/>
                </a:solidFill>
              </a:rPr>
              <a:t>Layer 2 — Python</a:t>
            </a:r>
            <a:endParaRPr lang="en-US" sz="1000" dirty="0"/>
          </a:p>
        </p:txBody>
      </p:sp>
      <p:sp>
        <p:nvSpPr>
          <p:cNvPr id="6" name="Text 4"/>
          <p:cNvSpPr/>
          <p:nvPr/>
        </p:nvSpPr>
        <p:spPr>
          <a:xfrm>
            <a:off x="411480" y="1497330"/>
            <a:ext cx="8321040" cy="502920"/>
          </a:xfrm>
          <a:prstGeom prst="rect">
            <a:avLst/>
          </a:prstGeom>
          <a:noFill/>
          <a:ln/>
        </p:spPr>
        <p:txBody>
          <a:bodyPr wrap="square" rtlCol="0" anchor="ctr"/>
          <a:lstStyle/>
          <a:p>
            <a:r>
              <a:rPr lang="en-US" sz="2800" b="1" dirty="0">
                <a:solidFill>
                  <a:srgbClr val="1A3A5C"/>
                </a:solidFill>
              </a:rPr>
              <a:t>data_quality.py — How It Works</a:t>
            </a:r>
            <a:endParaRPr lang="en-US" sz="2800" dirty="0"/>
          </a:p>
        </p:txBody>
      </p:sp>
      <p:sp>
        <p:nvSpPr>
          <p:cNvPr id="7" name="Shape 5"/>
          <p:cNvSpPr/>
          <p:nvPr/>
        </p:nvSpPr>
        <p:spPr>
          <a:xfrm>
            <a:off x="411480" y="2064258"/>
            <a:ext cx="8321040" cy="0"/>
          </a:xfrm>
          <a:prstGeom prst="line">
            <a:avLst/>
          </a:prstGeom>
          <a:noFill/>
          <a:ln w="19050">
            <a:solidFill>
              <a:srgbClr val="3C3489"/>
            </a:solidFill>
            <a:prstDash val="solid"/>
          </a:ln>
        </p:spPr>
        <p:txBody>
          <a:bodyPr/>
          <a:lstStyle/>
          <a:p>
            <a:endParaRPr lang="en-US"/>
          </a:p>
        </p:txBody>
      </p:sp>
      <p:sp>
        <p:nvSpPr>
          <p:cNvPr id="8" name="Shape 6"/>
          <p:cNvSpPr/>
          <p:nvPr/>
        </p:nvSpPr>
        <p:spPr>
          <a:xfrm>
            <a:off x="411480" y="2183130"/>
            <a:ext cx="5029200" cy="3200400"/>
          </a:xfrm>
          <a:prstGeom prst="rect">
            <a:avLst/>
          </a:prstGeom>
          <a:solidFill>
            <a:srgbClr val="1E1E2E"/>
          </a:solidFill>
          <a:ln/>
        </p:spPr>
        <p:txBody>
          <a:bodyPr/>
          <a:lstStyle/>
          <a:p>
            <a:endParaRPr lang="en-US"/>
          </a:p>
        </p:txBody>
      </p:sp>
      <p:sp>
        <p:nvSpPr>
          <p:cNvPr id="9" name="Text 7"/>
          <p:cNvSpPr/>
          <p:nvPr/>
        </p:nvSpPr>
        <p:spPr>
          <a:xfrm>
            <a:off x="594360" y="2302002"/>
            <a:ext cx="4663440" cy="237744"/>
          </a:xfrm>
          <a:prstGeom prst="rect">
            <a:avLst/>
          </a:prstGeom>
          <a:noFill/>
          <a:ln/>
        </p:spPr>
        <p:txBody>
          <a:bodyPr wrap="square" rtlCol="0" anchor="ctr"/>
          <a:lstStyle/>
          <a:p>
            <a:r>
              <a:rPr lang="en-US" sz="1050" dirty="0">
                <a:solidFill>
                  <a:srgbClr val="C792EA"/>
                </a:solidFill>
                <a:latin typeface="Courier New" pitchFamily="34" charset="0"/>
                <a:ea typeface="Courier New" pitchFamily="34" charset="-122"/>
                <a:cs typeface="Courier New" pitchFamily="34" charset="-120"/>
              </a:rPr>
              <a:t>import duckdb</a:t>
            </a:r>
            <a:endParaRPr lang="en-US" sz="1050" dirty="0"/>
          </a:p>
        </p:txBody>
      </p:sp>
      <p:sp>
        <p:nvSpPr>
          <p:cNvPr id="10" name="Text 8"/>
          <p:cNvSpPr/>
          <p:nvPr/>
        </p:nvSpPr>
        <p:spPr>
          <a:xfrm>
            <a:off x="594360" y="2521458"/>
            <a:ext cx="4663440" cy="237744"/>
          </a:xfrm>
          <a:prstGeom prst="rect">
            <a:avLst/>
          </a:prstGeom>
          <a:noFill/>
          <a:ln/>
        </p:spPr>
        <p:txBody>
          <a:bodyPr wrap="square" rtlCol="0" anchor="ctr"/>
          <a:lstStyle/>
          <a:p>
            <a:r>
              <a:rPr lang="en-US" sz="1050" dirty="0">
                <a:solidFill>
                  <a:srgbClr val="A6E22E"/>
                </a:solidFill>
                <a:latin typeface="Courier New" pitchFamily="34" charset="0"/>
                <a:ea typeface="Courier New" pitchFamily="34" charset="-122"/>
                <a:cs typeface="Courier New" pitchFamily="34" charset="-120"/>
              </a:rPr>
              <a:t>conn = duckdb.connect('olist.db')</a:t>
            </a:r>
            <a:endParaRPr lang="en-US" sz="1050" dirty="0"/>
          </a:p>
        </p:txBody>
      </p:sp>
      <p:sp>
        <p:nvSpPr>
          <p:cNvPr id="11" name="Text 9"/>
          <p:cNvSpPr/>
          <p:nvPr/>
        </p:nvSpPr>
        <p:spPr>
          <a:xfrm>
            <a:off x="594360" y="2740914"/>
            <a:ext cx="4663440" cy="237744"/>
          </a:xfrm>
          <a:prstGeom prst="rect">
            <a:avLst/>
          </a:prstGeom>
          <a:noFill/>
          <a:ln/>
        </p:spPr>
        <p:txBody>
          <a:bodyPr wrap="square" rtlCol="0" anchor="ctr"/>
          <a:lstStyle/>
          <a:p>
            <a:endParaRPr lang="en-US" sz="1050" dirty="0"/>
          </a:p>
        </p:txBody>
      </p:sp>
      <p:sp>
        <p:nvSpPr>
          <p:cNvPr id="12" name="Text 10"/>
          <p:cNvSpPr/>
          <p:nvPr/>
        </p:nvSpPr>
        <p:spPr>
          <a:xfrm>
            <a:off x="594360" y="2960370"/>
            <a:ext cx="4663440" cy="237744"/>
          </a:xfrm>
          <a:prstGeom prst="rect">
            <a:avLst/>
          </a:prstGeom>
          <a:noFill/>
          <a:ln/>
        </p:spPr>
        <p:txBody>
          <a:bodyPr wrap="square" rtlCol="0" anchor="ctr"/>
          <a:lstStyle/>
          <a:p>
            <a:r>
              <a:rPr lang="en-US" sz="1050" dirty="0">
                <a:solidFill>
                  <a:srgbClr val="FFFFFF"/>
                </a:solidFill>
                <a:latin typeface="Courier New" pitchFamily="34" charset="0"/>
                <a:ea typeface="Courier New" pitchFamily="34" charset="-122"/>
                <a:cs typeface="Courier New" pitchFamily="34" charset="-120"/>
              </a:rPr>
              <a:t>checks = {</a:t>
            </a:r>
            <a:endParaRPr lang="en-US" sz="1050" dirty="0"/>
          </a:p>
        </p:txBody>
      </p:sp>
      <p:sp>
        <p:nvSpPr>
          <p:cNvPr id="13" name="Text 11"/>
          <p:cNvSpPr/>
          <p:nvPr/>
        </p:nvSpPr>
        <p:spPr>
          <a:xfrm>
            <a:off x="594360" y="3179826"/>
            <a:ext cx="4663440" cy="237744"/>
          </a:xfrm>
          <a:prstGeom prst="rect">
            <a:avLst/>
          </a:prstGeom>
          <a:noFill/>
          <a:ln/>
        </p:spPr>
        <p:txBody>
          <a:bodyPr wrap="square" rtlCol="0" anchor="ctr"/>
          <a:lstStyle/>
          <a:p>
            <a:r>
              <a:rPr lang="en-US" sz="1050" dirty="0">
                <a:solidFill>
                  <a:srgbClr val="82AAFF"/>
                </a:solidFill>
                <a:latin typeface="Courier New" pitchFamily="34" charset="0"/>
                <a:ea typeface="Courier New" pitchFamily="34" charset="-122"/>
                <a:cs typeface="Courier New" pitchFamily="34" charset="-120"/>
              </a:rPr>
              <a:t>  "Null customer_id": "...WHERE customer_id IS NULL",</a:t>
            </a:r>
            <a:endParaRPr lang="en-US" sz="1050" dirty="0"/>
          </a:p>
        </p:txBody>
      </p:sp>
      <p:sp>
        <p:nvSpPr>
          <p:cNvPr id="14" name="Text 12"/>
          <p:cNvSpPr/>
          <p:nvPr/>
        </p:nvSpPr>
        <p:spPr>
          <a:xfrm>
            <a:off x="594360" y="3399282"/>
            <a:ext cx="4663440" cy="237744"/>
          </a:xfrm>
          <a:prstGeom prst="rect">
            <a:avLst/>
          </a:prstGeom>
          <a:noFill/>
          <a:ln/>
        </p:spPr>
        <p:txBody>
          <a:bodyPr wrap="square" rtlCol="0" anchor="ctr"/>
          <a:lstStyle/>
          <a:p>
            <a:r>
              <a:rPr lang="en-US" sz="1050" dirty="0">
                <a:solidFill>
                  <a:srgbClr val="82AAFF"/>
                </a:solidFill>
                <a:latin typeface="Courier New" pitchFamily="34" charset="0"/>
                <a:ea typeface="Courier New" pitchFamily="34" charset="-122"/>
                <a:cs typeface="Courier New" pitchFamily="34" charset="-120"/>
              </a:rPr>
              <a:t>  "Null product_id":  "...WHERE product_id IS NULL",</a:t>
            </a:r>
            <a:endParaRPr lang="en-US" sz="1050" dirty="0"/>
          </a:p>
        </p:txBody>
      </p:sp>
      <p:sp>
        <p:nvSpPr>
          <p:cNvPr id="15" name="Text 13"/>
          <p:cNvSpPr/>
          <p:nvPr/>
        </p:nvSpPr>
        <p:spPr>
          <a:xfrm>
            <a:off x="594360" y="3618738"/>
            <a:ext cx="4663440" cy="237744"/>
          </a:xfrm>
          <a:prstGeom prst="rect">
            <a:avLst/>
          </a:prstGeom>
          <a:noFill/>
          <a:ln/>
        </p:spPr>
        <p:txBody>
          <a:bodyPr wrap="square" rtlCol="0" anchor="ctr"/>
          <a:lstStyle/>
          <a:p>
            <a:r>
              <a:rPr lang="en-US" sz="1050" dirty="0">
                <a:solidFill>
                  <a:srgbClr val="82AAFF"/>
                </a:solidFill>
                <a:latin typeface="Courier New" pitchFamily="34" charset="0"/>
                <a:ea typeface="Courier New" pitchFamily="34" charset="-122"/>
                <a:cs typeface="Courier New" pitchFamily="34" charset="-120"/>
              </a:rPr>
              <a:t>  "Null seller_id":   "...WHERE seller_id IS NULL",</a:t>
            </a:r>
            <a:endParaRPr lang="en-US" sz="1050" dirty="0"/>
          </a:p>
        </p:txBody>
      </p:sp>
      <p:sp>
        <p:nvSpPr>
          <p:cNvPr id="16" name="Text 14"/>
          <p:cNvSpPr/>
          <p:nvPr/>
        </p:nvSpPr>
        <p:spPr>
          <a:xfrm>
            <a:off x="594360" y="3838194"/>
            <a:ext cx="4663440" cy="237744"/>
          </a:xfrm>
          <a:prstGeom prst="rect">
            <a:avLst/>
          </a:prstGeom>
          <a:noFill/>
          <a:ln/>
        </p:spPr>
        <p:txBody>
          <a:bodyPr wrap="square" rtlCol="0" anchor="ctr"/>
          <a:lstStyle/>
          <a:p>
            <a:r>
              <a:rPr lang="en-US" sz="1050" dirty="0">
                <a:solidFill>
                  <a:srgbClr val="82AAFF"/>
                </a:solidFill>
                <a:latin typeface="Courier New" pitchFamily="34" charset="0"/>
                <a:ea typeface="Courier New" pitchFamily="34" charset="-122"/>
                <a:cs typeface="Courier New" pitchFamily="34" charset="-120"/>
              </a:rPr>
              <a:t>  "Negative sales":   "...WHERE sales_amount &lt; 0"</a:t>
            </a:r>
            <a:endParaRPr lang="en-US" sz="1050" dirty="0"/>
          </a:p>
        </p:txBody>
      </p:sp>
      <p:sp>
        <p:nvSpPr>
          <p:cNvPr id="17" name="Text 15"/>
          <p:cNvSpPr/>
          <p:nvPr/>
        </p:nvSpPr>
        <p:spPr>
          <a:xfrm>
            <a:off x="594360" y="4057650"/>
            <a:ext cx="4663440" cy="237744"/>
          </a:xfrm>
          <a:prstGeom prst="rect">
            <a:avLst/>
          </a:prstGeom>
          <a:noFill/>
          <a:ln/>
        </p:spPr>
        <p:txBody>
          <a:bodyPr wrap="square" rtlCol="0" anchor="ctr"/>
          <a:lstStyle/>
          <a:p>
            <a:r>
              <a:rPr lang="en-US" sz="1050" dirty="0">
                <a:solidFill>
                  <a:srgbClr val="FFFFFF"/>
                </a:solidFill>
                <a:latin typeface="Courier New" pitchFamily="34" charset="0"/>
                <a:ea typeface="Courier New" pitchFamily="34" charset="-122"/>
                <a:cs typeface="Courier New" pitchFamily="34" charset="-120"/>
              </a:rPr>
              <a:t>}</a:t>
            </a:r>
            <a:endParaRPr lang="en-US" sz="1050" dirty="0"/>
          </a:p>
        </p:txBody>
      </p:sp>
      <p:sp>
        <p:nvSpPr>
          <p:cNvPr id="18" name="Text 16"/>
          <p:cNvSpPr/>
          <p:nvPr/>
        </p:nvSpPr>
        <p:spPr>
          <a:xfrm>
            <a:off x="594360" y="4277106"/>
            <a:ext cx="4663440" cy="237744"/>
          </a:xfrm>
          <a:prstGeom prst="rect">
            <a:avLst/>
          </a:prstGeom>
          <a:noFill/>
          <a:ln/>
        </p:spPr>
        <p:txBody>
          <a:bodyPr wrap="square" rtlCol="0" anchor="ctr"/>
          <a:lstStyle/>
          <a:p>
            <a:endParaRPr lang="en-US" sz="1050" dirty="0"/>
          </a:p>
        </p:txBody>
      </p:sp>
      <p:sp>
        <p:nvSpPr>
          <p:cNvPr id="19" name="Text 17"/>
          <p:cNvSpPr/>
          <p:nvPr/>
        </p:nvSpPr>
        <p:spPr>
          <a:xfrm>
            <a:off x="594360" y="4496562"/>
            <a:ext cx="4663440" cy="237744"/>
          </a:xfrm>
          <a:prstGeom prst="rect">
            <a:avLst/>
          </a:prstGeom>
          <a:noFill/>
          <a:ln/>
        </p:spPr>
        <p:txBody>
          <a:bodyPr wrap="square" rtlCol="0" anchor="ctr"/>
          <a:lstStyle/>
          <a:p>
            <a:r>
              <a:rPr lang="en-US" sz="1050" dirty="0">
                <a:solidFill>
                  <a:srgbClr val="C792EA"/>
                </a:solidFill>
                <a:latin typeface="Courier New" pitchFamily="34" charset="0"/>
                <a:ea typeface="Courier New" pitchFamily="34" charset="-122"/>
                <a:cs typeface="Courier New" pitchFamily="34" charset="-120"/>
              </a:rPr>
              <a:t>for check_name, query in checks.items():</a:t>
            </a:r>
            <a:endParaRPr lang="en-US" sz="1050" dirty="0"/>
          </a:p>
        </p:txBody>
      </p:sp>
      <p:sp>
        <p:nvSpPr>
          <p:cNvPr id="20" name="Text 18"/>
          <p:cNvSpPr/>
          <p:nvPr/>
        </p:nvSpPr>
        <p:spPr>
          <a:xfrm>
            <a:off x="594360" y="4716018"/>
            <a:ext cx="4663440" cy="237744"/>
          </a:xfrm>
          <a:prstGeom prst="rect">
            <a:avLst/>
          </a:prstGeom>
          <a:noFill/>
          <a:ln/>
        </p:spPr>
        <p:txBody>
          <a:bodyPr wrap="square" rtlCol="0" anchor="ctr"/>
          <a:lstStyle/>
          <a:p>
            <a:r>
              <a:rPr lang="en-US" sz="1050" dirty="0">
                <a:solidFill>
                  <a:srgbClr val="A6E22E"/>
                </a:solidFill>
                <a:latin typeface="Courier New" pitchFamily="34" charset="0"/>
                <a:ea typeface="Courier New" pitchFamily="34" charset="-122"/>
                <a:cs typeface="Courier New" pitchFamily="34" charset="-120"/>
              </a:rPr>
              <a:t>    result = conn.sql(query).fetchone()[0]</a:t>
            </a:r>
            <a:endParaRPr lang="en-US" sz="1050" dirty="0"/>
          </a:p>
        </p:txBody>
      </p:sp>
      <p:sp>
        <p:nvSpPr>
          <p:cNvPr id="21" name="Text 19"/>
          <p:cNvSpPr/>
          <p:nvPr/>
        </p:nvSpPr>
        <p:spPr>
          <a:xfrm>
            <a:off x="594360" y="4935474"/>
            <a:ext cx="4663440" cy="237744"/>
          </a:xfrm>
          <a:prstGeom prst="rect">
            <a:avLst/>
          </a:prstGeom>
          <a:noFill/>
          <a:ln/>
        </p:spPr>
        <p:txBody>
          <a:bodyPr wrap="square" rtlCol="0" anchor="ctr"/>
          <a:lstStyle/>
          <a:p>
            <a:r>
              <a:rPr lang="en-US" sz="1050" dirty="0">
                <a:solidFill>
                  <a:srgbClr val="FFFFFF"/>
                </a:solidFill>
                <a:latin typeface="Courier New" pitchFamily="34" charset="0"/>
                <a:ea typeface="Courier New" pitchFamily="34" charset="-122"/>
                <a:cs typeface="Courier New" pitchFamily="34" charset="-120"/>
              </a:rPr>
              <a:t>    print(f"{check_name}: {result}")</a:t>
            </a:r>
            <a:endParaRPr lang="en-US" sz="1050" dirty="0"/>
          </a:p>
        </p:txBody>
      </p:sp>
      <p:sp>
        <p:nvSpPr>
          <p:cNvPr id="22" name="Shape 20"/>
          <p:cNvSpPr/>
          <p:nvPr/>
        </p:nvSpPr>
        <p:spPr>
          <a:xfrm>
            <a:off x="5623560" y="2183130"/>
            <a:ext cx="3108960" cy="694944"/>
          </a:xfrm>
          <a:prstGeom prst="rect">
            <a:avLst/>
          </a:prstGeom>
          <a:solidFill>
            <a:srgbClr val="EAF3DE"/>
          </a:solidFill>
          <a:ln w="6350">
            <a:solidFill>
              <a:srgbClr val="DDDDDD"/>
            </a:solidFill>
            <a:prstDash val="solid"/>
          </a:ln>
        </p:spPr>
        <p:txBody>
          <a:bodyPr/>
          <a:lstStyle/>
          <a:p>
            <a:endParaRPr lang="en-US"/>
          </a:p>
        </p:txBody>
      </p:sp>
      <p:sp>
        <p:nvSpPr>
          <p:cNvPr id="23" name="Text 21"/>
          <p:cNvSpPr/>
          <p:nvPr/>
        </p:nvSpPr>
        <p:spPr>
          <a:xfrm>
            <a:off x="5715000" y="2228850"/>
            <a:ext cx="2926080" cy="256032"/>
          </a:xfrm>
          <a:prstGeom prst="rect">
            <a:avLst/>
          </a:prstGeom>
          <a:noFill/>
          <a:ln/>
        </p:spPr>
        <p:txBody>
          <a:bodyPr wrap="square" rtlCol="0" anchor="ctr"/>
          <a:lstStyle/>
          <a:p>
            <a:r>
              <a:rPr lang="en-US" sz="1200" b="1" dirty="0">
                <a:solidFill>
                  <a:srgbClr val="3B6D11"/>
                </a:solidFill>
              </a:rPr>
              <a:t>Connect</a:t>
            </a:r>
            <a:endParaRPr lang="en-US" sz="1200" dirty="0"/>
          </a:p>
        </p:txBody>
      </p:sp>
      <p:sp>
        <p:nvSpPr>
          <p:cNvPr id="24" name="Text 22"/>
          <p:cNvSpPr/>
          <p:nvPr/>
        </p:nvSpPr>
        <p:spPr>
          <a:xfrm>
            <a:off x="5715000" y="2475738"/>
            <a:ext cx="2926080" cy="329184"/>
          </a:xfrm>
          <a:prstGeom prst="rect">
            <a:avLst/>
          </a:prstGeom>
          <a:noFill/>
          <a:ln/>
        </p:spPr>
        <p:txBody>
          <a:bodyPr wrap="square" rtlCol="0" anchor="ctr"/>
          <a:lstStyle/>
          <a:p>
            <a:r>
              <a:rPr lang="en-US" sz="1100" dirty="0">
                <a:solidFill>
                  <a:srgbClr val="555555"/>
                </a:solidFill>
              </a:rPr>
              <a:t>Opens olist.db directly via DuckDB</a:t>
            </a:r>
            <a:endParaRPr lang="en-US" sz="1100" dirty="0"/>
          </a:p>
        </p:txBody>
      </p:sp>
      <p:sp>
        <p:nvSpPr>
          <p:cNvPr id="25" name="Shape 23"/>
          <p:cNvSpPr/>
          <p:nvPr/>
        </p:nvSpPr>
        <p:spPr>
          <a:xfrm>
            <a:off x="5623560" y="3006090"/>
            <a:ext cx="3108960" cy="694944"/>
          </a:xfrm>
          <a:prstGeom prst="rect">
            <a:avLst/>
          </a:prstGeom>
          <a:solidFill>
            <a:srgbClr val="EEEDFE"/>
          </a:solidFill>
          <a:ln w="6350">
            <a:solidFill>
              <a:srgbClr val="DDDDDD"/>
            </a:solidFill>
            <a:prstDash val="solid"/>
          </a:ln>
        </p:spPr>
        <p:txBody>
          <a:bodyPr/>
          <a:lstStyle/>
          <a:p>
            <a:endParaRPr lang="en-US"/>
          </a:p>
        </p:txBody>
      </p:sp>
      <p:sp>
        <p:nvSpPr>
          <p:cNvPr id="26" name="Text 24"/>
          <p:cNvSpPr/>
          <p:nvPr/>
        </p:nvSpPr>
        <p:spPr>
          <a:xfrm>
            <a:off x="5715000" y="3051810"/>
            <a:ext cx="2926080" cy="256032"/>
          </a:xfrm>
          <a:prstGeom prst="rect">
            <a:avLst/>
          </a:prstGeom>
          <a:noFill/>
          <a:ln/>
        </p:spPr>
        <p:txBody>
          <a:bodyPr wrap="square" rtlCol="0" anchor="ctr"/>
          <a:lstStyle/>
          <a:p>
            <a:r>
              <a:rPr lang="en-US" sz="1200" b="1" dirty="0">
                <a:solidFill>
                  <a:srgbClr val="3C3489"/>
                </a:solidFill>
              </a:rPr>
              <a:t>Dict-driven</a:t>
            </a:r>
            <a:endParaRPr lang="en-US" sz="1200" dirty="0"/>
          </a:p>
        </p:txBody>
      </p:sp>
      <p:sp>
        <p:nvSpPr>
          <p:cNvPr id="27" name="Text 25"/>
          <p:cNvSpPr/>
          <p:nvPr/>
        </p:nvSpPr>
        <p:spPr>
          <a:xfrm>
            <a:off x="5715000" y="3298698"/>
            <a:ext cx="2926080" cy="329184"/>
          </a:xfrm>
          <a:prstGeom prst="rect">
            <a:avLst/>
          </a:prstGeom>
          <a:noFill/>
          <a:ln/>
        </p:spPr>
        <p:txBody>
          <a:bodyPr wrap="square" rtlCol="0" anchor="ctr"/>
          <a:lstStyle/>
          <a:p>
            <a:r>
              <a:rPr lang="en-US" sz="1100" dirty="0">
                <a:solidFill>
                  <a:srgbClr val="555555"/>
                </a:solidFill>
              </a:rPr>
              <a:t>Name + SQL pairs — add checks with one line</a:t>
            </a:r>
            <a:endParaRPr lang="en-US" sz="1100" dirty="0"/>
          </a:p>
        </p:txBody>
      </p:sp>
      <p:sp>
        <p:nvSpPr>
          <p:cNvPr id="28" name="Shape 26"/>
          <p:cNvSpPr/>
          <p:nvPr/>
        </p:nvSpPr>
        <p:spPr>
          <a:xfrm>
            <a:off x="5623560" y="3829050"/>
            <a:ext cx="3108960" cy="694944"/>
          </a:xfrm>
          <a:prstGeom prst="rect">
            <a:avLst/>
          </a:prstGeom>
          <a:solidFill>
            <a:srgbClr val="FFF4E0"/>
          </a:solidFill>
          <a:ln w="6350">
            <a:solidFill>
              <a:srgbClr val="DDDDDD"/>
            </a:solidFill>
            <a:prstDash val="solid"/>
          </a:ln>
        </p:spPr>
        <p:txBody>
          <a:bodyPr/>
          <a:lstStyle/>
          <a:p>
            <a:endParaRPr lang="en-US"/>
          </a:p>
        </p:txBody>
      </p:sp>
      <p:sp>
        <p:nvSpPr>
          <p:cNvPr id="29" name="Text 27"/>
          <p:cNvSpPr/>
          <p:nvPr/>
        </p:nvSpPr>
        <p:spPr>
          <a:xfrm>
            <a:off x="5715000" y="3874770"/>
            <a:ext cx="2926080" cy="256032"/>
          </a:xfrm>
          <a:prstGeom prst="rect">
            <a:avLst/>
          </a:prstGeom>
          <a:noFill/>
          <a:ln/>
        </p:spPr>
        <p:txBody>
          <a:bodyPr wrap="square" rtlCol="0" anchor="ctr"/>
          <a:lstStyle/>
          <a:p>
            <a:r>
              <a:rPr lang="en-US" sz="1200" b="1" dirty="0">
                <a:solidFill>
                  <a:srgbClr val="854F0B"/>
                </a:solidFill>
              </a:rPr>
              <a:t>Loop &amp; log</a:t>
            </a:r>
            <a:endParaRPr lang="en-US" sz="1200" dirty="0"/>
          </a:p>
        </p:txBody>
      </p:sp>
      <p:sp>
        <p:nvSpPr>
          <p:cNvPr id="30" name="Text 28"/>
          <p:cNvSpPr/>
          <p:nvPr/>
        </p:nvSpPr>
        <p:spPr>
          <a:xfrm>
            <a:off x="5715000" y="4121658"/>
            <a:ext cx="2926080" cy="329184"/>
          </a:xfrm>
          <a:prstGeom prst="rect">
            <a:avLst/>
          </a:prstGeom>
          <a:noFill/>
          <a:ln/>
        </p:spPr>
        <p:txBody>
          <a:bodyPr wrap="square" rtlCol="0" anchor="ctr"/>
          <a:lstStyle/>
          <a:p>
            <a:r>
              <a:rPr lang="en-US" sz="1100" dirty="0">
                <a:solidFill>
                  <a:srgbClr val="555555"/>
                </a:solidFill>
              </a:rPr>
              <a:t>Count &gt; 0 flags affected rows for review</a:t>
            </a:r>
            <a:endParaRPr lang="en-US" sz="1100" dirty="0"/>
          </a:p>
        </p:txBody>
      </p:sp>
      <p:sp>
        <p:nvSpPr>
          <p:cNvPr id="31" name="Text 29"/>
          <p:cNvSpPr/>
          <p:nvPr/>
        </p:nvSpPr>
        <p:spPr>
          <a:xfrm>
            <a:off x="8046720" y="5630418"/>
            <a:ext cx="914400" cy="274320"/>
          </a:xfrm>
          <a:prstGeom prst="rect">
            <a:avLst/>
          </a:prstGeom>
          <a:noFill/>
          <a:ln/>
        </p:spPr>
        <p:txBody>
          <a:bodyPr wrap="square" rtlCol="0" anchor="ctr"/>
          <a:lstStyle/>
          <a:p>
            <a:pPr algn="r"/>
            <a:endParaRPr lang="en-US" sz="1000" dirty="0"/>
          </a:p>
        </p:txBody>
      </p:sp>
    </p:spTree>
    <p:extLst>
      <p:ext uri="{BB962C8B-B14F-4D97-AF65-F5344CB8AC3E}">
        <p14:creationId xmlns:p14="http://schemas.microsoft.com/office/powerpoint/2010/main" val="30136404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534" y="-3152"/>
            <a:ext cx="9148443" cy="6857554"/>
          </a:xfrm>
          <a:prstGeom prst="rect">
            <a:avLst/>
          </a:prstGeom>
          <a:solidFill>
            <a:srgbClr val="F5F8FC"/>
          </a:solidFill>
          <a:ln/>
        </p:spPr>
        <p:txBody>
          <a:bodyPr/>
          <a:lstStyle/>
          <a:p>
            <a:endParaRPr lang="en-US"/>
          </a:p>
        </p:txBody>
      </p:sp>
      <p:sp>
        <p:nvSpPr>
          <p:cNvPr id="3" name="Shape 1"/>
          <p:cNvSpPr/>
          <p:nvPr/>
        </p:nvSpPr>
        <p:spPr>
          <a:xfrm>
            <a:off x="401781" y="5625984"/>
            <a:ext cx="8335819" cy="374766"/>
          </a:xfrm>
          <a:prstGeom prst="rect">
            <a:avLst/>
          </a:prstGeom>
          <a:solidFill>
            <a:srgbClr val="1A5EA8"/>
          </a:solidFill>
          <a:ln/>
        </p:spPr>
        <p:txBody>
          <a:bodyPr/>
          <a:lstStyle/>
          <a:p>
            <a:endParaRPr lang="en-US"/>
          </a:p>
        </p:txBody>
      </p:sp>
      <p:sp>
        <p:nvSpPr>
          <p:cNvPr id="4" name="Shape 2"/>
          <p:cNvSpPr/>
          <p:nvPr/>
        </p:nvSpPr>
        <p:spPr>
          <a:xfrm>
            <a:off x="411480" y="1113282"/>
            <a:ext cx="2194560" cy="292608"/>
          </a:xfrm>
          <a:prstGeom prst="rect">
            <a:avLst/>
          </a:prstGeom>
          <a:solidFill>
            <a:srgbClr val="1A5EA8"/>
          </a:solidFill>
          <a:ln/>
        </p:spPr>
        <p:txBody>
          <a:bodyPr/>
          <a:lstStyle/>
          <a:p>
            <a:endParaRPr lang="en-US"/>
          </a:p>
        </p:txBody>
      </p:sp>
      <p:sp>
        <p:nvSpPr>
          <p:cNvPr id="5" name="Text 3"/>
          <p:cNvSpPr/>
          <p:nvPr/>
        </p:nvSpPr>
        <p:spPr>
          <a:xfrm>
            <a:off x="411480" y="1113282"/>
            <a:ext cx="2194560" cy="292608"/>
          </a:xfrm>
          <a:prstGeom prst="rect">
            <a:avLst/>
          </a:prstGeom>
          <a:noFill/>
          <a:ln/>
        </p:spPr>
        <p:txBody>
          <a:bodyPr wrap="square" lIns="0" tIns="0" rIns="0" bIns="0" rtlCol="0" anchor="ctr"/>
          <a:lstStyle/>
          <a:p>
            <a:pPr algn="ctr"/>
            <a:r>
              <a:rPr lang="en-US" sz="1000" b="1" dirty="0">
                <a:solidFill>
                  <a:srgbClr val="FFFFFF"/>
                </a:solidFill>
              </a:rPr>
              <a:t>Summary</a:t>
            </a:r>
            <a:endParaRPr lang="en-US" sz="1000" dirty="0"/>
          </a:p>
        </p:txBody>
      </p:sp>
      <p:sp>
        <p:nvSpPr>
          <p:cNvPr id="6" name="Text 4"/>
          <p:cNvSpPr/>
          <p:nvPr/>
        </p:nvSpPr>
        <p:spPr>
          <a:xfrm>
            <a:off x="411480" y="1497330"/>
            <a:ext cx="8321040" cy="502920"/>
          </a:xfrm>
          <a:prstGeom prst="rect">
            <a:avLst/>
          </a:prstGeom>
          <a:noFill/>
          <a:ln/>
        </p:spPr>
        <p:txBody>
          <a:bodyPr wrap="square" rtlCol="0" anchor="ctr"/>
          <a:lstStyle/>
          <a:p>
            <a:r>
              <a:rPr lang="en-US" sz="2800" b="1" dirty="0">
                <a:solidFill>
                  <a:srgbClr val="1A3A5C"/>
                </a:solidFill>
              </a:rPr>
              <a:t>What the Two Layers Deliver</a:t>
            </a:r>
            <a:endParaRPr lang="en-US" sz="2800" dirty="0"/>
          </a:p>
        </p:txBody>
      </p:sp>
      <p:sp>
        <p:nvSpPr>
          <p:cNvPr id="7" name="Shape 5"/>
          <p:cNvSpPr/>
          <p:nvPr/>
        </p:nvSpPr>
        <p:spPr>
          <a:xfrm>
            <a:off x="411480" y="2064258"/>
            <a:ext cx="8321040" cy="0"/>
          </a:xfrm>
          <a:prstGeom prst="line">
            <a:avLst/>
          </a:prstGeom>
          <a:noFill/>
          <a:ln w="19050">
            <a:solidFill>
              <a:srgbClr val="1A5EA8"/>
            </a:solidFill>
            <a:prstDash val="solid"/>
          </a:ln>
        </p:spPr>
        <p:txBody>
          <a:bodyPr/>
          <a:lstStyle/>
          <a:p>
            <a:endParaRPr lang="en-US"/>
          </a:p>
        </p:txBody>
      </p:sp>
      <p:sp>
        <p:nvSpPr>
          <p:cNvPr id="8" name="Shape 6"/>
          <p:cNvSpPr/>
          <p:nvPr/>
        </p:nvSpPr>
        <p:spPr>
          <a:xfrm>
            <a:off x="411480" y="2274570"/>
            <a:ext cx="2560320" cy="2560320"/>
          </a:xfrm>
          <a:prstGeom prst="rect">
            <a:avLst/>
          </a:prstGeom>
          <a:solidFill>
            <a:srgbClr val="EAF3DE"/>
          </a:solidFill>
          <a:ln w="6350">
            <a:solidFill>
              <a:srgbClr val="DDDDDD"/>
            </a:solidFill>
            <a:prstDash val="solid"/>
          </a:ln>
        </p:spPr>
        <p:txBody>
          <a:bodyPr/>
          <a:lstStyle/>
          <a:p>
            <a:endParaRPr lang="en-US"/>
          </a:p>
        </p:txBody>
      </p:sp>
      <p:sp>
        <p:nvSpPr>
          <p:cNvPr id="9" name="Text 7"/>
          <p:cNvSpPr/>
          <p:nvPr/>
        </p:nvSpPr>
        <p:spPr>
          <a:xfrm>
            <a:off x="411480" y="2411730"/>
            <a:ext cx="2560320" cy="822960"/>
          </a:xfrm>
          <a:prstGeom prst="rect">
            <a:avLst/>
          </a:prstGeom>
          <a:noFill/>
          <a:ln/>
        </p:spPr>
        <p:txBody>
          <a:bodyPr wrap="square" rtlCol="0" anchor="ctr"/>
          <a:lstStyle/>
          <a:p>
            <a:pPr algn="ctr"/>
            <a:r>
              <a:rPr lang="en-US" sz="5200" b="1" dirty="0">
                <a:solidFill>
                  <a:srgbClr val="3B6D11"/>
                </a:solidFill>
              </a:rPr>
              <a:t>7</a:t>
            </a:r>
            <a:endParaRPr lang="en-US" sz="5200" dirty="0"/>
          </a:p>
        </p:txBody>
      </p:sp>
      <p:sp>
        <p:nvSpPr>
          <p:cNvPr id="10" name="Text 8"/>
          <p:cNvSpPr/>
          <p:nvPr/>
        </p:nvSpPr>
        <p:spPr>
          <a:xfrm>
            <a:off x="411480" y="3188970"/>
            <a:ext cx="2560320" cy="365760"/>
          </a:xfrm>
          <a:prstGeom prst="rect">
            <a:avLst/>
          </a:prstGeom>
          <a:noFill/>
          <a:ln/>
        </p:spPr>
        <p:txBody>
          <a:bodyPr wrap="square" rtlCol="0" anchor="ctr"/>
          <a:lstStyle/>
          <a:p>
            <a:pPr algn="ctr"/>
            <a:r>
              <a:rPr lang="en-US" sz="1400" b="1" dirty="0">
                <a:solidFill>
                  <a:srgbClr val="1A3A5C"/>
                </a:solidFill>
              </a:rPr>
              <a:t>dbt tests</a:t>
            </a:r>
            <a:endParaRPr lang="en-US" sz="1400" dirty="0"/>
          </a:p>
        </p:txBody>
      </p:sp>
      <p:sp>
        <p:nvSpPr>
          <p:cNvPr id="11" name="Text 9"/>
          <p:cNvSpPr/>
          <p:nvPr/>
        </p:nvSpPr>
        <p:spPr>
          <a:xfrm>
            <a:off x="502920" y="3554730"/>
            <a:ext cx="2377440" cy="1097280"/>
          </a:xfrm>
          <a:prstGeom prst="rect">
            <a:avLst/>
          </a:prstGeom>
          <a:noFill/>
          <a:ln/>
        </p:spPr>
        <p:txBody>
          <a:bodyPr wrap="square" rtlCol="0" anchor="t"/>
          <a:lstStyle/>
          <a:p>
            <a:pPr algn="ctr"/>
            <a:r>
              <a:rPr lang="en-US" sz="1100" dirty="0">
                <a:solidFill>
                  <a:srgbClr val="555555"/>
                </a:solidFill>
              </a:rPr>
              <a:t>unique + not_null across all 3 dim tables and fact_sales</a:t>
            </a:r>
            <a:endParaRPr lang="en-US" sz="1100" dirty="0"/>
          </a:p>
        </p:txBody>
      </p:sp>
      <p:sp>
        <p:nvSpPr>
          <p:cNvPr id="12" name="Shape 10"/>
          <p:cNvSpPr/>
          <p:nvPr/>
        </p:nvSpPr>
        <p:spPr>
          <a:xfrm>
            <a:off x="3246120" y="2274570"/>
            <a:ext cx="2560320" cy="2560320"/>
          </a:xfrm>
          <a:prstGeom prst="rect">
            <a:avLst/>
          </a:prstGeom>
          <a:solidFill>
            <a:srgbClr val="EEEDFE"/>
          </a:solidFill>
          <a:ln w="6350">
            <a:solidFill>
              <a:srgbClr val="DDDDDD"/>
            </a:solidFill>
            <a:prstDash val="solid"/>
          </a:ln>
        </p:spPr>
        <p:txBody>
          <a:bodyPr/>
          <a:lstStyle/>
          <a:p>
            <a:endParaRPr lang="en-US"/>
          </a:p>
        </p:txBody>
      </p:sp>
      <p:sp>
        <p:nvSpPr>
          <p:cNvPr id="13" name="Text 11"/>
          <p:cNvSpPr/>
          <p:nvPr/>
        </p:nvSpPr>
        <p:spPr>
          <a:xfrm>
            <a:off x="3246120" y="2411730"/>
            <a:ext cx="2560320" cy="822960"/>
          </a:xfrm>
          <a:prstGeom prst="rect">
            <a:avLst/>
          </a:prstGeom>
          <a:noFill/>
          <a:ln/>
        </p:spPr>
        <p:txBody>
          <a:bodyPr wrap="square" rtlCol="0" anchor="ctr"/>
          <a:lstStyle/>
          <a:p>
            <a:pPr algn="ctr"/>
            <a:r>
              <a:rPr lang="en-US" sz="5200" b="1" dirty="0">
                <a:solidFill>
                  <a:srgbClr val="3C3489"/>
                </a:solidFill>
              </a:rPr>
              <a:t>4</a:t>
            </a:r>
            <a:endParaRPr lang="en-US" sz="5200" dirty="0"/>
          </a:p>
        </p:txBody>
      </p:sp>
      <p:sp>
        <p:nvSpPr>
          <p:cNvPr id="14" name="Text 12"/>
          <p:cNvSpPr/>
          <p:nvPr/>
        </p:nvSpPr>
        <p:spPr>
          <a:xfrm>
            <a:off x="3246120" y="3188970"/>
            <a:ext cx="2560320" cy="365760"/>
          </a:xfrm>
          <a:prstGeom prst="rect">
            <a:avLst/>
          </a:prstGeom>
          <a:noFill/>
          <a:ln/>
        </p:spPr>
        <p:txBody>
          <a:bodyPr wrap="square" rtlCol="0" anchor="ctr"/>
          <a:lstStyle/>
          <a:p>
            <a:pPr algn="ctr"/>
            <a:r>
              <a:rPr lang="en-US" sz="1400" b="1" dirty="0">
                <a:solidFill>
                  <a:srgbClr val="1A3A5C"/>
                </a:solidFill>
              </a:rPr>
              <a:t>Python checks</a:t>
            </a:r>
            <a:endParaRPr lang="en-US" sz="1400" dirty="0"/>
          </a:p>
        </p:txBody>
      </p:sp>
      <p:sp>
        <p:nvSpPr>
          <p:cNvPr id="15" name="Text 13"/>
          <p:cNvSpPr/>
          <p:nvPr/>
        </p:nvSpPr>
        <p:spPr>
          <a:xfrm>
            <a:off x="3337560" y="3554730"/>
            <a:ext cx="2377440" cy="1097280"/>
          </a:xfrm>
          <a:prstGeom prst="rect">
            <a:avLst/>
          </a:prstGeom>
          <a:noFill/>
          <a:ln/>
        </p:spPr>
        <p:txBody>
          <a:bodyPr wrap="square" rtlCol="0" anchor="t"/>
          <a:lstStyle/>
          <a:p>
            <a:pPr algn="ctr"/>
            <a:r>
              <a:rPr lang="en-US" sz="1100" dirty="0">
                <a:solidFill>
                  <a:srgbClr val="555555"/>
                </a:solidFill>
              </a:rPr>
              <a:t>Null FKs + negative amounts via data_quality.py</a:t>
            </a:r>
            <a:endParaRPr lang="en-US" sz="1100" dirty="0"/>
          </a:p>
        </p:txBody>
      </p:sp>
      <p:sp>
        <p:nvSpPr>
          <p:cNvPr id="16" name="Shape 14"/>
          <p:cNvSpPr/>
          <p:nvPr/>
        </p:nvSpPr>
        <p:spPr>
          <a:xfrm>
            <a:off x="6080760" y="2274570"/>
            <a:ext cx="2560320" cy="2560320"/>
          </a:xfrm>
          <a:prstGeom prst="rect">
            <a:avLst/>
          </a:prstGeom>
          <a:solidFill>
            <a:srgbClr val="FFF4E0"/>
          </a:solidFill>
          <a:ln w="6350">
            <a:solidFill>
              <a:srgbClr val="DDDDDD"/>
            </a:solidFill>
            <a:prstDash val="solid"/>
          </a:ln>
        </p:spPr>
        <p:txBody>
          <a:bodyPr/>
          <a:lstStyle/>
          <a:p>
            <a:endParaRPr lang="en-US"/>
          </a:p>
        </p:txBody>
      </p:sp>
      <p:sp>
        <p:nvSpPr>
          <p:cNvPr id="17" name="Text 15"/>
          <p:cNvSpPr/>
          <p:nvPr/>
        </p:nvSpPr>
        <p:spPr>
          <a:xfrm>
            <a:off x="6080760" y="2411730"/>
            <a:ext cx="2560320" cy="822960"/>
          </a:xfrm>
          <a:prstGeom prst="rect">
            <a:avLst/>
          </a:prstGeom>
          <a:noFill/>
          <a:ln/>
        </p:spPr>
        <p:txBody>
          <a:bodyPr wrap="square" rtlCol="0" anchor="ctr"/>
          <a:lstStyle/>
          <a:p>
            <a:pPr algn="ctr"/>
            <a:r>
              <a:rPr lang="en-US" sz="5200" b="1" dirty="0">
                <a:solidFill>
                  <a:srgbClr val="854F0B"/>
                </a:solidFill>
              </a:rPr>
              <a:t>0</a:t>
            </a:r>
            <a:endParaRPr lang="en-US" sz="5200" dirty="0"/>
          </a:p>
        </p:txBody>
      </p:sp>
      <p:sp>
        <p:nvSpPr>
          <p:cNvPr id="18" name="Text 16"/>
          <p:cNvSpPr/>
          <p:nvPr/>
        </p:nvSpPr>
        <p:spPr>
          <a:xfrm>
            <a:off x="6080760" y="3188970"/>
            <a:ext cx="2560320" cy="365760"/>
          </a:xfrm>
          <a:prstGeom prst="rect">
            <a:avLst/>
          </a:prstGeom>
          <a:noFill/>
          <a:ln/>
        </p:spPr>
        <p:txBody>
          <a:bodyPr wrap="square" rtlCol="0" anchor="ctr"/>
          <a:lstStyle/>
          <a:p>
            <a:pPr algn="ctr"/>
            <a:r>
              <a:rPr lang="en-US" sz="1400" b="1" dirty="0">
                <a:solidFill>
                  <a:srgbClr val="1A3A5C"/>
                </a:solidFill>
              </a:rPr>
              <a:t>Hard failures</a:t>
            </a:r>
            <a:endParaRPr lang="en-US" sz="1400" dirty="0"/>
          </a:p>
        </p:txBody>
      </p:sp>
      <p:sp>
        <p:nvSpPr>
          <p:cNvPr id="19" name="Text 17"/>
          <p:cNvSpPr/>
          <p:nvPr/>
        </p:nvSpPr>
        <p:spPr>
          <a:xfrm>
            <a:off x="6172200" y="3554730"/>
            <a:ext cx="2377440" cy="1097280"/>
          </a:xfrm>
          <a:prstGeom prst="rect">
            <a:avLst/>
          </a:prstGeom>
          <a:noFill/>
          <a:ln/>
        </p:spPr>
        <p:txBody>
          <a:bodyPr wrap="square" rtlCol="0" anchor="t"/>
          <a:lstStyle/>
          <a:p>
            <a:pPr algn="ctr"/>
            <a:r>
              <a:rPr lang="en-US" sz="1100" dirty="0">
                <a:solidFill>
                  <a:srgbClr val="555555"/>
                </a:solidFill>
              </a:rPr>
              <a:t>All findings treated as documented limitations — pipeline kept auditable</a:t>
            </a:r>
            <a:endParaRPr lang="en-US" sz="1100" dirty="0"/>
          </a:p>
        </p:txBody>
      </p:sp>
      <p:sp>
        <p:nvSpPr>
          <p:cNvPr id="20" name="Text 18"/>
          <p:cNvSpPr/>
          <p:nvPr/>
        </p:nvSpPr>
        <p:spPr>
          <a:xfrm>
            <a:off x="411480" y="5063490"/>
            <a:ext cx="8321040" cy="365760"/>
          </a:xfrm>
          <a:prstGeom prst="rect">
            <a:avLst/>
          </a:prstGeom>
          <a:noFill/>
          <a:ln/>
        </p:spPr>
        <p:txBody>
          <a:bodyPr wrap="square" rtlCol="0" anchor="ctr"/>
          <a:lstStyle/>
          <a:p>
            <a:pPr algn="ctr"/>
            <a:r>
              <a:rPr lang="en-US" sz="1200" i="1" dirty="0">
                <a:solidFill>
                  <a:srgbClr val="888888"/>
                </a:solidFill>
              </a:rPr>
              <a:t>Both layers together ensure structural integrity and business rule compliance across the entire pipeline.</a:t>
            </a:r>
            <a:endParaRPr lang="en-US" sz="1200" dirty="0"/>
          </a:p>
        </p:txBody>
      </p:sp>
      <p:sp>
        <p:nvSpPr>
          <p:cNvPr id="21" name="Text 19"/>
          <p:cNvSpPr/>
          <p:nvPr/>
        </p:nvSpPr>
        <p:spPr>
          <a:xfrm>
            <a:off x="8046720" y="5630418"/>
            <a:ext cx="914400" cy="274320"/>
          </a:xfrm>
          <a:prstGeom prst="rect">
            <a:avLst/>
          </a:prstGeom>
          <a:noFill/>
          <a:ln/>
        </p:spPr>
        <p:txBody>
          <a:bodyPr wrap="square" rtlCol="0" anchor="ctr"/>
          <a:lstStyle/>
          <a:p>
            <a:pPr algn="r"/>
            <a:endParaRPr lang="en-US" sz="1000" dirty="0"/>
          </a:p>
        </p:txBody>
      </p:sp>
    </p:spTree>
    <p:extLst>
      <p:ext uri="{BB962C8B-B14F-4D97-AF65-F5344CB8AC3E}">
        <p14:creationId xmlns:p14="http://schemas.microsoft.com/office/powerpoint/2010/main" val="11659072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2132" y="3953"/>
            <a:ext cx="9138849" cy="6836240"/>
          </a:xfrm>
          <a:prstGeom prst="rect">
            <a:avLst/>
          </a:prstGeom>
          <a:solidFill>
            <a:srgbClr val="1A3A5C"/>
          </a:solidFill>
          <a:ln/>
        </p:spPr>
        <p:txBody>
          <a:bodyPr/>
          <a:lstStyle/>
          <a:p>
            <a:endParaRPr lang="en-US"/>
          </a:p>
        </p:txBody>
      </p:sp>
      <p:sp>
        <p:nvSpPr>
          <p:cNvPr id="3" name="Shape 1"/>
          <p:cNvSpPr/>
          <p:nvPr/>
        </p:nvSpPr>
        <p:spPr>
          <a:xfrm>
            <a:off x="1244" y="3952"/>
            <a:ext cx="93387" cy="6453463"/>
          </a:xfrm>
          <a:prstGeom prst="rect">
            <a:avLst/>
          </a:prstGeom>
          <a:solidFill>
            <a:srgbClr val="1A5EA8"/>
          </a:solidFill>
          <a:ln/>
        </p:spPr>
        <p:txBody>
          <a:bodyPr/>
          <a:lstStyle/>
          <a:p>
            <a:endParaRPr lang="en-US"/>
          </a:p>
        </p:txBody>
      </p:sp>
      <p:sp>
        <p:nvSpPr>
          <p:cNvPr id="4" name="Shape 2"/>
          <p:cNvSpPr/>
          <p:nvPr/>
        </p:nvSpPr>
        <p:spPr>
          <a:xfrm>
            <a:off x="887" y="6445356"/>
            <a:ext cx="9128725" cy="407804"/>
          </a:xfrm>
          <a:prstGeom prst="rect">
            <a:avLst/>
          </a:prstGeom>
          <a:solidFill>
            <a:srgbClr val="1A5EA8"/>
          </a:solidFill>
          <a:ln/>
        </p:spPr>
        <p:txBody>
          <a:bodyPr/>
          <a:lstStyle/>
          <a:p>
            <a:endParaRPr lang="en-US"/>
          </a:p>
        </p:txBody>
      </p:sp>
      <p:sp>
        <p:nvSpPr>
          <p:cNvPr id="5" name="Text 3"/>
          <p:cNvSpPr/>
          <p:nvPr/>
        </p:nvSpPr>
        <p:spPr>
          <a:xfrm>
            <a:off x="572654" y="1694064"/>
            <a:ext cx="8114146" cy="1289396"/>
          </a:xfrm>
          <a:prstGeom prst="rect">
            <a:avLst/>
          </a:prstGeom>
          <a:noFill/>
          <a:ln/>
        </p:spPr>
        <p:txBody>
          <a:bodyPr wrap="square" rtlCol="0" anchor="ctr"/>
          <a:lstStyle/>
          <a:p>
            <a:pPr>
              <a:lnSpc>
                <a:spcPct val="130000"/>
              </a:lnSpc>
            </a:pPr>
            <a:r>
              <a:rPr lang="en-US" sz="3200" b="1" dirty="0">
                <a:solidFill>
                  <a:srgbClr val="FFFFFF"/>
                </a:solidFill>
              </a:rPr>
              <a:t>Data quality is not just about</a:t>
            </a:r>
            <a:endParaRPr lang="en-US" sz="3200" dirty="0"/>
          </a:p>
          <a:p>
            <a:pPr>
              <a:lnSpc>
                <a:spcPct val="130000"/>
              </a:lnSpc>
            </a:pPr>
            <a:r>
              <a:rPr lang="en-US" sz="3200" b="1" dirty="0">
                <a:solidFill>
                  <a:srgbClr val="FFFFFF"/>
                </a:solidFill>
              </a:rPr>
              <a:t>cleaning data.</a:t>
            </a:r>
            <a:endParaRPr lang="en-US" sz="3200" dirty="0"/>
          </a:p>
        </p:txBody>
      </p:sp>
      <p:sp>
        <p:nvSpPr>
          <p:cNvPr id="6" name="Text 4"/>
          <p:cNvSpPr/>
          <p:nvPr/>
        </p:nvSpPr>
        <p:spPr>
          <a:xfrm>
            <a:off x="586509" y="2996854"/>
            <a:ext cx="8100291" cy="1015076"/>
          </a:xfrm>
          <a:prstGeom prst="rect">
            <a:avLst/>
          </a:prstGeom>
          <a:noFill/>
          <a:ln/>
        </p:spPr>
        <p:txBody>
          <a:bodyPr wrap="square" rtlCol="0" anchor="ctr"/>
          <a:lstStyle/>
          <a:p>
            <a:pPr>
              <a:lnSpc>
                <a:spcPct val="140000"/>
              </a:lnSpc>
            </a:pPr>
            <a:r>
              <a:rPr lang="en-US" sz="2000" dirty="0">
                <a:solidFill>
                  <a:srgbClr val="A0C4F0"/>
                </a:solidFill>
              </a:rPr>
              <a:t>It’s about making sure everyone who touches</a:t>
            </a:r>
            <a:endParaRPr lang="en-US" sz="2000" dirty="0"/>
          </a:p>
          <a:p>
            <a:pPr>
              <a:lnSpc>
                <a:spcPct val="140000"/>
              </a:lnSpc>
            </a:pPr>
            <a:r>
              <a:rPr lang="en-US" sz="2000" dirty="0">
                <a:solidFill>
                  <a:srgbClr val="A0C4F0"/>
                </a:solidFill>
              </a:rPr>
              <a:t>the data downstream can trust what they see.</a:t>
            </a:r>
            <a:endParaRPr lang="en-US" sz="2000" dirty="0"/>
          </a:p>
        </p:txBody>
      </p:sp>
      <p:sp>
        <p:nvSpPr>
          <p:cNvPr id="8" name="Text 6"/>
          <p:cNvSpPr/>
          <p:nvPr/>
        </p:nvSpPr>
        <p:spPr>
          <a:xfrm>
            <a:off x="457200" y="4194810"/>
            <a:ext cx="4114800" cy="502920"/>
          </a:xfrm>
          <a:prstGeom prst="rect">
            <a:avLst/>
          </a:prstGeom>
          <a:noFill/>
          <a:ln/>
        </p:spPr>
        <p:txBody>
          <a:bodyPr wrap="square" lIns="0" tIns="0" rIns="0" bIns="0" rtlCol="0" anchor="ctr"/>
          <a:lstStyle/>
          <a:p>
            <a:pPr algn="ctr"/>
            <a:endParaRPr lang="en-US" sz="1300" dirty="0"/>
          </a:p>
        </p:txBody>
      </p:sp>
      <p:sp>
        <p:nvSpPr>
          <p:cNvPr id="9" name="Text 7"/>
          <p:cNvSpPr/>
          <p:nvPr/>
        </p:nvSpPr>
        <p:spPr>
          <a:xfrm>
            <a:off x="8046720" y="5630418"/>
            <a:ext cx="914400" cy="274320"/>
          </a:xfrm>
          <a:prstGeom prst="rect">
            <a:avLst/>
          </a:prstGeom>
          <a:noFill/>
          <a:ln/>
        </p:spPr>
        <p:txBody>
          <a:bodyPr wrap="square" rtlCol="0" anchor="ctr"/>
          <a:lstStyle/>
          <a:p>
            <a:pPr algn="r"/>
            <a:endParaRPr lang="en-US" sz="1000" dirty="0"/>
          </a:p>
        </p:txBody>
      </p:sp>
    </p:spTree>
    <p:extLst>
      <p:ext uri="{BB962C8B-B14F-4D97-AF65-F5344CB8AC3E}">
        <p14:creationId xmlns:p14="http://schemas.microsoft.com/office/powerpoint/2010/main" val="10684155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8263" y="211015"/>
            <a:ext cx="5447036" cy="1125416"/>
          </a:xfrm>
        </p:spPr>
        <p:txBody>
          <a:bodyPr/>
          <a:lstStyle/>
          <a:p>
            <a:r>
              <a:rPr>
                <a:solidFill>
                  <a:schemeClr val="bg1"/>
                </a:solidFill>
              </a:rPr>
              <a:t>Monthly Sales Trend</a:t>
            </a:r>
          </a:p>
        </p:txBody>
      </p:sp>
      <p:pic>
        <p:nvPicPr>
          <p:cNvPr id="4" name="Picture 3" descr="A line graph with numbers and text&#10;&#10;AI-generated content may be incorrect.">
            <a:extLst>
              <a:ext uri="{FF2B5EF4-FFF2-40B4-BE49-F238E27FC236}">
                <a16:creationId xmlns:a16="http://schemas.microsoft.com/office/drawing/2014/main" id="{FEAD166F-BD87-0F49-725C-88DFBEA02755}"/>
              </a:ext>
            </a:extLst>
          </p:cNvPr>
          <p:cNvPicPr>
            <a:picLocks noChangeAspect="1"/>
          </p:cNvPicPr>
          <p:nvPr/>
        </p:nvPicPr>
        <p:blipFill>
          <a:blip r:embed="rId3"/>
          <a:stretch>
            <a:fillRect/>
          </a:stretch>
        </p:blipFill>
        <p:spPr>
          <a:xfrm>
            <a:off x="517591" y="1109770"/>
            <a:ext cx="8371885" cy="4017109"/>
          </a:xfrm>
          <a:prstGeom prst="rect">
            <a:avLst/>
          </a:prstGeom>
        </p:spPr>
      </p:pic>
      <p:sp>
        <p:nvSpPr>
          <p:cNvPr id="10" name="TextBox 9">
            <a:extLst>
              <a:ext uri="{FF2B5EF4-FFF2-40B4-BE49-F238E27FC236}">
                <a16:creationId xmlns:a16="http://schemas.microsoft.com/office/drawing/2014/main" id="{D2168987-0960-2C0F-96F7-1A284C7E0D3B}"/>
              </a:ext>
            </a:extLst>
          </p:cNvPr>
          <p:cNvSpPr txBox="1"/>
          <p:nvPr/>
        </p:nvSpPr>
        <p:spPr>
          <a:xfrm>
            <a:off x="517591" y="5319868"/>
            <a:ext cx="4581426" cy="1200329"/>
          </a:xfrm>
          <a:prstGeom prst="rect">
            <a:avLst/>
          </a:prstGeom>
          <a:noFill/>
        </p:spPr>
        <p:txBody>
          <a:bodyPr wrap="square">
            <a:spAutoFit/>
          </a:bodyPr>
          <a:lstStyle/>
          <a:p>
            <a:pPr marL="285750" indent="-285750">
              <a:buFont typeface="Arial" panose="020B0604020202020204" pitchFamily="34" charset="0"/>
              <a:buChar char="•"/>
            </a:pPr>
            <a:r>
              <a:rPr lang="en-US" dirty="0"/>
              <a:t>Oct 2016: R$354</a:t>
            </a:r>
          </a:p>
          <a:p>
            <a:pPr marL="285750" indent="-285750">
              <a:buFont typeface="Arial" panose="020B0604020202020204" pitchFamily="34" charset="0"/>
              <a:buChar char="•"/>
            </a:pPr>
            <a:r>
              <a:rPr lang="en-SG" dirty="0"/>
              <a:t>Feb 2017: </a:t>
            </a:r>
            <a:r>
              <a:rPr lang="en-US" dirty="0"/>
              <a:t>R$286k</a:t>
            </a:r>
          </a:p>
          <a:p>
            <a:pPr marL="285750" indent="-285750">
              <a:buFont typeface="Arial" panose="020B0604020202020204" pitchFamily="34" charset="0"/>
              <a:buChar char="•"/>
            </a:pPr>
            <a:r>
              <a:rPr lang="en-US" dirty="0"/>
              <a:t>Nov 2017: R$1.18M</a:t>
            </a:r>
          </a:p>
          <a:p>
            <a:pPr marL="285750" indent="-285750">
              <a:buFont typeface="Arial" panose="020B0604020202020204" pitchFamily="34" charset="0"/>
              <a:buChar char="•"/>
            </a:pPr>
            <a:r>
              <a:rPr lang="en-SG" dirty="0" err="1"/>
              <a:t>Avg</a:t>
            </a:r>
            <a:r>
              <a:rPr lang="en-SG" dirty="0"/>
              <a:t> MoM: +</a:t>
            </a:r>
            <a:r>
              <a:rPr lang="en-SG" b="1" dirty="0"/>
              <a:t>8.8%</a:t>
            </a:r>
            <a:endParaRPr lang="en-SG" dirty="0"/>
          </a:p>
        </p:txBody>
      </p:sp>
      <p:sp>
        <p:nvSpPr>
          <p:cNvPr id="12" name="TextBox 11">
            <a:extLst>
              <a:ext uri="{FF2B5EF4-FFF2-40B4-BE49-F238E27FC236}">
                <a16:creationId xmlns:a16="http://schemas.microsoft.com/office/drawing/2014/main" id="{BD686D1B-8222-8432-F5A2-7EB7DD0EC930}"/>
              </a:ext>
            </a:extLst>
          </p:cNvPr>
          <p:cNvSpPr txBox="1"/>
          <p:nvPr/>
        </p:nvSpPr>
        <p:spPr>
          <a:xfrm>
            <a:off x="4308050" y="5458367"/>
            <a:ext cx="4581426" cy="923330"/>
          </a:xfrm>
          <a:prstGeom prst="rect">
            <a:avLst/>
          </a:prstGeom>
          <a:noFill/>
        </p:spPr>
        <p:txBody>
          <a:bodyPr wrap="square">
            <a:spAutoFit/>
          </a:bodyPr>
          <a:lstStyle/>
          <a:p>
            <a:r>
              <a:rPr lang="en-SG" dirty="0"/>
              <a:t>Data pipeline transforms 9 raw CSVs into a time-series that immediately shows business momentum</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51692" y="316523"/>
            <a:ext cx="6554867" cy="1524000"/>
          </a:xfrm>
        </p:spPr>
        <p:txBody>
          <a:bodyPr/>
          <a:lstStyle/>
          <a:p>
            <a:r>
              <a:rPr>
                <a:solidFill>
                  <a:schemeClr val="bg1"/>
                </a:solidFill>
              </a:rPr>
              <a:t>Top Product Categories</a:t>
            </a:r>
          </a:p>
        </p:txBody>
      </p:sp>
      <p:pic>
        <p:nvPicPr>
          <p:cNvPr id="4" name="Picture 3" descr="A bar graph with blue bars&#10;&#10;AI-generated content may be incorrect.">
            <a:extLst>
              <a:ext uri="{FF2B5EF4-FFF2-40B4-BE49-F238E27FC236}">
                <a16:creationId xmlns:a16="http://schemas.microsoft.com/office/drawing/2014/main" id="{7B7B4397-2CF1-DD08-F6CE-AD8C69057B2D}"/>
              </a:ext>
            </a:extLst>
          </p:cNvPr>
          <p:cNvPicPr>
            <a:picLocks noChangeAspect="1"/>
          </p:cNvPicPr>
          <p:nvPr/>
        </p:nvPicPr>
        <p:blipFill>
          <a:blip r:embed="rId3"/>
          <a:stretch>
            <a:fillRect/>
          </a:stretch>
        </p:blipFill>
        <p:spPr>
          <a:xfrm>
            <a:off x="66197" y="1750570"/>
            <a:ext cx="5439058" cy="4866322"/>
          </a:xfrm>
          <a:prstGeom prst="rect">
            <a:avLst/>
          </a:prstGeom>
        </p:spPr>
      </p:pic>
      <p:sp>
        <p:nvSpPr>
          <p:cNvPr id="6" name="TextBox 5">
            <a:extLst>
              <a:ext uri="{FF2B5EF4-FFF2-40B4-BE49-F238E27FC236}">
                <a16:creationId xmlns:a16="http://schemas.microsoft.com/office/drawing/2014/main" id="{B27769D9-0894-575B-9AC6-9E584D26CA1A}"/>
              </a:ext>
            </a:extLst>
          </p:cNvPr>
          <p:cNvSpPr txBox="1"/>
          <p:nvPr/>
        </p:nvSpPr>
        <p:spPr>
          <a:xfrm>
            <a:off x="5589886" y="1766991"/>
            <a:ext cx="3487917" cy="1477328"/>
          </a:xfrm>
          <a:prstGeom prst="rect">
            <a:avLst/>
          </a:prstGeom>
          <a:noFill/>
        </p:spPr>
        <p:txBody>
          <a:bodyPr wrap="square">
            <a:spAutoFit/>
          </a:bodyPr>
          <a:lstStyle/>
          <a:p>
            <a:pPr marL="285750" indent="-285750">
              <a:buFont typeface="Arial" panose="020B0604020202020204" pitchFamily="34" charset="0"/>
              <a:buChar char="•"/>
            </a:pPr>
            <a:r>
              <a:rPr lang="en-US" dirty="0"/>
              <a:t>Top categories = Beauty &amp; Health, Watches &amp; Gifts, Bed/Bath/Table</a:t>
            </a:r>
          </a:p>
          <a:p>
            <a:pPr marL="285750" indent="-285750">
              <a:buFont typeface="Arial" panose="020B0604020202020204" pitchFamily="34" charset="0"/>
              <a:buChar char="•"/>
            </a:pPr>
            <a:r>
              <a:rPr lang="en-US" dirty="0"/>
              <a:t>Accounts for R$4M of Revenue (25.2%)</a:t>
            </a:r>
          </a:p>
        </p:txBody>
      </p:sp>
      <p:sp>
        <p:nvSpPr>
          <p:cNvPr id="8" name="TextBox 7">
            <a:extLst>
              <a:ext uri="{FF2B5EF4-FFF2-40B4-BE49-F238E27FC236}">
                <a16:creationId xmlns:a16="http://schemas.microsoft.com/office/drawing/2014/main" id="{34B94B00-17E4-242D-3A12-73DE76E477C4}"/>
              </a:ext>
            </a:extLst>
          </p:cNvPr>
          <p:cNvSpPr txBox="1"/>
          <p:nvPr/>
        </p:nvSpPr>
        <p:spPr>
          <a:xfrm>
            <a:off x="5693790" y="5116101"/>
            <a:ext cx="3195686" cy="646331"/>
          </a:xfrm>
          <a:prstGeom prst="rect">
            <a:avLst/>
          </a:prstGeom>
          <a:noFill/>
        </p:spPr>
        <p:txBody>
          <a:bodyPr wrap="square">
            <a:spAutoFit/>
          </a:bodyPr>
          <a:lstStyle/>
          <a:p>
            <a:r>
              <a:rPr lang="en-US" b="1" dirty="0"/>
              <a:t>Defend top 3 while explore upselling for top 4-5</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3092" y="451338"/>
            <a:ext cx="6554867" cy="1160585"/>
          </a:xfrm>
        </p:spPr>
        <p:txBody>
          <a:bodyPr/>
          <a:lstStyle/>
          <a:p>
            <a:r>
              <a:t>Revenue by State</a:t>
            </a:r>
          </a:p>
        </p:txBody>
      </p:sp>
      <p:pic>
        <p:nvPicPr>
          <p:cNvPr id="4" name="Picture 3" descr="A screenshot of a black screen&#10;&#10;AI-generated content may be incorrect.">
            <a:extLst>
              <a:ext uri="{FF2B5EF4-FFF2-40B4-BE49-F238E27FC236}">
                <a16:creationId xmlns:a16="http://schemas.microsoft.com/office/drawing/2014/main" id="{44975364-062F-C39D-9B74-168752BE0A09}"/>
              </a:ext>
            </a:extLst>
          </p:cNvPr>
          <p:cNvPicPr>
            <a:picLocks noChangeAspect="1"/>
          </p:cNvPicPr>
          <p:nvPr/>
        </p:nvPicPr>
        <p:blipFill>
          <a:blip r:embed="rId3"/>
          <a:stretch>
            <a:fillRect/>
          </a:stretch>
        </p:blipFill>
        <p:spPr>
          <a:xfrm>
            <a:off x="329938" y="1569174"/>
            <a:ext cx="4209021" cy="5020161"/>
          </a:xfrm>
          <a:prstGeom prst="rect">
            <a:avLst/>
          </a:prstGeom>
        </p:spPr>
      </p:pic>
      <p:sp>
        <p:nvSpPr>
          <p:cNvPr id="6" name="TextBox 5">
            <a:extLst>
              <a:ext uri="{FF2B5EF4-FFF2-40B4-BE49-F238E27FC236}">
                <a16:creationId xmlns:a16="http://schemas.microsoft.com/office/drawing/2014/main" id="{34EDE5E7-43BD-2689-8D09-D4F57C1074A9}"/>
              </a:ext>
            </a:extLst>
          </p:cNvPr>
          <p:cNvSpPr txBox="1"/>
          <p:nvPr/>
        </p:nvSpPr>
        <p:spPr>
          <a:xfrm>
            <a:off x="4840731" y="1611923"/>
            <a:ext cx="4086453" cy="2031325"/>
          </a:xfrm>
          <a:prstGeom prst="rect">
            <a:avLst/>
          </a:prstGeom>
          <a:noFill/>
        </p:spPr>
        <p:txBody>
          <a:bodyPr wrap="square">
            <a:spAutoFit/>
          </a:bodyPr>
          <a:lstStyle/>
          <a:p>
            <a:pPr marL="285750" indent="-285750">
              <a:buFont typeface="Arial" panose="020B0604020202020204" pitchFamily="34" charset="0"/>
              <a:buChar char="•"/>
            </a:pPr>
            <a:r>
              <a:rPr lang="en-US"/>
              <a:t>Sao Paulo is 3x the next state (R$5.9M)</a:t>
            </a:r>
          </a:p>
          <a:p>
            <a:pPr marL="285750" indent="-285750">
              <a:buFont typeface="Arial" panose="020B0604020202020204" pitchFamily="34" charset="0"/>
              <a:buChar char="•"/>
            </a:pPr>
            <a:r>
              <a:rPr lang="en-US"/>
              <a:t>Retention for top 3 (SP, RJ, MG)</a:t>
            </a:r>
          </a:p>
          <a:p>
            <a:pPr marL="285750" indent="-285750">
              <a:buFont typeface="Arial" panose="020B0604020202020204" pitchFamily="34" charset="0"/>
              <a:buChar char="•"/>
            </a:pPr>
            <a:r>
              <a:rPr lang="en-US"/>
              <a:t>Acquisition for RS &amp; PR (most developed but low market penetration)</a:t>
            </a:r>
          </a:p>
          <a:p>
            <a:endParaRPr lang="en-US" dirty="0"/>
          </a:p>
        </p:txBody>
      </p:sp>
      <p:sp>
        <p:nvSpPr>
          <p:cNvPr id="8" name="TextBox 7">
            <a:extLst>
              <a:ext uri="{FF2B5EF4-FFF2-40B4-BE49-F238E27FC236}">
                <a16:creationId xmlns:a16="http://schemas.microsoft.com/office/drawing/2014/main" id="{3D7B013F-F17D-87C6-F953-79D70F82B95A}"/>
              </a:ext>
            </a:extLst>
          </p:cNvPr>
          <p:cNvSpPr txBox="1"/>
          <p:nvPr/>
        </p:nvSpPr>
        <p:spPr>
          <a:xfrm>
            <a:off x="4840732" y="4203668"/>
            <a:ext cx="3586832" cy="1200329"/>
          </a:xfrm>
          <a:prstGeom prst="rect">
            <a:avLst/>
          </a:prstGeom>
          <a:noFill/>
        </p:spPr>
        <p:txBody>
          <a:bodyPr wrap="square">
            <a:spAutoFit/>
          </a:bodyPr>
          <a:lstStyle/>
          <a:p>
            <a:r>
              <a:rPr lang="en-SG" b="1" dirty="0"/>
              <a:t>Revenue is geographically concentrated in Southeast Brazil. Consolidate and accelerate in South BR further</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3447" y="0"/>
            <a:ext cx="6713128" cy="785447"/>
          </a:xfrm>
        </p:spPr>
        <p:txBody>
          <a:bodyPr/>
          <a:lstStyle/>
          <a:p>
            <a:r>
              <a:t>Customer RFM Analysis</a:t>
            </a:r>
          </a:p>
        </p:txBody>
      </p:sp>
      <p:sp>
        <p:nvSpPr>
          <p:cNvPr id="3" name="Content Placeholder 2"/>
          <p:cNvSpPr>
            <a:spLocks noGrp="1"/>
          </p:cNvSpPr>
          <p:nvPr>
            <p:ph idx="1"/>
          </p:nvPr>
        </p:nvSpPr>
        <p:spPr>
          <a:xfrm>
            <a:off x="11724" y="6307015"/>
            <a:ext cx="6724851" cy="549686"/>
          </a:xfrm>
        </p:spPr>
        <p:txBody>
          <a:bodyPr>
            <a:normAutofit/>
          </a:bodyPr>
          <a:lstStyle/>
          <a:p>
            <a:r>
              <a:rPr sz="1800">
                <a:solidFill>
                  <a:schemeClr val="tx1"/>
                </a:solidFill>
              </a:rPr>
              <a:t>Frequency, Recency, Monetary analysis</a:t>
            </a:r>
            <a:r>
              <a:rPr lang="en-US" sz="1800">
                <a:solidFill>
                  <a:schemeClr val="tx1"/>
                </a:solidFill>
              </a:rPr>
              <a:t>.</a:t>
            </a:r>
          </a:p>
        </p:txBody>
      </p:sp>
      <p:pic>
        <p:nvPicPr>
          <p:cNvPr id="4" name="Picture 3" descr="A screenshot of a computer screen&#10;&#10;AI-generated content may be incorrect.">
            <a:extLst>
              <a:ext uri="{FF2B5EF4-FFF2-40B4-BE49-F238E27FC236}">
                <a16:creationId xmlns:a16="http://schemas.microsoft.com/office/drawing/2014/main" id="{2177CCBA-43F6-4697-6A05-D4831BB2D833}"/>
              </a:ext>
            </a:extLst>
          </p:cNvPr>
          <p:cNvPicPr>
            <a:picLocks noChangeAspect="1"/>
          </p:cNvPicPr>
          <p:nvPr/>
        </p:nvPicPr>
        <p:blipFill>
          <a:blip r:embed="rId3"/>
          <a:stretch>
            <a:fillRect/>
          </a:stretch>
        </p:blipFill>
        <p:spPr>
          <a:xfrm>
            <a:off x="1264112" y="706078"/>
            <a:ext cx="6520095" cy="5613928"/>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Rectangle 98">
            <a:extLst>
              <a:ext uri="{FF2B5EF4-FFF2-40B4-BE49-F238E27FC236}">
                <a16:creationId xmlns:a16="http://schemas.microsoft.com/office/drawing/2014/main" id="{BD62B89F-8046-4E8B-84C5-9A7CCA6965D6}"/>
              </a:ext>
            </a:extLst>
          </p:cNvPr>
          <p:cNvSpPr>
            <a:spLocks noGrp="1"/>
          </p:cNvSpPr>
          <p:nvPr/>
        </p:nvSpPr>
        <p:spPr>
          <a:xfrm>
            <a:off x="0" y="857250"/>
            <a:ext cx="9144000" cy="5143500"/>
          </a:xfrm>
          <a:prstGeom prst="rect">
            <a:avLst/>
          </a:prstGeom>
          <a:solidFill>
            <a:srgbClr val="FFFFFF"/>
          </a:solidFill>
          <a:ln w="0">
            <a:solidFill>
              <a:srgbClr val="000000">
                <a:alpha val="0"/>
              </a:srgbClr>
            </a:solidFill>
            <a:prstDash val="solid"/>
          </a:ln>
        </p:spPr>
        <p:txBody>
          <a:bodyPr/>
          <a:lstStyle/>
          <a:p>
            <a:endParaRPr lang="en-SG" sz="1350"/>
          </a:p>
        </p:txBody>
      </p:sp>
      <p:sp>
        <p:nvSpPr>
          <p:cNvPr id="2" name="kicker-marker">
            <a:extLst>
              <a:ext uri="{FF2B5EF4-FFF2-40B4-BE49-F238E27FC236}">
                <a16:creationId xmlns:a16="http://schemas.microsoft.com/office/drawing/2014/main" id="{3AAB92AD-22FC-4FC7-BC28-7607C52196F8}"/>
              </a:ext>
            </a:extLst>
          </p:cNvPr>
          <p:cNvSpPr>
            <a:spLocks noGrp="1"/>
          </p:cNvSpPr>
          <p:nvPr/>
        </p:nvSpPr>
        <p:spPr>
          <a:xfrm>
            <a:off x="457200" y="1200150"/>
            <a:ext cx="92869" cy="92869"/>
          </a:xfrm>
          <a:prstGeom prst="ellipse">
            <a:avLst/>
          </a:prstGeom>
          <a:solidFill>
            <a:srgbClr val="178F8A"/>
          </a:solidFill>
          <a:ln w="0">
            <a:solidFill>
              <a:srgbClr val="000000">
                <a:alpha val="0"/>
              </a:srgbClr>
            </a:solidFill>
            <a:prstDash val="solid"/>
          </a:ln>
        </p:spPr>
        <p:txBody>
          <a:bodyPr/>
          <a:lstStyle/>
          <a:p>
            <a:endParaRPr lang="en-SG" sz="1350"/>
          </a:p>
        </p:txBody>
      </p:sp>
      <p:sp>
        <p:nvSpPr>
          <p:cNvPr id="3" name="kicker-label">
            <a:extLst>
              <a:ext uri="{FF2B5EF4-FFF2-40B4-BE49-F238E27FC236}">
                <a16:creationId xmlns:a16="http://schemas.microsoft.com/office/drawing/2014/main" id="{103DA635-63D2-46AE-8600-C1B758B1B512}"/>
              </a:ext>
            </a:extLst>
          </p:cNvPr>
          <p:cNvSpPr>
            <a:spLocks noGrp="1"/>
          </p:cNvSpPr>
          <p:nvPr/>
        </p:nvSpPr>
        <p:spPr>
          <a:xfrm>
            <a:off x="628650" y="1135856"/>
            <a:ext cx="1928813" cy="214313"/>
          </a:xfrm>
          <a:prstGeom prst="rect">
            <a:avLst/>
          </a:prstGeom>
          <a:solidFill>
            <a:srgbClr val="000000">
              <a:alpha val="0"/>
            </a:srgbClr>
          </a:solidFill>
          <a:ln w="0">
            <a:solidFill>
              <a:srgbClr val="000000">
                <a:alpha val="0"/>
              </a:srgbClr>
            </a:solidFill>
            <a:prstDash val="solid"/>
          </a:ln>
        </p:spPr>
        <p:txBody>
          <a:bodyPr lIns="0" tIns="28575" rIns="0" bIns="0" anchor="t"/>
          <a:lstStyle/>
          <a:p>
            <a:pPr algn="l">
              <a:defRPr sz="975" b="1">
                <a:solidFill>
                  <a:srgbClr val="178F8A"/>
                </a:solidFill>
                <a:latin typeface="Aptos"/>
                <a:ea typeface="Aptos"/>
                <a:cs typeface="Aptos"/>
              </a:defRPr>
            </a:pPr>
            <a:r>
              <a:rPr sz="731" b="1">
                <a:solidFill>
                  <a:srgbClr val="178F8A"/>
                </a:solidFill>
                <a:latin typeface="Aptos"/>
                <a:ea typeface="Aptos"/>
                <a:cs typeface="Aptos"/>
              </a:rPr>
              <a:t>CUSTOMER RETENTION</a:t>
            </a:r>
          </a:p>
        </p:txBody>
      </p:sp>
      <p:sp>
        <p:nvSpPr>
          <p:cNvPr id="4" name="Rectangle 3">
            <a:extLst>
              <a:ext uri="{FF2B5EF4-FFF2-40B4-BE49-F238E27FC236}">
                <a16:creationId xmlns:a16="http://schemas.microsoft.com/office/drawing/2014/main" id="{7855238F-9601-4B4D-928A-7660E0331799}"/>
              </a:ext>
            </a:extLst>
          </p:cNvPr>
          <p:cNvSpPr>
            <a:spLocks noGrp="1"/>
          </p:cNvSpPr>
          <p:nvPr/>
        </p:nvSpPr>
        <p:spPr>
          <a:xfrm>
            <a:off x="457200" y="1414462"/>
            <a:ext cx="5429250" cy="614363"/>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550" b="1">
                <a:solidFill>
                  <a:srgbClr val="1F2933"/>
                </a:solidFill>
                <a:latin typeface="Aptos Display"/>
                <a:ea typeface="Aptos Display"/>
                <a:cs typeface="Aptos Display"/>
              </a:defRPr>
            </a:pPr>
            <a:r>
              <a:rPr sz="1913" b="1">
                <a:solidFill>
                  <a:srgbClr val="1F2933"/>
                </a:solidFill>
                <a:latin typeface="Aptos Display"/>
                <a:ea typeface="Aptos Display"/>
                <a:cs typeface="Aptos Display"/>
              </a:rPr>
              <a:t>RFM shows the biggest opportunity is converting valuable one-time buyers.</a:t>
            </a:r>
          </a:p>
        </p:txBody>
      </p:sp>
      <p:sp>
        <p:nvSpPr>
          <p:cNvPr id="5" name="Rectangle 4">
            <a:extLst>
              <a:ext uri="{FF2B5EF4-FFF2-40B4-BE49-F238E27FC236}">
                <a16:creationId xmlns:a16="http://schemas.microsoft.com/office/drawing/2014/main" id="{46618DE4-57D5-40A5-BC83-B1EDF85231BE}"/>
              </a:ext>
            </a:extLst>
          </p:cNvPr>
          <p:cNvSpPr>
            <a:spLocks noGrp="1"/>
          </p:cNvSpPr>
          <p:nvPr/>
        </p:nvSpPr>
        <p:spPr>
          <a:xfrm>
            <a:off x="457201" y="2035969"/>
            <a:ext cx="4822031" cy="31432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75" b="0">
                <a:solidFill>
                  <a:srgbClr val="6B7280"/>
                </a:solidFill>
                <a:latin typeface="Aptos"/>
                <a:ea typeface="Aptos"/>
                <a:cs typeface="Aptos"/>
              </a:defRPr>
            </a:pPr>
            <a:r>
              <a:rPr sz="956">
                <a:solidFill>
                  <a:srgbClr val="6B7280"/>
                </a:solidFill>
                <a:latin typeface="Aptos"/>
                <a:ea typeface="Aptos"/>
                <a:cs typeface="Aptos"/>
              </a:rPr>
              <a:t>Only 3.05% of customers are repeat buyers, so frequency is scored with honest order-count buckets rather than misleading percentiles.</a:t>
            </a:r>
          </a:p>
        </p:txBody>
      </p:sp>
      <p:sp>
        <p:nvSpPr>
          <p:cNvPr id="6" name="Rectangle 5">
            <a:extLst>
              <a:ext uri="{FF2B5EF4-FFF2-40B4-BE49-F238E27FC236}">
                <a16:creationId xmlns:a16="http://schemas.microsoft.com/office/drawing/2014/main" id="{19D7DFDD-5CCE-4593-9BAF-5431BEC48DD6}"/>
              </a:ext>
            </a:extLst>
          </p:cNvPr>
          <p:cNvSpPr>
            <a:spLocks noGrp="1"/>
          </p:cNvSpPr>
          <p:nvPr/>
        </p:nvSpPr>
        <p:spPr>
          <a:xfrm>
            <a:off x="6429375" y="1443038"/>
            <a:ext cx="1357313" cy="257175"/>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2325" b="1">
                <a:solidFill>
                  <a:srgbClr val="1F2933"/>
                </a:solidFill>
                <a:latin typeface="Aptos"/>
                <a:ea typeface="Aptos"/>
                <a:cs typeface="Aptos"/>
              </a:defRPr>
            </a:pPr>
            <a:r>
              <a:rPr sz="1744" b="1">
                <a:solidFill>
                  <a:srgbClr val="1F2933"/>
                </a:solidFill>
                <a:latin typeface="Aptos"/>
                <a:ea typeface="Aptos"/>
                <a:cs typeface="Aptos"/>
              </a:rPr>
              <a:t>95,420</a:t>
            </a:r>
          </a:p>
        </p:txBody>
      </p:sp>
      <p:sp>
        <p:nvSpPr>
          <p:cNvPr id="7" name="Rectangle 6">
            <a:extLst>
              <a:ext uri="{FF2B5EF4-FFF2-40B4-BE49-F238E27FC236}">
                <a16:creationId xmlns:a16="http://schemas.microsoft.com/office/drawing/2014/main" id="{3C802448-C140-4CF5-9A03-E2BCEF493846}"/>
              </a:ext>
            </a:extLst>
          </p:cNvPr>
          <p:cNvSpPr>
            <a:spLocks noGrp="1"/>
          </p:cNvSpPr>
          <p:nvPr/>
        </p:nvSpPr>
        <p:spPr>
          <a:xfrm>
            <a:off x="6429375" y="1700212"/>
            <a:ext cx="1357313" cy="157163"/>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975" b="0">
                <a:solidFill>
                  <a:srgbClr val="6B7280"/>
                </a:solidFill>
                <a:latin typeface="Aptos"/>
                <a:ea typeface="Aptos"/>
                <a:cs typeface="Aptos"/>
              </a:defRPr>
            </a:pPr>
            <a:r>
              <a:rPr sz="731">
                <a:solidFill>
                  <a:srgbClr val="6B7280"/>
                </a:solidFill>
                <a:latin typeface="Aptos"/>
                <a:ea typeface="Aptos"/>
                <a:cs typeface="Aptos"/>
              </a:rPr>
              <a:t>customers scored</a:t>
            </a:r>
          </a:p>
        </p:txBody>
      </p:sp>
      <p:sp>
        <p:nvSpPr>
          <p:cNvPr id="8" name="Rectangle 7">
            <a:extLst>
              <a:ext uri="{FF2B5EF4-FFF2-40B4-BE49-F238E27FC236}">
                <a16:creationId xmlns:a16="http://schemas.microsoft.com/office/drawing/2014/main" id="{66289F89-E670-4363-8DEA-AC49DACCE0A5}"/>
              </a:ext>
            </a:extLst>
          </p:cNvPr>
          <p:cNvSpPr>
            <a:spLocks noGrp="1"/>
          </p:cNvSpPr>
          <p:nvPr/>
        </p:nvSpPr>
        <p:spPr>
          <a:xfrm>
            <a:off x="6429375" y="1928813"/>
            <a:ext cx="1357313" cy="257175"/>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2325" b="1">
                <a:solidFill>
                  <a:srgbClr val="1F2933"/>
                </a:solidFill>
                <a:latin typeface="Aptos"/>
                <a:ea typeface="Aptos"/>
                <a:cs typeface="Aptos"/>
              </a:defRPr>
            </a:pPr>
            <a:r>
              <a:rPr sz="1744" b="1">
                <a:solidFill>
                  <a:srgbClr val="1F2933"/>
                </a:solidFill>
                <a:latin typeface="Aptos"/>
                <a:ea typeface="Aptos"/>
                <a:cs typeface="Aptos"/>
              </a:rPr>
              <a:t>2,913</a:t>
            </a:r>
          </a:p>
        </p:txBody>
      </p:sp>
      <p:sp>
        <p:nvSpPr>
          <p:cNvPr id="9" name="Rectangle 8">
            <a:extLst>
              <a:ext uri="{FF2B5EF4-FFF2-40B4-BE49-F238E27FC236}">
                <a16:creationId xmlns:a16="http://schemas.microsoft.com/office/drawing/2014/main" id="{97228EE4-1A9D-41D8-8624-E6192CB3FEC4}"/>
              </a:ext>
            </a:extLst>
          </p:cNvPr>
          <p:cNvSpPr>
            <a:spLocks noGrp="1"/>
          </p:cNvSpPr>
          <p:nvPr/>
        </p:nvSpPr>
        <p:spPr>
          <a:xfrm>
            <a:off x="6429375" y="2185987"/>
            <a:ext cx="1357313" cy="157163"/>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975" b="0">
                <a:solidFill>
                  <a:srgbClr val="6B7280"/>
                </a:solidFill>
                <a:latin typeface="Aptos"/>
                <a:ea typeface="Aptos"/>
                <a:cs typeface="Aptos"/>
              </a:defRPr>
            </a:pPr>
            <a:r>
              <a:rPr sz="731">
                <a:solidFill>
                  <a:srgbClr val="6B7280"/>
                </a:solidFill>
                <a:latin typeface="Aptos"/>
                <a:ea typeface="Aptos"/>
                <a:cs typeface="Aptos"/>
              </a:rPr>
              <a:t>repeat customers</a:t>
            </a:r>
          </a:p>
        </p:txBody>
      </p:sp>
      <p:sp>
        <p:nvSpPr>
          <p:cNvPr id="10" name="Rectangle 9">
            <a:extLst>
              <a:ext uri="{FF2B5EF4-FFF2-40B4-BE49-F238E27FC236}">
                <a16:creationId xmlns:a16="http://schemas.microsoft.com/office/drawing/2014/main" id="{24A4BB7E-7F08-4235-BF3D-CFDBCB2AFC1F}"/>
              </a:ext>
            </a:extLst>
          </p:cNvPr>
          <p:cNvSpPr>
            <a:spLocks noGrp="1"/>
          </p:cNvSpPr>
          <p:nvPr/>
        </p:nvSpPr>
        <p:spPr>
          <a:xfrm>
            <a:off x="457200" y="2357437"/>
            <a:ext cx="7786688" cy="271463"/>
          </a:xfrm>
          <a:prstGeom prst="rect">
            <a:avLst/>
          </a:prstGeom>
          <a:solidFill>
            <a:srgbClr val="F4F6F8"/>
          </a:solidFill>
          <a:ln w="0">
            <a:solidFill>
              <a:srgbClr val="000000">
                <a:alpha val="0"/>
              </a:srgbClr>
            </a:solidFill>
            <a:prstDash val="solid"/>
          </a:ln>
        </p:spPr>
        <p:txBody>
          <a:bodyPr/>
          <a:lstStyle/>
          <a:p>
            <a:endParaRPr lang="en-SG" sz="1350"/>
          </a:p>
        </p:txBody>
      </p:sp>
      <p:sp>
        <p:nvSpPr>
          <p:cNvPr id="11" name="Rectangle 10">
            <a:extLst>
              <a:ext uri="{FF2B5EF4-FFF2-40B4-BE49-F238E27FC236}">
                <a16:creationId xmlns:a16="http://schemas.microsoft.com/office/drawing/2014/main" id="{048C4648-2C00-4A37-A2D4-B8F887D86DF5}"/>
              </a:ext>
            </a:extLst>
          </p:cNvPr>
          <p:cNvSpPr>
            <a:spLocks noGrp="1"/>
          </p:cNvSpPr>
          <p:nvPr/>
        </p:nvSpPr>
        <p:spPr>
          <a:xfrm>
            <a:off x="457200" y="2414588"/>
            <a:ext cx="1857375" cy="1428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00" b="1">
                <a:solidFill>
                  <a:srgbClr val="6B7280"/>
                </a:solidFill>
                <a:latin typeface="Aptos"/>
                <a:ea typeface="Aptos"/>
                <a:cs typeface="Aptos"/>
              </a:defRPr>
            </a:pPr>
            <a:r>
              <a:rPr sz="675" b="1">
                <a:solidFill>
                  <a:srgbClr val="6B7280"/>
                </a:solidFill>
                <a:latin typeface="Aptos"/>
                <a:ea typeface="Aptos"/>
                <a:cs typeface="Aptos"/>
              </a:rPr>
              <a:t>Segment</a:t>
            </a:r>
          </a:p>
        </p:txBody>
      </p:sp>
      <p:sp>
        <p:nvSpPr>
          <p:cNvPr id="12" name="Rectangle 11">
            <a:extLst>
              <a:ext uri="{FF2B5EF4-FFF2-40B4-BE49-F238E27FC236}">
                <a16:creationId xmlns:a16="http://schemas.microsoft.com/office/drawing/2014/main" id="{24FDC713-BAB5-4B3C-9A52-0C42A282EADC}"/>
              </a:ext>
            </a:extLst>
          </p:cNvPr>
          <p:cNvSpPr>
            <a:spLocks noGrp="1"/>
          </p:cNvSpPr>
          <p:nvPr/>
        </p:nvSpPr>
        <p:spPr>
          <a:xfrm>
            <a:off x="3243263" y="2414588"/>
            <a:ext cx="714375" cy="142875"/>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900" b="1">
                <a:solidFill>
                  <a:srgbClr val="6B7280"/>
                </a:solidFill>
                <a:latin typeface="Aptos"/>
                <a:ea typeface="Aptos"/>
                <a:cs typeface="Aptos"/>
              </a:defRPr>
            </a:pPr>
            <a:r>
              <a:rPr sz="675" b="1">
                <a:solidFill>
                  <a:srgbClr val="6B7280"/>
                </a:solidFill>
                <a:latin typeface="Aptos"/>
                <a:ea typeface="Aptos"/>
                <a:cs typeface="Aptos"/>
              </a:rPr>
              <a:t>Customers</a:t>
            </a:r>
          </a:p>
        </p:txBody>
      </p:sp>
      <p:sp>
        <p:nvSpPr>
          <p:cNvPr id="13" name="Rectangle 12">
            <a:extLst>
              <a:ext uri="{FF2B5EF4-FFF2-40B4-BE49-F238E27FC236}">
                <a16:creationId xmlns:a16="http://schemas.microsoft.com/office/drawing/2014/main" id="{75C06582-16D6-4C8E-AB66-F3E4D554AB7B}"/>
              </a:ext>
            </a:extLst>
          </p:cNvPr>
          <p:cNvSpPr>
            <a:spLocks noGrp="1"/>
          </p:cNvSpPr>
          <p:nvPr/>
        </p:nvSpPr>
        <p:spPr>
          <a:xfrm>
            <a:off x="4171951" y="2414588"/>
            <a:ext cx="535781" cy="142875"/>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900" b="1">
                <a:solidFill>
                  <a:srgbClr val="6B7280"/>
                </a:solidFill>
                <a:latin typeface="Aptos"/>
                <a:ea typeface="Aptos"/>
                <a:cs typeface="Aptos"/>
              </a:defRPr>
            </a:pPr>
            <a:r>
              <a:rPr sz="675" b="1">
                <a:solidFill>
                  <a:srgbClr val="6B7280"/>
                </a:solidFill>
                <a:latin typeface="Aptos"/>
                <a:ea typeface="Aptos"/>
                <a:cs typeface="Aptos"/>
              </a:rPr>
              <a:t>Share</a:t>
            </a:r>
          </a:p>
        </p:txBody>
      </p:sp>
      <p:sp>
        <p:nvSpPr>
          <p:cNvPr id="14" name="Rectangle 13">
            <a:extLst>
              <a:ext uri="{FF2B5EF4-FFF2-40B4-BE49-F238E27FC236}">
                <a16:creationId xmlns:a16="http://schemas.microsoft.com/office/drawing/2014/main" id="{5072A716-C31A-49F4-9AAA-AF79D6BD62DD}"/>
              </a:ext>
            </a:extLst>
          </p:cNvPr>
          <p:cNvSpPr>
            <a:spLocks noGrp="1"/>
          </p:cNvSpPr>
          <p:nvPr/>
        </p:nvSpPr>
        <p:spPr>
          <a:xfrm>
            <a:off x="4993482" y="2414588"/>
            <a:ext cx="750094" cy="142875"/>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900" b="1">
                <a:solidFill>
                  <a:srgbClr val="6B7280"/>
                </a:solidFill>
                <a:latin typeface="Aptos"/>
                <a:ea typeface="Aptos"/>
                <a:cs typeface="Aptos"/>
              </a:defRPr>
            </a:pPr>
            <a:r>
              <a:rPr sz="675" b="1">
                <a:solidFill>
                  <a:srgbClr val="6B7280"/>
                </a:solidFill>
                <a:latin typeface="Aptos"/>
                <a:ea typeface="Aptos"/>
                <a:cs typeface="Aptos"/>
              </a:rPr>
              <a:t>Gross sales</a:t>
            </a:r>
          </a:p>
        </p:txBody>
      </p:sp>
      <p:sp>
        <p:nvSpPr>
          <p:cNvPr id="15" name="Rectangle 14">
            <a:extLst>
              <a:ext uri="{FF2B5EF4-FFF2-40B4-BE49-F238E27FC236}">
                <a16:creationId xmlns:a16="http://schemas.microsoft.com/office/drawing/2014/main" id="{F8301A46-825C-4089-9952-19DB9232AFDF}"/>
              </a:ext>
            </a:extLst>
          </p:cNvPr>
          <p:cNvSpPr>
            <a:spLocks noGrp="1"/>
          </p:cNvSpPr>
          <p:nvPr/>
        </p:nvSpPr>
        <p:spPr>
          <a:xfrm>
            <a:off x="5886450" y="2414588"/>
            <a:ext cx="1750219" cy="1428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00" b="1">
                <a:solidFill>
                  <a:srgbClr val="6B7280"/>
                </a:solidFill>
                <a:latin typeface="Aptos"/>
                <a:ea typeface="Aptos"/>
                <a:cs typeface="Aptos"/>
              </a:defRPr>
            </a:pPr>
            <a:r>
              <a:rPr sz="675" b="1">
                <a:solidFill>
                  <a:srgbClr val="6B7280"/>
                </a:solidFill>
                <a:latin typeface="Aptos"/>
                <a:ea typeface="Aptos"/>
                <a:cs typeface="Aptos"/>
              </a:rPr>
              <a:t>Campaign use</a:t>
            </a:r>
          </a:p>
        </p:txBody>
      </p:sp>
      <p:sp>
        <p:nvSpPr>
          <p:cNvPr id="16" name="Rectangle 15">
            <a:extLst>
              <a:ext uri="{FF2B5EF4-FFF2-40B4-BE49-F238E27FC236}">
                <a16:creationId xmlns:a16="http://schemas.microsoft.com/office/drawing/2014/main" id="{23A45074-71C8-4EA9-BA39-FAD9DD7361AB}"/>
              </a:ext>
            </a:extLst>
          </p:cNvPr>
          <p:cNvSpPr>
            <a:spLocks noGrp="1"/>
          </p:cNvSpPr>
          <p:nvPr/>
        </p:nvSpPr>
        <p:spPr>
          <a:xfrm>
            <a:off x="457200" y="2921794"/>
            <a:ext cx="7786688" cy="7144"/>
          </a:xfrm>
          <a:prstGeom prst="rect">
            <a:avLst/>
          </a:prstGeom>
          <a:solidFill>
            <a:srgbClr val="D9DEE7"/>
          </a:solidFill>
          <a:ln w="0">
            <a:solidFill>
              <a:srgbClr val="000000">
                <a:alpha val="0"/>
              </a:srgbClr>
            </a:solidFill>
            <a:prstDash val="solid"/>
          </a:ln>
        </p:spPr>
        <p:txBody>
          <a:bodyPr/>
          <a:lstStyle/>
          <a:p>
            <a:endParaRPr lang="en-SG" sz="1350"/>
          </a:p>
        </p:txBody>
      </p:sp>
      <p:sp>
        <p:nvSpPr>
          <p:cNvPr id="17" name="Oval 16">
            <a:extLst>
              <a:ext uri="{FF2B5EF4-FFF2-40B4-BE49-F238E27FC236}">
                <a16:creationId xmlns:a16="http://schemas.microsoft.com/office/drawing/2014/main" id="{CDE49212-5B99-4719-8330-6875CA54F306}"/>
              </a:ext>
            </a:extLst>
          </p:cNvPr>
          <p:cNvSpPr>
            <a:spLocks noGrp="1"/>
          </p:cNvSpPr>
          <p:nvPr/>
        </p:nvSpPr>
        <p:spPr>
          <a:xfrm>
            <a:off x="457200" y="2714625"/>
            <a:ext cx="71438" cy="71438"/>
          </a:xfrm>
          <a:prstGeom prst="ellipse">
            <a:avLst/>
          </a:prstGeom>
          <a:solidFill>
            <a:srgbClr val="178F8A"/>
          </a:solidFill>
          <a:ln w="0">
            <a:solidFill>
              <a:srgbClr val="000000">
                <a:alpha val="0"/>
              </a:srgbClr>
            </a:solidFill>
            <a:prstDash val="solid"/>
          </a:ln>
        </p:spPr>
        <p:txBody>
          <a:bodyPr/>
          <a:lstStyle/>
          <a:p>
            <a:endParaRPr lang="en-SG" sz="1350"/>
          </a:p>
        </p:txBody>
      </p:sp>
      <p:sp>
        <p:nvSpPr>
          <p:cNvPr id="18" name="Rectangle 17">
            <a:extLst>
              <a:ext uri="{FF2B5EF4-FFF2-40B4-BE49-F238E27FC236}">
                <a16:creationId xmlns:a16="http://schemas.microsoft.com/office/drawing/2014/main" id="{D969306B-B70E-4AF6-B322-BAD0E4C75850}"/>
              </a:ext>
            </a:extLst>
          </p:cNvPr>
          <p:cNvSpPr>
            <a:spLocks noGrp="1"/>
          </p:cNvSpPr>
          <p:nvPr/>
        </p:nvSpPr>
        <p:spPr>
          <a:xfrm>
            <a:off x="585788" y="2664619"/>
            <a:ext cx="2143125"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0">
                <a:solidFill>
                  <a:srgbClr val="1F2933"/>
                </a:solidFill>
                <a:latin typeface="Aptos"/>
                <a:ea typeface="Aptos"/>
                <a:cs typeface="Aptos"/>
              </a:defRPr>
            </a:pPr>
            <a:r>
              <a:rPr sz="788">
                <a:solidFill>
                  <a:srgbClr val="1F2933"/>
                </a:solidFill>
                <a:latin typeface="Aptos"/>
                <a:ea typeface="Aptos"/>
                <a:cs typeface="Aptos"/>
              </a:rPr>
              <a:t>Recent New Customers</a:t>
            </a:r>
          </a:p>
        </p:txBody>
      </p:sp>
      <p:sp>
        <p:nvSpPr>
          <p:cNvPr id="19" name="Rectangle 18">
            <a:extLst>
              <a:ext uri="{FF2B5EF4-FFF2-40B4-BE49-F238E27FC236}">
                <a16:creationId xmlns:a16="http://schemas.microsoft.com/office/drawing/2014/main" id="{E0317296-77F7-4551-B145-6FB12119D81D}"/>
              </a:ext>
            </a:extLst>
          </p:cNvPr>
          <p:cNvSpPr>
            <a:spLocks noGrp="1"/>
          </p:cNvSpPr>
          <p:nvPr/>
        </p:nvSpPr>
        <p:spPr>
          <a:xfrm>
            <a:off x="2778919" y="2721769"/>
            <a:ext cx="414338" cy="57150"/>
          </a:xfrm>
          <a:prstGeom prst="rect">
            <a:avLst/>
          </a:prstGeom>
          <a:solidFill>
            <a:srgbClr val="F4F6F8"/>
          </a:solidFill>
          <a:ln w="0">
            <a:solidFill>
              <a:srgbClr val="000000">
                <a:alpha val="0"/>
              </a:srgbClr>
            </a:solidFill>
            <a:prstDash val="solid"/>
          </a:ln>
        </p:spPr>
        <p:txBody>
          <a:bodyPr/>
          <a:lstStyle/>
          <a:p>
            <a:endParaRPr lang="en-SG" sz="1350"/>
          </a:p>
        </p:txBody>
      </p:sp>
      <p:sp>
        <p:nvSpPr>
          <p:cNvPr id="20" name="Rectangle 19">
            <a:extLst>
              <a:ext uri="{FF2B5EF4-FFF2-40B4-BE49-F238E27FC236}">
                <a16:creationId xmlns:a16="http://schemas.microsoft.com/office/drawing/2014/main" id="{10BE2005-6FC0-44D0-9076-1FC1E3B6AFB6}"/>
              </a:ext>
            </a:extLst>
          </p:cNvPr>
          <p:cNvSpPr>
            <a:spLocks noGrp="1"/>
          </p:cNvSpPr>
          <p:nvPr/>
        </p:nvSpPr>
        <p:spPr>
          <a:xfrm>
            <a:off x="2778919" y="2721769"/>
            <a:ext cx="398984" cy="57150"/>
          </a:xfrm>
          <a:prstGeom prst="rect">
            <a:avLst/>
          </a:prstGeom>
          <a:solidFill>
            <a:srgbClr val="178F8A"/>
          </a:solidFill>
          <a:ln w="0">
            <a:solidFill>
              <a:srgbClr val="000000">
                <a:alpha val="0"/>
              </a:srgbClr>
            </a:solidFill>
            <a:prstDash val="solid"/>
          </a:ln>
        </p:spPr>
        <p:txBody>
          <a:bodyPr/>
          <a:lstStyle/>
          <a:p>
            <a:endParaRPr lang="en-SG" sz="1350"/>
          </a:p>
        </p:txBody>
      </p:sp>
      <p:sp>
        <p:nvSpPr>
          <p:cNvPr id="21" name="Rectangle 20">
            <a:extLst>
              <a:ext uri="{FF2B5EF4-FFF2-40B4-BE49-F238E27FC236}">
                <a16:creationId xmlns:a16="http://schemas.microsoft.com/office/drawing/2014/main" id="{8A1F7B5B-AC00-4E13-B0C5-E01F9FBD9D2B}"/>
              </a:ext>
            </a:extLst>
          </p:cNvPr>
          <p:cNvSpPr>
            <a:spLocks noGrp="1"/>
          </p:cNvSpPr>
          <p:nvPr/>
        </p:nvSpPr>
        <p:spPr>
          <a:xfrm>
            <a:off x="3243263" y="2664619"/>
            <a:ext cx="714375"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1050" b="0">
                <a:solidFill>
                  <a:srgbClr val="1F2933"/>
                </a:solidFill>
                <a:latin typeface="Aptos"/>
                <a:ea typeface="Aptos"/>
                <a:cs typeface="Aptos"/>
              </a:defRPr>
            </a:pPr>
            <a:r>
              <a:rPr sz="788">
                <a:solidFill>
                  <a:srgbClr val="1F2933"/>
                </a:solidFill>
                <a:latin typeface="Aptos"/>
                <a:ea typeface="Aptos"/>
                <a:cs typeface="Aptos"/>
              </a:rPr>
              <a:t>23,179</a:t>
            </a:r>
          </a:p>
        </p:txBody>
      </p:sp>
      <p:sp>
        <p:nvSpPr>
          <p:cNvPr id="22" name="Rectangle 21">
            <a:extLst>
              <a:ext uri="{FF2B5EF4-FFF2-40B4-BE49-F238E27FC236}">
                <a16:creationId xmlns:a16="http://schemas.microsoft.com/office/drawing/2014/main" id="{2261FAEB-C982-4850-B4FD-BD4D93D3DCE8}"/>
              </a:ext>
            </a:extLst>
          </p:cNvPr>
          <p:cNvSpPr>
            <a:spLocks noGrp="1"/>
          </p:cNvSpPr>
          <p:nvPr/>
        </p:nvSpPr>
        <p:spPr>
          <a:xfrm>
            <a:off x="4171951" y="2664619"/>
            <a:ext cx="535781"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1050" b="0">
                <a:solidFill>
                  <a:srgbClr val="1F2933"/>
                </a:solidFill>
                <a:latin typeface="Aptos"/>
                <a:ea typeface="Aptos"/>
                <a:cs typeface="Aptos"/>
              </a:defRPr>
            </a:pPr>
            <a:r>
              <a:rPr sz="788">
                <a:solidFill>
                  <a:srgbClr val="1F2933"/>
                </a:solidFill>
                <a:latin typeface="Aptos"/>
                <a:ea typeface="Aptos"/>
                <a:cs typeface="Aptos"/>
              </a:rPr>
              <a:t>24.29%</a:t>
            </a:r>
          </a:p>
        </p:txBody>
      </p:sp>
      <p:sp>
        <p:nvSpPr>
          <p:cNvPr id="23" name="Rectangle 22">
            <a:extLst>
              <a:ext uri="{FF2B5EF4-FFF2-40B4-BE49-F238E27FC236}">
                <a16:creationId xmlns:a16="http://schemas.microsoft.com/office/drawing/2014/main" id="{655B8836-4F80-41FB-BB65-6021D6168B2B}"/>
              </a:ext>
            </a:extLst>
          </p:cNvPr>
          <p:cNvSpPr>
            <a:spLocks noGrp="1"/>
          </p:cNvSpPr>
          <p:nvPr/>
        </p:nvSpPr>
        <p:spPr>
          <a:xfrm>
            <a:off x="4993482" y="2664619"/>
            <a:ext cx="750094"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1050" b="0">
                <a:solidFill>
                  <a:srgbClr val="1F2933"/>
                </a:solidFill>
                <a:latin typeface="Aptos"/>
                <a:ea typeface="Aptos"/>
                <a:cs typeface="Aptos"/>
              </a:defRPr>
            </a:pPr>
            <a:r>
              <a:rPr sz="788">
                <a:solidFill>
                  <a:srgbClr val="1F2933"/>
                </a:solidFill>
                <a:latin typeface="Aptos"/>
                <a:ea typeface="Aptos"/>
                <a:cs typeface="Aptos"/>
              </a:rPr>
              <a:t>R$1.46M</a:t>
            </a:r>
          </a:p>
        </p:txBody>
      </p:sp>
      <p:sp>
        <p:nvSpPr>
          <p:cNvPr id="24" name="Rectangle 23">
            <a:extLst>
              <a:ext uri="{FF2B5EF4-FFF2-40B4-BE49-F238E27FC236}">
                <a16:creationId xmlns:a16="http://schemas.microsoft.com/office/drawing/2014/main" id="{D9AA8E18-CC3A-4996-928D-77C8400CBCE2}"/>
              </a:ext>
            </a:extLst>
          </p:cNvPr>
          <p:cNvSpPr>
            <a:spLocks noGrp="1"/>
          </p:cNvSpPr>
          <p:nvPr/>
        </p:nvSpPr>
        <p:spPr>
          <a:xfrm>
            <a:off x="5886450" y="2664619"/>
            <a:ext cx="1785938"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0">
                <a:solidFill>
                  <a:srgbClr val="6B7280"/>
                </a:solidFill>
                <a:latin typeface="Aptos"/>
                <a:ea typeface="Aptos"/>
                <a:cs typeface="Aptos"/>
              </a:defRPr>
            </a:pPr>
            <a:r>
              <a:rPr sz="731">
                <a:solidFill>
                  <a:srgbClr val="6B7280"/>
                </a:solidFill>
                <a:latin typeface="Aptos"/>
                <a:ea typeface="Aptos"/>
                <a:cs typeface="Aptos"/>
              </a:rPr>
              <a:t>Second-purchase coupon</a:t>
            </a:r>
          </a:p>
        </p:txBody>
      </p:sp>
      <p:sp>
        <p:nvSpPr>
          <p:cNvPr id="25" name="Rectangle 24">
            <a:extLst>
              <a:ext uri="{FF2B5EF4-FFF2-40B4-BE49-F238E27FC236}">
                <a16:creationId xmlns:a16="http://schemas.microsoft.com/office/drawing/2014/main" id="{F05AD2AB-2880-474A-8D8C-9ACC242B76F8}"/>
              </a:ext>
            </a:extLst>
          </p:cNvPr>
          <p:cNvSpPr>
            <a:spLocks noGrp="1"/>
          </p:cNvSpPr>
          <p:nvPr/>
        </p:nvSpPr>
        <p:spPr>
          <a:xfrm>
            <a:off x="457200" y="3221832"/>
            <a:ext cx="7786688" cy="7144"/>
          </a:xfrm>
          <a:prstGeom prst="rect">
            <a:avLst/>
          </a:prstGeom>
          <a:solidFill>
            <a:srgbClr val="D9DEE7"/>
          </a:solidFill>
          <a:ln w="0">
            <a:solidFill>
              <a:srgbClr val="000000">
                <a:alpha val="0"/>
              </a:srgbClr>
            </a:solidFill>
            <a:prstDash val="solid"/>
          </a:ln>
        </p:spPr>
        <p:txBody>
          <a:bodyPr/>
          <a:lstStyle/>
          <a:p>
            <a:endParaRPr lang="en-SG" sz="1350"/>
          </a:p>
        </p:txBody>
      </p:sp>
      <p:sp>
        <p:nvSpPr>
          <p:cNvPr id="26" name="Oval 25">
            <a:extLst>
              <a:ext uri="{FF2B5EF4-FFF2-40B4-BE49-F238E27FC236}">
                <a16:creationId xmlns:a16="http://schemas.microsoft.com/office/drawing/2014/main" id="{D9BD9122-FCFA-42EA-AF11-4EA14CC0038E}"/>
              </a:ext>
            </a:extLst>
          </p:cNvPr>
          <p:cNvSpPr>
            <a:spLocks noGrp="1"/>
          </p:cNvSpPr>
          <p:nvPr/>
        </p:nvSpPr>
        <p:spPr>
          <a:xfrm>
            <a:off x="457200" y="3014662"/>
            <a:ext cx="71438" cy="71438"/>
          </a:xfrm>
          <a:prstGeom prst="ellipse">
            <a:avLst/>
          </a:prstGeom>
          <a:solidFill>
            <a:srgbClr val="178F8A"/>
          </a:solidFill>
          <a:ln w="0">
            <a:solidFill>
              <a:srgbClr val="000000">
                <a:alpha val="0"/>
              </a:srgbClr>
            </a:solidFill>
            <a:prstDash val="solid"/>
          </a:ln>
        </p:spPr>
        <p:txBody>
          <a:bodyPr/>
          <a:lstStyle/>
          <a:p>
            <a:endParaRPr lang="en-SG" sz="1350"/>
          </a:p>
        </p:txBody>
      </p:sp>
      <p:sp>
        <p:nvSpPr>
          <p:cNvPr id="27" name="Rectangle 26">
            <a:extLst>
              <a:ext uri="{FF2B5EF4-FFF2-40B4-BE49-F238E27FC236}">
                <a16:creationId xmlns:a16="http://schemas.microsoft.com/office/drawing/2014/main" id="{E671D850-6F57-4004-A59B-65FFB1FAE14F}"/>
              </a:ext>
            </a:extLst>
          </p:cNvPr>
          <p:cNvSpPr>
            <a:spLocks noGrp="1"/>
          </p:cNvSpPr>
          <p:nvPr/>
        </p:nvSpPr>
        <p:spPr>
          <a:xfrm>
            <a:off x="585788" y="2964656"/>
            <a:ext cx="2143125"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0">
                <a:solidFill>
                  <a:srgbClr val="1F2933"/>
                </a:solidFill>
                <a:latin typeface="Aptos"/>
                <a:ea typeface="Aptos"/>
                <a:cs typeface="Aptos"/>
              </a:defRPr>
            </a:pPr>
            <a:r>
              <a:rPr sz="788">
                <a:solidFill>
                  <a:srgbClr val="1F2933"/>
                </a:solidFill>
                <a:latin typeface="Aptos"/>
                <a:ea typeface="Aptos"/>
                <a:cs typeface="Aptos"/>
              </a:rPr>
              <a:t>Core / Mid-Value Customers</a:t>
            </a:r>
          </a:p>
        </p:txBody>
      </p:sp>
      <p:sp>
        <p:nvSpPr>
          <p:cNvPr id="28" name="Rectangle 27">
            <a:extLst>
              <a:ext uri="{FF2B5EF4-FFF2-40B4-BE49-F238E27FC236}">
                <a16:creationId xmlns:a16="http://schemas.microsoft.com/office/drawing/2014/main" id="{9DEE9CEC-55C9-47AF-B46A-30C1FF2F8FAB}"/>
              </a:ext>
            </a:extLst>
          </p:cNvPr>
          <p:cNvSpPr>
            <a:spLocks noGrp="1"/>
          </p:cNvSpPr>
          <p:nvPr/>
        </p:nvSpPr>
        <p:spPr>
          <a:xfrm>
            <a:off x="2778919" y="3021806"/>
            <a:ext cx="414338" cy="57150"/>
          </a:xfrm>
          <a:prstGeom prst="rect">
            <a:avLst/>
          </a:prstGeom>
          <a:solidFill>
            <a:srgbClr val="F4F6F8"/>
          </a:solidFill>
          <a:ln w="0">
            <a:solidFill>
              <a:srgbClr val="000000">
                <a:alpha val="0"/>
              </a:srgbClr>
            </a:solidFill>
            <a:prstDash val="solid"/>
          </a:ln>
        </p:spPr>
        <p:txBody>
          <a:bodyPr/>
          <a:lstStyle/>
          <a:p>
            <a:endParaRPr lang="en-SG" sz="1350"/>
          </a:p>
        </p:txBody>
      </p:sp>
      <p:sp>
        <p:nvSpPr>
          <p:cNvPr id="29" name="Rectangle 28">
            <a:extLst>
              <a:ext uri="{FF2B5EF4-FFF2-40B4-BE49-F238E27FC236}">
                <a16:creationId xmlns:a16="http://schemas.microsoft.com/office/drawing/2014/main" id="{F41CC0DF-B339-4E06-BFB1-C05D20565E5C}"/>
              </a:ext>
            </a:extLst>
          </p:cNvPr>
          <p:cNvSpPr>
            <a:spLocks noGrp="1"/>
          </p:cNvSpPr>
          <p:nvPr/>
        </p:nvSpPr>
        <p:spPr>
          <a:xfrm>
            <a:off x="2778919" y="3021806"/>
            <a:ext cx="414338" cy="57150"/>
          </a:xfrm>
          <a:prstGeom prst="rect">
            <a:avLst/>
          </a:prstGeom>
          <a:solidFill>
            <a:srgbClr val="178F8A"/>
          </a:solidFill>
          <a:ln w="0">
            <a:solidFill>
              <a:srgbClr val="000000">
                <a:alpha val="0"/>
              </a:srgbClr>
            </a:solidFill>
            <a:prstDash val="solid"/>
          </a:ln>
        </p:spPr>
        <p:txBody>
          <a:bodyPr/>
          <a:lstStyle/>
          <a:p>
            <a:endParaRPr lang="en-SG" sz="1350"/>
          </a:p>
        </p:txBody>
      </p:sp>
      <p:sp>
        <p:nvSpPr>
          <p:cNvPr id="30" name="Rectangle 29">
            <a:extLst>
              <a:ext uri="{FF2B5EF4-FFF2-40B4-BE49-F238E27FC236}">
                <a16:creationId xmlns:a16="http://schemas.microsoft.com/office/drawing/2014/main" id="{BD64E74A-6489-4C2A-B5E4-B88D9AF9BA74}"/>
              </a:ext>
            </a:extLst>
          </p:cNvPr>
          <p:cNvSpPr>
            <a:spLocks noGrp="1"/>
          </p:cNvSpPr>
          <p:nvPr/>
        </p:nvSpPr>
        <p:spPr>
          <a:xfrm>
            <a:off x="3243263" y="2964656"/>
            <a:ext cx="714375"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1050" b="0">
                <a:solidFill>
                  <a:srgbClr val="1F2933"/>
                </a:solidFill>
                <a:latin typeface="Aptos"/>
                <a:ea typeface="Aptos"/>
                <a:cs typeface="Aptos"/>
              </a:defRPr>
            </a:pPr>
            <a:r>
              <a:rPr sz="788">
                <a:solidFill>
                  <a:srgbClr val="1F2933"/>
                </a:solidFill>
                <a:latin typeface="Aptos"/>
                <a:ea typeface="Aptos"/>
                <a:cs typeface="Aptos"/>
              </a:rPr>
              <a:t>24,071</a:t>
            </a:r>
          </a:p>
        </p:txBody>
      </p:sp>
      <p:sp>
        <p:nvSpPr>
          <p:cNvPr id="31" name="Rectangle 30">
            <a:extLst>
              <a:ext uri="{FF2B5EF4-FFF2-40B4-BE49-F238E27FC236}">
                <a16:creationId xmlns:a16="http://schemas.microsoft.com/office/drawing/2014/main" id="{11546B33-A7BE-42BA-94B7-0CF0C2161380}"/>
              </a:ext>
            </a:extLst>
          </p:cNvPr>
          <p:cNvSpPr>
            <a:spLocks noGrp="1"/>
          </p:cNvSpPr>
          <p:nvPr/>
        </p:nvSpPr>
        <p:spPr>
          <a:xfrm>
            <a:off x="4171951" y="2964656"/>
            <a:ext cx="535781"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1050" b="0">
                <a:solidFill>
                  <a:srgbClr val="1F2933"/>
                </a:solidFill>
                <a:latin typeface="Aptos"/>
                <a:ea typeface="Aptos"/>
                <a:cs typeface="Aptos"/>
              </a:defRPr>
            </a:pPr>
            <a:r>
              <a:rPr sz="788">
                <a:solidFill>
                  <a:srgbClr val="1F2933"/>
                </a:solidFill>
                <a:latin typeface="Aptos"/>
                <a:ea typeface="Aptos"/>
                <a:cs typeface="Aptos"/>
              </a:rPr>
              <a:t>25.23%</a:t>
            </a:r>
          </a:p>
        </p:txBody>
      </p:sp>
      <p:sp>
        <p:nvSpPr>
          <p:cNvPr id="32" name="Rectangle 31">
            <a:extLst>
              <a:ext uri="{FF2B5EF4-FFF2-40B4-BE49-F238E27FC236}">
                <a16:creationId xmlns:a16="http://schemas.microsoft.com/office/drawing/2014/main" id="{54D4DC83-D9FA-468D-A98A-E90DA5B2924F}"/>
              </a:ext>
            </a:extLst>
          </p:cNvPr>
          <p:cNvSpPr>
            <a:spLocks noGrp="1"/>
          </p:cNvSpPr>
          <p:nvPr/>
        </p:nvSpPr>
        <p:spPr>
          <a:xfrm>
            <a:off x="4993482" y="2964656"/>
            <a:ext cx="750094"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1050" b="0">
                <a:solidFill>
                  <a:srgbClr val="1F2933"/>
                </a:solidFill>
                <a:latin typeface="Aptos"/>
                <a:ea typeface="Aptos"/>
                <a:cs typeface="Aptos"/>
              </a:defRPr>
            </a:pPr>
            <a:r>
              <a:rPr sz="788">
                <a:solidFill>
                  <a:srgbClr val="1F2933"/>
                </a:solidFill>
                <a:latin typeface="Aptos"/>
                <a:ea typeface="Aptos"/>
                <a:cs typeface="Aptos"/>
              </a:rPr>
              <a:t>R$2.70M</a:t>
            </a:r>
          </a:p>
        </p:txBody>
      </p:sp>
      <p:sp>
        <p:nvSpPr>
          <p:cNvPr id="33" name="Rectangle 32">
            <a:extLst>
              <a:ext uri="{FF2B5EF4-FFF2-40B4-BE49-F238E27FC236}">
                <a16:creationId xmlns:a16="http://schemas.microsoft.com/office/drawing/2014/main" id="{4DBA36F2-B128-4834-B01A-0171B9B04A8F}"/>
              </a:ext>
            </a:extLst>
          </p:cNvPr>
          <p:cNvSpPr>
            <a:spLocks noGrp="1"/>
          </p:cNvSpPr>
          <p:nvPr/>
        </p:nvSpPr>
        <p:spPr>
          <a:xfrm>
            <a:off x="5886450" y="2964656"/>
            <a:ext cx="1785938"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0">
                <a:solidFill>
                  <a:srgbClr val="6B7280"/>
                </a:solidFill>
                <a:latin typeface="Aptos"/>
                <a:ea typeface="Aptos"/>
                <a:cs typeface="Aptos"/>
              </a:defRPr>
            </a:pPr>
            <a:r>
              <a:rPr sz="731">
                <a:solidFill>
                  <a:srgbClr val="6B7280"/>
                </a:solidFill>
                <a:latin typeface="Aptos"/>
                <a:ea typeface="Aptos"/>
                <a:cs typeface="Aptos"/>
              </a:rPr>
              <a:t>General nurture</a:t>
            </a:r>
          </a:p>
        </p:txBody>
      </p:sp>
      <p:sp>
        <p:nvSpPr>
          <p:cNvPr id="34" name="Rectangle 33">
            <a:extLst>
              <a:ext uri="{FF2B5EF4-FFF2-40B4-BE49-F238E27FC236}">
                <a16:creationId xmlns:a16="http://schemas.microsoft.com/office/drawing/2014/main" id="{B9EE70B8-50B9-44F1-B000-38EFF52C5ED9}"/>
              </a:ext>
            </a:extLst>
          </p:cNvPr>
          <p:cNvSpPr>
            <a:spLocks noGrp="1"/>
          </p:cNvSpPr>
          <p:nvPr/>
        </p:nvSpPr>
        <p:spPr>
          <a:xfrm>
            <a:off x="457200" y="3521869"/>
            <a:ext cx="7786688" cy="7144"/>
          </a:xfrm>
          <a:prstGeom prst="rect">
            <a:avLst/>
          </a:prstGeom>
          <a:solidFill>
            <a:srgbClr val="D9DEE7"/>
          </a:solidFill>
          <a:ln w="0">
            <a:solidFill>
              <a:srgbClr val="000000">
                <a:alpha val="0"/>
              </a:srgbClr>
            </a:solidFill>
            <a:prstDash val="solid"/>
          </a:ln>
        </p:spPr>
        <p:txBody>
          <a:bodyPr/>
          <a:lstStyle/>
          <a:p>
            <a:endParaRPr lang="en-SG" sz="1350"/>
          </a:p>
        </p:txBody>
      </p:sp>
      <p:sp>
        <p:nvSpPr>
          <p:cNvPr id="35" name="Oval 34">
            <a:extLst>
              <a:ext uri="{FF2B5EF4-FFF2-40B4-BE49-F238E27FC236}">
                <a16:creationId xmlns:a16="http://schemas.microsoft.com/office/drawing/2014/main" id="{14A7EF2E-B74A-4C58-BFF3-EBF427302AD9}"/>
              </a:ext>
            </a:extLst>
          </p:cNvPr>
          <p:cNvSpPr>
            <a:spLocks noGrp="1"/>
          </p:cNvSpPr>
          <p:nvPr/>
        </p:nvSpPr>
        <p:spPr>
          <a:xfrm>
            <a:off x="457200" y="3314700"/>
            <a:ext cx="71438" cy="71438"/>
          </a:xfrm>
          <a:prstGeom prst="ellipse">
            <a:avLst/>
          </a:prstGeom>
          <a:solidFill>
            <a:srgbClr val="6B7280"/>
          </a:solidFill>
          <a:ln w="0">
            <a:solidFill>
              <a:srgbClr val="000000">
                <a:alpha val="0"/>
              </a:srgbClr>
            </a:solidFill>
            <a:prstDash val="solid"/>
          </a:ln>
        </p:spPr>
        <p:txBody>
          <a:bodyPr/>
          <a:lstStyle/>
          <a:p>
            <a:endParaRPr lang="en-SG" sz="1350"/>
          </a:p>
        </p:txBody>
      </p:sp>
      <p:sp>
        <p:nvSpPr>
          <p:cNvPr id="36" name="Rectangle 35">
            <a:extLst>
              <a:ext uri="{FF2B5EF4-FFF2-40B4-BE49-F238E27FC236}">
                <a16:creationId xmlns:a16="http://schemas.microsoft.com/office/drawing/2014/main" id="{4517A001-9223-4535-8DEE-85A350C80203}"/>
              </a:ext>
            </a:extLst>
          </p:cNvPr>
          <p:cNvSpPr>
            <a:spLocks noGrp="1"/>
          </p:cNvSpPr>
          <p:nvPr/>
        </p:nvSpPr>
        <p:spPr>
          <a:xfrm>
            <a:off x="585788" y="3264694"/>
            <a:ext cx="2143125"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0">
                <a:solidFill>
                  <a:srgbClr val="1F2933"/>
                </a:solidFill>
                <a:latin typeface="Aptos"/>
                <a:ea typeface="Aptos"/>
                <a:cs typeface="Aptos"/>
              </a:defRPr>
            </a:pPr>
            <a:r>
              <a:rPr sz="788">
                <a:solidFill>
                  <a:srgbClr val="1F2933"/>
                </a:solidFill>
                <a:latin typeface="Aptos"/>
                <a:ea typeface="Aptos"/>
                <a:cs typeface="Aptos"/>
              </a:rPr>
              <a:t>Dormant Low Value</a:t>
            </a:r>
          </a:p>
        </p:txBody>
      </p:sp>
      <p:sp>
        <p:nvSpPr>
          <p:cNvPr id="37" name="Rectangle 36">
            <a:extLst>
              <a:ext uri="{FF2B5EF4-FFF2-40B4-BE49-F238E27FC236}">
                <a16:creationId xmlns:a16="http://schemas.microsoft.com/office/drawing/2014/main" id="{0618641B-A9BA-4C96-998E-AF9DF040FC52}"/>
              </a:ext>
            </a:extLst>
          </p:cNvPr>
          <p:cNvSpPr>
            <a:spLocks noGrp="1"/>
          </p:cNvSpPr>
          <p:nvPr/>
        </p:nvSpPr>
        <p:spPr>
          <a:xfrm>
            <a:off x="2778919" y="3321844"/>
            <a:ext cx="414338" cy="57150"/>
          </a:xfrm>
          <a:prstGeom prst="rect">
            <a:avLst/>
          </a:prstGeom>
          <a:solidFill>
            <a:srgbClr val="F4F6F8"/>
          </a:solidFill>
          <a:ln w="0">
            <a:solidFill>
              <a:srgbClr val="000000">
                <a:alpha val="0"/>
              </a:srgbClr>
            </a:solidFill>
            <a:prstDash val="solid"/>
          </a:ln>
        </p:spPr>
        <p:txBody>
          <a:bodyPr/>
          <a:lstStyle/>
          <a:p>
            <a:endParaRPr lang="en-SG" sz="1350"/>
          </a:p>
        </p:txBody>
      </p:sp>
      <p:sp>
        <p:nvSpPr>
          <p:cNvPr id="38" name="Rectangle 37">
            <a:extLst>
              <a:ext uri="{FF2B5EF4-FFF2-40B4-BE49-F238E27FC236}">
                <a16:creationId xmlns:a16="http://schemas.microsoft.com/office/drawing/2014/main" id="{AE7F4968-1F34-492A-A7F1-D01E83703E14}"/>
              </a:ext>
            </a:extLst>
          </p:cNvPr>
          <p:cNvSpPr>
            <a:spLocks noGrp="1"/>
          </p:cNvSpPr>
          <p:nvPr/>
        </p:nvSpPr>
        <p:spPr>
          <a:xfrm>
            <a:off x="2778919" y="3321844"/>
            <a:ext cx="205852" cy="57150"/>
          </a:xfrm>
          <a:prstGeom prst="rect">
            <a:avLst/>
          </a:prstGeom>
          <a:solidFill>
            <a:srgbClr val="6B7280"/>
          </a:solidFill>
          <a:ln w="0">
            <a:solidFill>
              <a:srgbClr val="000000">
                <a:alpha val="0"/>
              </a:srgbClr>
            </a:solidFill>
            <a:prstDash val="solid"/>
          </a:ln>
        </p:spPr>
        <p:txBody>
          <a:bodyPr/>
          <a:lstStyle/>
          <a:p>
            <a:endParaRPr lang="en-SG" sz="1350"/>
          </a:p>
        </p:txBody>
      </p:sp>
      <p:sp>
        <p:nvSpPr>
          <p:cNvPr id="39" name="Rectangle 38">
            <a:extLst>
              <a:ext uri="{FF2B5EF4-FFF2-40B4-BE49-F238E27FC236}">
                <a16:creationId xmlns:a16="http://schemas.microsoft.com/office/drawing/2014/main" id="{9D963069-14AA-43D9-92FC-8056DB72E056}"/>
              </a:ext>
            </a:extLst>
          </p:cNvPr>
          <p:cNvSpPr>
            <a:spLocks noGrp="1"/>
          </p:cNvSpPr>
          <p:nvPr/>
        </p:nvSpPr>
        <p:spPr>
          <a:xfrm>
            <a:off x="3243263" y="3264694"/>
            <a:ext cx="714375"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1050" b="0">
                <a:solidFill>
                  <a:srgbClr val="1F2933"/>
                </a:solidFill>
                <a:latin typeface="Aptos"/>
                <a:ea typeface="Aptos"/>
                <a:cs typeface="Aptos"/>
              </a:defRPr>
            </a:pPr>
            <a:r>
              <a:rPr sz="788">
                <a:solidFill>
                  <a:srgbClr val="1F2933"/>
                </a:solidFill>
                <a:latin typeface="Aptos"/>
                <a:ea typeface="Aptos"/>
                <a:cs typeface="Aptos"/>
              </a:rPr>
              <a:t>11,959</a:t>
            </a:r>
          </a:p>
        </p:txBody>
      </p:sp>
      <p:sp>
        <p:nvSpPr>
          <p:cNvPr id="40" name="Rectangle 39">
            <a:extLst>
              <a:ext uri="{FF2B5EF4-FFF2-40B4-BE49-F238E27FC236}">
                <a16:creationId xmlns:a16="http://schemas.microsoft.com/office/drawing/2014/main" id="{2A2DDA7D-C9E2-49F5-879F-A7BA8A188F3E}"/>
              </a:ext>
            </a:extLst>
          </p:cNvPr>
          <p:cNvSpPr>
            <a:spLocks noGrp="1"/>
          </p:cNvSpPr>
          <p:nvPr/>
        </p:nvSpPr>
        <p:spPr>
          <a:xfrm>
            <a:off x="4171951" y="3264694"/>
            <a:ext cx="535781"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1050" b="0">
                <a:solidFill>
                  <a:srgbClr val="1F2933"/>
                </a:solidFill>
                <a:latin typeface="Aptos"/>
                <a:ea typeface="Aptos"/>
                <a:cs typeface="Aptos"/>
              </a:defRPr>
            </a:pPr>
            <a:r>
              <a:rPr sz="788">
                <a:solidFill>
                  <a:srgbClr val="1F2933"/>
                </a:solidFill>
                <a:latin typeface="Aptos"/>
                <a:ea typeface="Aptos"/>
                <a:cs typeface="Aptos"/>
              </a:rPr>
              <a:t>12.53%</a:t>
            </a:r>
          </a:p>
        </p:txBody>
      </p:sp>
      <p:sp>
        <p:nvSpPr>
          <p:cNvPr id="41" name="Rectangle 40">
            <a:extLst>
              <a:ext uri="{FF2B5EF4-FFF2-40B4-BE49-F238E27FC236}">
                <a16:creationId xmlns:a16="http://schemas.microsoft.com/office/drawing/2014/main" id="{9C5351DB-CC4B-4402-B076-F241577625B6}"/>
              </a:ext>
            </a:extLst>
          </p:cNvPr>
          <p:cNvSpPr>
            <a:spLocks noGrp="1"/>
          </p:cNvSpPr>
          <p:nvPr/>
        </p:nvSpPr>
        <p:spPr>
          <a:xfrm>
            <a:off x="4993482" y="3264694"/>
            <a:ext cx="750094"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1050" b="0">
                <a:solidFill>
                  <a:srgbClr val="1F2933"/>
                </a:solidFill>
                <a:latin typeface="Aptos"/>
                <a:ea typeface="Aptos"/>
                <a:cs typeface="Aptos"/>
              </a:defRPr>
            </a:pPr>
            <a:r>
              <a:rPr sz="788">
                <a:solidFill>
                  <a:srgbClr val="1F2933"/>
                </a:solidFill>
                <a:latin typeface="Aptos"/>
                <a:ea typeface="Aptos"/>
                <a:cs typeface="Aptos"/>
              </a:rPr>
              <a:t>R$523k</a:t>
            </a:r>
          </a:p>
        </p:txBody>
      </p:sp>
      <p:sp>
        <p:nvSpPr>
          <p:cNvPr id="42" name="Rectangle 41">
            <a:extLst>
              <a:ext uri="{FF2B5EF4-FFF2-40B4-BE49-F238E27FC236}">
                <a16:creationId xmlns:a16="http://schemas.microsoft.com/office/drawing/2014/main" id="{19D2DD84-4234-4C86-B754-A4B013F51CF3}"/>
              </a:ext>
            </a:extLst>
          </p:cNvPr>
          <p:cNvSpPr>
            <a:spLocks noGrp="1"/>
          </p:cNvSpPr>
          <p:nvPr/>
        </p:nvSpPr>
        <p:spPr>
          <a:xfrm>
            <a:off x="5886450" y="3264694"/>
            <a:ext cx="1785938"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0">
                <a:solidFill>
                  <a:srgbClr val="6B7280"/>
                </a:solidFill>
                <a:latin typeface="Aptos"/>
                <a:ea typeface="Aptos"/>
                <a:cs typeface="Aptos"/>
              </a:defRPr>
            </a:pPr>
            <a:r>
              <a:rPr sz="731">
                <a:solidFill>
                  <a:srgbClr val="6B7280"/>
                </a:solidFill>
                <a:latin typeface="Aptos"/>
                <a:ea typeface="Aptos"/>
                <a:cs typeface="Aptos"/>
              </a:rPr>
              <a:t>Low-cost reactivation</a:t>
            </a:r>
          </a:p>
        </p:txBody>
      </p:sp>
      <p:sp>
        <p:nvSpPr>
          <p:cNvPr id="43" name="Rectangle 42">
            <a:extLst>
              <a:ext uri="{FF2B5EF4-FFF2-40B4-BE49-F238E27FC236}">
                <a16:creationId xmlns:a16="http://schemas.microsoft.com/office/drawing/2014/main" id="{BB1FC2A0-FE00-48A8-B81D-FBBA9D62DA0B}"/>
              </a:ext>
            </a:extLst>
          </p:cNvPr>
          <p:cNvSpPr>
            <a:spLocks noGrp="1"/>
          </p:cNvSpPr>
          <p:nvPr/>
        </p:nvSpPr>
        <p:spPr>
          <a:xfrm>
            <a:off x="457200" y="3821907"/>
            <a:ext cx="7786688" cy="7144"/>
          </a:xfrm>
          <a:prstGeom prst="rect">
            <a:avLst/>
          </a:prstGeom>
          <a:solidFill>
            <a:srgbClr val="D9DEE7"/>
          </a:solidFill>
          <a:ln w="0">
            <a:solidFill>
              <a:srgbClr val="000000">
                <a:alpha val="0"/>
              </a:srgbClr>
            </a:solidFill>
            <a:prstDash val="solid"/>
          </a:ln>
        </p:spPr>
        <p:txBody>
          <a:bodyPr/>
          <a:lstStyle/>
          <a:p>
            <a:endParaRPr lang="en-SG" sz="1350"/>
          </a:p>
        </p:txBody>
      </p:sp>
      <p:sp>
        <p:nvSpPr>
          <p:cNvPr id="44" name="Oval 43">
            <a:extLst>
              <a:ext uri="{FF2B5EF4-FFF2-40B4-BE49-F238E27FC236}">
                <a16:creationId xmlns:a16="http://schemas.microsoft.com/office/drawing/2014/main" id="{A448DA7B-8D4D-459C-819D-AE4B49A68C7A}"/>
              </a:ext>
            </a:extLst>
          </p:cNvPr>
          <p:cNvSpPr>
            <a:spLocks noGrp="1"/>
          </p:cNvSpPr>
          <p:nvPr/>
        </p:nvSpPr>
        <p:spPr>
          <a:xfrm>
            <a:off x="457200" y="3614737"/>
            <a:ext cx="71438" cy="71438"/>
          </a:xfrm>
          <a:prstGeom prst="ellipse">
            <a:avLst/>
          </a:prstGeom>
          <a:solidFill>
            <a:srgbClr val="C77721"/>
          </a:solidFill>
          <a:ln w="0">
            <a:solidFill>
              <a:srgbClr val="000000">
                <a:alpha val="0"/>
              </a:srgbClr>
            </a:solidFill>
            <a:prstDash val="solid"/>
          </a:ln>
        </p:spPr>
        <p:txBody>
          <a:bodyPr/>
          <a:lstStyle/>
          <a:p>
            <a:endParaRPr lang="en-SG" sz="1350"/>
          </a:p>
        </p:txBody>
      </p:sp>
      <p:sp>
        <p:nvSpPr>
          <p:cNvPr id="45" name="Rectangle 44">
            <a:extLst>
              <a:ext uri="{FF2B5EF4-FFF2-40B4-BE49-F238E27FC236}">
                <a16:creationId xmlns:a16="http://schemas.microsoft.com/office/drawing/2014/main" id="{BD4BF6DD-9DC0-43EA-8C93-6B70E5FCFFDF}"/>
              </a:ext>
            </a:extLst>
          </p:cNvPr>
          <p:cNvSpPr>
            <a:spLocks noGrp="1"/>
          </p:cNvSpPr>
          <p:nvPr/>
        </p:nvSpPr>
        <p:spPr>
          <a:xfrm>
            <a:off x="585788" y="3564731"/>
            <a:ext cx="2143125"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0">
                <a:solidFill>
                  <a:srgbClr val="1F2933"/>
                </a:solidFill>
                <a:latin typeface="Aptos"/>
                <a:ea typeface="Aptos"/>
                <a:cs typeface="Aptos"/>
              </a:defRPr>
            </a:pPr>
            <a:r>
              <a:rPr sz="788">
                <a:solidFill>
                  <a:srgbClr val="1F2933"/>
                </a:solidFill>
                <a:latin typeface="Aptos"/>
                <a:ea typeface="Aptos"/>
                <a:cs typeface="Aptos"/>
              </a:rPr>
              <a:t>At-Risk High Spenders</a:t>
            </a:r>
          </a:p>
        </p:txBody>
      </p:sp>
      <p:sp>
        <p:nvSpPr>
          <p:cNvPr id="46" name="Rectangle 45">
            <a:extLst>
              <a:ext uri="{FF2B5EF4-FFF2-40B4-BE49-F238E27FC236}">
                <a16:creationId xmlns:a16="http://schemas.microsoft.com/office/drawing/2014/main" id="{C457B996-30C7-44B6-BB5F-2CB374CFC5D1}"/>
              </a:ext>
            </a:extLst>
          </p:cNvPr>
          <p:cNvSpPr>
            <a:spLocks noGrp="1"/>
          </p:cNvSpPr>
          <p:nvPr/>
        </p:nvSpPr>
        <p:spPr>
          <a:xfrm>
            <a:off x="2778919" y="3621881"/>
            <a:ext cx="414338" cy="57150"/>
          </a:xfrm>
          <a:prstGeom prst="rect">
            <a:avLst/>
          </a:prstGeom>
          <a:solidFill>
            <a:srgbClr val="F4F6F8"/>
          </a:solidFill>
          <a:ln w="0">
            <a:solidFill>
              <a:srgbClr val="000000">
                <a:alpha val="0"/>
              </a:srgbClr>
            </a:solidFill>
            <a:prstDash val="solid"/>
          </a:ln>
        </p:spPr>
        <p:txBody>
          <a:bodyPr/>
          <a:lstStyle/>
          <a:p>
            <a:endParaRPr lang="en-SG" sz="1350"/>
          </a:p>
        </p:txBody>
      </p:sp>
      <p:sp>
        <p:nvSpPr>
          <p:cNvPr id="47" name="Rectangle 46">
            <a:extLst>
              <a:ext uri="{FF2B5EF4-FFF2-40B4-BE49-F238E27FC236}">
                <a16:creationId xmlns:a16="http://schemas.microsoft.com/office/drawing/2014/main" id="{19EED285-CDCA-420B-BA0A-9D1BB73E0A17}"/>
              </a:ext>
            </a:extLst>
          </p:cNvPr>
          <p:cNvSpPr>
            <a:spLocks noGrp="1"/>
          </p:cNvSpPr>
          <p:nvPr/>
        </p:nvSpPr>
        <p:spPr>
          <a:xfrm>
            <a:off x="2778919" y="3621881"/>
            <a:ext cx="194061" cy="57150"/>
          </a:xfrm>
          <a:prstGeom prst="rect">
            <a:avLst/>
          </a:prstGeom>
          <a:solidFill>
            <a:srgbClr val="C77721"/>
          </a:solidFill>
          <a:ln w="0">
            <a:solidFill>
              <a:srgbClr val="000000">
                <a:alpha val="0"/>
              </a:srgbClr>
            </a:solidFill>
            <a:prstDash val="solid"/>
          </a:ln>
        </p:spPr>
        <p:txBody>
          <a:bodyPr/>
          <a:lstStyle/>
          <a:p>
            <a:endParaRPr lang="en-SG" sz="1350"/>
          </a:p>
        </p:txBody>
      </p:sp>
      <p:sp>
        <p:nvSpPr>
          <p:cNvPr id="48" name="Rectangle 47">
            <a:extLst>
              <a:ext uri="{FF2B5EF4-FFF2-40B4-BE49-F238E27FC236}">
                <a16:creationId xmlns:a16="http://schemas.microsoft.com/office/drawing/2014/main" id="{F68C7B4D-A7DC-42D1-9C26-395602C8D7DA}"/>
              </a:ext>
            </a:extLst>
          </p:cNvPr>
          <p:cNvSpPr>
            <a:spLocks noGrp="1"/>
          </p:cNvSpPr>
          <p:nvPr/>
        </p:nvSpPr>
        <p:spPr>
          <a:xfrm>
            <a:off x="3243263" y="3564731"/>
            <a:ext cx="714375"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1050" b="0">
                <a:solidFill>
                  <a:srgbClr val="1F2933"/>
                </a:solidFill>
                <a:latin typeface="Aptos"/>
                <a:ea typeface="Aptos"/>
                <a:cs typeface="Aptos"/>
              </a:defRPr>
            </a:pPr>
            <a:r>
              <a:rPr sz="788">
                <a:solidFill>
                  <a:srgbClr val="1F2933"/>
                </a:solidFill>
                <a:latin typeface="Aptos"/>
                <a:ea typeface="Aptos"/>
                <a:cs typeface="Aptos"/>
              </a:rPr>
              <a:t>11,274</a:t>
            </a:r>
          </a:p>
        </p:txBody>
      </p:sp>
      <p:sp>
        <p:nvSpPr>
          <p:cNvPr id="49" name="Rectangle 48">
            <a:extLst>
              <a:ext uri="{FF2B5EF4-FFF2-40B4-BE49-F238E27FC236}">
                <a16:creationId xmlns:a16="http://schemas.microsoft.com/office/drawing/2014/main" id="{05FB0397-A258-48B9-A797-9681BA60225A}"/>
              </a:ext>
            </a:extLst>
          </p:cNvPr>
          <p:cNvSpPr>
            <a:spLocks noGrp="1"/>
          </p:cNvSpPr>
          <p:nvPr/>
        </p:nvSpPr>
        <p:spPr>
          <a:xfrm>
            <a:off x="4171951" y="3564731"/>
            <a:ext cx="535781"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1050" b="0">
                <a:solidFill>
                  <a:srgbClr val="1F2933"/>
                </a:solidFill>
                <a:latin typeface="Aptos"/>
                <a:ea typeface="Aptos"/>
                <a:cs typeface="Aptos"/>
              </a:defRPr>
            </a:pPr>
            <a:r>
              <a:rPr sz="788">
                <a:solidFill>
                  <a:srgbClr val="1F2933"/>
                </a:solidFill>
                <a:latin typeface="Aptos"/>
                <a:ea typeface="Aptos"/>
                <a:cs typeface="Aptos"/>
              </a:rPr>
              <a:t>11.82%</a:t>
            </a:r>
          </a:p>
        </p:txBody>
      </p:sp>
      <p:sp>
        <p:nvSpPr>
          <p:cNvPr id="50" name="Rectangle 49">
            <a:extLst>
              <a:ext uri="{FF2B5EF4-FFF2-40B4-BE49-F238E27FC236}">
                <a16:creationId xmlns:a16="http://schemas.microsoft.com/office/drawing/2014/main" id="{BB99B6D3-C24F-46B4-B933-04013B4667D8}"/>
              </a:ext>
            </a:extLst>
          </p:cNvPr>
          <p:cNvSpPr>
            <a:spLocks noGrp="1"/>
          </p:cNvSpPr>
          <p:nvPr/>
        </p:nvSpPr>
        <p:spPr>
          <a:xfrm>
            <a:off x="4993482" y="3564731"/>
            <a:ext cx="750094"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1050" b="0">
                <a:solidFill>
                  <a:srgbClr val="1F2933"/>
                </a:solidFill>
                <a:latin typeface="Aptos"/>
                <a:ea typeface="Aptos"/>
                <a:cs typeface="Aptos"/>
              </a:defRPr>
            </a:pPr>
            <a:r>
              <a:rPr sz="788">
                <a:solidFill>
                  <a:srgbClr val="1F2933"/>
                </a:solidFill>
                <a:latin typeface="Aptos"/>
                <a:ea typeface="Aptos"/>
                <a:cs typeface="Aptos"/>
              </a:rPr>
              <a:t>R$1.59M</a:t>
            </a:r>
          </a:p>
        </p:txBody>
      </p:sp>
      <p:sp>
        <p:nvSpPr>
          <p:cNvPr id="51" name="Rectangle 50">
            <a:extLst>
              <a:ext uri="{FF2B5EF4-FFF2-40B4-BE49-F238E27FC236}">
                <a16:creationId xmlns:a16="http://schemas.microsoft.com/office/drawing/2014/main" id="{EB03F384-FF50-4C13-85F0-2BD3574FD9C7}"/>
              </a:ext>
            </a:extLst>
          </p:cNvPr>
          <p:cNvSpPr>
            <a:spLocks noGrp="1"/>
          </p:cNvSpPr>
          <p:nvPr/>
        </p:nvSpPr>
        <p:spPr>
          <a:xfrm>
            <a:off x="5886450" y="3564731"/>
            <a:ext cx="1785938"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0">
                <a:solidFill>
                  <a:srgbClr val="6B7280"/>
                </a:solidFill>
                <a:latin typeface="Aptos"/>
                <a:ea typeface="Aptos"/>
                <a:cs typeface="Aptos"/>
              </a:defRPr>
            </a:pPr>
            <a:r>
              <a:rPr sz="731">
                <a:solidFill>
                  <a:srgbClr val="6B7280"/>
                </a:solidFill>
                <a:latin typeface="Aptos"/>
                <a:ea typeface="Aptos"/>
                <a:cs typeface="Aptos"/>
              </a:rPr>
              <a:t>Win-back campaign</a:t>
            </a:r>
          </a:p>
        </p:txBody>
      </p:sp>
      <p:sp>
        <p:nvSpPr>
          <p:cNvPr id="52" name="Rectangle 51">
            <a:extLst>
              <a:ext uri="{FF2B5EF4-FFF2-40B4-BE49-F238E27FC236}">
                <a16:creationId xmlns:a16="http://schemas.microsoft.com/office/drawing/2014/main" id="{25470233-AB1C-4EA9-8B17-F773BF2B4221}"/>
              </a:ext>
            </a:extLst>
          </p:cNvPr>
          <p:cNvSpPr>
            <a:spLocks noGrp="1"/>
          </p:cNvSpPr>
          <p:nvPr/>
        </p:nvSpPr>
        <p:spPr>
          <a:xfrm>
            <a:off x="457200" y="4121944"/>
            <a:ext cx="7786688" cy="7144"/>
          </a:xfrm>
          <a:prstGeom prst="rect">
            <a:avLst/>
          </a:prstGeom>
          <a:solidFill>
            <a:srgbClr val="D9DEE7"/>
          </a:solidFill>
          <a:ln w="0">
            <a:solidFill>
              <a:srgbClr val="000000">
                <a:alpha val="0"/>
              </a:srgbClr>
            </a:solidFill>
            <a:prstDash val="solid"/>
          </a:ln>
        </p:spPr>
        <p:txBody>
          <a:bodyPr/>
          <a:lstStyle/>
          <a:p>
            <a:endParaRPr lang="en-SG" sz="1350"/>
          </a:p>
        </p:txBody>
      </p:sp>
      <p:sp>
        <p:nvSpPr>
          <p:cNvPr id="53" name="Oval 52">
            <a:extLst>
              <a:ext uri="{FF2B5EF4-FFF2-40B4-BE49-F238E27FC236}">
                <a16:creationId xmlns:a16="http://schemas.microsoft.com/office/drawing/2014/main" id="{16224CD8-A396-434B-84D8-597A6C70785A}"/>
              </a:ext>
            </a:extLst>
          </p:cNvPr>
          <p:cNvSpPr>
            <a:spLocks noGrp="1"/>
          </p:cNvSpPr>
          <p:nvPr/>
        </p:nvSpPr>
        <p:spPr>
          <a:xfrm>
            <a:off x="457200" y="3914775"/>
            <a:ext cx="71438" cy="71438"/>
          </a:xfrm>
          <a:prstGeom prst="ellipse">
            <a:avLst/>
          </a:prstGeom>
          <a:solidFill>
            <a:srgbClr val="2F8F5B"/>
          </a:solidFill>
          <a:ln w="0">
            <a:solidFill>
              <a:srgbClr val="000000">
                <a:alpha val="0"/>
              </a:srgbClr>
            </a:solidFill>
            <a:prstDash val="solid"/>
          </a:ln>
        </p:spPr>
        <p:txBody>
          <a:bodyPr/>
          <a:lstStyle/>
          <a:p>
            <a:endParaRPr lang="en-SG" sz="1350"/>
          </a:p>
        </p:txBody>
      </p:sp>
      <p:sp>
        <p:nvSpPr>
          <p:cNvPr id="54" name="Rectangle 53">
            <a:extLst>
              <a:ext uri="{FF2B5EF4-FFF2-40B4-BE49-F238E27FC236}">
                <a16:creationId xmlns:a16="http://schemas.microsoft.com/office/drawing/2014/main" id="{C24EFB52-55F6-4C7B-BE75-61F82F978311}"/>
              </a:ext>
            </a:extLst>
          </p:cNvPr>
          <p:cNvSpPr>
            <a:spLocks noGrp="1"/>
          </p:cNvSpPr>
          <p:nvPr/>
        </p:nvSpPr>
        <p:spPr>
          <a:xfrm>
            <a:off x="585788" y="3864769"/>
            <a:ext cx="2143125"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1">
                <a:solidFill>
                  <a:srgbClr val="1F2933"/>
                </a:solidFill>
                <a:latin typeface="Aptos"/>
                <a:ea typeface="Aptos"/>
                <a:cs typeface="Aptos"/>
              </a:defRPr>
            </a:pPr>
            <a:r>
              <a:rPr sz="788" b="1">
                <a:solidFill>
                  <a:srgbClr val="1F2933"/>
                </a:solidFill>
                <a:latin typeface="Aptos"/>
                <a:ea typeface="Aptos"/>
                <a:cs typeface="Aptos"/>
              </a:rPr>
              <a:t>High-Value New Customers</a:t>
            </a:r>
          </a:p>
        </p:txBody>
      </p:sp>
      <p:sp>
        <p:nvSpPr>
          <p:cNvPr id="55" name="Rectangle 54">
            <a:extLst>
              <a:ext uri="{FF2B5EF4-FFF2-40B4-BE49-F238E27FC236}">
                <a16:creationId xmlns:a16="http://schemas.microsoft.com/office/drawing/2014/main" id="{25C37448-3A5F-4F85-BE01-F2537B532C80}"/>
              </a:ext>
            </a:extLst>
          </p:cNvPr>
          <p:cNvSpPr>
            <a:spLocks noGrp="1"/>
          </p:cNvSpPr>
          <p:nvPr/>
        </p:nvSpPr>
        <p:spPr>
          <a:xfrm>
            <a:off x="2778919" y="3921919"/>
            <a:ext cx="414338" cy="57150"/>
          </a:xfrm>
          <a:prstGeom prst="rect">
            <a:avLst/>
          </a:prstGeom>
          <a:solidFill>
            <a:srgbClr val="F4F6F8"/>
          </a:solidFill>
          <a:ln w="0">
            <a:solidFill>
              <a:srgbClr val="000000">
                <a:alpha val="0"/>
              </a:srgbClr>
            </a:solidFill>
            <a:prstDash val="solid"/>
          </a:ln>
        </p:spPr>
        <p:txBody>
          <a:bodyPr/>
          <a:lstStyle/>
          <a:p>
            <a:endParaRPr lang="en-SG" sz="1350"/>
          </a:p>
        </p:txBody>
      </p:sp>
      <p:sp>
        <p:nvSpPr>
          <p:cNvPr id="56" name="Rectangle 55">
            <a:extLst>
              <a:ext uri="{FF2B5EF4-FFF2-40B4-BE49-F238E27FC236}">
                <a16:creationId xmlns:a16="http://schemas.microsoft.com/office/drawing/2014/main" id="{F9F28A94-6ECC-4DB2-BC69-CB10A3B03692}"/>
              </a:ext>
            </a:extLst>
          </p:cNvPr>
          <p:cNvSpPr>
            <a:spLocks noGrp="1"/>
          </p:cNvSpPr>
          <p:nvPr/>
        </p:nvSpPr>
        <p:spPr>
          <a:xfrm>
            <a:off x="2778919" y="3921919"/>
            <a:ext cx="190739" cy="57150"/>
          </a:xfrm>
          <a:prstGeom prst="rect">
            <a:avLst/>
          </a:prstGeom>
          <a:solidFill>
            <a:srgbClr val="2F8F5B"/>
          </a:solidFill>
          <a:ln w="0">
            <a:solidFill>
              <a:srgbClr val="000000">
                <a:alpha val="0"/>
              </a:srgbClr>
            </a:solidFill>
            <a:prstDash val="solid"/>
          </a:ln>
        </p:spPr>
        <p:txBody>
          <a:bodyPr/>
          <a:lstStyle/>
          <a:p>
            <a:endParaRPr lang="en-SG" sz="1350"/>
          </a:p>
        </p:txBody>
      </p:sp>
      <p:sp>
        <p:nvSpPr>
          <p:cNvPr id="57" name="Rectangle 56">
            <a:extLst>
              <a:ext uri="{FF2B5EF4-FFF2-40B4-BE49-F238E27FC236}">
                <a16:creationId xmlns:a16="http://schemas.microsoft.com/office/drawing/2014/main" id="{57A70115-B5CC-4227-AACD-41E370CA8D0B}"/>
              </a:ext>
            </a:extLst>
          </p:cNvPr>
          <p:cNvSpPr>
            <a:spLocks noGrp="1"/>
          </p:cNvSpPr>
          <p:nvPr/>
        </p:nvSpPr>
        <p:spPr>
          <a:xfrm>
            <a:off x="3243263" y="3864769"/>
            <a:ext cx="714375"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1050" b="0">
                <a:solidFill>
                  <a:srgbClr val="1F2933"/>
                </a:solidFill>
                <a:latin typeface="Aptos"/>
                <a:ea typeface="Aptos"/>
                <a:cs typeface="Aptos"/>
              </a:defRPr>
            </a:pPr>
            <a:r>
              <a:rPr sz="788">
                <a:solidFill>
                  <a:srgbClr val="1F2933"/>
                </a:solidFill>
                <a:latin typeface="Aptos"/>
                <a:ea typeface="Aptos"/>
                <a:cs typeface="Aptos"/>
              </a:rPr>
              <a:t>11,081</a:t>
            </a:r>
          </a:p>
        </p:txBody>
      </p:sp>
      <p:sp>
        <p:nvSpPr>
          <p:cNvPr id="58" name="Rectangle 57">
            <a:extLst>
              <a:ext uri="{FF2B5EF4-FFF2-40B4-BE49-F238E27FC236}">
                <a16:creationId xmlns:a16="http://schemas.microsoft.com/office/drawing/2014/main" id="{0C6D933D-EB99-4F5B-A087-0C29168EE4C8}"/>
              </a:ext>
            </a:extLst>
          </p:cNvPr>
          <p:cNvSpPr>
            <a:spLocks noGrp="1"/>
          </p:cNvSpPr>
          <p:nvPr/>
        </p:nvSpPr>
        <p:spPr>
          <a:xfrm>
            <a:off x="4171951" y="3864769"/>
            <a:ext cx="535781"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1050" b="0">
                <a:solidFill>
                  <a:srgbClr val="1F2933"/>
                </a:solidFill>
                <a:latin typeface="Aptos"/>
                <a:ea typeface="Aptos"/>
                <a:cs typeface="Aptos"/>
              </a:defRPr>
            </a:pPr>
            <a:r>
              <a:rPr sz="788">
                <a:solidFill>
                  <a:srgbClr val="1F2933"/>
                </a:solidFill>
                <a:latin typeface="Aptos"/>
                <a:ea typeface="Aptos"/>
                <a:cs typeface="Aptos"/>
              </a:rPr>
              <a:t>11.61%</a:t>
            </a:r>
          </a:p>
        </p:txBody>
      </p:sp>
      <p:sp>
        <p:nvSpPr>
          <p:cNvPr id="59" name="Rectangle 58">
            <a:extLst>
              <a:ext uri="{FF2B5EF4-FFF2-40B4-BE49-F238E27FC236}">
                <a16:creationId xmlns:a16="http://schemas.microsoft.com/office/drawing/2014/main" id="{B8ADD278-7901-4215-A0FF-F51D3E17FA3F}"/>
              </a:ext>
            </a:extLst>
          </p:cNvPr>
          <p:cNvSpPr>
            <a:spLocks noGrp="1"/>
          </p:cNvSpPr>
          <p:nvPr/>
        </p:nvSpPr>
        <p:spPr>
          <a:xfrm>
            <a:off x="4993482" y="3864769"/>
            <a:ext cx="750094"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1050" b="1">
                <a:solidFill>
                  <a:srgbClr val="2F8F5B"/>
                </a:solidFill>
                <a:latin typeface="Aptos"/>
                <a:ea typeface="Aptos"/>
                <a:cs typeface="Aptos"/>
              </a:defRPr>
            </a:pPr>
            <a:r>
              <a:rPr sz="788" b="1">
                <a:solidFill>
                  <a:srgbClr val="2F8F5B"/>
                </a:solidFill>
                <a:latin typeface="Aptos"/>
                <a:ea typeface="Aptos"/>
                <a:cs typeface="Aptos"/>
              </a:rPr>
              <a:t>R$4.34M</a:t>
            </a:r>
          </a:p>
        </p:txBody>
      </p:sp>
      <p:sp>
        <p:nvSpPr>
          <p:cNvPr id="60" name="Rectangle 59">
            <a:extLst>
              <a:ext uri="{FF2B5EF4-FFF2-40B4-BE49-F238E27FC236}">
                <a16:creationId xmlns:a16="http://schemas.microsoft.com/office/drawing/2014/main" id="{EF457117-E755-4C36-A914-DA8D9F6980B1}"/>
              </a:ext>
            </a:extLst>
          </p:cNvPr>
          <p:cNvSpPr>
            <a:spLocks noGrp="1"/>
          </p:cNvSpPr>
          <p:nvPr/>
        </p:nvSpPr>
        <p:spPr>
          <a:xfrm>
            <a:off x="5886450" y="3864769"/>
            <a:ext cx="1785938"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0">
                <a:solidFill>
                  <a:srgbClr val="6B7280"/>
                </a:solidFill>
                <a:latin typeface="Aptos"/>
                <a:ea typeface="Aptos"/>
                <a:cs typeface="Aptos"/>
              </a:defRPr>
            </a:pPr>
            <a:r>
              <a:rPr sz="731">
                <a:solidFill>
                  <a:srgbClr val="6B7280"/>
                </a:solidFill>
                <a:latin typeface="Aptos"/>
                <a:ea typeface="Aptos"/>
                <a:cs typeface="Aptos"/>
              </a:rPr>
              <a:t>Priority second-purchase</a:t>
            </a:r>
          </a:p>
        </p:txBody>
      </p:sp>
      <p:sp>
        <p:nvSpPr>
          <p:cNvPr id="61" name="Rectangle 60">
            <a:extLst>
              <a:ext uri="{FF2B5EF4-FFF2-40B4-BE49-F238E27FC236}">
                <a16:creationId xmlns:a16="http://schemas.microsoft.com/office/drawing/2014/main" id="{543900D7-F55A-4B11-9CD9-FC4910576690}"/>
              </a:ext>
            </a:extLst>
          </p:cNvPr>
          <p:cNvSpPr>
            <a:spLocks noGrp="1"/>
          </p:cNvSpPr>
          <p:nvPr/>
        </p:nvSpPr>
        <p:spPr>
          <a:xfrm>
            <a:off x="457200" y="4421982"/>
            <a:ext cx="7786688" cy="7144"/>
          </a:xfrm>
          <a:prstGeom prst="rect">
            <a:avLst/>
          </a:prstGeom>
          <a:solidFill>
            <a:srgbClr val="D9DEE7"/>
          </a:solidFill>
          <a:ln w="0">
            <a:solidFill>
              <a:srgbClr val="000000">
                <a:alpha val="0"/>
              </a:srgbClr>
            </a:solidFill>
            <a:prstDash val="solid"/>
          </a:ln>
        </p:spPr>
        <p:txBody>
          <a:bodyPr/>
          <a:lstStyle/>
          <a:p>
            <a:endParaRPr lang="en-SG" sz="1350"/>
          </a:p>
        </p:txBody>
      </p:sp>
      <p:sp>
        <p:nvSpPr>
          <p:cNvPr id="62" name="Oval 61">
            <a:extLst>
              <a:ext uri="{FF2B5EF4-FFF2-40B4-BE49-F238E27FC236}">
                <a16:creationId xmlns:a16="http://schemas.microsoft.com/office/drawing/2014/main" id="{CCD6E60C-C46A-4C9C-BF31-307465876559}"/>
              </a:ext>
            </a:extLst>
          </p:cNvPr>
          <p:cNvSpPr>
            <a:spLocks noGrp="1"/>
          </p:cNvSpPr>
          <p:nvPr/>
        </p:nvSpPr>
        <p:spPr>
          <a:xfrm>
            <a:off x="457200" y="4214812"/>
            <a:ext cx="71438" cy="71438"/>
          </a:xfrm>
          <a:prstGeom prst="ellipse">
            <a:avLst/>
          </a:prstGeom>
          <a:solidFill>
            <a:srgbClr val="2F8F5B"/>
          </a:solidFill>
          <a:ln w="0">
            <a:solidFill>
              <a:srgbClr val="000000">
                <a:alpha val="0"/>
              </a:srgbClr>
            </a:solidFill>
            <a:prstDash val="solid"/>
          </a:ln>
        </p:spPr>
        <p:txBody>
          <a:bodyPr/>
          <a:lstStyle/>
          <a:p>
            <a:endParaRPr lang="en-SG" sz="1350"/>
          </a:p>
        </p:txBody>
      </p:sp>
      <p:sp>
        <p:nvSpPr>
          <p:cNvPr id="63" name="Rectangle 62">
            <a:extLst>
              <a:ext uri="{FF2B5EF4-FFF2-40B4-BE49-F238E27FC236}">
                <a16:creationId xmlns:a16="http://schemas.microsoft.com/office/drawing/2014/main" id="{0134AF76-C9CB-4053-9931-F78AF39E4532}"/>
              </a:ext>
            </a:extLst>
          </p:cNvPr>
          <p:cNvSpPr>
            <a:spLocks noGrp="1"/>
          </p:cNvSpPr>
          <p:nvPr/>
        </p:nvSpPr>
        <p:spPr>
          <a:xfrm>
            <a:off x="585788" y="4164806"/>
            <a:ext cx="2143125"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1">
                <a:solidFill>
                  <a:srgbClr val="1F2933"/>
                </a:solidFill>
                <a:latin typeface="Aptos"/>
                <a:ea typeface="Aptos"/>
                <a:cs typeface="Aptos"/>
              </a:defRPr>
            </a:pPr>
            <a:r>
              <a:rPr sz="788" b="1">
                <a:solidFill>
                  <a:srgbClr val="1F2933"/>
                </a:solidFill>
                <a:latin typeface="Aptos"/>
                <a:ea typeface="Aptos"/>
                <a:cs typeface="Aptos"/>
              </a:rPr>
              <a:t>Big Spenders - One-Time Buyers</a:t>
            </a:r>
          </a:p>
        </p:txBody>
      </p:sp>
      <p:sp>
        <p:nvSpPr>
          <p:cNvPr id="64" name="Rectangle 63">
            <a:extLst>
              <a:ext uri="{FF2B5EF4-FFF2-40B4-BE49-F238E27FC236}">
                <a16:creationId xmlns:a16="http://schemas.microsoft.com/office/drawing/2014/main" id="{9D176FEE-9163-4545-851A-5B810BFDC19C}"/>
              </a:ext>
            </a:extLst>
          </p:cNvPr>
          <p:cNvSpPr>
            <a:spLocks noGrp="1"/>
          </p:cNvSpPr>
          <p:nvPr/>
        </p:nvSpPr>
        <p:spPr>
          <a:xfrm>
            <a:off x="2778919" y="4221956"/>
            <a:ext cx="414338" cy="57150"/>
          </a:xfrm>
          <a:prstGeom prst="rect">
            <a:avLst/>
          </a:prstGeom>
          <a:solidFill>
            <a:srgbClr val="F4F6F8"/>
          </a:solidFill>
          <a:ln w="0">
            <a:solidFill>
              <a:srgbClr val="000000">
                <a:alpha val="0"/>
              </a:srgbClr>
            </a:solidFill>
            <a:prstDash val="solid"/>
          </a:ln>
        </p:spPr>
        <p:txBody>
          <a:bodyPr/>
          <a:lstStyle/>
          <a:p>
            <a:endParaRPr lang="en-SG" sz="1350"/>
          </a:p>
        </p:txBody>
      </p:sp>
      <p:sp>
        <p:nvSpPr>
          <p:cNvPr id="65" name="Rectangle 64">
            <a:extLst>
              <a:ext uri="{FF2B5EF4-FFF2-40B4-BE49-F238E27FC236}">
                <a16:creationId xmlns:a16="http://schemas.microsoft.com/office/drawing/2014/main" id="{ABD76629-04D4-4A73-9310-0E7B7E0EF1C0}"/>
              </a:ext>
            </a:extLst>
          </p:cNvPr>
          <p:cNvSpPr>
            <a:spLocks noGrp="1"/>
          </p:cNvSpPr>
          <p:nvPr/>
        </p:nvSpPr>
        <p:spPr>
          <a:xfrm>
            <a:off x="2778919" y="4221956"/>
            <a:ext cx="188363" cy="57150"/>
          </a:xfrm>
          <a:prstGeom prst="rect">
            <a:avLst/>
          </a:prstGeom>
          <a:solidFill>
            <a:srgbClr val="2F8F5B"/>
          </a:solidFill>
          <a:ln w="0">
            <a:solidFill>
              <a:srgbClr val="000000">
                <a:alpha val="0"/>
              </a:srgbClr>
            </a:solidFill>
            <a:prstDash val="solid"/>
          </a:ln>
        </p:spPr>
        <p:txBody>
          <a:bodyPr/>
          <a:lstStyle/>
          <a:p>
            <a:endParaRPr lang="en-SG" sz="1350"/>
          </a:p>
        </p:txBody>
      </p:sp>
      <p:sp>
        <p:nvSpPr>
          <p:cNvPr id="66" name="Rectangle 65">
            <a:extLst>
              <a:ext uri="{FF2B5EF4-FFF2-40B4-BE49-F238E27FC236}">
                <a16:creationId xmlns:a16="http://schemas.microsoft.com/office/drawing/2014/main" id="{0C81D34E-0A84-45C2-A5A4-09920FFAE131}"/>
              </a:ext>
            </a:extLst>
          </p:cNvPr>
          <p:cNvSpPr>
            <a:spLocks noGrp="1"/>
          </p:cNvSpPr>
          <p:nvPr/>
        </p:nvSpPr>
        <p:spPr>
          <a:xfrm>
            <a:off x="3243263" y="4164806"/>
            <a:ext cx="714375"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1050" b="0">
                <a:solidFill>
                  <a:srgbClr val="1F2933"/>
                </a:solidFill>
                <a:latin typeface="Aptos"/>
                <a:ea typeface="Aptos"/>
                <a:cs typeface="Aptos"/>
              </a:defRPr>
            </a:pPr>
            <a:r>
              <a:rPr sz="788">
                <a:solidFill>
                  <a:srgbClr val="1F2933"/>
                </a:solidFill>
                <a:latin typeface="Aptos"/>
                <a:ea typeface="Aptos"/>
                <a:cs typeface="Aptos"/>
              </a:rPr>
              <a:t>10,943</a:t>
            </a:r>
          </a:p>
        </p:txBody>
      </p:sp>
      <p:sp>
        <p:nvSpPr>
          <p:cNvPr id="67" name="Rectangle 66">
            <a:extLst>
              <a:ext uri="{FF2B5EF4-FFF2-40B4-BE49-F238E27FC236}">
                <a16:creationId xmlns:a16="http://schemas.microsoft.com/office/drawing/2014/main" id="{3333DF9E-673A-470E-B141-353BB47306BA}"/>
              </a:ext>
            </a:extLst>
          </p:cNvPr>
          <p:cNvSpPr>
            <a:spLocks noGrp="1"/>
          </p:cNvSpPr>
          <p:nvPr/>
        </p:nvSpPr>
        <p:spPr>
          <a:xfrm>
            <a:off x="4171951" y="4164806"/>
            <a:ext cx="535781"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1050" b="0">
                <a:solidFill>
                  <a:srgbClr val="1F2933"/>
                </a:solidFill>
                <a:latin typeface="Aptos"/>
                <a:ea typeface="Aptos"/>
                <a:cs typeface="Aptos"/>
              </a:defRPr>
            </a:pPr>
            <a:r>
              <a:rPr sz="788">
                <a:solidFill>
                  <a:srgbClr val="1F2933"/>
                </a:solidFill>
                <a:latin typeface="Aptos"/>
                <a:ea typeface="Aptos"/>
                <a:cs typeface="Aptos"/>
              </a:rPr>
              <a:t>11.47%</a:t>
            </a:r>
          </a:p>
        </p:txBody>
      </p:sp>
      <p:sp>
        <p:nvSpPr>
          <p:cNvPr id="68" name="Rectangle 67">
            <a:extLst>
              <a:ext uri="{FF2B5EF4-FFF2-40B4-BE49-F238E27FC236}">
                <a16:creationId xmlns:a16="http://schemas.microsoft.com/office/drawing/2014/main" id="{CCBDF192-CAF2-4772-B6C1-E7B526BB17E0}"/>
              </a:ext>
            </a:extLst>
          </p:cNvPr>
          <p:cNvSpPr>
            <a:spLocks noGrp="1"/>
          </p:cNvSpPr>
          <p:nvPr/>
        </p:nvSpPr>
        <p:spPr>
          <a:xfrm>
            <a:off x="4993482" y="4164806"/>
            <a:ext cx="750094"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1050" b="1">
                <a:solidFill>
                  <a:srgbClr val="2F8F5B"/>
                </a:solidFill>
                <a:latin typeface="Aptos"/>
                <a:ea typeface="Aptos"/>
                <a:cs typeface="Aptos"/>
              </a:defRPr>
            </a:pPr>
            <a:r>
              <a:rPr sz="788" b="1">
                <a:solidFill>
                  <a:srgbClr val="2F8F5B"/>
                </a:solidFill>
                <a:latin typeface="Aptos"/>
                <a:ea typeface="Aptos"/>
                <a:cs typeface="Aptos"/>
              </a:rPr>
              <a:t>R$4.32M</a:t>
            </a:r>
          </a:p>
        </p:txBody>
      </p:sp>
      <p:sp>
        <p:nvSpPr>
          <p:cNvPr id="69" name="Rectangle 68">
            <a:extLst>
              <a:ext uri="{FF2B5EF4-FFF2-40B4-BE49-F238E27FC236}">
                <a16:creationId xmlns:a16="http://schemas.microsoft.com/office/drawing/2014/main" id="{80F6EC7E-A7BB-486D-9A3C-741DDEA3B1D4}"/>
              </a:ext>
            </a:extLst>
          </p:cNvPr>
          <p:cNvSpPr>
            <a:spLocks noGrp="1"/>
          </p:cNvSpPr>
          <p:nvPr/>
        </p:nvSpPr>
        <p:spPr>
          <a:xfrm>
            <a:off x="5886450" y="4164806"/>
            <a:ext cx="1785938"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0">
                <a:solidFill>
                  <a:srgbClr val="6B7280"/>
                </a:solidFill>
                <a:latin typeface="Aptos"/>
                <a:ea typeface="Aptos"/>
                <a:cs typeface="Aptos"/>
              </a:defRPr>
            </a:pPr>
            <a:r>
              <a:rPr sz="731">
                <a:solidFill>
                  <a:srgbClr val="6B7280"/>
                </a:solidFill>
                <a:latin typeface="Aptos"/>
                <a:ea typeface="Aptos"/>
                <a:cs typeface="Aptos"/>
              </a:rPr>
              <a:t>Premium cross-sell</a:t>
            </a:r>
          </a:p>
        </p:txBody>
      </p:sp>
      <p:sp>
        <p:nvSpPr>
          <p:cNvPr id="70" name="Rectangle 69">
            <a:extLst>
              <a:ext uri="{FF2B5EF4-FFF2-40B4-BE49-F238E27FC236}">
                <a16:creationId xmlns:a16="http://schemas.microsoft.com/office/drawing/2014/main" id="{624B1107-6F87-4611-90C1-5A3EDC468A68}"/>
              </a:ext>
            </a:extLst>
          </p:cNvPr>
          <p:cNvSpPr>
            <a:spLocks noGrp="1"/>
          </p:cNvSpPr>
          <p:nvPr/>
        </p:nvSpPr>
        <p:spPr>
          <a:xfrm>
            <a:off x="457200" y="4722019"/>
            <a:ext cx="7786688" cy="7144"/>
          </a:xfrm>
          <a:prstGeom prst="rect">
            <a:avLst/>
          </a:prstGeom>
          <a:solidFill>
            <a:srgbClr val="D9DEE7"/>
          </a:solidFill>
          <a:ln w="0">
            <a:solidFill>
              <a:srgbClr val="000000">
                <a:alpha val="0"/>
              </a:srgbClr>
            </a:solidFill>
            <a:prstDash val="solid"/>
          </a:ln>
        </p:spPr>
        <p:txBody>
          <a:bodyPr/>
          <a:lstStyle/>
          <a:p>
            <a:endParaRPr lang="en-SG" sz="1350"/>
          </a:p>
        </p:txBody>
      </p:sp>
      <p:sp>
        <p:nvSpPr>
          <p:cNvPr id="71" name="Oval 70">
            <a:extLst>
              <a:ext uri="{FF2B5EF4-FFF2-40B4-BE49-F238E27FC236}">
                <a16:creationId xmlns:a16="http://schemas.microsoft.com/office/drawing/2014/main" id="{BB93D748-1709-43ED-A9F7-6FF147765057}"/>
              </a:ext>
            </a:extLst>
          </p:cNvPr>
          <p:cNvSpPr>
            <a:spLocks noGrp="1"/>
          </p:cNvSpPr>
          <p:nvPr/>
        </p:nvSpPr>
        <p:spPr>
          <a:xfrm>
            <a:off x="457200" y="4514850"/>
            <a:ext cx="71438" cy="71438"/>
          </a:xfrm>
          <a:prstGeom prst="ellipse">
            <a:avLst/>
          </a:prstGeom>
          <a:solidFill>
            <a:srgbClr val="34699A"/>
          </a:solidFill>
          <a:ln w="0">
            <a:solidFill>
              <a:srgbClr val="000000">
                <a:alpha val="0"/>
              </a:srgbClr>
            </a:solidFill>
            <a:prstDash val="solid"/>
          </a:ln>
        </p:spPr>
        <p:txBody>
          <a:bodyPr/>
          <a:lstStyle/>
          <a:p>
            <a:endParaRPr lang="en-SG" sz="1350"/>
          </a:p>
        </p:txBody>
      </p:sp>
      <p:sp>
        <p:nvSpPr>
          <p:cNvPr id="72" name="Rectangle 71">
            <a:extLst>
              <a:ext uri="{FF2B5EF4-FFF2-40B4-BE49-F238E27FC236}">
                <a16:creationId xmlns:a16="http://schemas.microsoft.com/office/drawing/2014/main" id="{9B55504D-F02A-4EC7-AAB1-E27970F867C1}"/>
              </a:ext>
            </a:extLst>
          </p:cNvPr>
          <p:cNvSpPr>
            <a:spLocks noGrp="1"/>
          </p:cNvSpPr>
          <p:nvPr/>
        </p:nvSpPr>
        <p:spPr>
          <a:xfrm>
            <a:off x="585788" y="4464844"/>
            <a:ext cx="2143125"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0">
                <a:solidFill>
                  <a:srgbClr val="1F2933"/>
                </a:solidFill>
                <a:latin typeface="Aptos"/>
                <a:ea typeface="Aptos"/>
                <a:cs typeface="Aptos"/>
              </a:defRPr>
            </a:pPr>
            <a:r>
              <a:rPr sz="788">
                <a:solidFill>
                  <a:srgbClr val="1F2933"/>
                </a:solidFill>
                <a:latin typeface="Aptos"/>
                <a:ea typeface="Aptos"/>
                <a:cs typeface="Aptos"/>
              </a:rPr>
              <a:t>Recent Repeat Buyers</a:t>
            </a:r>
          </a:p>
        </p:txBody>
      </p:sp>
      <p:sp>
        <p:nvSpPr>
          <p:cNvPr id="73" name="Rectangle 72">
            <a:extLst>
              <a:ext uri="{FF2B5EF4-FFF2-40B4-BE49-F238E27FC236}">
                <a16:creationId xmlns:a16="http://schemas.microsoft.com/office/drawing/2014/main" id="{F737C9DF-EF03-4203-8E0A-A176B69CD2D2}"/>
              </a:ext>
            </a:extLst>
          </p:cNvPr>
          <p:cNvSpPr>
            <a:spLocks noGrp="1"/>
          </p:cNvSpPr>
          <p:nvPr/>
        </p:nvSpPr>
        <p:spPr>
          <a:xfrm>
            <a:off x="2778919" y="4521994"/>
            <a:ext cx="414338" cy="57150"/>
          </a:xfrm>
          <a:prstGeom prst="rect">
            <a:avLst/>
          </a:prstGeom>
          <a:solidFill>
            <a:srgbClr val="F4F6F8"/>
          </a:solidFill>
          <a:ln w="0">
            <a:solidFill>
              <a:srgbClr val="000000">
                <a:alpha val="0"/>
              </a:srgbClr>
            </a:solidFill>
            <a:prstDash val="solid"/>
          </a:ln>
        </p:spPr>
        <p:txBody>
          <a:bodyPr/>
          <a:lstStyle/>
          <a:p>
            <a:endParaRPr lang="en-SG" sz="1350"/>
          </a:p>
        </p:txBody>
      </p:sp>
      <p:sp>
        <p:nvSpPr>
          <p:cNvPr id="74" name="Rectangle 73">
            <a:extLst>
              <a:ext uri="{FF2B5EF4-FFF2-40B4-BE49-F238E27FC236}">
                <a16:creationId xmlns:a16="http://schemas.microsoft.com/office/drawing/2014/main" id="{4151B761-9A4C-42C7-AB90-15BEC88B12EE}"/>
              </a:ext>
            </a:extLst>
          </p:cNvPr>
          <p:cNvSpPr>
            <a:spLocks noGrp="1"/>
          </p:cNvSpPr>
          <p:nvPr/>
        </p:nvSpPr>
        <p:spPr>
          <a:xfrm>
            <a:off x="2778919" y="4521994"/>
            <a:ext cx="26129" cy="57150"/>
          </a:xfrm>
          <a:prstGeom prst="rect">
            <a:avLst/>
          </a:prstGeom>
          <a:solidFill>
            <a:srgbClr val="34699A"/>
          </a:solidFill>
          <a:ln w="0">
            <a:solidFill>
              <a:srgbClr val="000000">
                <a:alpha val="0"/>
              </a:srgbClr>
            </a:solidFill>
            <a:prstDash val="solid"/>
          </a:ln>
        </p:spPr>
        <p:txBody>
          <a:bodyPr/>
          <a:lstStyle/>
          <a:p>
            <a:endParaRPr lang="en-SG" sz="1350"/>
          </a:p>
        </p:txBody>
      </p:sp>
      <p:sp>
        <p:nvSpPr>
          <p:cNvPr id="75" name="Rectangle 74">
            <a:extLst>
              <a:ext uri="{FF2B5EF4-FFF2-40B4-BE49-F238E27FC236}">
                <a16:creationId xmlns:a16="http://schemas.microsoft.com/office/drawing/2014/main" id="{07CE996F-7811-47D1-9E5A-9A26071D0FF7}"/>
              </a:ext>
            </a:extLst>
          </p:cNvPr>
          <p:cNvSpPr>
            <a:spLocks noGrp="1"/>
          </p:cNvSpPr>
          <p:nvPr/>
        </p:nvSpPr>
        <p:spPr>
          <a:xfrm>
            <a:off x="3243263" y="4464844"/>
            <a:ext cx="714375"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1050" b="0">
                <a:solidFill>
                  <a:srgbClr val="1F2933"/>
                </a:solidFill>
                <a:latin typeface="Aptos"/>
                <a:ea typeface="Aptos"/>
                <a:cs typeface="Aptos"/>
              </a:defRPr>
            </a:pPr>
            <a:r>
              <a:rPr sz="788">
                <a:solidFill>
                  <a:srgbClr val="1F2933"/>
                </a:solidFill>
                <a:latin typeface="Aptos"/>
                <a:ea typeface="Aptos"/>
                <a:cs typeface="Aptos"/>
              </a:rPr>
              <a:t>1,518</a:t>
            </a:r>
          </a:p>
        </p:txBody>
      </p:sp>
      <p:sp>
        <p:nvSpPr>
          <p:cNvPr id="76" name="Rectangle 75">
            <a:extLst>
              <a:ext uri="{FF2B5EF4-FFF2-40B4-BE49-F238E27FC236}">
                <a16:creationId xmlns:a16="http://schemas.microsoft.com/office/drawing/2014/main" id="{056FDC0F-C4A0-480B-A3EA-B40C0527C6D1}"/>
              </a:ext>
            </a:extLst>
          </p:cNvPr>
          <p:cNvSpPr>
            <a:spLocks noGrp="1"/>
          </p:cNvSpPr>
          <p:nvPr/>
        </p:nvSpPr>
        <p:spPr>
          <a:xfrm>
            <a:off x="4171951" y="4464844"/>
            <a:ext cx="535781"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1050" b="0">
                <a:solidFill>
                  <a:srgbClr val="1F2933"/>
                </a:solidFill>
                <a:latin typeface="Aptos"/>
                <a:ea typeface="Aptos"/>
                <a:cs typeface="Aptos"/>
              </a:defRPr>
            </a:pPr>
            <a:r>
              <a:rPr sz="788">
                <a:solidFill>
                  <a:srgbClr val="1F2933"/>
                </a:solidFill>
                <a:latin typeface="Aptos"/>
                <a:ea typeface="Aptos"/>
                <a:cs typeface="Aptos"/>
              </a:rPr>
              <a:t>1.59%</a:t>
            </a:r>
          </a:p>
        </p:txBody>
      </p:sp>
      <p:sp>
        <p:nvSpPr>
          <p:cNvPr id="77" name="Rectangle 76">
            <a:extLst>
              <a:ext uri="{FF2B5EF4-FFF2-40B4-BE49-F238E27FC236}">
                <a16:creationId xmlns:a16="http://schemas.microsoft.com/office/drawing/2014/main" id="{D9AE8896-162E-4301-8D31-A4C9C9C6A876}"/>
              </a:ext>
            </a:extLst>
          </p:cNvPr>
          <p:cNvSpPr>
            <a:spLocks noGrp="1"/>
          </p:cNvSpPr>
          <p:nvPr/>
        </p:nvSpPr>
        <p:spPr>
          <a:xfrm>
            <a:off x="4993482" y="4464844"/>
            <a:ext cx="750094"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1050" b="0">
                <a:solidFill>
                  <a:srgbClr val="1F2933"/>
                </a:solidFill>
                <a:latin typeface="Aptos"/>
                <a:ea typeface="Aptos"/>
                <a:cs typeface="Aptos"/>
              </a:defRPr>
            </a:pPr>
            <a:r>
              <a:rPr sz="788">
                <a:solidFill>
                  <a:srgbClr val="1F2933"/>
                </a:solidFill>
                <a:latin typeface="Aptos"/>
                <a:ea typeface="Aptos"/>
                <a:cs typeface="Aptos"/>
              </a:rPr>
              <a:t>R$453k</a:t>
            </a:r>
          </a:p>
        </p:txBody>
      </p:sp>
      <p:sp>
        <p:nvSpPr>
          <p:cNvPr id="78" name="Rectangle 77">
            <a:extLst>
              <a:ext uri="{FF2B5EF4-FFF2-40B4-BE49-F238E27FC236}">
                <a16:creationId xmlns:a16="http://schemas.microsoft.com/office/drawing/2014/main" id="{1A89880D-9026-4F43-B847-40737FA46751}"/>
              </a:ext>
            </a:extLst>
          </p:cNvPr>
          <p:cNvSpPr>
            <a:spLocks noGrp="1"/>
          </p:cNvSpPr>
          <p:nvPr/>
        </p:nvSpPr>
        <p:spPr>
          <a:xfrm>
            <a:off x="5886450" y="4464844"/>
            <a:ext cx="1785938"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0">
                <a:solidFill>
                  <a:srgbClr val="6B7280"/>
                </a:solidFill>
                <a:latin typeface="Aptos"/>
                <a:ea typeface="Aptos"/>
                <a:cs typeface="Aptos"/>
              </a:defRPr>
            </a:pPr>
            <a:r>
              <a:rPr sz="731">
                <a:solidFill>
                  <a:srgbClr val="6B7280"/>
                </a:solidFill>
                <a:latin typeface="Aptos"/>
                <a:ea typeface="Aptos"/>
                <a:cs typeface="Aptos"/>
              </a:rPr>
              <a:t>Loyalty campaign</a:t>
            </a:r>
          </a:p>
        </p:txBody>
      </p:sp>
      <p:sp>
        <p:nvSpPr>
          <p:cNvPr id="79" name="Rectangle 78">
            <a:extLst>
              <a:ext uri="{FF2B5EF4-FFF2-40B4-BE49-F238E27FC236}">
                <a16:creationId xmlns:a16="http://schemas.microsoft.com/office/drawing/2014/main" id="{ACF15D8A-8591-46FC-BCF0-F92512549EBE}"/>
              </a:ext>
            </a:extLst>
          </p:cNvPr>
          <p:cNvSpPr>
            <a:spLocks noGrp="1"/>
          </p:cNvSpPr>
          <p:nvPr/>
        </p:nvSpPr>
        <p:spPr>
          <a:xfrm>
            <a:off x="457200" y="5022057"/>
            <a:ext cx="7786688" cy="7144"/>
          </a:xfrm>
          <a:prstGeom prst="rect">
            <a:avLst/>
          </a:prstGeom>
          <a:solidFill>
            <a:srgbClr val="D9DEE7"/>
          </a:solidFill>
          <a:ln w="0">
            <a:solidFill>
              <a:srgbClr val="000000">
                <a:alpha val="0"/>
              </a:srgbClr>
            </a:solidFill>
            <a:prstDash val="solid"/>
          </a:ln>
        </p:spPr>
        <p:txBody>
          <a:bodyPr/>
          <a:lstStyle/>
          <a:p>
            <a:endParaRPr lang="en-SG" sz="1350"/>
          </a:p>
        </p:txBody>
      </p:sp>
      <p:sp>
        <p:nvSpPr>
          <p:cNvPr id="80" name="Oval 79">
            <a:extLst>
              <a:ext uri="{FF2B5EF4-FFF2-40B4-BE49-F238E27FC236}">
                <a16:creationId xmlns:a16="http://schemas.microsoft.com/office/drawing/2014/main" id="{7916AC0D-81BB-4108-A098-90CC092EB650}"/>
              </a:ext>
            </a:extLst>
          </p:cNvPr>
          <p:cNvSpPr>
            <a:spLocks noGrp="1"/>
          </p:cNvSpPr>
          <p:nvPr/>
        </p:nvSpPr>
        <p:spPr>
          <a:xfrm>
            <a:off x="457200" y="4814887"/>
            <a:ext cx="71438" cy="71438"/>
          </a:xfrm>
          <a:prstGeom prst="ellipse">
            <a:avLst/>
          </a:prstGeom>
          <a:solidFill>
            <a:srgbClr val="34699A"/>
          </a:solidFill>
          <a:ln w="0">
            <a:solidFill>
              <a:srgbClr val="000000">
                <a:alpha val="0"/>
              </a:srgbClr>
            </a:solidFill>
            <a:prstDash val="solid"/>
          </a:ln>
        </p:spPr>
        <p:txBody>
          <a:bodyPr/>
          <a:lstStyle/>
          <a:p>
            <a:endParaRPr lang="en-SG" sz="1350"/>
          </a:p>
        </p:txBody>
      </p:sp>
      <p:sp>
        <p:nvSpPr>
          <p:cNvPr id="81" name="Rectangle 80">
            <a:extLst>
              <a:ext uri="{FF2B5EF4-FFF2-40B4-BE49-F238E27FC236}">
                <a16:creationId xmlns:a16="http://schemas.microsoft.com/office/drawing/2014/main" id="{F6218EA0-35B2-4843-ACA5-125B045CDDA9}"/>
              </a:ext>
            </a:extLst>
          </p:cNvPr>
          <p:cNvSpPr>
            <a:spLocks noGrp="1"/>
          </p:cNvSpPr>
          <p:nvPr/>
        </p:nvSpPr>
        <p:spPr>
          <a:xfrm>
            <a:off x="585788" y="4764881"/>
            <a:ext cx="2143125"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0">
                <a:solidFill>
                  <a:srgbClr val="1F2933"/>
                </a:solidFill>
                <a:latin typeface="Aptos"/>
                <a:ea typeface="Aptos"/>
                <a:cs typeface="Aptos"/>
              </a:defRPr>
            </a:pPr>
            <a:r>
              <a:rPr sz="788">
                <a:solidFill>
                  <a:srgbClr val="1F2933"/>
                </a:solidFill>
                <a:latin typeface="Aptos"/>
                <a:ea typeface="Aptos"/>
                <a:cs typeface="Aptos"/>
              </a:rPr>
              <a:t>At-Risk Repeat Buyers</a:t>
            </a:r>
          </a:p>
        </p:txBody>
      </p:sp>
      <p:sp>
        <p:nvSpPr>
          <p:cNvPr id="82" name="Rectangle 81">
            <a:extLst>
              <a:ext uri="{FF2B5EF4-FFF2-40B4-BE49-F238E27FC236}">
                <a16:creationId xmlns:a16="http://schemas.microsoft.com/office/drawing/2014/main" id="{12DA710F-222C-40D7-A5A1-C80C7EB3F449}"/>
              </a:ext>
            </a:extLst>
          </p:cNvPr>
          <p:cNvSpPr>
            <a:spLocks noGrp="1"/>
          </p:cNvSpPr>
          <p:nvPr/>
        </p:nvSpPr>
        <p:spPr>
          <a:xfrm>
            <a:off x="2778919" y="4822031"/>
            <a:ext cx="414338" cy="57150"/>
          </a:xfrm>
          <a:prstGeom prst="rect">
            <a:avLst/>
          </a:prstGeom>
          <a:solidFill>
            <a:srgbClr val="F4F6F8"/>
          </a:solidFill>
          <a:ln w="0">
            <a:solidFill>
              <a:srgbClr val="000000">
                <a:alpha val="0"/>
              </a:srgbClr>
            </a:solidFill>
            <a:prstDash val="solid"/>
          </a:ln>
        </p:spPr>
        <p:txBody>
          <a:bodyPr/>
          <a:lstStyle/>
          <a:p>
            <a:endParaRPr lang="en-SG" sz="1350"/>
          </a:p>
        </p:txBody>
      </p:sp>
      <p:sp>
        <p:nvSpPr>
          <p:cNvPr id="83" name="Rectangle 82">
            <a:extLst>
              <a:ext uri="{FF2B5EF4-FFF2-40B4-BE49-F238E27FC236}">
                <a16:creationId xmlns:a16="http://schemas.microsoft.com/office/drawing/2014/main" id="{366212A4-C54D-46A3-865E-6EFCFD8CD543}"/>
              </a:ext>
            </a:extLst>
          </p:cNvPr>
          <p:cNvSpPr>
            <a:spLocks noGrp="1"/>
          </p:cNvSpPr>
          <p:nvPr/>
        </p:nvSpPr>
        <p:spPr>
          <a:xfrm>
            <a:off x="2778919" y="4822031"/>
            <a:ext cx="22618" cy="57150"/>
          </a:xfrm>
          <a:prstGeom prst="rect">
            <a:avLst/>
          </a:prstGeom>
          <a:solidFill>
            <a:srgbClr val="34699A"/>
          </a:solidFill>
          <a:ln w="0">
            <a:solidFill>
              <a:srgbClr val="000000">
                <a:alpha val="0"/>
              </a:srgbClr>
            </a:solidFill>
            <a:prstDash val="solid"/>
          </a:ln>
        </p:spPr>
        <p:txBody>
          <a:bodyPr/>
          <a:lstStyle/>
          <a:p>
            <a:endParaRPr lang="en-SG" sz="1350"/>
          </a:p>
        </p:txBody>
      </p:sp>
      <p:sp>
        <p:nvSpPr>
          <p:cNvPr id="84" name="Rectangle 83">
            <a:extLst>
              <a:ext uri="{FF2B5EF4-FFF2-40B4-BE49-F238E27FC236}">
                <a16:creationId xmlns:a16="http://schemas.microsoft.com/office/drawing/2014/main" id="{3C8E564D-B90C-421E-8AC4-4411744643A2}"/>
              </a:ext>
            </a:extLst>
          </p:cNvPr>
          <p:cNvSpPr>
            <a:spLocks noGrp="1"/>
          </p:cNvSpPr>
          <p:nvPr/>
        </p:nvSpPr>
        <p:spPr>
          <a:xfrm>
            <a:off x="3243263" y="4764881"/>
            <a:ext cx="714375"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1050" b="0">
                <a:solidFill>
                  <a:srgbClr val="1F2933"/>
                </a:solidFill>
                <a:latin typeface="Aptos"/>
                <a:ea typeface="Aptos"/>
                <a:cs typeface="Aptos"/>
              </a:defRPr>
            </a:pPr>
            <a:r>
              <a:rPr sz="788">
                <a:solidFill>
                  <a:srgbClr val="1F2933"/>
                </a:solidFill>
                <a:latin typeface="Aptos"/>
                <a:ea typeface="Aptos"/>
                <a:cs typeface="Aptos"/>
              </a:rPr>
              <a:t>1,314</a:t>
            </a:r>
          </a:p>
        </p:txBody>
      </p:sp>
      <p:sp>
        <p:nvSpPr>
          <p:cNvPr id="85" name="Rectangle 84">
            <a:extLst>
              <a:ext uri="{FF2B5EF4-FFF2-40B4-BE49-F238E27FC236}">
                <a16:creationId xmlns:a16="http://schemas.microsoft.com/office/drawing/2014/main" id="{1AB9B75A-1949-436F-92F7-4E70497B4B4E}"/>
              </a:ext>
            </a:extLst>
          </p:cNvPr>
          <p:cNvSpPr>
            <a:spLocks noGrp="1"/>
          </p:cNvSpPr>
          <p:nvPr/>
        </p:nvSpPr>
        <p:spPr>
          <a:xfrm>
            <a:off x="4171951" y="4764881"/>
            <a:ext cx="535781"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1050" b="0">
                <a:solidFill>
                  <a:srgbClr val="1F2933"/>
                </a:solidFill>
                <a:latin typeface="Aptos"/>
                <a:ea typeface="Aptos"/>
                <a:cs typeface="Aptos"/>
              </a:defRPr>
            </a:pPr>
            <a:r>
              <a:rPr sz="788">
                <a:solidFill>
                  <a:srgbClr val="1F2933"/>
                </a:solidFill>
                <a:latin typeface="Aptos"/>
                <a:ea typeface="Aptos"/>
                <a:cs typeface="Aptos"/>
              </a:rPr>
              <a:t>1.38%</a:t>
            </a:r>
          </a:p>
        </p:txBody>
      </p:sp>
      <p:sp>
        <p:nvSpPr>
          <p:cNvPr id="86" name="Rectangle 85">
            <a:extLst>
              <a:ext uri="{FF2B5EF4-FFF2-40B4-BE49-F238E27FC236}">
                <a16:creationId xmlns:a16="http://schemas.microsoft.com/office/drawing/2014/main" id="{84B54BF5-75F9-4E44-94FB-91CD1873967C}"/>
              </a:ext>
            </a:extLst>
          </p:cNvPr>
          <p:cNvSpPr>
            <a:spLocks noGrp="1"/>
          </p:cNvSpPr>
          <p:nvPr/>
        </p:nvSpPr>
        <p:spPr>
          <a:xfrm>
            <a:off x="4993482" y="4764881"/>
            <a:ext cx="750094"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1050" b="0">
                <a:solidFill>
                  <a:srgbClr val="1F2933"/>
                </a:solidFill>
                <a:latin typeface="Aptos"/>
                <a:ea typeface="Aptos"/>
                <a:cs typeface="Aptos"/>
              </a:defRPr>
            </a:pPr>
            <a:r>
              <a:rPr sz="788">
                <a:solidFill>
                  <a:srgbClr val="1F2933"/>
                </a:solidFill>
                <a:latin typeface="Aptos"/>
                <a:ea typeface="Aptos"/>
                <a:cs typeface="Aptos"/>
              </a:rPr>
              <a:t>R$402k</a:t>
            </a:r>
          </a:p>
        </p:txBody>
      </p:sp>
      <p:sp>
        <p:nvSpPr>
          <p:cNvPr id="87" name="Rectangle 86">
            <a:extLst>
              <a:ext uri="{FF2B5EF4-FFF2-40B4-BE49-F238E27FC236}">
                <a16:creationId xmlns:a16="http://schemas.microsoft.com/office/drawing/2014/main" id="{8D5A2CD9-A8BF-4F01-B9F1-139F9B7FCECA}"/>
              </a:ext>
            </a:extLst>
          </p:cNvPr>
          <p:cNvSpPr>
            <a:spLocks noGrp="1"/>
          </p:cNvSpPr>
          <p:nvPr/>
        </p:nvSpPr>
        <p:spPr>
          <a:xfrm>
            <a:off x="5886450" y="4764881"/>
            <a:ext cx="1785938"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0">
                <a:solidFill>
                  <a:srgbClr val="6B7280"/>
                </a:solidFill>
                <a:latin typeface="Aptos"/>
                <a:ea typeface="Aptos"/>
                <a:cs typeface="Aptos"/>
              </a:defRPr>
            </a:pPr>
            <a:r>
              <a:rPr sz="731">
                <a:solidFill>
                  <a:srgbClr val="6B7280"/>
                </a:solidFill>
                <a:latin typeface="Aptos"/>
                <a:ea typeface="Aptos"/>
                <a:cs typeface="Aptos"/>
              </a:rPr>
              <a:t>Win-back repeat</a:t>
            </a:r>
          </a:p>
        </p:txBody>
      </p:sp>
      <p:sp>
        <p:nvSpPr>
          <p:cNvPr id="88" name="Rectangle 87">
            <a:extLst>
              <a:ext uri="{FF2B5EF4-FFF2-40B4-BE49-F238E27FC236}">
                <a16:creationId xmlns:a16="http://schemas.microsoft.com/office/drawing/2014/main" id="{4250C202-731A-4D81-9C01-DBB63B5C5D05}"/>
              </a:ext>
            </a:extLst>
          </p:cNvPr>
          <p:cNvSpPr>
            <a:spLocks noGrp="1"/>
          </p:cNvSpPr>
          <p:nvPr/>
        </p:nvSpPr>
        <p:spPr>
          <a:xfrm>
            <a:off x="457200" y="5322094"/>
            <a:ext cx="7786688" cy="7144"/>
          </a:xfrm>
          <a:prstGeom prst="rect">
            <a:avLst/>
          </a:prstGeom>
          <a:solidFill>
            <a:srgbClr val="D9DEE7"/>
          </a:solidFill>
          <a:ln w="0">
            <a:solidFill>
              <a:srgbClr val="000000">
                <a:alpha val="0"/>
              </a:srgbClr>
            </a:solidFill>
            <a:prstDash val="solid"/>
          </a:ln>
        </p:spPr>
        <p:txBody>
          <a:bodyPr/>
          <a:lstStyle/>
          <a:p>
            <a:endParaRPr lang="en-SG" sz="1350"/>
          </a:p>
        </p:txBody>
      </p:sp>
      <p:sp>
        <p:nvSpPr>
          <p:cNvPr id="89" name="Oval 88">
            <a:extLst>
              <a:ext uri="{FF2B5EF4-FFF2-40B4-BE49-F238E27FC236}">
                <a16:creationId xmlns:a16="http://schemas.microsoft.com/office/drawing/2014/main" id="{DAFE190D-62B2-4BAC-AEF0-B123E166FC3A}"/>
              </a:ext>
            </a:extLst>
          </p:cNvPr>
          <p:cNvSpPr>
            <a:spLocks noGrp="1"/>
          </p:cNvSpPr>
          <p:nvPr/>
        </p:nvSpPr>
        <p:spPr>
          <a:xfrm>
            <a:off x="457200" y="5114925"/>
            <a:ext cx="71438" cy="71438"/>
          </a:xfrm>
          <a:prstGeom prst="ellipse">
            <a:avLst/>
          </a:prstGeom>
          <a:solidFill>
            <a:srgbClr val="34699A"/>
          </a:solidFill>
          <a:ln w="0">
            <a:solidFill>
              <a:srgbClr val="000000">
                <a:alpha val="0"/>
              </a:srgbClr>
            </a:solidFill>
            <a:prstDash val="solid"/>
          </a:ln>
        </p:spPr>
        <p:txBody>
          <a:bodyPr/>
          <a:lstStyle/>
          <a:p>
            <a:endParaRPr lang="en-SG" sz="1350"/>
          </a:p>
        </p:txBody>
      </p:sp>
      <p:sp>
        <p:nvSpPr>
          <p:cNvPr id="90" name="Rectangle 89">
            <a:extLst>
              <a:ext uri="{FF2B5EF4-FFF2-40B4-BE49-F238E27FC236}">
                <a16:creationId xmlns:a16="http://schemas.microsoft.com/office/drawing/2014/main" id="{8CE5C440-120D-438D-BF73-7C7C8FF8A1F2}"/>
              </a:ext>
            </a:extLst>
          </p:cNvPr>
          <p:cNvSpPr>
            <a:spLocks noGrp="1"/>
          </p:cNvSpPr>
          <p:nvPr/>
        </p:nvSpPr>
        <p:spPr>
          <a:xfrm>
            <a:off x="585788" y="5064919"/>
            <a:ext cx="2143125"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0">
                <a:solidFill>
                  <a:srgbClr val="1F2933"/>
                </a:solidFill>
                <a:latin typeface="Aptos"/>
                <a:ea typeface="Aptos"/>
                <a:cs typeface="Aptos"/>
              </a:defRPr>
            </a:pPr>
            <a:r>
              <a:rPr sz="788">
                <a:solidFill>
                  <a:srgbClr val="1F2933"/>
                </a:solidFill>
                <a:latin typeface="Aptos"/>
                <a:ea typeface="Aptos"/>
                <a:cs typeface="Aptos"/>
              </a:rPr>
              <a:t>Champions</a:t>
            </a:r>
          </a:p>
        </p:txBody>
      </p:sp>
      <p:sp>
        <p:nvSpPr>
          <p:cNvPr id="91" name="Rectangle 90">
            <a:extLst>
              <a:ext uri="{FF2B5EF4-FFF2-40B4-BE49-F238E27FC236}">
                <a16:creationId xmlns:a16="http://schemas.microsoft.com/office/drawing/2014/main" id="{A5449975-FD5F-4F05-A3F1-1C851FFB2AB6}"/>
              </a:ext>
            </a:extLst>
          </p:cNvPr>
          <p:cNvSpPr>
            <a:spLocks noGrp="1"/>
          </p:cNvSpPr>
          <p:nvPr/>
        </p:nvSpPr>
        <p:spPr>
          <a:xfrm>
            <a:off x="2778919" y="5122069"/>
            <a:ext cx="414338" cy="57150"/>
          </a:xfrm>
          <a:prstGeom prst="rect">
            <a:avLst/>
          </a:prstGeom>
          <a:solidFill>
            <a:srgbClr val="F4F6F8"/>
          </a:solidFill>
          <a:ln w="0">
            <a:solidFill>
              <a:srgbClr val="000000">
                <a:alpha val="0"/>
              </a:srgbClr>
            </a:solidFill>
            <a:prstDash val="solid"/>
          </a:ln>
        </p:spPr>
        <p:txBody>
          <a:bodyPr/>
          <a:lstStyle/>
          <a:p>
            <a:endParaRPr lang="en-SG" sz="1350"/>
          </a:p>
        </p:txBody>
      </p:sp>
      <p:sp>
        <p:nvSpPr>
          <p:cNvPr id="92" name="Rectangle 91">
            <a:extLst>
              <a:ext uri="{FF2B5EF4-FFF2-40B4-BE49-F238E27FC236}">
                <a16:creationId xmlns:a16="http://schemas.microsoft.com/office/drawing/2014/main" id="{EF8B8746-C6C0-43C4-8897-A51DB2FE7269}"/>
              </a:ext>
            </a:extLst>
          </p:cNvPr>
          <p:cNvSpPr>
            <a:spLocks noGrp="1"/>
          </p:cNvSpPr>
          <p:nvPr/>
        </p:nvSpPr>
        <p:spPr>
          <a:xfrm>
            <a:off x="2778919" y="5122069"/>
            <a:ext cx="1394" cy="57150"/>
          </a:xfrm>
          <a:prstGeom prst="rect">
            <a:avLst/>
          </a:prstGeom>
          <a:solidFill>
            <a:srgbClr val="34699A"/>
          </a:solidFill>
          <a:ln w="0">
            <a:solidFill>
              <a:srgbClr val="000000">
                <a:alpha val="0"/>
              </a:srgbClr>
            </a:solidFill>
            <a:prstDash val="solid"/>
          </a:ln>
        </p:spPr>
        <p:txBody>
          <a:bodyPr/>
          <a:lstStyle/>
          <a:p>
            <a:endParaRPr lang="en-SG" sz="1350"/>
          </a:p>
        </p:txBody>
      </p:sp>
      <p:sp>
        <p:nvSpPr>
          <p:cNvPr id="93" name="Rectangle 92">
            <a:extLst>
              <a:ext uri="{FF2B5EF4-FFF2-40B4-BE49-F238E27FC236}">
                <a16:creationId xmlns:a16="http://schemas.microsoft.com/office/drawing/2014/main" id="{7C99830E-810A-41CD-AB04-B6BD2FD5A105}"/>
              </a:ext>
            </a:extLst>
          </p:cNvPr>
          <p:cNvSpPr>
            <a:spLocks noGrp="1"/>
          </p:cNvSpPr>
          <p:nvPr/>
        </p:nvSpPr>
        <p:spPr>
          <a:xfrm>
            <a:off x="3243263" y="5064919"/>
            <a:ext cx="714375"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1050" b="0">
                <a:solidFill>
                  <a:srgbClr val="1F2933"/>
                </a:solidFill>
                <a:latin typeface="Aptos"/>
                <a:ea typeface="Aptos"/>
                <a:cs typeface="Aptos"/>
              </a:defRPr>
            </a:pPr>
            <a:r>
              <a:rPr sz="788">
                <a:solidFill>
                  <a:srgbClr val="1F2933"/>
                </a:solidFill>
                <a:latin typeface="Aptos"/>
                <a:ea typeface="Aptos"/>
                <a:cs typeface="Aptos"/>
              </a:rPr>
              <a:t>81</a:t>
            </a:r>
          </a:p>
        </p:txBody>
      </p:sp>
      <p:sp>
        <p:nvSpPr>
          <p:cNvPr id="94" name="Rectangle 93">
            <a:extLst>
              <a:ext uri="{FF2B5EF4-FFF2-40B4-BE49-F238E27FC236}">
                <a16:creationId xmlns:a16="http://schemas.microsoft.com/office/drawing/2014/main" id="{E9669C06-5C3A-432D-8E04-BAB575052D75}"/>
              </a:ext>
            </a:extLst>
          </p:cNvPr>
          <p:cNvSpPr>
            <a:spLocks noGrp="1"/>
          </p:cNvSpPr>
          <p:nvPr/>
        </p:nvSpPr>
        <p:spPr>
          <a:xfrm>
            <a:off x="4171951" y="5064919"/>
            <a:ext cx="535781"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1050" b="0">
                <a:solidFill>
                  <a:srgbClr val="1F2933"/>
                </a:solidFill>
                <a:latin typeface="Aptos"/>
                <a:ea typeface="Aptos"/>
                <a:cs typeface="Aptos"/>
              </a:defRPr>
            </a:pPr>
            <a:r>
              <a:rPr sz="788">
                <a:solidFill>
                  <a:srgbClr val="1F2933"/>
                </a:solidFill>
                <a:latin typeface="Aptos"/>
                <a:ea typeface="Aptos"/>
                <a:cs typeface="Aptos"/>
              </a:rPr>
              <a:t>0.08%</a:t>
            </a:r>
          </a:p>
        </p:txBody>
      </p:sp>
      <p:sp>
        <p:nvSpPr>
          <p:cNvPr id="95" name="Rectangle 94">
            <a:extLst>
              <a:ext uri="{FF2B5EF4-FFF2-40B4-BE49-F238E27FC236}">
                <a16:creationId xmlns:a16="http://schemas.microsoft.com/office/drawing/2014/main" id="{768066F9-B752-4CFA-A94C-C1412BF63ECE}"/>
              </a:ext>
            </a:extLst>
          </p:cNvPr>
          <p:cNvSpPr>
            <a:spLocks noGrp="1"/>
          </p:cNvSpPr>
          <p:nvPr/>
        </p:nvSpPr>
        <p:spPr>
          <a:xfrm>
            <a:off x="4993482" y="5064919"/>
            <a:ext cx="750094"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1050" b="0">
                <a:solidFill>
                  <a:srgbClr val="1F2933"/>
                </a:solidFill>
                <a:latin typeface="Aptos"/>
                <a:ea typeface="Aptos"/>
                <a:cs typeface="Aptos"/>
              </a:defRPr>
            </a:pPr>
            <a:r>
              <a:rPr sz="788">
                <a:solidFill>
                  <a:srgbClr val="1F2933"/>
                </a:solidFill>
                <a:latin typeface="Aptos"/>
                <a:ea typeface="Aptos"/>
                <a:cs typeface="Aptos"/>
              </a:rPr>
              <a:t>R$50k</a:t>
            </a:r>
          </a:p>
        </p:txBody>
      </p:sp>
      <p:sp>
        <p:nvSpPr>
          <p:cNvPr id="96" name="Rectangle 95">
            <a:extLst>
              <a:ext uri="{FF2B5EF4-FFF2-40B4-BE49-F238E27FC236}">
                <a16:creationId xmlns:a16="http://schemas.microsoft.com/office/drawing/2014/main" id="{6CC23852-C57E-4B6A-B0E3-D6F56E8CFAB2}"/>
              </a:ext>
            </a:extLst>
          </p:cNvPr>
          <p:cNvSpPr>
            <a:spLocks noGrp="1"/>
          </p:cNvSpPr>
          <p:nvPr/>
        </p:nvSpPr>
        <p:spPr>
          <a:xfrm>
            <a:off x="5886450" y="5064919"/>
            <a:ext cx="1785938"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0">
                <a:solidFill>
                  <a:srgbClr val="6B7280"/>
                </a:solidFill>
                <a:latin typeface="Aptos"/>
                <a:ea typeface="Aptos"/>
                <a:cs typeface="Aptos"/>
              </a:defRPr>
            </a:pPr>
            <a:r>
              <a:rPr sz="731">
                <a:solidFill>
                  <a:srgbClr val="6B7280"/>
                </a:solidFill>
                <a:latin typeface="Aptos"/>
                <a:ea typeface="Aptos"/>
                <a:cs typeface="Aptos"/>
              </a:rPr>
              <a:t>VIP treatment</a:t>
            </a:r>
          </a:p>
        </p:txBody>
      </p:sp>
      <p:sp>
        <p:nvSpPr>
          <p:cNvPr id="97" name="Rectangle 96">
            <a:extLst>
              <a:ext uri="{FF2B5EF4-FFF2-40B4-BE49-F238E27FC236}">
                <a16:creationId xmlns:a16="http://schemas.microsoft.com/office/drawing/2014/main" id="{2E1D776F-2E1C-462D-9064-F67A9B1372D9}"/>
              </a:ext>
            </a:extLst>
          </p:cNvPr>
          <p:cNvSpPr>
            <a:spLocks noGrp="1"/>
          </p:cNvSpPr>
          <p:nvPr/>
        </p:nvSpPr>
        <p:spPr>
          <a:xfrm>
            <a:off x="457200" y="5743575"/>
            <a:ext cx="5857875" cy="128588"/>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0">
                <a:solidFill>
                  <a:srgbClr val="8A94A3"/>
                </a:solidFill>
                <a:latin typeface="Aptos"/>
                <a:ea typeface="Aptos"/>
                <a:cs typeface="Aptos"/>
              </a:defRPr>
            </a:pPr>
            <a:r>
              <a:rPr sz="563">
                <a:solidFill>
                  <a:srgbClr val="8A94A3"/>
                </a:solidFill>
                <a:latin typeface="Aptos"/>
                <a:ea typeface="Aptos"/>
                <a:cs typeface="Aptos"/>
              </a:rPr>
              <a:t>Source: local Olist warehouse, fact_sales. Gross item sales include product price plus freight value.</a:t>
            </a:r>
          </a:p>
        </p:txBody>
      </p:sp>
      <p:sp>
        <p:nvSpPr>
          <p:cNvPr id="98" name="Rectangle 97">
            <a:extLst>
              <a:ext uri="{FF2B5EF4-FFF2-40B4-BE49-F238E27FC236}">
                <a16:creationId xmlns:a16="http://schemas.microsoft.com/office/drawing/2014/main" id="{CC2F7340-56ED-422E-A3E0-750CF9C5C301}"/>
              </a:ext>
            </a:extLst>
          </p:cNvPr>
          <p:cNvSpPr>
            <a:spLocks noGrp="1"/>
          </p:cNvSpPr>
          <p:nvPr/>
        </p:nvSpPr>
        <p:spPr>
          <a:xfrm>
            <a:off x="8358187" y="5715000"/>
            <a:ext cx="242888" cy="128588"/>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50" b="0">
                <a:solidFill>
                  <a:srgbClr val="8A94A3"/>
                </a:solidFill>
                <a:latin typeface="Aptos"/>
                <a:ea typeface="Aptos"/>
                <a:cs typeface="Aptos"/>
              </a:defRPr>
            </a:pPr>
            <a:r>
              <a:rPr sz="563">
                <a:solidFill>
                  <a:srgbClr val="8A94A3"/>
                </a:solidFill>
                <a:latin typeface="Aptos"/>
                <a:ea typeface="Aptos"/>
                <a:cs typeface="Aptos"/>
              </a:rPr>
              <a:t>1</a:t>
            </a:r>
          </a:p>
        </p:txBody>
      </p:sp>
    </p:spTree>
    <p:extLst>
      <p:ext uri="{BB962C8B-B14F-4D97-AF65-F5344CB8AC3E}">
        <p14:creationId xmlns:p14="http://schemas.microsoft.com/office/powerpoint/2010/main" val="2082348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Rectangle 45">
            <a:extLst>
              <a:ext uri="{FF2B5EF4-FFF2-40B4-BE49-F238E27FC236}">
                <a16:creationId xmlns:a16="http://schemas.microsoft.com/office/drawing/2014/main" id="{1E1F03E3-8017-4900-B6FC-96758E671222}"/>
              </a:ext>
            </a:extLst>
          </p:cNvPr>
          <p:cNvSpPr>
            <a:spLocks noGrp="1"/>
          </p:cNvSpPr>
          <p:nvPr/>
        </p:nvSpPr>
        <p:spPr>
          <a:xfrm>
            <a:off x="0" y="857250"/>
            <a:ext cx="9144000" cy="5143500"/>
          </a:xfrm>
          <a:prstGeom prst="rect">
            <a:avLst/>
          </a:prstGeom>
          <a:solidFill>
            <a:srgbClr val="FFFFFF"/>
          </a:solidFill>
          <a:ln w="0">
            <a:solidFill>
              <a:srgbClr val="000000">
                <a:alpha val="0"/>
              </a:srgbClr>
            </a:solidFill>
            <a:prstDash val="solid"/>
          </a:ln>
        </p:spPr>
        <p:txBody>
          <a:bodyPr/>
          <a:lstStyle/>
          <a:p>
            <a:endParaRPr lang="en-SG" sz="1350"/>
          </a:p>
        </p:txBody>
      </p:sp>
      <p:sp>
        <p:nvSpPr>
          <p:cNvPr id="2" name="kicker-marker">
            <a:extLst>
              <a:ext uri="{FF2B5EF4-FFF2-40B4-BE49-F238E27FC236}">
                <a16:creationId xmlns:a16="http://schemas.microsoft.com/office/drawing/2014/main" id="{649AD2E8-94DC-475E-841A-DAA86E9D9991}"/>
              </a:ext>
            </a:extLst>
          </p:cNvPr>
          <p:cNvSpPr>
            <a:spLocks noGrp="1"/>
          </p:cNvSpPr>
          <p:nvPr/>
        </p:nvSpPr>
        <p:spPr>
          <a:xfrm>
            <a:off x="457200" y="1200150"/>
            <a:ext cx="92869" cy="92869"/>
          </a:xfrm>
          <a:prstGeom prst="ellipse">
            <a:avLst/>
          </a:prstGeom>
          <a:solidFill>
            <a:srgbClr val="2F8F5B"/>
          </a:solidFill>
          <a:ln w="0">
            <a:solidFill>
              <a:srgbClr val="000000">
                <a:alpha val="0"/>
              </a:srgbClr>
            </a:solidFill>
            <a:prstDash val="solid"/>
          </a:ln>
        </p:spPr>
        <p:txBody>
          <a:bodyPr/>
          <a:lstStyle/>
          <a:p>
            <a:endParaRPr lang="en-SG" sz="1350"/>
          </a:p>
        </p:txBody>
      </p:sp>
      <p:sp>
        <p:nvSpPr>
          <p:cNvPr id="3" name="kicker-label">
            <a:extLst>
              <a:ext uri="{FF2B5EF4-FFF2-40B4-BE49-F238E27FC236}">
                <a16:creationId xmlns:a16="http://schemas.microsoft.com/office/drawing/2014/main" id="{550A0277-D256-4737-BD5C-5969D6E50CBB}"/>
              </a:ext>
            </a:extLst>
          </p:cNvPr>
          <p:cNvSpPr>
            <a:spLocks noGrp="1"/>
          </p:cNvSpPr>
          <p:nvPr/>
        </p:nvSpPr>
        <p:spPr>
          <a:xfrm>
            <a:off x="628650" y="1135856"/>
            <a:ext cx="1928813" cy="214313"/>
          </a:xfrm>
          <a:prstGeom prst="rect">
            <a:avLst/>
          </a:prstGeom>
          <a:solidFill>
            <a:srgbClr val="000000">
              <a:alpha val="0"/>
            </a:srgbClr>
          </a:solidFill>
          <a:ln w="0">
            <a:solidFill>
              <a:srgbClr val="000000">
                <a:alpha val="0"/>
              </a:srgbClr>
            </a:solidFill>
            <a:prstDash val="solid"/>
          </a:ln>
        </p:spPr>
        <p:txBody>
          <a:bodyPr lIns="0" tIns="28575" rIns="0" bIns="0" anchor="t"/>
          <a:lstStyle/>
          <a:p>
            <a:pPr algn="l">
              <a:defRPr sz="975" b="1">
                <a:solidFill>
                  <a:srgbClr val="2F8F5B"/>
                </a:solidFill>
                <a:latin typeface="Aptos"/>
                <a:ea typeface="Aptos"/>
                <a:cs typeface="Aptos"/>
              </a:defRPr>
            </a:pPr>
            <a:r>
              <a:rPr sz="731" b="1">
                <a:solidFill>
                  <a:srgbClr val="2F8F5B"/>
                </a:solidFill>
                <a:latin typeface="Aptos"/>
                <a:ea typeface="Aptos"/>
                <a:cs typeface="Aptos"/>
              </a:rPr>
              <a:t>CAMPAIGN PRIORITIES</a:t>
            </a:r>
          </a:p>
        </p:txBody>
      </p:sp>
      <p:sp>
        <p:nvSpPr>
          <p:cNvPr id="4" name="Rectangle 3">
            <a:extLst>
              <a:ext uri="{FF2B5EF4-FFF2-40B4-BE49-F238E27FC236}">
                <a16:creationId xmlns:a16="http://schemas.microsoft.com/office/drawing/2014/main" id="{A59C1014-02F6-44F3-AA77-7AF6B78915B8}"/>
              </a:ext>
            </a:extLst>
          </p:cNvPr>
          <p:cNvSpPr>
            <a:spLocks noGrp="1"/>
          </p:cNvSpPr>
          <p:nvPr/>
        </p:nvSpPr>
        <p:spPr>
          <a:xfrm>
            <a:off x="457200" y="1414463"/>
            <a:ext cx="5715000" cy="65722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550" b="1">
                <a:solidFill>
                  <a:srgbClr val="1F2933"/>
                </a:solidFill>
                <a:latin typeface="Aptos Display"/>
                <a:ea typeface="Aptos Display"/>
                <a:cs typeface="Aptos Display"/>
              </a:defRPr>
            </a:pPr>
            <a:r>
              <a:rPr sz="1913" b="1">
                <a:solidFill>
                  <a:srgbClr val="1F2933"/>
                </a:solidFill>
                <a:latin typeface="Aptos Display"/>
                <a:ea typeface="Aptos Display"/>
                <a:cs typeface="Aptos Display"/>
              </a:rPr>
              <a:t>Do not start with broad loyalty; first convert high-value one-time buyers.</a:t>
            </a:r>
          </a:p>
        </p:txBody>
      </p:sp>
      <p:sp>
        <p:nvSpPr>
          <p:cNvPr id="5" name="Rectangle 4">
            <a:extLst>
              <a:ext uri="{FF2B5EF4-FFF2-40B4-BE49-F238E27FC236}">
                <a16:creationId xmlns:a16="http://schemas.microsoft.com/office/drawing/2014/main" id="{847DC33A-0678-401D-986C-A54CD773DD16}"/>
              </a:ext>
            </a:extLst>
          </p:cNvPr>
          <p:cNvSpPr>
            <a:spLocks noGrp="1"/>
          </p:cNvSpPr>
          <p:nvPr/>
        </p:nvSpPr>
        <p:spPr>
          <a:xfrm>
            <a:off x="457200" y="2085975"/>
            <a:ext cx="5429250" cy="31432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75" b="0">
                <a:solidFill>
                  <a:srgbClr val="6B7280"/>
                </a:solidFill>
                <a:latin typeface="Aptos"/>
                <a:ea typeface="Aptos"/>
                <a:cs typeface="Aptos"/>
              </a:defRPr>
            </a:pPr>
            <a:r>
              <a:rPr sz="956">
                <a:solidFill>
                  <a:srgbClr val="6B7280"/>
                </a:solidFill>
                <a:latin typeface="Aptos"/>
                <a:ea typeface="Aptos"/>
                <a:cs typeface="Aptos"/>
              </a:rPr>
              <a:t>The RFM result points to a staged retention strategy: second purchase first, win-back second, loyalty only for the small repeat base.</a:t>
            </a:r>
          </a:p>
        </p:txBody>
      </p:sp>
      <p:sp>
        <p:nvSpPr>
          <p:cNvPr id="6" name="Oval 5">
            <a:extLst>
              <a:ext uri="{FF2B5EF4-FFF2-40B4-BE49-F238E27FC236}">
                <a16:creationId xmlns:a16="http://schemas.microsoft.com/office/drawing/2014/main" id="{68DD8DAB-7AC6-4466-B40E-5965E0AD2BB1}"/>
              </a:ext>
            </a:extLst>
          </p:cNvPr>
          <p:cNvSpPr>
            <a:spLocks noGrp="1"/>
          </p:cNvSpPr>
          <p:nvPr/>
        </p:nvSpPr>
        <p:spPr>
          <a:xfrm>
            <a:off x="6372225" y="1200150"/>
            <a:ext cx="1657350" cy="1657350"/>
          </a:xfrm>
          <a:prstGeom prst="ellipse">
            <a:avLst/>
          </a:prstGeom>
          <a:solidFill>
            <a:srgbClr val="E0EFE7"/>
          </a:solidFill>
          <a:ln w="0">
            <a:solidFill>
              <a:srgbClr val="000000">
                <a:alpha val="0"/>
              </a:srgbClr>
            </a:solidFill>
            <a:prstDash val="solid"/>
          </a:ln>
        </p:spPr>
        <p:txBody>
          <a:bodyPr/>
          <a:lstStyle/>
          <a:p>
            <a:endParaRPr lang="en-SG" sz="1350"/>
          </a:p>
        </p:txBody>
      </p:sp>
      <p:sp>
        <p:nvSpPr>
          <p:cNvPr id="7" name="Oval 6">
            <a:extLst>
              <a:ext uri="{FF2B5EF4-FFF2-40B4-BE49-F238E27FC236}">
                <a16:creationId xmlns:a16="http://schemas.microsoft.com/office/drawing/2014/main" id="{FDADE27E-8E2C-4441-93F0-571D47829E02}"/>
              </a:ext>
            </a:extLst>
          </p:cNvPr>
          <p:cNvSpPr>
            <a:spLocks noGrp="1"/>
          </p:cNvSpPr>
          <p:nvPr/>
        </p:nvSpPr>
        <p:spPr>
          <a:xfrm>
            <a:off x="6676549" y="1524953"/>
            <a:ext cx="1049655" cy="1049655"/>
          </a:xfrm>
          <a:prstGeom prst="ellipse">
            <a:avLst/>
          </a:prstGeom>
          <a:solidFill>
            <a:srgbClr val="FFFFFF"/>
          </a:solidFill>
          <a:ln w="19050">
            <a:solidFill>
              <a:srgbClr val="2F8F5B"/>
            </a:solidFill>
            <a:prstDash val="solid"/>
          </a:ln>
        </p:spPr>
        <p:txBody>
          <a:bodyPr/>
          <a:lstStyle/>
          <a:p>
            <a:endParaRPr lang="en-SG" sz="1350"/>
          </a:p>
        </p:txBody>
      </p:sp>
      <p:sp>
        <p:nvSpPr>
          <p:cNvPr id="8" name="Rectangle 7">
            <a:extLst>
              <a:ext uri="{FF2B5EF4-FFF2-40B4-BE49-F238E27FC236}">
                <a16:creationId xmlns:a16="http://schemas.microsoft.com/office/drawing/2014/main" id="{59F4EF05-9387-499C-8428-C3EA128748AA}"/>
              </a:ext>
            </a:extLst>
          </p:cNvPr>
          <p:cNvSpPr>
            <a:spLocks noGrp="1"/>
          </p:cNvSpPr>
          <p:nvPr/>
        </p:nvSpPr>
        <p:spPr>
          <a:xfrm>
            <a:off x="6607969" y="1850231"/>
            <a:ext cx="1250156" cy="3429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2925" b="1">
                <a:solidFill>
                  <a:srgbClr val="2F8F5B"/>
                </a:solidFill>
                <a:latin typeface="Aptos"/>
                <a:ea typeface="Aptos"/>
                <a:cs typeface="Aptos"/>
              </a:defRPr>
            </a:pPr>
            <a:r>
              <a:rPr b="1" dirty="0">
                <a:solidFill>
                  <a:srgbClr val="2F8F5B"/>
                </a:solidFill>
                <a:latin typeface="Aptos"/>
                <a:ea typeface="Aptos"/>
                <a:cs typeface="Aptos"/>
              </a:rPr>
              <a:t>3.05%</a:t>
            </a:r>
          </a:p>
        </p:txBody>
      </p:sp>
      <p:sp>
        <p:nvSpPr>
          <p:cNvPr id="9" name="Rectangle 8">
            <a:extLst>
              <a:ext uri="{FF2B5EF4-FFF2-40B4-BE49-F238E27FC236}">
                <a16:creationId xmlns:a16="http://schemas.microsoft.com/office/drawing/2014/main" id="{6C86E2F3-2088-47A0-A337-128FB6536376}"/>
              </a:ext>
            </a:extLst>
          </p:cNvPr>
          <p:cNvSpPr>
            <a:spLocks noGrp="1"/>
          </p:cNvSpPr>
          <p:nvPr/>
        </p:nvSpPr>
        <p:spPr>
          <a:xfrm>
            <a:off x="6643688" y="2093119"/>
            <a:ext cx="1107281"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975" b="0">
                <a:solidFill>
                  <a:srgbClr val="6B7280"/>
                </a:solidFill>
                <a:latin typeface="Aptos"/>
                <a:ea typeface="Aptos"/>
                <a:cs typeface="Aptos"/>
              </a:defRPr>
            </a:pPr>
            <a:r>
              <a:rPr sz="750" dirty="0">
                <a:solidFill>
                  <a:srgbClr val="6B7280"/>
                </a:solidFill>
                <a:latin typeface="Aptos"/>
                <a:ea typeface="Aptos"/>
                <a:cs typeface="Aptos"/>
              </a:rPr>
              <a:t>repeat-customer share</a:t>
            </a:r>
          </a:p>
        </p:txBody>
      </p:sp>
      <p:sp>
        <p:nvSpPr>
          <p:cNvPr id="10" name="Rectangle 9">
            <a:extLst>
              <a:ext uri="{FF2B5EF4-FFF2-40B4-BE49-F238E27FC236}">
                <a16:creationId xmlns:a16="http://schemas.microsoft.com/office/drawing/2014/main" id="{B3ED6AC7-2B64-4F76-9B4E-8EA4B3B334B1}"/>
              </a:ext>
            </a:extLst>
          </p:cNvPr>
          <p:cNvSpPr>
            <a:spLocks noGrp="1"/>
          </p:cNvSpPr>
          <p:nvPr/>
        </p:nvSpPr>
        <p:spPr>
          <a:xfrm>
            <a:off x="457200" y="2857500"/>
            <a:ext cx="1857375" cy="1700213"/>
          </a:xfrm>
          <a:prstGeom prst="rect">
            <a:avLst/>
          </a:prstGeom>
          <a:solidFill>
            <a:srgbClr val="E0EFE7"/>
          </a:solidFill>
          <a:ln w="0">
            <a:solidFill>
              <a:srgbClr val="000000">
                <a:alpha val="0"/>
              </a:srgbClr>
            </a:solidFill>
            <a:prstDash val="solid"/>
          </a:ln>
        </p:spPr>
        <p:txBody>
          <a:bodyPr/>
          <a:lstStyle/>
          <a:p>
            <a:endParaRPr lang="en-SG" sz="1350"/>
          </a:p>
        </p:txBody>
      </p:sp>
      <p:sp>
        <p:nvSpPr>
          <p:cNvPr id="11" name="Rectangle 10">
            <a:extLst>
              <a:ext uri="{FF2B5EF4-FFF2-40B4-BE49-F238E27FC236}">
                <a16:creationId xmlns:a16="http://schemas.microsoft.com/office/drawing/2014/main" id="{20F10528-0540-41C2-B65A-D2FFEA424FE1}"/>
              </a:ext>
            </a:extLst>
          </p:cNvPr>
          <p:cNvSpPr>
            <a:spLocks noGrp="1"/>
          </p:cNvSpPr>
          <p:nvPr/>
        </p:nvSpPr>
        <p:spPr>
          <a:xfrm>
            <a:off x="457200" y="2857500"/>
            <a:ext cx="64294" cy="1700213"/>
          </a:xfrm>
          <a:prstGeom prst="rect">
            <a:avLst/>
          </a:prstGeom>
          <a:solidFill>
            <a:srgbClr val="2F8F5B"/>
          </a:solidFill>
          <a:ln w="0">
            <a:solidFill>
              <a:srgbClr val="000000">
                <a:alpha val="0"/>
              </a:srgbClr>
            </a:solidFill>
            <a:prstDash val="solid"/>
          </a:ln>
        </p:spPr>
        <p:txBody>
          <a:bodyPr/>
          <a:lstStyle/>
          <a:p>
            <a:endParaRPr lang="en-SG" sz="1350"/>
          </a:p>
        </p:txBody>
      </p:sp>
      <p:sp>
        <p:nvSpPr>
          <p:cNvPr id="12" name="Rectangle 11">
            <a:extLst>
              <a:ext uri="{FF2B5EF4-FFF2-40B4-BE49-F238E27FC236}">
                <a16:creationId xmlns:a16="http://schemas.microsoft.com/office/drawing/2014/main" id="{A0D1C56D-4BAB-4166-8CBF-37BEF2150D88}"/>
              </a:ext>
            </a:extLst>
          </p:cNvPr>
          <p:cNvSpPr>
            <a:spLocks noGrp="1"/>
          </p:cNvSpPr>
          <p:nvPr/>
        </p:nvSpPr>
        <p:spPr>
          <a:xfrm>
            <a:off x="614362" y="3000375"/>
            <a:ext cx="357188" cy="20002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350" b="1">
                <a:solidFill>
                  <a:srgbClr val="2F8F5B"/>
                </a:solidFill>
                <a:latin typeface="Aptos"/>
                <a:ea typeface="Aptos"/>
                <a:cs typeface="Aptos"/>
              </a:defRPr>
            </a:pPr>
            <a:r>
              <a:rPr sz="1013" b="1">
                <a:solidFill>
                  <a:srgbClr val="2F8F5B"/>
                </a:solidFill>
                <a:latin typeface="Aptos"/>
                <a:ea typeface="Aptos"/>
                <a:cs typeface="Aptos"/>
              </a:rPr>
              <a:t>01</a:t>
            </a:r>
          </a:p>
        </p:txBody>
      </p:sp>
      <p:sp>
        <p:nvSpPr>
          <p:cNvPr id="13" name="Rectangle 12">
            <a:extLst>
              <a:ext uri="{FF2B5EF4-FFF2-40B4-BE49-F238E27FC236}">
                <a16:creationId xmlns:a16="http://schemas.microsoft.com/office/drawing/2014/main" id="{59431F01-10A9-4E83-AC43-6E149D099E9B}"/>
              </a:ext>
            </a:extLst>
          </p:cNvPr>
          <p:cNvSpPr>
            <a:spLocks noGrp="1"/>
          </p:cNvSpPr>
          <p:nvPr/>
        </p:nvSpPr>
        <p:spPr>
          <a:xfrm>
            <a:off x="614363" y="3271838"/>
            <a:ext cx="1464469" cy="31432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575" b="1">
                <a:solidFill>
                  <a:srgbClr val="1F2933"/>
                </a:solidFill>
                <a:latin typeface="Aptos Display"/>
                <a:ea typeface="Aptos Display"/>
                <a:cs typeface="Aptos Display"/>
              </a:defRPr>
            </a:pPr>
            <a:r>
              <a:rPr sz="1181" b="1">
                <a:solidFill>
                  <a:srgbClr val="1F2933"/>
                </a:solidFill>
                <a:latin typeface="Aptos Display"/>
                <a:ea typeface="Aptos Display"/>
                <a:cs typeface="Aptos Display"/>
              </a:rPr>
              <a:t>High-value new customers</a:t>
            </a:r>
          </a:p>
        </p:txBody>
      </p:sp>
      <p:sp>
        <p:nvSpPr>
          <p:cNvPr id="14" name="Rectangle 13">
            <a:extLst>
              <a:ext uri="{FF2B5EF4-FFF2-40B4-BE49-F238E27FC236}">
                <a16:creationId xmlns:a16="http://schemas.microsoft.com/office/drawing/2014/main" id="{04BF7342-21AF-4124-98A2-F08313D9F938}"/>
              </a:ext>
            </a:extLst>
          </p:cNvPr>
          <p:cNvSpPr>
            <a:spLocks noGrp="1"/>
          </p:cNvSpPr>
          <p:nvPr/>
        </p:nvSpPr>
        <p:spPr>
          <a:xfrm>
            <a:off x="614363" y="3671887"/>
            <a:ext cx="1464469" cy="8573"/>
          </a:xfrm>
          <a:prstGeom prst="rect">
            <a:avLst/>
          </a:prstGeom>
          <a:solidFill>
            <a:srgbClr val="2F8F5B"/>
          </a:solidFill>
          <a:ln w="0">
            <a:solidFill>
              <a:srgbClr val="000000">
                <a:alpha val="0"/>
              </a:srgbClr>
            </a:solidFill>
            <a:prstDash val="solid"/>
          </a:ln>
        </p:spPr>
        <p:txBody>
          <a:bodyPr/>
          <a:lstStyle/>
          <a:p>
            <a:endParaRPr lang="en-SG" sz="1350"/>
          </a:p>
        </p:txBody>
      </p:sp>
      <p:sp>
        <p:nvSpPr>
          <p:cNvPr id="15" name="Rectangle 14">
            <a:extLst>
              <a:ext uri="{FF2B5EF4-FFF2-40B4-BE49-F238E27FC236}">
                <a16:creationId xmlns:a16="http://schemas.microsoft.com/office/drawing/2014/main" id="{3A4417E6-574A-4F36-B8C4-7617CC75989C}"/>
              </a:ext>
            </a:extLst>
          </p:cNvPr>
          <p:cNvSpPr>
            <a:spLocks noGrp="1"/>
          </p:cNvSpPr>
          <p:nvPr/>
        </p:nvSpPr>
        <p:spPr>
          <a:xfrm>
            <a:off x="614363" y="3771900"/>
            <a:ext cx="1485900" cy="157163"/>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1">
                <a:solidFill>
                  <a:srgbClr val="2F8F5B"/>
                </a:solidFill>
                <a:latin typeface="Aptos"/>
                <a:ea typeface="Aptos"/>
                <a:cs typeface="Aptos"/>
              </a:defRPr>
            </a:pPr>
            <a:r>
              <a:rPr sz="788" b="1">
                <a:solidFill>
                  <a:srgbClr val="2F8F5B"/>
                </a:solidFill>
                <a:latin typeface="Aptos"/>
                <a:ea typeface="Aptos"/>
                <a:cs typeface="Aptos"/>
              </a:rPr>
              <a:t>11,081 customers | R$4.34M</a:t>
            </a:r>
          </a:p>
        </p:txBody>
      </p:sp>
      <p:sp>
        <p:nvSpPr>
          <p:cNvPr id="16" name="Rectangle 15">
            <a:extLst>
              <a:ext uri="{FF2B5EF4-FFF2-40B4-BE49-F238E27FC236}">
                <a16:creationId xmlns:a16="http://schemas.microsoft.com/office/drawing/2014/main" id="{E321D9F2-AD07-4FF9-B0DE-C187E06FF14F}"/>
              </a:ext>
            </a:extLst>
          </p:cNvPr>
          <p:cNvSpPr>
            <a:spLocks noGrp="1"/>
          </p:cNvSpPr>
          <p:nvPr/>
        </p:nvSpPr>
        <p:spPr>
          <a:xfrm>
            <a:off x="614363" y="3993356"/>
            <a:ext cx="14859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25" b="1">
                <a:solidFill>
                  <a:srgbClr val="1F2933"/>
                </a:solidFill>
                <a:latin typeface="Aptos"/>
                <a:ea typeface="Aptos"/>
                <a:cs typeface="Aptos"/>
              </a:defRPr>
            </a:pPr>
            <a:r>
              <a:rPr sz="844" b="1">
                <a:solidFill>
                  <a:srgbClr val="1F2933"/>
                </a:solidFill>
                <a:latin typeface="Aptos"/>
                <a:ea typeface="Aptos"/>
                <a:cs typeface="Aptos"/>
              </a:rPr>
              <a:t>Priority second-purchase offer</a:t>
            </a:r>
          </a:p>
        </p:txBody>
      </p:sp>
      <p:sp>
        <p:nvSpPr>
          <p:cNvPr id="17" name="Rectangle 16">
            <a:extLst>
              <a:ext uri="{FF2B5EF4-FFF2-40B4-BE49-F238E27FC236}">
                <a16:creationId xmlns:a16="http://schemas.microsoft.com/office/drawing/2014/main" id="{71916AE9-47E4-4E23-8F4E-7DB1377E3F1A}"/>
              </a:ext>
            </a:extLst>
          </p:cNvPr>
          <p:cNvSpPr>
            <a:spLocks noGrp="1"/>
          </p:cNvSpPr>
          <p:nvPr/>
        </p:nvSpPr>
        <p:spPr>
          <a:xfrm>
            <a:off x="614363" y="4236244"/>
            <a:ext cx="1464469" cy="3429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0">
                <a:solidFill>
                  <a:srgbClr val="6B7280"/>
                </a:solidFill>
                <a:latin typeface="Aptos"/>
                <a:ea typeface="Aptos"/>
                <a:cs typeface="Aptos"/>
              </a:defRPr>
            </a:pPr>
            <a:r>
              <a:rPr sz="731">
                <a:solidFill>
                  <a:srgbClr val="6B7280"/>
                </a:solidFill>
                <a:latin typeface="Aptos"/>
                <a:ea typeface="Aptos"/>
                <a:cs typeface="Aptos"/>
              </a:rPr>
              <a:t>Recent one-time buyers already proved willingness to spend.</a:t>
            </a:r>
          </a:p>
        </p:txBody>
      </p:sp>
      <p:sp>
        <p:nvSpPr>
          <p:cNvPr id="18" name="Rectangle 17">
            <a:extLst>
              <a:ext uri="{FF2B5EF4-FFF2-40B4-BE49-F238E27FC236}">
                <a16:creationId xmlns:a16="http://schemas.microsoft.com/office/drawing/2014/main" id="{0C727E56-AD74-416E-AEC5-9061B5BABE5A}"/>
              </a:ext>
            </a:extLst>
          </p:cNvPr>
          <p:cNvSpPr>
            <a:spLocks noGrp="1"/>
          </p:cNvSpPr>
          <p:nvPr/>
        </p:nvSpPr>
        <p:spPr>
          <a:xfrm>
            <a:off x="2471738" y="2857500"/>
            <a:ext cx="1857375" cy="1700213"/>
          </a:xfrm>
          <a:prstGeom prst="rect">
            <a:avLst/>
          </a:prstGeom>
          <a:solidFill>
            <a:srgbClr val="F8E8D4"/>
          </a:solidFill>
          <a:ln w="0">
            <a:solidFill>
              <a:srgbClr val="000000">
                <a:alpha val="0"/>
              </a:srgbClr>
            </a:solidFill>
            <a:prstDash val="solid"/>
          </a:ln>
        </p:spPr>
        <p:txBody>
          <a:bodyPr/>
          <a:lstStyle/>
          <a:p>
            <a:endParaRPr lang="en-SG" sz="1350"/>
          </a:p>
        </p:txBody>
      </p:sp>
      <p:sp>
        <p:nvSpPr>
          <p:cNvPr id="19" name="Rectangle 18">
            <a:extLst>
              <a:ext uri="{FF2B5EF4-FFF2-40B4-BE49-F238E27FC236}">
                <a16:creationId xmlns:a16="http://schemas.microsoft.com/office/drawing/2014/main" id="{4C900D85-E5A7-4095-92A2-03C91E6759D2}"/>
              </a:ext>
            </a:extLst>
          </p:cNvPr>
          <p:cNvSpPr>
            <a:spLocks noGrp="1"/>
          </p:cNvSpPr>
          <p:nvPr/>
        </p:nvSpPr>
        <p:spPr>
          <a:xfrm>
            <a:off x="2471738" y="2857500"/>
            <a:ext cx="64294" cy="1700213"/>
          </a:xfrm>
          <a:prstGeom prst="rect">
            <a:avLst/>
          </a:prstGeom>
          <a:solidFill>
            <a:srgbClr val="C77721"/>
          </a:solidFill>
          <a:ln w="0">
            <a:solidFill>
              <a:srgbClr val="000000">
                <a:alpha val="0"/>
              </a:srgbClr>
            </a:solidFill>
            <a:prstDash val="solid"/>
          </a:ln>
        </p:spPr>
        <p:txBody>
          <a:bodyPr/>
          <a:lstStyle/>
          <a:p>
            <a:endParaRPr lang="en-SG" sz="1350"/>
          </a:p>
        </p:txBody>
      </p:sp>
      <p:sp>
        <p:nvSpPr>
          <p:cNvPr id="20" name="Rectangle 19">
            <a:extLst>
              <a:ext uri="{FF2B5EF4-FFF2-40B4-BE49-F238E27FC236}">
                <a16:creationId xmlns:a16="http://schemas.microsoft.com/office/drawing/2014/main" id="{EF735847-8614-4337-A6D1-1977FA0C6CE5}"/>
              </a:ext>
            </a:extLst>
          </p:cNvPr>
          <p:cNvSpPr>
            <a:spLocks noGrp="1"/>
          </p:cNvSpPr>
          <p:nvPr/>
        </p:nvSpPr>
        <p:spPr>
          <a:xfrm>
            <a:off x="2628900" y="3000375"/>
            <a:ext cx="357188" cy="20002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350" b="1">
                <a:solidFill>
                  <a:srgbClr val="C77721"/>
                </a:solidFill>
                <a:latin typeface="Aptos"/>
                <a:ea typeface="Aptos"/>
                <a:cs typeface="Aptos"/>
              </a:defRPr>
            </a:pPr>
            <a:r>
              <a:rPr sz="1013" b="1">
                <a:solidFill>
                  <a:srgbClr val="C77721"/>
                </a:solidFill>
                <a:latin typeface="Aptos"/>
                <a:ea typeface="Aptos"/>
                <a:cs typeface="Aptos"/>
              </a:rPr>
              <a:t>02</a:t>
            </a:r>
          </a:p>
        </p:txBody>
      </p:sp>
      <p:sp>
        <p:nvSpPr>
          <p:cNvPr id="21" name="Rectangle 20">
            <a:extLst>
              <a:ext uri="{FF2B5EF4-FFF2-40B4-BE49-F238E27FC236}">
                <a16:creationId xmlns:a16="http://schemas.microsoft.com/office/drawing/2014/main" id="{2B843278-4D7A-4E9C-B8A4-616AD5CF04B8}"/>
              </a:ext>
            </a:extLst>
          </p:cNvPr>
          <p:cNvSpPr>
            <a:spLocks noGrp="1"/>
          </p:cNvSpPr>
          <p:nvPr/>
        </p:nvSpPr>
        <p:spPr>
          <a:xfrm>
            <a:off x="2628900" y="3271838"/>
            <a:ext cx="1464469" cy="31432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575" b="1">
                <a:solidFill>
                  <a:srgbClr val="1F2933"/>
                </a:solidFill>
                <a:latin typeface="Aptos Display"/>
                <a:ea typeface="Aptos Display"/>
                <a:cs typeface="Aptos Display"/>
              </a:defRPr>
            </a:pPr>
            <a:r>
              <a:rPr sz="1181" b="1">
                <a:solidFill>
                  <a:srgbClr val="1F2933"/>
                </a:solidFill>
                <a:latin typeface="Aptos Display"/>
                <a:ea typeface="Aptos Display"/>
                <a:cs typeface="Aptos Display"/>
              </a:rPr>
              <a:t>At-risk high spenders</a:t>
            </a:r>
          </a:p>
        </p:txBody>
      </p:sp>
      <p:sp>
        <p:nvSpPr>
          <p:cNvPr id="22" name="Rectangle 21">
            <a:extLst>
              <a:ext uri="{FF2B5EF4-FFF2-40B4-BE49-F238E27FC236}">
                <a16:creationId xmlns:a16="http://schemas.microsoft.com/office/drawing/2014/main" id="{38FE3E9C-EDA4-4C30-9980-8BE1D6600BE8}"/>
              </a:ext>
            </a:extLst>
          </p:cNvPr>
          <p:cNvSpPr>
            <a:spLocks noGrp="1"/>
          </p:cNvSpPr>
          <p:nvPr/>
        </p:nvSpPr>
        <p:spPr>
          <a:xfrm>
            <a:off x="2628900" y="3671887"/>
            <a:ext cx="1464469" cy="8573"/>
          </a:xfrm>
          <a:prstGeom prst="rect">
            <a:avLst/>
          </a:prstGeom>
          <a:solidFill>
            <a:srgbClr val="C77721"/>
          </a:solidFill>
          <a:ln w="0">
            <a:solidFill>
              <a:srgbClr val="000000">
                <a:alpha val="0"/>
              </a:srgbClr>
            </a:solidFill>
            <a:prstDash val="solid"/>
          </a:ln>
        </p:spPr>
        <p:txBody>
          <a:bodyPr/>
          <a:lstStyle/>
          <a:p>
            <a:endParaRPr lang="en-SG" sz="1350"/>
          </a:p>
        </p:txBody>
      </p:sp>
      <p:sp>
        <p:nvSpPr>
          <p:cNvPr id="23" name="Rectangle 22">
            <a:extLst>
              <a:ext uri="{FF2B5EF4-FFF2-40B4-BE49-F238E27FC236}">
                <a16:creationId xmlns:a16="http://schemas.microsoft.com/office/drawing/2014/main" id="{BDE3A641-FE01-4047-BFED-4FD056483E13}"/>
              </a:ext>
            </a:extLst>
          </p:cNvPr>
          <p:cNvSpPr>
            <a:spLocks noGrp="1"/>
          </p:cNvSpPr>
          <p:nvPr/>
        </p:nvSpPr>
        <p:spPr>
          <a:xfrm>
            <a:off x="2628900" y="3771900"/>
            <a:ext cx="1485900" cy="157163"/>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1">
                <a:solidFill>
                  <a:srgbClr val="C77721"/>
                </a:solidFill>
                <a:latin typeface="Aptos"/>
                <a:ea typeface="Aptos"/>
                <a:cs typeface="Aptos"/>
              </a:defRPr>
            </a:pPr>
            <a:r>
              <a:rPr sz="788" b="1">
                <a:solidFill>
                  <a:srgbClr val="C77721"/>
                </a:solidFill>
                <a:latin typeface="Aptos"/>
                <a:ea typeface="Aptos"/>
                <a:cs typeface="Aptos"/>
              </a:rPr>
              <a:t>11,274 customers | R$1.59M</a:t>
            </a:r>
          </a:p>
        </p:txBody>
      </p:sp>
      <p:sp>
        <p:nvSpPr>
          <p:cNvPr id="24" name="Rectangle 23">
            <a:extLst>
              <a:ext uri="{FF2B5EF4-FFF2-40B4-BE49-F238E27FC236}">
                <a16:creationId xmlns:a16="http://schemas.microsoft.com/office/drawing/2014/main" id="{C25C469A-DD1C-48D3-A545-4E279E5A8C17}"/>
              </a:ext>
            </a:extLst>
          </p:cNvPr>
          <p:cNvSpPr>
            <a:spLocks noGrp="1"/>
          </p:cNvSpPr>
          <p:nvPr/>
        </p:nvSpPr>
        <p:spPr>
          <a:xfrm>
            <a:off x="2628900" y="3993356"/>
            <a:ext cx="14859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25" b="1">
                <a:solidFill>
                  <a:srgbClr val="1F2933"/>
                </a:solidFill>
                <a:latin typeface="Aptos"/>
                <a:ea typeface="Aptos"/>
                <a:cs typeface="Aptos"/>
              </a:defRPr>
            </a:pPr>
            <a:r>
              <a:rPr sz="844" b="1">
                <a:solidFill>
                  <a:srgbClr val="1F2933"/>
                </a:solidFill>
                <a:latin typeface="Aptos"/>
                <a:ea typeface="Aptos"/>
                <a:cs typeface="Aptos"/>
              </a:rPr>
              <a:t>Timed win-back campaign</a:t>
            </a:r>
          </a:p>
        </p:txBody>
      </p:sp>
      <p:sp>
        <p:nvSpPr>
          <p:cNvPr id="25" name="Rectangle 24">
            <a:extLst>
              <a:ext uri="{FF2B5EF4-FFF2-40B4-BE49-F238E27FC236}">
                <a16:creationId xmlns:a16="http://schemas.microsoft.com/office/drawing/2014/main" id="{8E6648FE-0EF5-43A3-98E1-89CF828A2436}"/>
              </a:ext>
            </a:extLst>
          </p:cNvPr>
          <p:cNvSpPr>
            <a:spLocks noGrp="1"/>
          </p:cNvSpPr>
          <p:nvPr/>
        </p:nvSpPr>
        <p:spPr>
          <a:xfrm>
            <a:off x="2628900" y="4236244"/>
            <a:ext cx="1464469" cy="3429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0">
                <a:solidFill>
                  <a:srgbClr val="6B7280"/>
                </a:solidFill>
                <a:latin typeface="Aptos"/>
                <a:ea typeface="Aptos"/>
                <a:cs typeface="Aptos"/>
              </a:defRPr>
            </a:pPr>
            <a:r>
              <a:rPr sz="731">
                <a:solidFill>
                  <a:srgbClr val="6B7280"/>
                </a:solidFill>
                <a:latin typeface="Aptos"/>
                <a:ea typeface="Aptos"/>
                <a:cs typeface="Aptos"/>
              </a:rPr>
              <a:t>High value is present, but recency has weakened.</a:t>
            </a:r>
          </a:p>
        </p:txBody>
      </p:sp>
      <p:sp>
        <p:nvSpPr>
          <p:cNvPr id="26" name="Rectangle 25">
            <a:extLst>
              <a:ext uri="{FF2B5EF4-FFF2-40B4-BE49-F238E27FC236}">
                <a16:creationId xmlns:a16="http://schemas.microsoft.com/office/drawing/2014/main" id="{7C2FD390-8860-4D9A-8603-91860D9F96C8}"/>
              </a:ext>
            </a:extLst>
          </p:cNvPr>
          <p:cNvSpPr>
            <a:spLocks noGrp="1"/>
          </p:cNvSpPr>
          <p:nvPr/>
        </p:nvSpPr>
        <p:spPr>
          <a:xfrm>
            <a:off x="4486275" y="2857500"/>
            <a:ext cx="1857375" cy="1700213"/>
          </a:xfrm>
          <a:prstGeom prst="rect">
            <a:avLst/>
          </a:prstGeom>
          <a:solidFill>
            <a:srgbClr val="E2EAF3"/>
          </a:solidFill>
          <a:ln w="0">
            <a:solidFill>
              <a:srgbClr val="000000">
                <a:alpha val="0"/>
              </a:srgbClr>
            </a:solidFill>
            <a:prstDash val="solid"/>
          </a:ln>
        </p:spPr>
        <p:txBody>
          <a:bodyPr/>
          <a:lstStyle/>
          <a:p>
            <a:endParaRPr lang="en-SG" sz="1350"/>
          </a:p>
        </p:txBody>
      </p:sp>
      <p:sp>
        <p:nvSpPr>
          <p:cNvPr id="27" name="Rectangle 26">
            <a:extLst>
              <a:ext uri="{FF2B5EF4-FFF2-40B4-BE49-F238E27FC236}">
                <a16:creationId xmlns:a16="http://schemas.microsoft.com/office/drawing/2014/main" id="{08F0D518-10EA-491C-8496-5D03A66814CD}"/>
              </a:ext>
            </a:extLst>
          </p:cNvPr>
          <p:cNvSpPr>
            <a:spLocks noGrp="1"/>
          </p:cNvSpPr>
          <p:nvPr/>
        </p:nvSpPr>
        <p:spPr>
          <a:xfrm>
            <a:off x="4486275" y="2857500"/>
            <a:ext cx="64294" cy="1700213"/>
          </a:xfrm>
          <a:prstGeom prst="rect">
            <a:avLst/>
          </a:prstGeom>
          <a:solidFill>
            <a:srgbClr val="34699A"/>
          </a:solidFill>
          <a:ln w="0">
            <a:solidFill>
              <a:srgbClr val="000000">
                <a:alpha val="0"/>
              </a:srgbClr>
            </a:solidFill>
            <a:prstDash val="solid"/>
          </a:ln>
        </p:spPr>
        <p:txBody>
          <a:bodyPr/>
          <a:lstStyle/>
          <a:p>
            <a:endParaRPr lang="en-SG" sz="1350"/>
          </a:p>
        </p:txBody>
      </p:sp>
      <p:sp>
        <p:nvSpPr>
          <p:cNvPr id="28" name="Rectangle 27">
            <a:extLst>
              <a:ext uri="{FF2B5EF4-FFF2-40B4-BE49-F238E27FC236}">
                <a16:creationId xmlns:a16="http://schemas.microsoft.com/office/drawing/2014/main" id="{77D3B730-F0CD-4742-B0D8-219C02EDDEC5}"/>
              </a:ext>
            </a:extLst>
          </p:cNvPr>
          <p:cNvSpPr>
            <a:spLocks noGrp="1"/>
          </p:cNvSpPr>
          <p:nvPr/>
        </p:nvSpPr>
        <p:spPr>
          <a:xfrm>
            <a:off x="4643437" y="3000375"/>
            <a:ext cx="357188" cy="20002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350" b="1">
                <a:solidFill>
                  <a:srgbClr val="34699A"/>
                </a:solidFill>
                <a:latin typeface="Aptos"/>
                <a:ea typeface="Aptos"/>
                <a:cs typeface="Aptos"/>
              </a:defRPr>
            </a:pPr>
            <a:r>
              <a:rPr sz="1013" b="1">
                <a:solidFill>
                  <a:srgbClr val="34699A"/>
                </a:solidFill>
                <a:latin typeface="Aptos"/>
                <a:ea typeface="Aptos"/>
                <a:cs typeface="Aptos"/>
              </a:rPr>
              <a:t>03</a:t>
            </a:r>
          </a:p>
        </p:txBody>
      </p:sp>
      <p:sp>
        <p:nvSpPr>
          <p:cNvPr id="29" name="Rectangle 28">
            <a:extLst>
              <a:ext uri="{FF2B5EF4-FFF2-40B4-BE49-F238E27FC236}">
                <a16:creationId xmlns:a16="http://schemas.microsoft.com/office/drawing/2014/main" id="{8E897F28-8963-4582-9DEB-9F3EEB09B93E}"/>
              </a:ext>
            </a:extLst>
          </p:cNvPr>
          <p:cNvSpPr>
            <a:spLocks noGrp="1"/>
          </p:cNvSpPr>
          <p:nvPr/>
        </p:nvSpPr>
        <p:spPr>
          <a:xfrm>
            <a:off x="4643438" y="3271838"/>
            <a:ext cx="1464469" cy="31432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575" b="1">
                <a:solidFill>
                  <a:srgbClr val="1F2933"/>
                </a:solidFill>
                <a:latin typeface="Aptos Display"/>
                <a:ea typeface="Aptos Display"/>
                <a:cs typeface="Aptos Display"/>
              </a:defRPr>
            </a:pPr>
            <a:r>
              <a:rPr sz="1181" b="1">
                <a:solidFill>
                  <a:srgbClr val="1F2933"/>
                </a:solidFill>
                <a:latin typeface="Aptos Display"/>
                <a:ea typeface="Aptos Display"/>
                <a:cs typeface="Aptos Display"/>
              </a:rPr>
              <a:t>Recent repeat buyers</a:t>
            </a:r>
          </a:p>
        </p:txBody>
      </p:sp>
      <p:sp>
        <p:nvSpPr>
          <p:cNvPr id="30" name="Rectangle 29">
            <a:extLst>
              <a:ext uri="{FF2B5EF4-FFF2-40B4-BE49-F238E27FC236}">
                <a16:creationId xmlns:a16="http://schemas.microsoft.com/office/drawing/2014/main" id="{6E7F6D7C-796C-4AAD-B01F-F3B97108BEBE}"/>
              </a:ext>
            </a:extLst>
          </p:cNvPr>
          <p:cNvSpPr>
            <a:spLocks noGrp="1"/>
          </p:cNvSpPr>
          <p:nvPr/>
        </p:nvSpPr>
        <p:spPr>
          <a:xfrm>
            <a:off x="4643438" y="3671887"/>
            <a:ext cx="1464469" cy="8573"/>
          </a:xfrm>
          <a:prstGeom prst="rect">
            <a:avLst/>
          </a:prstGeom>
          <a:solidFill>
            <a:srgbClr val="34699A"/>
          </a:solidFill>
          <a:ln w="0">
            <a:solidFill>
              <a:srgbClr val="000000">
                <a:alpha val="0"/>
              </a:srgbClr>
            </a:solidFill>
            <a:prstDash val="solid"/>
          </a:ln>
        </p:spPr>
        <p:txBody>
          <a:bodyPr/>
          <a:lstStyle/>
          <a:p>
            <a:endParaRPr lang="en-SG" sz="1350"/>
          </a:p>
        </p:txBody>
      </p:sp>
      <p:sp>
        <p:nvSpPr>
          <p:cNvPr id="31" name="Rectangle 30">
            <a:extLst>
              <a:ext uri="{FF2B5EF4-FFF2-40B4-BE49-F238E27FC236}">
                <a16:creationId xmlns:a16="http://schemas.microsoft.com/office/drawing/2014/main" id="{C5BAAF2A-0D4A-4252-90E6-D2CB280FE37B}"/>
              </a:ext>
            </a:extLst>
          </p:cNvPr>
          <p:cNvSpPr>
            <a:spLocks noGrp="1"/>
          </p:cNvSpPr>
          <p:nvPr/>
        </p:nvSpPr>
        <p:spPr>
          <a:xfrm>
            <a:off x="4643438" y="3771900"/>
            <a:ext cx="1485900" cy="157163"/>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1">
                <a:solidFill>
                  <a:srgbClr val="34699A"/>
                </a:solidFill>
                <a:latin typeface="Aptos"/>
                <a:ea typeface="Aptos"/>
                <a:cs typeface="Aptos"/>
              </a:defRPr>
            </a:pPr>
            <a:r>
              <a:rPr sz="788" b="1">
                <a:solidFill>
                  <a:srgbClr val="34699A"/>
                </a:solidFill>
                <a:latin typeface="Aptos"/>
                <a:ea typeface="Aptos"/>
                <a:cs typeface="Aptos"/>
              </a:rPr>
              <a:t>1,518 customers | R$453k</a:t>
            </a:r>
          </a:p>
        </p:txBody>
      </p:sp>
      <p:sp>
        <p:nvSpPr>
          <p:cNvPr id="32" name="Rectangle 31">
            <a:extLst>
              <a:ext uri="{FF2B5EF4-FFF2-40B4-BE49-F238E27FC236}">
                <a16:creationId xmlns:a16="http://schemas.microsoft.com/office/drawing/2014/main" id="{C1171E6F-0764-4624-9CFE-4EC3CC4BD762}"/>
              </a:ext>
            </a:extLst>
          </p:cNvPr>
          <p:cNvSpPr>
            <a:spLocks noGrp="1"/>
          </p:cNvSpPr>
          <p:nvPr/>
        </p:nvSpPr>
        <p:spPr>
          <a:xfrm>
            <a:off x="4643438" y="3993356"/>
            <a:ext cx="14859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25" b="1">
                <a:solidFill>
                  <a:srgbClr val="1F2933"/>
                </a:solidFill>
                <a:latin typeface="Aptos"/>
                <a:ea typeface="Aptos"/>
                <a:cs typeface="Aptos"/>
              </a:defRPr>
            </a:pPr>
            <a:r>
              <a:rPr sz="844" b="1">
                <a:solidFill>
                  <a:srgbClr val="1F2933"/>
                </a:solidFill>
                <a:latin typeface="Aptos"/>
                <a:ea typeface="Aptos"/>
                <a:cs typeface="Aptos"/>
              </a:rPr>
              <a:t>Loyalty rewards</a:t>
            </a:r>
          </a:p>
        </p:txBody>
      </p:sp>
      <p:sp>
        <p:nvSpPr>
          <p:cNvPr id="33" name="Rectangle 32">
            <a:extLst>
              <a:ext uri="{FF2B5EF4-FFF2-40B4-BE49-F238E27FC236}">
                <a16:creationId xmlns:a16="http://schemas.microsoft.com/office/drawing/2014/main" id="{24138D23-9012-4D46-B8AA-63FAFBA153C2}"/>
              </a:ext>
            </a:extLst>
          </p:cNvPr>
          <p:cNvSpPr>
            <a:spLocks noGrp="1"/>
          </p:cNvSpPr>
          <p:nvPr/>
        </p:nvSpPr>
        <p:spPr>
          <a:xfrm>
            <a:off x="4643438" y="4236244"/>
            <a:ext cx="1464469" cy="3429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0">
                <a:solidFill>
                  <a:srgbClr val="6B7280"/>
                </a:solidFill>
                <a:latin typeface="Aptos"/>
                <a:ea typeface="Aptos"/>
                <a:cs typeface="Aptos"/>
              </a:defRPr>
            </a:pPr>
            <a:r>
              <a:rPr sz="731">
                <a:solidFill>
                  <a:srgbClr val="6B7280"/>
                </a:solidFill>
                <a:latin typeface="Aptos"/>
                <a:ea typeface="Aptos"/>
                <a:cs typeface="Aptos"/>
              </a:rPr>
              <a:t>This small base has already crossed the repeat threshold.</a:t>
            </a:r>
          </a:p>
        </p:txBody>
      </p:sp>
      <p:sp>
        <p:nvSpPr>
          <p:cNvPr id="34" name="Rectangle 33">
            <a:extLst>
              <a:ext uri="{FF2B5EF4-FFF2-40B4-BE49-F238E27FC236}">
                <a16:creationId xmlns:a16="http://schemas.microsoft.com/office/drawing/2014/main" id="{0B48CCDE-8B53-48E6-92F5-CC01B7B0CCF0}"/>
              </a:ext>
            </a:extLst>
          </p:cNvPr>
          <p:cNvSpPr>
            <a:spLocks noGrp="1"/>
          </p:cNvSpPr>
          <p:nvPr/>
        </p:nvSpPr>
        <p:spPr>
          <a:xfrm>
            <a:off x="6500813" y="2857500"/>
            <a:ext cx="1857375" cy="1700213"/>
          </a:xfrm>
          <a:prstGeom prst="rect">
            <a:avLst/>
          </a:prstGeom>
          <a:solidFill>
            <a:srgbClr val="DDEDEA"/>
          </a:solidFill>
          <a:ln w="0">
            <a:solidFill>
              <a:srgbClr val="000000">
                <a:alpha val="0"/>
              </a:srgbClr>
            </a:solidFill>
            <a:prstDash val="solid"/>
          </a:ln>
        </p:spPr>
        <p:txBody>
          <a:bodyPr/>
          <a:lstStyle/>
          <a:p>
            <a:endParaRPr lang="en-SG" sz="1350"/>
          </a:p>
        </p:txBody>
      </p:sp>
      <p:sp>
        <p:nvSpPr>
          <p:cNvPr id="35" name="Rectangle 34">
            <a:extLst>
              <a:ext uri="{FF2B5EF4-FFF2-40B4-BE49-F238E27FC236}">
                <a16:creationId xmlns:a16="http://schemas.microsoft.com/office/drawing/2014/main" id="{17B1996C-A3C0-4314-A8A0-4883B7A9E7E2}"/>
              </a:ext>
            </a:extLst>
          </p:cNvPr>
          <p:cNvSpPr>
            <a:spLocks noGrp="1"/>
          </p:cNvSpPr>
          <p:nvPr/>
        </p:nvSpPr>
        <p:spPr>
          <a:xfrm>
            <a:off x="6500813" y="2857500"/>
            <a:ext cx="64294" cy="1700213"/>
          </a:xfrm>
          <a:prstGeom prst="rect">
            <a:avLst/>
          </a:prstGeom>
          <a:solidFill>
            <a:srgbClr val="178F8A"/>
          </a:solidFill>
          <a:ln w="0">
            <a:solidFill>
              <a:srgbClr val="000000">
                <a:alpha val="0"/>
              </a:srgbClr>
            </a:solidFill>
            <a:prstDash val="solid"/>
          </a:ln>
        </p:spPr>
        <p:txBody>
          <a:bodyPr/>
          <a:lstStyle/>
          <a:p>
            <a:endParaRPr lang="en-SG" sz="1350"/>
          </a:p>
        </p:txBody>
      </p:sp>
      <p:sp>
        <p:nvSpPr>
          <p:cNvPr id="36" name="Rectangle 35">
            <a:extLst>
              <a:ext uri="{FF2B5EF4-FFF2-40B4-BE49-F238E27FC236}">
                <a16:creationId xmlns:a16="http://schemas.microsoft.com/office/drawing/2014/main" id="{317D26ED-8618-4CB7-AF25-24400D9F554B}"/>
              </a:ext>
            </a:extLst>
          </p:cNvPr>
          <p:cNvSpPr>
            <a:spLocks noGrp="1"/>
          </p:cNvSpPr>
          <p:nvPr/>
        </p:nvSpPr>
        <p:spPr>
          <a:xfrm>
            <a:off x="6657975" y="3000375"/>
            <a:ext cx="357188" cy="20002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350" b="1">
                <a:solidFill>
                  <a:srgbClr val="178F8A"/>
                </a:solidFill>
                <a:latin typeface="Aptos"/>
                <a:ea typeface="Aptos"/>
                <a:cs typeface="Aptos"/>
              </a:defRPr>
            </a:pPr>
            <a:r>
              <a:rPr sz="1013" b="1">
                <a:solidFill>
                  <a:srgbClr val="178F8A"/>
                </a:solidFill>
                <a:latin typeface="Aptos"/>
                <a:ea typeface="Aptos"/>
                <a:cs typeface="Aptos"/>
              </a:rPr>
              <a:t>04</a:t>
            </a:r>
          </a:p>
        </p:txBody>
      </p:sp>
      <p:sp>
        <p:nvSpPr>
          <p:cNvPr id="37" name="Rectangle 36">
            <a:extLst>
              <a:ext uri="{FF2B5EF4-FFF2-40B4-BE49-F238E27FC236}">
                <a16:creationId xmlns:a16="http://schemas.microsoft.com/office/drawing/2014/main" id="{7537C93A-2A32-419B-A34E-E4DF764A403B}"/>
              </a:ext>
            </a:extLst>
          </p:cNvPr>
          <p:cNvSpPr>
            <a:spLocks noGrp="1"/>
          </p:cNvSpPr>
          <p:nvPr/>
        </p:nvSpPr>
        <p:spPr>
          <a:xfrm>
            <a:off x="6657975" y="3271838"/>
            <a:ext cx="1464469" cy="31432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575" b="1">
                <a:solidFill>
                  <a:srgbClr val="1F2933"/>
                </a:solidFill>
                <a:latin typeface="Aptos Display"/>
                <a:ea typeface="Aptos Display"/>
                <a:cs typeface="Aptos Display"/>
              </a:defRPr>
            </a:pPr>
            <a:r>
              <a:rPr sz="1181" b="1">
                <a:solidFill>
                  <a:srgbClr val="1F2933"/>
                </a:solidFill>
                <a:latin typeface="Aptos Display"/>
                <a:ea typeface="Aptos Display"/>
                <a:cs typeface="Aptos Display"/>
              </a:rPr>
              <a:t>Champions</a:t>
            </a:r>
          </a:p>
        </p:txBody>
      </p:sp>
      <p:sp>
        <p:nvSpPr>
          <p:cNvPr id="38" name="Rectangle 37">
            <a:extLst>
              <a:ext uri="{FF2B5EF4-FFF2-40B4-BE49-F238E27FC236}">
                <a16:creationId xmlns:a16="http://schemas.microsoft.com/office/drawing/2014/main" id="{E2AFF3AA-180C-4701-A30A-5F9C37926927}"/>
              </a:ext>
            </a:extLst>
          </p:cNvPr>
          <p:cNvSpPr>
            <a:spLocks noGrp="1"/>
          </p:cNvSpPr>
          <p:nvPr/>
        </p:nvSpPr>
        <p:spPr>
          <a:xfrm>
            <a:off x="6657975" y="3671887"/>
            <a:ext cx="1464469" cy="8573"/>
          </a:xfrm>
          <a:prstGeom prst="rect">
            <a:avLst/>
          </a:prstGeom>
          <a:solidFill>
            <a:srgbClr val="178F8A"/>
          </a:solidFill>
          <a:ln w="0">
            <a:solidFill>
              <a:srgbClr val="000000">
                <a:alpha val="0"/>
              </a:srgbClr>
            </a:solidFill>
            <a:prstDash val="solid"/>
          </a:ln>
        </p:spPr>
        <p:txBody>
          <a:bodyPr/>
          <a:lstStyle/>
          <a:p>
            <a:endParaRPr lang="en-SG" sz="1350"/>
          </a:p>
        </p:txBody>
      </p:sp>
      <p:sp>
        <p:nvSpPr>
          <p:cNvPr id="39" name="Rectangle 38">
            <a:extLst>
              <a:ext uri="{FF2B5EF4-FFF2-40B4-BE49-F238E27FC236}">
                <a16:creationId xmlns:a16="http://schemas.microsoft.com/office/drawing/2014/main" id="{6F24BA5B-D6D1-4DCE-8D8D-FFCE5DAE5DCA}"/>
              </a:ext>
            </a:extLst>
          </p:cNvPr>
          <p:cNvSpPr>
            <a:spLocks noGrp="1"/>
          </p:cNvSpPr>
          <p:nvPr/>
        </p:nvSpPr>
        <p:spPr>
          <a:xfrm>
            <a:off x="6657975" y="3771900"/>
            <a:ext cx="1485900" cy="157163"/>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1">
                <a:solidFill>
                  <a:srgbClr val="178F8A"/>
                </a:solidFill>
                <a:latin typeface="Aptos"/>
                <a:ea typeface="Aptos"/>
                <a:cs typeface="Aptos"/>
              </a:defRPr>
            </a:pPr>
            <a:r>
              <a:rPr sz="788" b="1">
                <a:solidFill>
                  <a:srgbClr val="178F8A"/>
                </a:solidFill>
                <a:latin typeface="Aptos"/>
                <a:ea typeface="Aptos"/>
                <a:cs typeface="Aptos"/>
              </a:rPr>
              <a:t>81 customers | R$50k</a:t>
            </a:r>
          </a:p>
        </p:txBody>
      </p:sp>
      <p:sp>
        <p:nvSpPr>
          <p:cNvPr id="40" name="Rectangle 39">
            <a:extLst>
              <a:ext uri="{FF2B5EF4-FFF2-40B4-BE49-F238E27FC236}">
                <a16:creationId xmlns:a16="http://schemas.microsoft.com/office/drawing/2014/main" id="{7EF76FEA-F9A1-4DA3-AFF7-D21936C4F8EB}"/>
              </a:ext>
            </a:extLst>
          </p:cNvPr>
          <p:cNvSpPr>
            <a:spLocks noGrp="1"/>
          </p:cNvSpPr>
          <p:nvPr/>
        </p:nvSpPr>
        <p:spPr>
          <a:xfrm>
            <a:off x="6657975" y="3993356"/>
            <a:ext cx="14859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25" b="1">
                <a:solidFill>
                  <a:srgbClr val="1F2933"/>
                </a:solidFill>
                <a:latin typeface="Aptos"/>
                <a:ea typeface="Aptos"/>
                <a:cs typeface="Aptos"/>
              </a:defRPr>
            </a:pPr>
            <a:r>
              <a:rPr sz="844" b="1">
                <a:solidFill>
                  <a:srgbClr val="1F2933"/>
                </a:solidFill>
                <a:latin typeface="Aptos"/>
                <a:ea typeface="Aptos"/>
                <a:cs typeface="Aptos"/>
              </a:rPr>
              <a:t>VIP treatment</a:t>
            </a:r>
          </a:p>
        </p:txBody>
      </p:sp>
      <p:sp>
        <p:nvSpPr>
          <p:cNvPr id="41" name="Rectangle 40">
            <a:extLst>
              <a:ext uri="{FF2B5EF4-FFF2-40B4-BE49-F238E27FC236}">
                <a16:creationId xmlns:a16="http://schemas.microsoft.com/office/drawing/2014/main" id="{A3144D48-2244-4EB8-85A0-090F9C1D15E9}"/>
              </a:ext>
            </a:extLst>
          </p:cNvPr>
          <p:cNvSpPr>
            <a:spLocks noGrp="1"/>
          </p:cNvSpPr>
          <p:nvPr/>
        </p:nvSpPr>
        <p:spPr>
          <a:xfrm>
            <a:off x="6657975" y="4236244"/>
            <a:ext cx="1464469" cy="3429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0">
                <a:solidFill>
                  <a:srgbClr val="6B7280"/>
                </a:solidFill>
                <a:latin typeface="Aptos"/>
                <a:ea typeface="Aptos"/>
                <a:cs typeface="Aptos"/>
              </a:defRPr>
            </a:pPr>
            <a:r>
              <a:rPr sz="731">
                <a:solidFill>
                  <a:srgbClr val="6B7280"/>
                </a:solidFill>
                <a:latin typeface="Aptos"/>
                <a:ea typeface="Aptos"/>
                <a:cs typeface="Aptos"/>
              </a:rPr>
              <a:t>Tiny group with recent, frequent, high-value behavior.</a:t>
            </a:r>
          </a:p>
        </p:txBody>
      </p:sp>
      <p:sp>
        <p:nvSpPr>
          <p:cNvPr id="42" name="Rectangle 41">
            <a:extLst>
              <a:ext uri="{FF2B5EF4-FFF2-40B4-BE49-F238E27FC236}">
                <a16:creationId xmlns:a16="http://schemas.microsoft.com/office/drawing/2014/main" id="{417EA54B-F3FE-40F3-9F57-231774B529AA}"/>
              </a:ext>
            </a:extLst>
          </p:cNvPr>
          <p:cNvSpPr>
            <a:spLocks noGrp="1"/>
          </p:cNvSpPr>
          <p:nvPr/>
        </p:nvSpPr>
        <p:spPr>
          <a:xfrm>
            <a:off x="457200" y="4914900"/>
            <a:ext cx="7772400" cy="442913"/>
          </a:xfrm>
          <a:prstGeom prst="rect">
            <a:avLst/>
          </a:prstGeom>
          <a:solidFill>
            <a:srgbClr val="F4F6F8"/>
          </a:solidFill>
          <a:ln w="0">
            <a:solidFill>
              <a:srgbClr val="000000">
                <a:alpha val="0"/>
              </a:srgbClr>
            </a:solidFill>
            <a:prstDash val="solid"/>
          </a:ln>
        </p:spPr>
        <p:txBody>
          <a:bodyPr/>
          <a:lstStyle/>
          <a:p>
            <a:endParaRPr lang="en-SG" sz="1350"/>
          </a:p>
        </p:txBody>
      </p:sp>
      <p:sp>
        <p:nvSpPr>
          <p:cNvPr id="43" name="Rectangle 42">
            <a:extLst>
              <a:ext uri="{FF2B5EF4-FFF2-40B4-BE49-F238E27FC236}">
                <a16:creationId xmlns:a16="http://schemas.microsoft.com/office/drawing/2014/main" id="{A74CD303-6CE8-4028-A153-11D6C0261A84}"/>
              </a:ext>
            </a:extLst>
          </p:cNvPr>
          <p:cNvSpPr>
            <a:spLocks noGrp="1"/>
          </p:cNvSpPr>
          <p:nvPr/>
        </p:nvSpPr>
        <p:spPr>
          <a:xfrm>
            <a:off x="628651" y="5029200"/>
            <a:ext cx="7393781" cy="214313"/>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350" b="1">
                <a:solidFill>
                  <a:srgbClr val="1F2933"/>
                </a:solidFill>
                <a:latin typeface="Aptos"/>
                <a:ea typeface="Aptos"/>
                <a:cs typeface="Aptos"/>
              </a:defRPr>
            </a:pPr>
            <a:r>
              <a:rPr sz="1013" b="1">
                <a:solidFill>
                  <a:srgbClr val="1F2933"/>
                </a:solidFill>
                <a:latin typeface="Aptos"/>
                <a:ea typeface="Aptos"/>
                <a:cs typeface="Aptos"/>
              </a:rPr>
              <a:t>Slide message: RFM scoring shows Olist's biggest customer opportunity is converting high-value one-time buyers into repeat customers.</a:t>
            </a:r>
          </a:p>
        </p:txBody>
      </p:sp>
      <p:sp>
        <p:nvSpPr>
          <p:cNvPr id="44" name="Rectangle 43">
            <a:extLst>
              <a:ext uri="{FF2B5EF4-FFF2-40B4-BE49-F238E27FC236}">
                <a16:creationId xmlns:a16="http://schemas.microsoft.com/office/drawing/2014/main" id="{0F0971E0-16CE-45B4-A141-DFC6DC4348A2}"/>
              </a:ext>
            </a:extLst>
          </p:cNvPr>
          <p:cNvSpPr>
            <a:spLocks noGrp="1"/>
          </p:cNvSpPr>
          <p:nvPr/>
        </p:nvSpPr>
        <p:spPr>
          <a:xfrm>
            <a:off x="457200" y="5743575"/>
            <a:ext cx="5857875" cy="128588"/>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0">
                <a:solidFill>
                  <a:srgbClr val="8A94A3"/>
                </a:solidFill>
                <a:latin typeface="Aptos"/>
                <a:ea typeface="Aptos"/>
                <a:cs typeface="Aptos"/>
              </a:defRPr>
            </a:pPr>
            <a:r>
              <a:rPr sz="563">
                <a:solidFill>
                  <a:srgbClr val="8A94A3"/>
                </a:solidFill>
                <a:latin typeface="Aptos"/>
                <a:ea typeface="Aptos"/>
                <a:cs typeface="Aptos"/>
              </a:rPr>
              <a:t>Source: local Olist warehouse, fact_sales. Gross item sales include product price plus freight value.</a:t>
            </a:r>
          </a:p>
        </p:txBody>
      </p:sp>
      <p:sp>
        <p:nvSpPr>
          <p:cNvPr id="45" name="Rectangle 44">
            <a:extLst>
              <a:ext uri="{FF2B5EF4-FFF2-40B4-BE49-F238E27FC236}">
                <a16:creationId xmlns:a16="http://schemas.microsoft.com/office/drawing/2014/main" id="{E96DBECB-C403-4714-AD9C-E6EE3B40C9EC}"/>
              </a:ext>
            </a:extLst>
          </p:cNvPr>
          <p:cNvSpPr>
            <a:spLocks noGrp="1"/>
          </p:cNvSpPr>
          <p:nvPr/>
        </p:nvSpPr>
        <p:spPr>
          <a:xfrm>
            <a:off x="8358187" y="5715000"/>
            <a:ext cx="242888" cy="128588"/>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50" b="0">
                <a:solidFill>
                  <a:srgbClr val="8A94A3"/>
                </a:solidFill>
                <a:latin typeface="Aptos"/>
                <a:ea typeface="Aptos"/>
                <a:cs typeface="Aptos"/>
              </a:defRPr>
            </a:pPr>
            <a:r>
              <a:rPr sz="563">
                <a:solidFill>
                  <a:srgbClr val="8A94A3"/>
                </a:solidFill>
                <a:latin typeface="Aptos"/>
                <a:ea typeface="Aptos"/>
                <a:cs typeface="Aptos"/>
              </a:rPr>
              <a:t>2</a:t>
            </a:r>
          </a:p>
        </p:txBody>
      </p:sp>
    </p:spTree>
    <p:extLst>
      <p:ext uri="{BB962C8B-B14F-4D97-AF65-F5344CB8AC3E}">
        <p14:creationId xmlns:p14="http://schemas.microsoft.com/office/powerpoint/2010/main" val="17919805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57554" y="1154723"/>
            <a:ext cx="6554867" cy="1524000"/>
          </a:xfrm>
        </p:spPr>
        <p:txBody>
          <a:bodyPr/>
          <a:lstStyle/>
          <a:p>
            <a:r>
              <a:rPr>
                <a:solidFill>
                  <a:schemeClr val="bg1"/>
                </a:solidFill>
              </a:rPr>
              <a:t>Key Learnings</a:t>
            </a:r>
          </a:p>
        </p:txBody>
      </p:sp>
      <p:sp>
        <p:nvSpPr>
          <p:cNvPr id="3" name="Content Placeholder 2"/>
          <p:cNvSpPr>
            <a:spLocks noGrp="1"/>
          </p:cNvSpPr>
          <p:nvPr>
            <p:ph idx="1"/>
          </p:nvPr>
        </p:nvSpPr>
        <p:spPr>
          <a:xfrm>
            <a:off x="-5861" y="3053861"/>
            <a:ext cx="9157390" cy="1247209"/>
          </a:xfrm>
        </p:spPr>
        <p:txBody>
          <a:bodyPr/>
          <a:lstStyle/>
          <a:p>
            <a:r>
              <a:rPr sz="1800" dirty="0">
                <a:solidFill>
                  <a:schemeClr val="tx1"/>
                </a:solidFill>
              </a:rPr>
              <a:t>Built an end-to-end analytics engineering workflow with </a:t>
            </a:r>
            <a:r>
              <a:rPr sz="1800" dirty="0" err="1">
                <a:solidFill>
                  <a:schemeClr val="tx1"/>
                </a:solidFill>
              </a:rPr>
              <a:t>DuckDB</a:t>
            </a:r>
            <a:r>
              <a:rPr sz="1800" dirty="0">
                <a:solidFill>
                  <a:schemeClr val="tx1"/>
                </a:solidFill>
              </a:rPr>
              <a:t> and </a:t>
            </a:r>
            <a:r>
              <a:rPr sz="1800" dirty="0" err="1">
                <a:solidFill>
                  <a:schemeClr val="tx1"/>
                </a:solidFill>
              </a:rPr>
              <a:t>dbt</a:t>
            </a:r>
            <a:r>
              <a:rPr sz="1800" dirty="0">
                <a:solidFill>
                  <a:schemeClr val="tx1"/>
                </a:solidFill>
              </a:rPr>
              <a:t>.</a:t>
            </a:r>
          </a:p>
        </p:txBody>
      </p:sp>
    </p:spTree>
  </p:cSld>
  <p:clrMapOvr>
    <a:masterClrMapping/>
  </p:clrMapOvr>
</p:sld>
</file>

<file path=ppt/theme/theme1.xml><?xml version="1.0" encoding="utf-8"?>
<a:theme xmlns:a="http://schemas.openxmlformats.org/drawingml/2006/main" name="Slice">
  <a:themeElements>
    <a:clrScheme name="Slice">
      <a:dk1>
        <a:sysClr val="windowText" lastClr="000000"/>
      </a:dk1>
      <a:lt1>
        <a:sysClr val="window" lastClr="FFFFFF"/>
      </a:lt1>
      <a:dk2>
        <a:srgbClr val="146194"/>
      </a:dk2>
      <a:lt2>
        <a:srgbClr val="76DBF4"/>
      </a:lt2>
      <a:accent1>
        <a:srgbClr val="052F61"/>
      </a:accent1>
      <a:accent2>
        <a:srgbClr val="A50E82"/>
      </a:accent2>
      <a:accent3>
        <a:srgbClr val="14967C"/>
      </a:accent3>
      <a:accent4>
        <a:srgbClr val="6A9E1F"/>
      </a:accent4>
      <a:accent5>
        <a:srgbClr val="E87D37"/>
      </a:accent5>
      <a:accent6>
        <a:srgbClr val="C62324"/>
      </a:accent6>
      <a:hlink>
        <a:srgbClr val="0D2E46"/>
      </a:hlink>
      <a:folHlink>
        <a:srgbClr val="356A95"/>
      </a:folHlink>
    </a:clrScheme>
    <a:fontScheme name="Slice">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Slice">
      <a:fillStyleLst>
        <a:solidFill>
          <a:schemeClr val="phClr"/>
        </a:solidFill>
        <a:gradFill rotWithShape="1">
          <a:gsLst>
            <a:gs pos="0">
              <a:schemeClr val="phClr">
                <a:tint val="62000"/>
                <a:hueMod val="94000"/>
                <a:satMod val="140000"/>
                <a:lumMod val="110000"/>
              </a:schemeClr>
            </a:gs>
            <a:gs pos="100000">
              <a:schemeClr val="phClr">
                <a:tint val="84000"/>
                <a:satMod val="160000"/>
              </a:schemeClr>
            </a:gs>
          </a:gsLst>
          <a:lin ang="5400000" scaled="0"/>
        </a:gradFill>
        <a:gradFill rotWithShape="1">
          <a:gsLst>
            <a:gs pos="0">
              <a:schemeClr val="phClr">
                <a:tint val="98000"/>
                <a:hueMod val="94000"/>
                <a:satMod val="130000"/>
                <a:lumMod val="138000"/>
              </a:schemeClr>
            </a:gs>
            <a:gs pos="100000">
              <a:schemeClr val="phClr">
                <a:shade val="94000"/>
                <a:lumMod val="88000"/>
              </a:schemeClr>
            </a:gs>
          </a:gsLst>
          <a:lin ang="5400000" scaled="0"/>
        </a:gradFill>
      </a:fillStyleLst>
      <a:lnStyleLst>
        <a:ln w="9525" cap="rnd" cmpd="sng" algn="ctr">
          <a:solidFill>
            <a:schemeClr val="phClr">
              <a:tint val="76000"/>
              <a:alpha val="60000"/>
              <a:hueMod val="94000"/>
            </a:schemeClr>
          </a:solidFill>
          <a:prstDash val="solid"/>
        </a:ln>
        <a:ln w="12700" cap="rnd" cmpd="sng" algn="ctr">
          <a:solidFill>
            <a:schemeClr val="phClr">
              <a:hueMod val="94000"/>
            </a:schemeClr>
          </a:solidFill>
          <a:prstDash val="solid"/>
        </a:ln>
        <a:ln w="28575" cap="rnd"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50800" dist="38100" dir="5400000" rotWithShape="0">
              <a:srgbClr val="000000">
                <a:alpha val="46000"/>
              </a:srgbClr>
            </a:outerShdw>
          </a:effectLst>
          <a:scene3d>
            <a:camera prst="orthographicFront">
              <a:rot lat="0" lon="0" rev="0"/>
            </a:camera>
            <a:lightRig rig="threePt" dir="t"/>
          </a:scene3d>
          <a:sp3d prstMaterial="plastic">
            <a:bevelT w="25400" h="25400"/>
          </a:sp3d>
        </a:effectStyle>
      </a:effectStyleLst>
      <a:bgFillStyleLst>
        <a:solidFill>
          <a:schemeClr val="phClr"/>
        </a:solidFill>
        <a:gradFill rotWithShape="1">
          <a:gsLst>
            <a:gs pos="10000">
              <a:schemeClr val="phClr">
                <a:tint val="97000"/>
                <a:hueMod val="92000"/>
                <a:satMod val="169000"/>
                <a:lumMod val="164000"/>
              </a:schemeClr>
            </a:gs>
            <a:gs pos="100000">
              <a:schemeClr val="phClr">
                <a:shade val="96000"/>
                <a:satMod val="120000"/>
                <a:lumMod val="90000"/>
              </a:schemeClr>
            </a:gs>
          </a:gsLst>
          <a:lin ang="6120000" scaled="1"/>
        </a:gradFill>
        <a:gradFill rotWithShape="1">
          <a:gsLst>
            <a:gs pos="0">
              <a:schemeClr val="phClr">
                <a:tint val="97000"/>
                <a:hueMod val="92000"/>
                <a:satMod val="169000"/>
                <a:lumMod val="164000"/>
              </a:schemeClr>
            </a:gs>
            <a:gs pos="100000">
              <a:schemeClr val="phClr">
                <a:shade val="96000"/>
                <a:satMod val="120000"/>
                <a:lumMod val="90000"/>
              </a:schemeClr>
            </a:gs>
          </a:gsLst>
          <a:path path="circle">
            <a:fillToRect b="100000"/>
          </a:path>
        </a:gradFill>
      </a:bgFillStyleLst>
    </a:fmtScheme>
  </a:themeElements>
  <a:objectDefaults/>
  <a:extraClrSchemeLst/>
  <a:extLst>
    <a:ext uri="{05A4C25C-085E-4340-85A3-A5531E510DB2}">
      <thm15:themeFamily xmlns:thm15="http://schemas.microsoft.com/office/thememl/2012/main" name="Slice" id="{0507925B-6AC9-4358-8E18-C330545D08F8}" vid="{13FEC7C6-62A9-40C4-99D2-581AACACAA2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37</TotalTime>
  <Words>2243</Words>
  <Application>Microsoft Office PowerPoint</Application>
  <PresentationFormat>On-screen Show (4:3)</PresentationFormat>
  <Paragraphs>254</Paragraphs>
  <Slides>17</Slides>
  <Notes>17</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17</vt:i4>
      </vt:variant>
    </vt:vector>
  </HeadingPairs>
  <TitlesOfParts>
    <vt:vector size="25" baseType="lpstr">
      <vt:lpstr>Aptos</vt:lpstr>
      <vt:lpstr>Aptos Display</vt:lpstr>
      <vt:lpstr>Arial</vt:lpstr>
      <vt:lpstr>Calibri</vt:lpstr>
      <vt:lpstr>Century Gothic</vt:lpstr>
      <vt:lpstr>Courier New</vt:lpstr>
      <vt:lpstr>Wingdings 3</vt:lpstr>
      <vt:lpstr>Slice</vt:lpstr>
      <vt:lpstr>Project Overview</vt:lpstr>
      <vt:lpstr>Architecture</vt:lpstr>
      <vt:lpstr>Star Schema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Monthly Sales Trend</vt:lpstr>
      <vt:lpstr>Top Product Categories</vt:lpstr>
      <vt:lpstr>Revenue by State</vt:lpstr>
      <vt:lpstr>Customer RFM Analysis</vt:lpstr>
      <vt:lpstr>PowerPoint Presentation</vt:lpstr>
      <vt:lpstr>PowerPoint Presentation</vt:lpstr>
      <vt:lpstr>Key Learnings</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jacky</dc:creator>
  <cp:keywords/>
  <dc:description>generated using python-pptx</dc:description>
  <cp:lastModifiedBy>sean. .</cp:lastModifiedBy>
  <cp:revision>480</cp:revision>
  <dcterms:created xsi:type="dcterms:W3CDTF">2013-01-27T09:14:16Z</dcterms:created>
  <dcterms:modified xsi:type="dcterms:W3CDTF">2026-06-10T00:42:06Z</dcterms:modified>
  <cp:category/>
</cp:coreProperties>
</file>