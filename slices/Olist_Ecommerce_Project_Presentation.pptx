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83" r:id="rId1"/>
  </p:sldMasterIdLst>
  <p:notesMasterIdLst>
    <p:notesMasterId r:id="rId17"/>
  </p:notesMasterIdLst>
  <p:sldIdLst>
    <p:sldId id="256" r:id="rId2"/>
    <p:sldId id="257" r:id="rId3"/>
    <p:sldId id="258" r:id="rId4"/>
    <p:sldId id="265" r:id="rId5"/>
    <p:sldId id="266" r:id="rId6"/>
    <p:sldId id="267" r:id="rId7"/>
    <p:sldId id="268" r:id="rId8"/>
    <p:sldId id="269" r:id="rId9"/>
    <p:sldId id="270" r:id="rId10"/>
    <p:sldId id="271" r:id="rId11"/>
    <p:sldId id="260" r:id="rId12"/>
    <p:sldId id="261" r:id="rId13"/>
    <p:sldId id="262" r:id="rId14"/>
    <p:sldId id="263" r:id="rId15"/>
    <p:sldId id="264"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40DB585-72E7-41C7-B8B4-31166C77D257}" v="6" dt="2026-06-08T08:41:20.233"/>
    <p1510:client id="{A0EE111F-F56D-490A-9982-3577EAE95C08}" v="386" dt="2026-06-08T13:19:51.878"/>
    <p1510:client id="{D8EE50BA-8E0A-40EF-8C58-402B5C6725EB}" v="293" dt="2026-06-09T01:29:14.204"/>
    <p1510:client id="{F492816E-2B29-46D8-B3B8-5ABAF1A79A35}" v="1" dt="2026-06-09T12:02:42.00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04" d="100"/>
          <a:sy n="104" d="100"/>
        </p:scale>
        <p:origin x="1280" y="8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DE1E0FE-415D-4A86-A5CB-56FB2301993F}" type="datetimeFigureOut">
              <a:t>6/9/2026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B5C6805-D20B-405F-86DA-DC495A4FC83C}" type="slidenum">
              <a:t>‹#›</a:t>
            </a:fld>
            <a:endParaRPr lang="en-US"/>
          </a:p>
        </p:txBody>
      </p:sp>
    </p:spTree>
    <p:extLst>
      <p:ext uri="{BB962C8B-B14F-4D97-AF65-F5344CB8AC3E}">
        <p14:creationId xmlns:p14="http://schemas.microsoft.com/office/powerpoint/2010/main" val="32134450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Pilo: Problem Statement &amp; Dataset: </a:t>
            </a:r>
            <a:r>
              <a:rPr lang="en-US" dirty="0" err="1"/>
              <a:t>Olist</a:t>
            </a:r>
            <a:r>
              <a:rPr lang="en-US" dirty="0"/>
              <a:t> is a Brazilian marketplace connecting sellers to customers across multiple channels. 9 source CSV files: orders, customers, products, sellers, order items, payments, reviews, geolocation. Business questions: how is revenue trending, which products perform best, who are the most valuable customers? Our project analyzes the Brazilian E-Commerce Public Dataset by </a:t>
            </a:r>
            <a:r>
              <a:rPr lang="en-US" dirty="0" err="1"/>
              <a:t>Olist</a:t>
            </a:r>
            <a:r>
              <a:rPr lang="en-US" dirty="0"/>
              <a:t>. The goal was to build an end-to-end analytics workflow: load raw data into </a:t>
            </a:r>
            <a:r>
              <a:rPr lang="en-US" dirty="0" err="1"/>
              <a:t>DuckDB</a:t>
            </a:r>
            <a:r>
              <a:rPr lang="en-US" dirty="0"/>
              <a:t>, model it into a star schema using </a:t>
            </a:r>
            <a:r>
              <a:rPr lang="en-US" dirty="0" err="1"/>
              <a:t>dbt</a:t>
            </a:r>
            <a:r>
              <a:rPr lang="en-US" dirty="0"/>
              <a:t>, validate data quality with </a:t>
            </a:r>
            <a:r>
              <a:rPr lang="en-US" dirty="0" err="1"/>
              <a:t>dbt</a:t>
            </a:r>
            <a:r>
              <a:rPr lang="en-US" dirty="0"/>
              <a:t> tests, and then perform business analysis and visualization with Python and Pandas.</a:t>
            </a:r>
            <a:endParaRPr lang="en-US">
              <a:ea typeface="Calibri"/>
              <a:cs typeface="Calibri"/>
            </a:endParaRPr>
          </a:p>
        </p:txBody>
      </p:sp>
      <p:sp>
        <p:nvSpPr>
          <p:cNvPr id="4" name="Slide Number Placeholder 3"/>
          <p:cNvSpPr>
            <a:spLocks noGrp="1"/>
          </p:cNvSpPr>
          <p:nvPr>
            <p:ph type="sldNum" sz="quarter" idx="5"/>
          </p:nvPr>
        </p:nvSpPr>
        <p:spPr/>
        <p:txBody>
          <a:bodyPr/>
          <a:lstStyle/>
          <a:p>
            <a:fld id="{BB5C6805-D20B-405F-86DA-DC495A4FC83C}" type="slidenum">
              <a:rPr lang="en-US"/>
              <a:t>1</a:t>
            </a:fld>
            <a:endParaRPr lang="en-US"/>
          </a:p>
        </p:txBody>
      </p:sp>
    </p:spTree>
    <p:extLst>
      <p:ext uri="{BB962C8B-B14F-4D97-AF65-F5344CB8AC3E}">
        <p14:creationId xmlns:p14="http://schemas.microsoft.com/office/powerpoint/2010/main" val="9893053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Huang Wei: The workflow starts with CSV files from the </a:t>
            </a:r>
            <a:r>
              <a:rPr lang="en-US" dirty="0" err="1"/>
              <a:t>Olist</a:t>
            </a:r>
            <a:r>
              <a:rPr lang="en-US" dirty="0"/>
              <a:t> dataset. We loaded them into </a:t>
            </a:r>
            <a:r>
              <a:rPr lang="en-US" dirty="0" err="1"/>
              <a:t>DuckDB</a:t>
            </a:r>
            <a:r>
              <a:rPr lang="en-US" dirty="0"/>
              <a:t>, then used </a:t>
            </a:r>
            <a:r>
              <a:rPr lang="en-US" dirty="0" err="1"/>
              <a:t>dbt</a:t>
            </a:r>
            <a:r>
              <a:rPr lang="en-US" dirty="0"/>
              <a:t> to create staging models and dimensional warehouse tables. After validating the data with </a:t>
            </a:r>
            <a:r>
              <a:rPr lang="en-US" dirty="0" err="1"/>
              <a:t>dbt</a:t>
            </a:r>
            <a:r>
              <a:rPr lang="en-US" dirty="0"/>
              <a:t> tests, We used Pandas and Matplotlib to generate business insights and charts. We selected </a:t>
            </a:r>
            <a:r>
              <a:rPr lang="en-US" dirty="0" err="1"/>
              <a:t>DuckDB</a:t>
            </a:r>
            <a:r>
              <a:rPr lang="en-US" dirty="0"/>
              <a:t> as our analytical database because it can work directly with CSV files, and it is fully supported by </a:t>
            </a:r>
            <a:r>
              <a:rPr lang="en-US" dirty="0" err="1"/>
              <a:t>dbt</a:t>
            </a:r>
            <a:r>
              <a:rPr lang="en-US" dirty="0"/>
              <a:t>. We chose </a:t>
            </a:r>
            <a:r>
              <a:rPr lang="en-US" dirty="0" err="1"/>
              <a:t>dbt</a:t>
            </a:r>
            <a:r>
              <a:rPr lang="en-US" dirty="0"/>
              <a:t> because it follows analytics engineering best practices. It separates raw data from transformed business-ready models, makes transformations modular and reusable, provides built-in testing, and automatically documents data lineage. In our project, </a:t>
            </a:r>
            <a:r>
              <a:rPr lang="en-US" dirty="0" err="1"/>
              <a:t>dbt</a:t>
            </a:r>
            <a:r>
              <a:rPr lang="en-US" dirty="0"/>
              <a:t> helped us build a maintainable star schema on top of </a:t>
            </a:r>
            <a:r>
              <a:rPr lang="en-US" dirty="0" err="1"/>
              <a:t>DuckDB</a:t>
            </a:r>
            <a:r>
              <a:rPr lang="en-US" dirty="0"/>
              <a:t> while ensuring data quality through automated tests.</a:t>
            </a:r>
          </a:p>
        </p:txBody>
      </p:sp>
      <p:sp>
        <p:nvSpPr>
          <p:cNvPr id="4" name="Slide Number Placeholder 3"/>
          <p:cNvSpPr>
            <a:spLocks noGrp="1"/>
          </p:cNvSpPr>
          <p:nvPr>
            <p:ph type="sldNum" sz="quarter" idx="5"/>
          </p:nvPr>
        </p:nvSpPr>
        <p:spPr/>
        <p:txBody>
          <a:bodyPr/>
          <a:lstStyle/>
          <a:p>
            <a:fld id="{BB5C6805-D20B-405F-86DA-DC495A4FC83C}" type="slidenum">
              <a:t>2</a:t>
            </a:fld>
            <a:endParaRPr lang="en-US"/>
          </a:p>
        </p:txBody>
      </p:sp>
    </p:spTree>
    <p:extLst>
      <p:ext uri="{BB962C8B-B14F-4D97-AF65-F5344CB8AC3E}">
        <p14:creationId xmlns:p14="http://schemas.microsoft.com/office/powerpoint/2010/main" val="9294602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Dick: The warehouse uses a star schema. The central fact table is </a:t>
            </a:r>
            <a:r>
              <a:rPr lang="en-US" dirty="0" err="1"/>
              <a:t>fact_sales</a:t>
            </a:r>
            <a:r>
              <a:rPr lang="en-US" dirty="0"/>
              <a:t>, which contains transaction-level sales data. Around it are three dimensions: </a:t>
            </a:r>
            <a:r>
              <a:rPr lang="en-US" dirty="0" err="1"/>
              <a:t>dim_customer</a:t>
            </a:r>
            <a:r>
              <a:rPr lang="en-US" dirty="0"/>
              <a:t>, </a:t>
            </a:r>
            <a:r>
              <a:rPr lang="en-US" dirty="0" err="1"/>
              <a:t>dim_product</a:t>
            </a:r>
            <a:r>
              <a:rPr lang="en-US" dirty="0"/>
              <a:t>, and </a:t>
            </a:r>
            <a:r>
              <a:rPr lang="en-US" dirty="0" err="1"/>
              <a:t>dim_seller</a:t>
            </a:r>
            <a:r>
              <a:rPr lang="en-US" dirty="0"/>
              <a:t>. This structure simplifies analytical queries and reporting.</a:t>
            </a:r>
          </a:p>
        </p:txBody>
      </p:sp>
      <p:sp>
        <p:nvSpPr>
          <p:cNvPr id="4" name="Slide Number Placeholder 3"/>
          <p:cNvSpPr>
            <a:spLocks noGrp="1"/>
          </p:cNvSpPr>
          <p:nvPr>
            <p:ph type="sldNum" sz="quarter" idx="5"/>
          </p:nvPr>
        </p:nvSpPr>
        <p:spPr/>
        <p:txBody>
          <a:bodyPr/>
          <a:lstStyle/>
          <a:p>
            <a:fld id="{BB5C6805-D20B-405F-86DA-DC495A4FC83C}" type="slidenum">
              <a:rPr lang="en-US"/>
              <a:t>3</a:t>
            </a:fld>
            <a:endParaRPr lang="en-US"/>
          </a:p>
        </p:txBody>
      </p:sp>
    </p:spTree>
    <p:extLst>
      <p:ext uri="{BB962C8B-B14F-4D97-AF65-F5344CB8AC3E}">
        <p14:creationId xmlns:p14="http://schemas.microsoft.com/office/powerpoint/2010/main" val="24668239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i="1" dirty="0" err="1"/>
              <a:t>Jacky</a:t>
            </a:r>
            <a:r>
              <a:rPr lang="en-US" sz="1200" i="1" kern="1200" dirty="0" err="1">
                <a:solidFill>
                  <a:schemeClr val="tx1"/>
                </a:solidFill>
                <a:effectLst/>
                <a:latin typeface="+mn-lt"/>
                <a:ea typeface="+mn-ea"/>
                <a:cs typeface="+mn-cs"/>
              </a:rPr>
              <a:t>“My</a:t>
            </a:r>
            <a:r>
              <a:rPr lang="en-US" sz="1200" i="1" kern="1200" dirty="0">
                <a:solidFill>
                  <a:schemeClr val="tx1"/>
                </a:solidFill>
                <a:effectLst/>
                <a:latin typeface="+mn-lt"/>
                <a:ea typeface="+mn-ea"/>
                <a:cs typeface="+mn-cs"/>
              </a:rPr>
              <a:t> part of the project covers the data quality. The goal was to make sure the data feeding our dashboards and analysis is actually trustworthy — that primary keys are clean, relationships hold, and business rules like valid sales amounts are enforced. We will go through the two-layer approach used and what each layer catches.”</a:t>
            </a:r>
            <a:endParaRPr lang="en-US"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6618783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Jacky: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20373699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r>
              <a:rPr lang="en-US" i="1" dirty="0"/>
              <a:t>Jacky: “</a:t>
            </a:r>
            <a:r>
              <a:rPr lang="en-US" sz="1200" i="1" kern="1200" dirty="0">
                <a:solidFill>
                  <a:schemeClr val="tx1"/>
                </a:solidFill>
                <a:effectLst/>
                <a:latin typeface="+mn-lt"/>
                <a:ea typeface="+mn-ea"/>
                <a:cs typeface="+mn-cs"/>
              </a:rPr>
              <a:t>The first layer uses </a:t>
            </a:r>
            <a:r>
              <a:rPr lang="en-US" sz="1200" i="1" kern="1200" dirty="0" err="1">
                <a:solidFill>
                  <a:schemeClr val="tx1"/>
                </a:solidFill>
                <a:effectLst/>
                <a:latin typeface="+mn-lt"/>
                <a:ea typeface="+mn-ea"/>
                <a:cs typeface="+mn-cs"/>
              </a:rPr>
              <a:t>dbt’s</a:t>
            </a:r>
            <a:r>
              <a:rPr lang="en-US" sz="1200" i="1" kern="1200" dirty="0">
                <a:solidFill>
                  <a:schemeClr val="tx1"/>
                </a:solidFill>
                <a:effectLst/>
                <a:latin typeface="+mn-lt"/>
                <a:ea typeface="+mn-ea"/>
                <a:cs typeface="+mn-cs"/>
              </a:rPr>
              <a:t> built-in test types — unique and </a:t>
            </a:r>
            <a:r>
              <a:rPr lang="en-US" sz="1200" i="1" kern="1200" dirty="0" err="1">
                <a:solidFill>
                  <a:schemeClr val="tx1"/>
                </a:solidFill>
                <a:effectLst/>
                <a:latin typeface="+mn-lt"/>
                <a:ea typeface="+mn-ea"/>
                <a:cs typeface="+mn-cs"/>
              </a:rPr>
              <a:t>not_null</a:t>
            </a:r>
            <a:r>
              <a:rPr lang="en-US" sz="1200" i="1" kern="1200" dirty="0">
                <a:solidFill>
                  <a:schemeClr val="tx1"/>
                </a:solidFill>
                <a:effectLst/>
                <a:latin typeface="+mn-lt"/>
                <a:ea typeface="+mn-ea"/>
                <a:cs typeface="+mn-cs"/>
              </a:rPr>
              <a:t> — applied to the primary keys of all </a:t>
            </a:r>
            <a:r>
              <a:rPr lang="en-US" sz="1200" i="1" kern="1200" dirty="0" err="1">
                <a:solidFill>
                  <a:schemeClr val="tx1"/>
                </a:solidFill>
                <a:effectLst/>
                <a:latin typeface="+mn-lt"/>
                <a:ea typeface="+mn-ea"/>
                <a:cs typeface="+mn-cs"/>
              </a:rPr>
              <a:t>three dimension</a:t>
            </a:r>
            <a:r>
              <a:rPr lang="en-US" sz="1200" i="1" kern="1200" dirty="0">
                <a:solidFill>
                  <a:schemeClr val="tx1"/>
                </a:solidFill>
                <a:effectLst/>
                <a:latin typeface="+mn-lt"/>
                <a:ea typeface="+mn-ea"/>
                <a:cs typeface="+mn-cs"/>
              </a:rPr>
              <a:t> tables and the fact table. In total, 7 tests, and all 7 passed.”</a:t>
            </a:r>
            <a:endParaRPr lang="en-US"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29332424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r>
              <a:rPr lang="en-US" i="1" dirty="0"/>
              <a:t>Jacky: “</a:t>
            </a:r>
            <a:r>
              <a:rPr lang="en-US" sz="1200" i="1" kern="1200" dirty="0">
                <a:solidFill>
                  <a:schemeClr val="tx1"/>
                </a:solidFill>
                <a:effectLst/>
                <a:latin typeface="+mn-lt"/>
                <a:ea typeface="+mn-ea"/>
                <a:cs typeface="+mn-cs"/>
              </a:rPr>
              <a:t>The second layer goes beyond structure.  Here a Python script called data_quality.py runs four additional SQL checks directly against </a:t>
            </a:r>
            <a:r>
              <a:rPr lang="en-US" sz="1200" i="1" kern="1200" dirty="0" err="1">
                <a:solidFill>
                  <a:schemeClr val="tx1"/>
                </a:solidFill>
                <a:effectLst/>
                <a:latin typeface="+mn-lt"/>
                <a:ea typeface="+mn-ea"/>
                <a:cs typeface="+mn-cs"/>
              </a:rPr>
              <a:t>DuckDB</a:t>
            </a:r>
            <a:r>
              <a:rPr lang="en-US" sz="1200" i="1" kern="1200" dirty="0">
                <a:solidFill>
                  <a:schemeClr val="tx1"/>
                </a:solidFill>
                <a:effectLst/>
                <a:latin typeface="+mn-lt"/>
                <a:ea typeface="+mn-ea"/>
                <a:cs typeface="+mn-cs"/>
              </a:rPr>
              <a:t> to catch business rule violations that </a:t>
            </a:r>
            <a:r>
              <a:rPr lang="en-US" sz="1200" i="1" kern="1200" dirty="0" err="1">
                <a:solidFill>
                  <a:schemeClr val="tx1"/>
                </a:solidFill>
                <a:effectLst/>
                <a:latin typeface="+mn-lt"/>
                <a:ea typeface="+mn-ea"/>
                <a:cs typeface="+mn-cs"/>
              </a:rPr>
              <a:t>dbt’s</a:t>
            </a:r>
            <a:r>
              <a:rPr lang="en-US" sz="1200" i="1" kern="1200" dirty="0">
                <a:solidFill>
                  <a:schemeClr val="tx1"/>
                </a:solidFill>
                <a:effectLst/>
                <a:latin typeface="+mn-lt"/>
                <a:ea typeface="+mn-ea"/>
                <a:cs typeface="+mn-cs"/>
              </a:rPr>
              <a:t> built-in tests don’t cover.”</a:t>
            </a:r>
            <a:endParaRPr lang="en-US"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255782888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r>
              <a:rPr lang="en-US" dirty="0"/>
              <a:t>Jacky: The</a:t>
            </a:r>
            <a:r>
              <a:rPr lang="en-US" sz="1200" kern="1200" dirty="0">
                <a:solidFill>
                  <a:schemeClr val="tx1"/>
                </a:solidFill>
                <a:effectLst/>
                <a:latin typeface="+mn-lt"/>
                <a:ea typeface="+mn-ea"/>
                <a:cs typeface="+mn-cs"/>
              </a:rPr>
              <a:t> script stores each check’s name and SQL in a Python dictionary, then loops through them — running each query against </a:t>
            </a:r>
            <a:r>
              <a:rPr lang="en-US" sz="1200" kern="1200" dirty="0" err="1">
                <a:solidFill>
                  <a:schemeClr val="tx1"/>
                </a:solidFill>
                <a:effectLst/>
                <a:latin typeface="+mn-lt"/>
                <a:ea typeface="+mn-ea"/>
                <a:cs typeface="+mn-cs"/>
              </a:rPr>
              <a:t>DuckDB</a:t>
            </a:r>
            <a:r>
              <a:rPr lang="en-US" sz="1200" kern="1200" dirty="0">
                <a:solidFill>
                  <a:schemeClr val="tx1"/>
                </a:solidFill>
                <a:effectLst/>
                <a:latin typeface="+mn-lt"/>
                <a:ea typeface="+mn-ea"/>
                <a:cs typeface="+mn-cs"/>
              </a:rPr>
              <a:t> and printing the row count. A result of 0 means the check passed. Anything above 0 flags the number of affected rows for investigation.</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322191245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r>
              <a:rPr lang="en-US" i="1" dirty="0"/>
              <a:t>Jacky: </a:t>
            </a:r>
            <a:r>
              <a:rPr lang="en-US" sz="1200" i="1" kern="1200" dirty="0">
                <a:solidFill>
                  <a:schemeClr val="tx1"/>
                </a:solidFill>
                <a:effectLst/>
                <a:latin typeface="+mn-lt"/>
                <a:ea typeface="+mn-ea"/>
                <a:cs typeface="+mn-cs"/>
              </a:rPr>
              <a:t>“Together, these two layers give us complementary coverage. </a:t>
            </a:r>
            <a:r>
              <a:rPr lang="en-US" sz="1200" i="1" kern="1200" dirty="0" err="1">
                <a:solidFill>
                  <a:schemeClr val="tx1"/>
                </a:solidFill>
                <a:effectLst/>
                <a:latin typeface="+mn-lt"/>
                <a:ea typeface="+mn-ea"/>
                <a:cs typeface="+mn-cs"/>
              </a:rPr>
              <a:t>dbt</a:t>
            </a:r>
            <a:r>
              <a:rPr lang="en-US" sz="1200" i="1" kern="1200" dirty="0">
                <a:solidFill>
                  <a:schemeClr val="tx1"/>
                </a:solidFill>
                <a:effectLst/>
                <a:latin typeface="+mn-lt"/>
                <a:ea typeface="+mn-ea"/>
                <a:cs typeface="+mn-cs"/>
              </a:rPr>
              <a:t> catches structural problems at the schema level — things that would break joins. The Python script catches business rule violations at the row level — things that would silently corrupt analysis.”</a:t>
            </a:r>
            <a:endParaRPr lang="en-US"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304046417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Jacky: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302091560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Sean: This chart shows monthly revenue over time. Revenue generally increased during 2017 and 2018, indicating significant growth in the platform during the observed period. The trend also shows seasonal fluctuations, which are common in e-commerce businesses.</a:t>
            </a:r>
          </a:p>
        </p:txBody>
      </p:sp>
      <p:sp>
        <p:nvSpPr>
          <p:cNvPr id="4" name="Slide Number Placeholder 3"/>
          <p:cNvSpPr>
            <a:spLocks noGrp="1"/>
          </p:cNvSpPr>
          <p:nvPr>
            <p:ph type="sldNum" sz="quarter" idx="5"/>
          </p:nvPr>
        </p:nvSpPr>
        <p:spPr/>
        <p:txBody>
          <a:bodyPr/>
          <a:lstStyle/>
          <a:p>
            <a:fld id="{BB5C6805-D20B-405F-86DA-DC495A4FC83C}" type="slidenum">
              <a:rPr lang="en-US"/>
              <a:t>11</a:t>
            </a:fld>
            <a:endParaRPr lang="en-US"/>
          </a:p>
        </p:txBody>
      </p:sp>
    </p:spTree>
    <p:extLst>
      <p:ext uri="{BB962C8B-B14F-4D97-AF65-F5344CB8AC3E}">
        <p14:creationId xmlns:p14="http://schemas.microsoft.com/office/powerpoint/2010/main" val="100433325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Sean: The highest-revenue product categories were Beauty &amp; Health, Watches &amp; Gifts, and Bed, Bath &amp; Table. These categories contributed a large share of total revenue and could be prioritized for marketing and inventory planning.</a:t>
            </a:r>
          </a:p>
        </p:txBody>
      </p:sp>
      <p:sp>
        <p:nvSpPr>
          <p:cNvPr id="4" name="Slide Number Placeholder 3"/>
          <p:cNvSpPr>
            <a:spLocks noGrp="1"/>
          </p:cNvSpPr>
          <p:nvPr>
            <p:ph type="sldNum" sz="quarter" idx="5"/>
          </p:nvPr>
        </p:nvSpPr>
        <p:spPr/>
        <p:txBody>
          <a:bodyPr/>
          <a:lstStyle/>
          <a:p>
            <a:fld id="{BB5C6805-D20B-405F-86DA-DC495A4FC83C}" type="slidenum">
              <a:rPr lang="en-US"/>
              <a:t>12</a:t>
            </a:fld>
            <a:endParaRPr lang="en-US"/>
          </a:p>
        </p:txBody>
      </p:sp>
    </p:spTree>
    <p:extLst>
      <p:ext uri="{BB962C8B-B14F-4D97-AF65-F5344CB8AC3E}">
        <p14:creationId xmlns:p14="http://schemas.microsoft.com/office/powerpoint/2010/main" val="264963437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Sean: Revenue was heavily concentrated in São Paulo (SP), followed by Rio de Janeiro and Minas Gerais. This suggests that customer demand is strongest in Brazil’s largest economic regions.</a:t>
            </a:r>
          </a:p>
        </p:txBody>
      </p:sp>
      <p:sp>
        <p:nvSpPr>
          <p:cNvPr id="4" name="Slide Number Placeholder 3"/>
          <p:cNvSpPr>
            <a:spLocks noGrp="1"/>
          </p:cNvSpPr>
          <p:nvPr>
            <p:ph type="sldNum" sz="quarter" idx="5"/>
          </p:nvPr>
        </p:nvSpPr>
        <p:spPr/>
        <p:txBody>
          <a:bodyPr/>
          <a:lstStyle/>
          <a:p>
            <a:fld id="{BB5C6805-D20B-405F-86DA-DC495A4FC83C}" type="slidenum">
              <a:rPr lang="en-US"/>
              <a:t>13</a:t>
            </a:fld>
            <a:endParaRPr lang="en-US"/>
          </a:p>
        </p:txBody>
      </p:sp>
    </p:spTree>
    <p:extLst>
      <p:ext uri="{BB962C8B-B14F-4D97-AF65-F5344CB8AC3E}">
        <p14:creationId xmlns:p14="http://schemas.microsoft.com/office/powerpoint/2010/main" val="57729002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Annie: For</a:t>
            </a:r>
            <a:r>
              <a:rPr lang="en-US" dirty="0"/>
              <a:t> customer analysis, We calculated Recency, Frequency, and Monetary value using the customer’s unique identifier. The results show that some customers placed many repeat orders, indicating a segment of loyal, high-value customers that could be targeted for retention programs.</a:t>
            </a:r>
          </a:p>
        </p:txBody>
      </p:sp>
      <p:sp>
        <p:nvSpPr>
          <p:cNvPr id="4" name="Slide Number Placeholder 3"/>
          <p:cNvSpPr>
            <a:spLocks noGrp="1"/>
          </p:cNvSpPr>
          <p:nvPr>
            <p:ph type="sldNum" sz="quarter" idx="5"/>
          </p:nvPr>
        </p:nvSpPr>
        <p:spPr/>
        <p:txBody>
          <a:bodyPr/>
          <a:lstStyle/>
          <a:p>
            <a:fld id="{BB5C6805-D20B-405F-86DA-DC495A4FC83C}" type="slidenum">
              <a:rPr lang="en-US"/>
              <a:t>14</a:t>
            </a:fld>
            <a:endParaRPr lang="en-US"/>
          </a:p>
        </p:txBody>
      </p:sp>
    </p:spTree>
    <p:extLst>
      <p:ext uri="{BB962C8B-B14F-4D97-AF65-F5344CB8AC3E}">
        <p14:creationId xmlns:p14="http://schemas.microsoft.com/office/powerpoint/2010/main" val="222734393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Michelle: In summary, this project demonstrates an end-to-end analytics engineering workflow using </a:t>
            </a:r>
            <a:r>
              <a:rPr lang="en-US" dirty="0" err="1"/>
              <a:t>DuckDB</a:t>
            </a:r>
            <a:r>
              <a:rPr lang="en-US" dirty="0"/>
              <a:t> and </a:t>
            </a:r>
            <a:r>
              <a:rPr lang="en-US" dirty="0" err="1"/>
              <a:t>dbt</a:t>
            </a:r>
            <a:r>
              <a:rPr lang="en-US" dirty="0"/>
              <a:t>. We learned how to design a star schema, implement automated data quality tests, and generate business insights from transactional data. Key findings include strong revenue growth, high-performing product categories, concentration of sales in São Paulo, and evidence of repeat customer behavior. </a:t>
            </a:r>
          </a:p>
        </p:txBody>
      </p:sp>
      <p:sp>
        <p:nvSpPr>
          <p:cNvPr id="4" name="Slide Number Placeholder 3"/>
          <p:cNvSpPr>
            <a:spLocks noGrp="1"/>
          </p:cNvSpPr>
          <p:nvPr>
            <p:ph type="sldNum" sz="quarter" idx="5"/>
          </p:nvPr>
        </p:nvSpPr>
        <p:spPr/>
        <p:txBody>
          <a:bodyPr/>
          <a:lstStyle/>
          <a:p>
            <a:fld id="{BB5C6805-D20B-405F-86DA-DC495A4FC83C}" type="slidenum">
              <a:rPr lang="en-US"/>
              <a:t>15</a:t>
            </a:fld>
            <a:endParaRPr lang="en-US"/>
          </a:p>
        </p:txBody>
      </p:sp>
    </p:spTree>
    <p:extLst>
      <p:ext uri="{BB962C8B-B14F-4D97-AF65-F5344CB8AC3E}">
        <p14:creationId xmlns:p14="http://schemas.microsoft.com/office/powerpoint/2010/main" val="40720801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4334933" y="1169931"/>
            <a:ext cx="4814835" cy="4993802"/>
            <a:chOff x="4334933" y="1169931"/>
            <a:chExt cx="4814835" cy="4993802"/>
          </a:xfrm>
        </p:grpSpPr>
        <p:cxnSp>
          <p:nvCxnSpPr>
            <p:cNvPr id="17" name="Straight Connector 16"/>
            <p:cNvCxnSpPr/>
            <p:nvPr/>
          </p:nvCxnSpPr>
          <p:spPr>
            <a:xfrm flipH="1">
              <a:off x="6009259" y="1169931"/>
              <a:ext cx="3134741" cy="3134741"/>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flipH="1">
              <a:off x="4334933" y="1348898"/>
              <a:ext cx="4814835" cy="481483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5225595" y="1469269"/>
              <a:ext cx="3912054" cy="3912054"/>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2" name="Straight Connector 21"/>
            <p:cNvCxnSpPr/>
            <p:nvPr/>
          </p:nvCxnSpPr>
          <p:spPr>
            <a:xfrm flipH="1">
              <a:off x="5304588" y="1307856"/>
              <a:ext cx="3839412" cy="3839412"/>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flipH="1">
              <a:off x="5707078" y="1770196"/>
              <a:ext cx="3430571" cy="3430570"/>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 name="Title 1"/>
          <p:cNvSpPr>
            <a:spLocks noGrp="1"/>
          </p:cNvSpPr>
          <p:nvPr>
            <p:ph type="ctrTitle"/>
          </p:nvPr>
        </p:nvSpPr>
        <p:spPr>
          <a:xfrm>
            <a:off x="533400" y="533400"/>
            <a:ext cx="6154713" cy="3124201"/>
          </a:xfrm>
        </p:spPr>
        <p:txBody>
          <a:bodyPr anchor="b">
            <a:normAutofit/>
          </a:bodyPr>
          <a:lstStyle>
            <a:lvl1pPr algn="l">
              <a:defRPr sz="4400">
                <a:effectLst/>
              </a:defRPr>
            </a:lvl1pPr>
          </a:lstStyle>
          <a:p>
            <a:r>
              <a:rPr lang="en-US" dirty="0"/>
              <a:t>Click to edit Master title style</a:t>
            </a:r>
          </a:p>
        </p:txBody>
      </p:sp>
      <p:sp>
        <p:nvSpPr>
          <p:cNvPr id="3" name="Subtitle 2"/>
          <p:cNvSpPr>
            <a:spLocks noGrp="1"/>
          </p:cNvSpPr>
          <p:nvPr>
            <p:ph type="subTitle" idx="1"/>
          </p:nvPr>
        </p:nvSpPr>
        <p:spPr>
          <a:xfrm>
            <a:off x="533400" y="3843868"/>
            <a:ext cx="4954250" cy="1913466"/>
          </a:xfrm>
        </p:spPr>
        <p:txBody>
          <a:bodyPr anchor="t">
            <a:normAutofit/>
          </a:bodyPr>
          <a:lstStyle>
            <a:lvl1pPr marL="0" indent="0" algn="l">
              <a:buNone/>
              <a:defRPr sz="2000">
                <a:solidFill>
                  <a:schemeClr val="bg2">
                    <a:lumMod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B61BEF0D-F0BB-DE4B-95CE-6DB70DBA9567}" type="datetimeFigureOut">
              <a:rPr lang="en-US" dirty="0"/>
              <a:pPr/>
              <a:t>6/9/2026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8363552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33400" y="4495800"/>
            <a:ext cx="6554867" cy="1524000"/>
          </a:xfrm>
        </p:spPr>
        <p:txBody>
          <a:bodyPr/>
          <a:lstStyle/>
          <a:p>
            <a:r>
              <a:rPr lang="en-US" dirty="0"/>
              <a:t>Click to edit Master title style</a:t>
            </a:r>
          </a:p>
        </p:txBody>
      </p:sp>
      <p:sp>
        <p:nvSpPr>
          <p:cNvPr id="3" name="Content Placeholder 2"/>
          <p:cNvSpPr>
            <a:spLocks noGrp="1"/>
          </p:cNvSpPr>
          <p:nvPr>
            <p:ph idx="1"/>
          </p:nvPr>
        </p:nvSpPr>
        <p:spPr>
          <a:xfrm>
            <a:off x="533400" y="533400"/>
            <a:ext cx="6554867" cy="3767670"/>
          </a:xfrm>
        </p:spPr>
        <p:txBody>
          <a:bodyPr anchor="ct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6/9/2026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832689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33400" y="1981199"/>
            <a:ext cx="6402468" cy="2319867"/>
          </a:xfrm>
        </p:spPr>
        <p:txBody>
          <a:bodyPr anchor="b">
            <a:normAutofit/>
          </a:bodyPr>
          <a:lstStyle>
            <a:lvl1pPr algn="l">
              <a:defRPr sz="3200" b="0" cap="all"/>
            </a:lvl1pPr>
          </a:lstStyle>
          <a:p>
            <a:r>
              <a:rPr lang="en-US" dirty="0"/>
              <a:t>Click to edit Master title style</a:t>
            </a:r>
          </a:p>
        </p:txBody>
      </p:sp>
      <p:sp>
        <p:nvSpPr>
          <p:cNvPr id="3" name="Text Placeholder 2"/>
          <p:cNvSpPr>
            <a:spLocks noGrp="1"/>
          </p:cNvSpPr>
          <p:nvPr>
            <p:ph type="body" idx="1"/>
          </p:nvPr>
        </p:nvSpPr>
        <p:spPr>
          <a:xfrm>
            <a:off x="533400" y="4487333"/>
            <a:ext cx="6402467" cy="1532467"/>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6/9/2026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9577812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33400" y="4495800"/>
            <a:ext cx="6554867" cy="1524000"/>
          </a:xfrm>
        </p:spPr>
        <p:txBody>
          <a:bodyPr>
            <a:normAutofit/>
          </a:bodyPr>
          <a:lstStyle>
            <a:lvl1pPr>
              <a:defRPr sz="3200"/>
            </a:lvl1pPr>
          </a:lstStyle>
          <a:p>
            <a:r>
              <a:rPr lang="en-US" dirty="0"/>
              <a:t>Click to edit Master title style</a:t>
            </a:r>
          </a:p>
        </p:txBody>
      </p:sp>
      <p:sp>
        <p:nvSpPr>
          <p:cNvPr id="11" name="Content Placeholder 3"/>
          <p:cNvSpPr>
            <a:spLocks noGrp="1"/>
          </p:cNvSpPr>
          <p:nvPr>
            <p:ph sz="half" idx="13"/>
          </p:nvPr>
        </p:nvSpPr>
        <p:spPr>
          <a:xfrm>
            <a:off x="533400" y="533400"/>
            <a:ext cx="3949967" cy="3767667"/>
          </a:xfrm>
        </p:spPr>
        <p:txBody>
          <a:bodyPr anchor="ct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5"/>
          <p:cNvSpPr>
            <a:spLocks noGrp="1"/>
          </p:cNvSpPr>
          <p:nvPr>
            <p:ph sz="quarter" idx="4"/>
          </p:nvPr>
        </p:nvSpPr>
        <p:spPr>
          <a:xfrm>
            <a:off x="4662362" y="533400"/>
            <a:ext cx="3948238" cy="3759200"/>
          </a:xfrm>
        </p:spPr>
        <p:txBody>
          <a:bodyPr anchor="ct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B61BEF0D-F0BB-DE4B-95CE-6DB70DBA9567}" type="datetimeFigureOut">
              <a:rPr lang="en-US" dirty="0"/>
              <a:pPr/>
              <a:t>6/9/2026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7473742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3400" y="4495800"/>
            <a:ext cx="6554867" cy="1524000"/>
          </a:xfrm>
        </p:spPr>
        <p:txBody>
          <a:bodyPr>
            <a:normAutofit/>
          </a:bodyPr>
          <a:lstStyle>
            <a:lvl1pPr>
              <a:defRPr sz="3200"/>
            </a:lvl1pPr>
          </a:lstStyle>
          <a:p>
            <a:r>
              <a:rPr lang="en-US" dirty="0"/>
              <a:t>Click to edit Master title style</a:t>
            </a:r>
          </a:p>
        </p:txBody>
      </p:sp>
      <p:sp>
        <p:nvSpPr>
          <p:cNvPr id="3" name="Text Placeholder 2"/>
          <p:cNvSpPr>
            <a:spLocks noGrp="1"/>
          </p:cNvSpPr>
          <p:nvPr>
            <p:ph type="body" idx="1"/>
          </p:nvPr>
        </p:nvSpPr>
        <p:spPr>
          <a:xfrm>
            <a:off x="762001" y="533400"/>
            <a:ext cx="3716866" cy="609600"/>
          </a:xfrm>
        </p:spPr>
        <p:txBody>
          <a:bodyPr anchor="b">
            <a:noAutofit/>
          </a:bodyPr>
          <a:lstStyle>
            <a:lvl1pPr marL="0" indent="0">
              <a:buNone/>
              <a:defRPr sz="2400" b="0" cap="all">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533399" y="1143000"/>
            <a:ext cx="3945467" cy="3158067"/>
          </a:xfrm>
        </p:spPr>
        <p:txBody>
          <a:bodyPr anchor="t">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855016" y="566738"/>
            <a:ext cx="3764051" cy="576262"/>
          </a:xfrm>
        </p:spPr>
        <p:txBody>
          <a:bodyPr anchor="b">
            <a:noAutofit/>
          </a:bodyPr>
          <a:lstStyle>
            <a:lvl1pPr marL="0" indent="0">
              <a:buNone/>
              <a:defRPr sz="2400" b="0" cap="all">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4662362" y="1143000"/>
            <a:ext cx="3956705" cy="3149600"/>
          </a:xfrm>
        </p:spPr>
        <p:txBody>
          <a:bodyPr anchor="t">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B61BEF0D-F0BB-DE4B-95CE-6DB70DBA9567}" type="datetimeFigureOut">
              <a:rPr lang="en-US" dirty="0"/>
              <a:pPr/>
              <a:t>6/9/2026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3012475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533400" y="4495800"/>
            <a:ext cx="6554867" cy="1524000"/>
          </a:xfrm>
        </p:spPr>
        <p:txBody>
          <a:bodyPr>
            <a:normAutofit/>
          </a:bodyPr>
          <a:lstStyle>
            <a:lvl1pPr>
              <a:defRPr sz="3200"/>
            </a:lvl1pPr>
          </a:lstStyle>
          <a:p>
            <a:r>
              <a:rPr lang="en-US" dirty="0"/>
              <a:t>Click to edit Master title style</a:t>
            </a:r>
          </a:p>
        </p:txBody>
      </p:sp>
      <p:sp>
        <p:nvSpPr>
          <p:cNvPr id="3" name="Date Placeholder 2"/>
          <p:cNvSpPr>
            <a:spLocks noGrp="1"/>
          </p:cNvSpPr>
          <p:nvPr>
            <p:ph type="dt" sz="half" idx="10"/>
          </p:nvPr>
        </p:nvSpPr>
        <p:spPr/>
        <p:txBody>
          <a:bodyPr/>
          <a:lstStyle/>
          <a:p>
            <a:fld id="{B61BEF0D-F0BB-DE4B-95CE-6DB70DBA9567}" type="datetimeFigureOut">
              <a:rPr lang="en-US" dirty="0"/>
              <a:pPr/>
              <a:t>6/9/2026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6617209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6/9/2026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9861176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418667" y="533400"/>
            <a:ext cx="3200400" cy="1524000"/>
          </a:xfrm>
        </p:spPr>
        <p:txBody>
          <a:bodyPr anchor="b">
            <a:normAutofit/>
          </a:bodyPr>
          <a:lstStyle>
            <a:lvl1pPr algn="l">
              <a:defRPr sz="2000" b="0"/>
            </a:lvl1pPr>
          </a:lstStyle>
          <a:p>
            <a:r>
              <a:rPr lang="en-US" dirty="0"/>
              <a:t>Click to edit Master title style</a:t>
            </a:r>
          </a:p>
        </p:txBody>
      </p:sp>
      <p:sp>
        <p:nvSpPr>
          <p:cNvPr id="3" name="Content Placeholder 2"/>
          <p:cNvSpPr>
            <a:spLocks noGrp="1"/>
          </p:cNvSpPr>
          <p:nvPr>
            <p:ph idx="1"/>
          </p:nvPr>
        </p:nvSpPr>
        <p:spPr>
          <a:xfrm>
            <a:off x="533399" y="533400"/>
            <a:ext cx="4438755" cy="5486400"/>
          </a:xfrm>
        </p:spPr>
        <p:txBody>
          <a:bodyPr anchor="ct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5418667" y="2209802"/>
            <a:ext cx="3200400" cy="2091267"/>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6/9/2026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3364008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495800" y="1447800"/>
            <a:ext cx="3563258" cy="1143000"/>
          </a:xfrm>
        </p:spPr>
        <p:txBody>
          <a:bodyPr anchor="b">
            <a:normAutofit/>
          </a:bodyPr>
          <a:lstStyle>
            <a:lvl1pPr algn="l">
              <a:defRPr sz="2400" b="0"/>
            </a:lvl1pPr>
          </a:lstStyle>
          <a:p>
            <a:r>
              <a:rPr lang="en-US" dirty="0"/>
              <a:t>Click to edit Master title style</a:t>
            </a:r>
          </a:p>
        </p:txBody>
      </p:sp>
      <p:sp>
        <p:nvSpPr>
          <p:cNvPr id="17" name="Picture Placeholder 2"/>
          <p:cNvSpPr>
            <a:spLocks noGrp="1" noChangeAspect="1"/>
          </p:cNvSpPr>
          <p:nvPr>
            <p:ph type="pic" idx="13"/>
          </p:nvPr>
        </p:nvSpPr>
        <p:spPr>
          <a:xfrm>
            <a:off x="762000" y="914400"/>
            <a:ext cx="3280974" cy="48006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dirty="0"/>
          </a:p>
        </p:txBody>
      </p:sp>
      <p:sp>
        <p:nvSpPr>
          <p:cNvPr id="4" name="Text Placeholder 3"/>
          <p:cNvSpPr>
            <a:spLocks noGrp="1"/>
          </p:cNvSpPr>
          <p:nvPr>
            <p:ph type="body" sz="half" idx="2"/>
          </p:nvPr>
        </p:nvSpPr>
        <p:spPr>
          <a:xfrm>
            <a:off x="4496027" y="2743200"/>
            <a:ext cx="3564223" cy="2082800"/>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6/9/2026</a:t>
            </a:fld>
            <a:endParaRPr lang="en-US" dirty="0"/>
          </a:p>
        </p:txBody>
      </p:sp>
      <p:sp>
        <p:nvSpPr>
          <p:cNvPr id="6" name="Footer Placeholder 5"/>
          <p:cNvSpPr>
            <a:spLocks noGrp="1"/>
          </p:cNvSpPr>
          <p:nvPr>
            <p:ph type="ftr" sz="quarter" idx="11"/>
          </p:nvPr>
        </p:nvSpPr>
        <p:spPr>
          <a:xfrm>
            <a:off x="533400" y="6172200"/>
            <a:ext cx="5811724" cy="365125"/>
          </a:xfrm>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8787922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33400" y="4495800"/>
            <a:ext cx="6554867" cy="1524000"/>
          </a:xfrm>
        </p:spPr>
        <p:txBody>
          <a:bodyPr/>
          <a:lstStyle/>
          <a:p>
            <a:r>
              <a:rPr lang="en-US" dirty="0"/>
              <a:t>Click to edit Master title style</a:t>
            </a:r>
          </a:p>
        </p:txBody>
      </p:sp>
      <p:sp>
        <p:nvSpPr>
          <p:cNvPr id="6" name="Picture Placeholder 2"/>
          <p:cNvSpPr>
            <a:spLocks noGrp="1" noChangeAspect="1"/>
          </p:cNvSpPr>
          <p:nvPr>
            <p:ph type="pic" idx="13"/>
          </p:nvPr>
        </p:nvSpPr>
        <p:spPr>
          <a:xfrm>
            <a:off x="533400" y="533400"/>
            <a:ext cx="8077200" cy="31242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dirty="0"/>
          </a:p>
        </p:txBody>
      </p:sp>
      <p:sp>
        <p:nvSpPr>
          <p:cNvPr id="9" name="Text Placeholder 9"/>
          <p:cNvSpPr>
            <a:spLocks noGrp="1"/>
          </p:cNvSpPr>
          <p:nvPr>
            <p:ph type="body" sz="quarter" idx="14"/>
          </p:nvPr>
        </p:nvSpPr>
        <p:spPr>
          <a:xfrm>
            <a:off x="762002" y="3843867"/>
            <a:ext cx="7281332" cy="457200"/>
          </a:xfrm>
        </p:spPr>
        <p:txBody>
          <a:bodyPr anchor="t">
            <a:normAutofit/>
          </a:bodyPr>
          <a:lstStyle>
            <a:lvl1pPr marL="0" indent="0">
              <a:buFontTx/>
              <a:buNone/>
              <a:defRPr sz="16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Click to edit Master text styles</a:t>
            </a:r>
          </a:p>
        </p:txBody>
      </p:sp>
      <p:sp>
        <p:nvSpPr>
          <p:cNvPr id="3" name="Date Placeholder 2"/>
          <p:cNvSpPr>
            <a:spLocks noGrp="1"/>
          </p:cNvSpPr>
          <p:nvPr>
            <p:ph type="dt" sz="half" idx="10"/>
          </p:nvPr>
        </p:nvSpPr>
        <p:spPr/>
        <p:txBody>
          <a:bodyPr/>
          <a:lstStyle/>
          <a:p>
            <a:fld id="{B61BEF0D-F0BB-DE4B-95CE-6DB70DBA9567}" type="datetimeFigureOut">
              <a:rPr lang="en-US" dirty="0"/>
              <a:pPr/>
              <a:t>6/9/2026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7178554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533400" y="533400"/>
            <a:ext cx="8077200" cy="2895600"/>
          </a:xfrm>
        </p:spPr>
        <p:txBody>
          <a:bodyPr anchor="ctr">
            <a:normAutofit/>
          </a:bodyPr>
          <a:lstStyle>
            <a:lvl1pPr algn="l">
              <a:defRPr sz="2800" b="0" cap="all"/>
            </a:lvl1pPr>
          </a:lstStyle>
          <a:p>
            <a:r>
              <a:rPr lang="en-US" dirty="0"/>
              <a:t>Click to edit Master title style</a:t>
            </a:r>
          </a:p>
        </p:txBody>
      </p:sp>
      <p:sp>
        <p:nvSpPr>
          <p:cNvPr id="3" name="Text Placeholder 2"/>
          <p:cNvSpPr>
            <a:spLocks noGrp="1"/>
          </p:cNvSpPr>
          <p:nvPr>
            <p:ph type="body" idx="1"/>
          </p:nvPr>
        </p:nvSpPr>
        <p:spPr>
          <a:xfrm>
            <a:off x="533400" y="4114800"/>
            <a:ext cx="6383552" cy="1905000"/>
          </a:xfrm>
        </p:spPr>
        <p:txBody>
          <a:bodyPr anchor="ctr">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6/9/2026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62722967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56283" y="533400"/>
            <a:ext cx="6859787" cy="2895600"/>
          </a:xfrm>
        </p:spPr>
        <p:txBody>
          <a:bodyPr anchor="ctr">
            <a:normAutofit/>
          </a:bodyPr>
          <a:lstStyle>
            <a:lvl1pPr algn="l">
              <a:defRPr sz="2800" b="0" cap="all">
                <a:solidFill>
                  <a:schemeClr val="tx1"/>
                </a:solidFill>
              </a:defRPr>
            </a:lvl1pPr>
          </a:lstStyle>
          <a:p>
            <a:r>
              <a:rPr lang="en-US" dirty="0"/>
              <a:t>Click to edit Master title style</a:t>
            </a:r>
          </a:p>
        </p:txBody>
      </p:sp>
      <p:sp>
        <p:nvSpPr>
          <p:cNvPr id="10" name="Text Placeholder 9"/>
          <p:cNvSpPr>
            <a:spLocks noGrp="1"/>
          </p:cNvSpPr>
          <p:nvPr>
            <p:ph type="body" sz="quarter" idx="13"/>
          </p:nvPr>
        </p:nvSpPr>
        <p:spPr>
          <a:xfrm>
            <a:off x="1066800" y="3429000"/>
            <a:ext cx="6402467" cy="4826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Click to edit Master text styles</a:t>
            </a:r>
          </a:p>
        </p:txBody>
      </p:sp>
      <p:sp>
        <p:nvSpPr>
          <p:cNvPr id="3" name="Text Placeholder 2"/>
          <p:cNvSpPr>
            <a:spLocks noGrp="1"/>
          </p:cNvSpPr>
          <p:nvPr>
            <p:ph type="body" idx="1"/>
          </p:nvPr>
        </p:nvSpPr>
        <p:spPr>
          <a:xfrm>
            <a:off x="533400" y="4301070"/>
            <a:ext cx="6382361" cy="1718730"/>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6/9/2026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14" name="TextBox 13"/>
          <p:cNvSpPr txBox="1"/>
          <p:nvPr/>
        </p:nvSpPr>
        <p:spPr>
          <a:xfrm>
            <a:off x="228600" y="710624"/>
            <a:ext cx="457319"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7696200" y="2768601"/>
            <a:ext cx="457319"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1356028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533400" y="3429000"/>
            <a:ext cx="6382361" cy="1697400"/>
          </a:xfrm>
        </p:spPr>
        <p:txBody>
          <a:bodyPr anchor="b">
            <a:normAutofit/>
          </a:bodyPr>
          <a:lstStyle>
            <a:lvl1pPr algn="l">
              <a:defRPr sz="2800" b="0" cap="all"/>
            </a:lvl1pPr>
          </a:lstStyle>
          <a:p>
            <a:r>
              <a:rPr lang="en-US" dirty="0"/>
              <a:t>Click to edit Master title style</a:t>
            </a:r>
          </a:p>
        </p:txBody>
      </p:sp>
      <p:sp>
        <p:nvSpPr>
          <p:cNvPr id="3" name="Text Placeholder 2"/>
          <p:cNvSpPr>
            <a:spLocks noGrp="1"/>
          </p:cNvSpPr>
          <p:nvPr>
            <p:ph type="body" idx="1"/>
          </p:nvPr>
        </p:nvSpPr>
        <p:spPr>
          <a:xfrm>
            <a:off x="533400" y="5132980"/>
            <a:ext cx="6383552" cy="886819"/>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6/9/2026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83350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856284" y="533400"/>
            <a:ext cx="6859786" cy="2895600"/>
          </a:xfrm>
        </p:spPr>
        <p:txBody>
          <a:bodyPr anchor="ctr">
            <a:normAutofit/>
          </a:bodyPr>
          <a:lstStyle>
            <a:lvl1pPr algn="l">
              <a:defRPr sz="2800" b="0" cap="all">
                <a:solidFill>
                  <a:schemeClr val="tx1"/>
                </a:solidFill>
              </a:defRPr>
            </a:lvl1pPr>
          </a:lstStyle>
          <a:p>
            <a:r>
              <a:rPr lang="en-US" dirty="0"/>
              <a:t>Click to edit Master title style</a:t>
            </a:r>
          </a:p>
        </p:txBody>
      </p:sp>
      <p:sp>
        <p:nvSpPr>
          <p:cNvPr id="10" name="Text Placeholder 9"/>
          <p:cNvSpPr>
            <a:spLocks noGrp="1"/>
          </p:cNvSpPr>
          <p:nvPr>
            <p:ph type="body" sz="quarter" idx="13"/>
          </p:nvPr>
        </p:nvSpPr>
        <p:spPr>
          <a:xfrm>
            <a:off x="533400" y="3886200"/>
            <a:ext cx="6382361" cy="1049866"/>
          </a:xfrm>
        </p:spPr>
        <p:txBody>
          <a:bodyPr vert="horz" lIns="91440" tIns="45720" rIns="91440" bIns="45720" rtlCol="0" anchor="b">
            <a:normAutofit/>
          </a:bodyPr>
          <a:lstStyle>
            <a:lvl1pPr>
              <a:buNone/>
              <a:defRPr lang="en-US" sz="2000" b="0" cap="all" dirty="0">
                <a:ln w="3175" cmpd="sng">
                  <a:noFill/>
                </a:ln>
                <a:solidFill>
                  <a:schemeClr val="tx1"/>
                </a:solidFill>
                <a:effectLst/>
              </a:defRPr>
            </a:lvl1pPr>
          </a:lstStyle>
          <a:p>
            <a:pPr marL="0" lvl="0">
              <a:spcBef>
                <a:spcPct val="0"/>
              </a:spcBef>
              <a:buNone/>
            </a:pPr>
            <a:r>
              <a:rPr lang="en-US" dirty="0"/>
              <a:t>Click to edit Master text styles</a:t>
            </a:r>
          </a:p>
        </p:txBody>
      </p:sp>
      <p:sp>
        <p:nvSpPr>
          <p:cNvPr id="3" name="Text Placeholder 2"/>
          <p:cNvSpPr>
            <a:spLocks noGrp="1"/>
          </p:cNvSpPr>
          <p:nvPr>
            <p:ph type="body" idx="1"/>
          </p:nvPr>
        </p:nvSpPr>
        <p:spPr>
          <a:xfrm>
            <a:off x="533400" y="4953000"/>
            <a:ext cx="6382360" cy="10668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6/9/2026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14" name="TextBox 13"/>
          <p:cNvSpPr txBox="1"/>
          <p:nvPr/>
        </p:nvSpPr>
        <p:spPr>
          <a:xfrm>
            <a:off x="228600" y="710624"/>
            <a:ext cx="457319"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7696200" y="2768601"/>
            <a:ext cx="457319"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96717726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533400" y="533400"/>
            <a:ext cx="7525658" cy="2895600"/>
          </a:xfrm>
        </p:spPr>
        <p:txBody>
          <a:bodyPr vert="horz" lIns="91440" tIns="45720" rIns="91440" bIns="45720" rtlCol="0" anchor="ctr">
            <a:normAutofit/>
          </a:bodyPr>
          <a:lstStyle>
            <a:lvl1pPr>
              <a:defRPr lang="en-US" sz="2800" b="0" dirty="0"/>
            </a:lvl1pPr>
          </a:lstStyle>
          <a:p>
            <a:pPr marL="0" lvl="0"/>
            <a:r>
              <a:rPr lang="en-US" dirty="0"/>
              <a:t>Click to edit Master title style</a:t>
            </a:r>
          </a:p>
        </p:txBody>
      </p:sp>
      <p:sp>
        <p:nvSpPr>
          <p:cNvPr id="10" name="Text Placeholder 9"/>
          <p:cNvSpPr>
            <a:spLocks noGrp="1"/>
          </p:cNvSpPr>
          <p:nvPr>
            <p:ph type="body" sz="quarter" idx="13"/>
          </p:nvPr>
        </p:nvSpPr>
        <p:spPr>
          <a:xfrm>
            <a:off x="533400" y="3928534"/>
            <a:ext cx="6382361" cy="838200"/>
          </a:xfrm>
        </p:spPr>
        <p:txBody>
          <a:bodyPr vert="horz" lIns="91440" tIns="45720" rIns="91440" bIns="45720" rtlCol="0" anchor="b">
            <a:normAutofit/>
          </a:bodyPr>
          <a:lstStyle>
            <a:lvl1pPr>
              <a:buNone/>
              <a:defRPr lang="en-US" sz="2000" b="0" cap="all" dirty="0">
                <a:ln w="3175" cmpd="sng">
                  <a:noFill/>
                </a:ln>
                <a:solidFill>
                  <a:schemeClr val="tx1"/>
                </a:solidFill>
                <a:effectLst/>
              </a:defRPr>
            </a:lvl1pPr>
          </a:lstStyle>
          <a:p>
            <a:pPr marL="0" lvl="0">
              <a:spcBef>
                <a:spcPct val="0"/>
              </a:spcBef>
              <a:buNone/>
            </a:pPr>
            <a:r>
              <a:rPr lang="en-US" dirty="0"/>
              <a:t>Click to edit Master text styles</a:t>
            </a:r>
          </a:p>
        </p:txBody>
      </p:sp>
      <p:sp>
        <p:nvSpPr>
          <p:cNvPr id="3" name="Text Placeholder 2"/>
          <p:cNvSpPr>
            <a:spLocks noGrp="1"/>
          </p:cNvSpPr>
          <p:nvPr>
            <p:ph type="body" idx="1"/>
          </p:nvPr>
        </p:nvSpPr>
        <p:spPr>
          <a:xfrm>
            <a:off x="533400" y="4766735"/>
            <a:ext cx="6382360" cy="1253065"/>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6/9/2026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84323805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533400" y="4495800"/>
            <a:ext cx="6554867" cy="1524000"/>
          </a:xfrm>
        </p:spPr>
        <p:txBody>
          <a:bodyPr>
            <a:normAutofit/>
          </a:bodyPr>
          <a:lstStyle>
            <a:lvl1pPr algn="l">
              <a:defRPr sz="2800"/>
            </a:lvl1pPr>
          </a:lstStyle>
          <a:p>
            <a:r>
              <a:rPr lang="en-US" dirty="0"/>
              <a:t>Click to edit Master title style</a:t>
            </a:r>
          </a:p>
        </p:txBody>
      </p:sp>
      <p:sp>
        <p:nvSpPr>
          <p:cNvPr id="3" name="Vertical Text Placeholder 2"/>
          <p:cNvSpPr>
            <a:spLocks noGrp="1"/>
          </p:cNvSpPr>
          <p:nvPr>
            <p:ph type="body" orient="vert" idx="1"/>
          </p:nvPr>
        </p:nvSpPr>
        <p:spPr>
          <a:xfrm>
            <a:off x="533400" y="533401"/>
            <a:ext cx="6554867" cy="3767670"/>
          </a:xfrm>
        </p:spPr>
        <p:txBody>
          <a:bodyPr vert="eaVert" ancho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6/9/2026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84663088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66406" y="533400"/>
            <a:ext cx="2044194" cy="4419600"/>
          </a:xfrm>
        </p:spPr>
        <p:txBody>
          <a:bodyPr vert="eaVert">
            <a:normAutofit/>
          </a:bodyPr>
          <a:lstStyle>
            <a:lvl1pPr>
              <a:defRPr sz="2800"/>
            </a:lvl1pPr>
          </a:lstStyle>
          <a:p>
            <a:r>
              <a:rPr lang="en-US" dirty="0"/>
              <a:t>Click to edit Master title style</a:t>
            </a:r>
          </a:p>
        </p:txBody>
      </p:sp>
      <p:sp>
        <p:nvSpPr>
          <p:cNvPr id="3" name="Vertical Text Placeholder 2"/>
          <p:cNvSpPr>
            <a:spLocks noGrp="1"/>
          </p:cNvSpPr>
          <p:nvPr>
            <p:ph type="body" orient="vert" idx="1"/>
          </p:nvPr>
        </p:nvSpPr>
        <p:spPr>
          <a:xfrm>
            <a:off x="533400" y="533400"/>
            <a:ext cx="5850012" cy="5486400"/>
          </a:xfrm>
        </p:spPr>
        <p:txBody>
          <a:bodyPr vert="eaVert" ancho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6/9/2026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6788720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390512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7" name="Group 6"/>
          <p:cNvGrpSpPr/>
          <p:nvPr/>
        </p:nvGrpSpPr>
        <p:grpSpPr>
          <a:xfrm>
            <a:off x="6670675" y="3894667"/>
            <a:ext cx="2470456" cy="2658533"/>
            <a:chOff x="6687077" y="3259666"/>
            <a:chExt cx="2981857" cy="3208867"/>
          </a:xfrm>
        </p:grpSpPr>
        <p:cxnSp>
          <p:nvCxnSpPr>
            <p:cNvPr id="8" name="Straight Connector 7"/>
            <p:cNvCxnSpPr/>
            <p:nvPr/>
          </p:nvCxnSpPr>
          <p:spPr>
            <a:xfrm flipH="1">
              <a:off x="8756120" y="3259666"/>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flipH="1">
              <a:off x="6687077" y="3486677"/>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flipH="1">
              <a:off x="7772400" y="3581400"/>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H="1">
              <a:off x="7923214" y="3433394"/>
              <a:ext cx="1739738" cy="173974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flipH="1">
              <a:off x="8398935" y="3985317"/>
              <a:ext cx="1264017" cy="1264016"/>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 name="Title Placeholder 1"/>
          <p:cNvSpPr>
            <a:spLocks noGrp="1"/>
          </p:cNvSpPr>
          <p:nvPr>
            <p:ph type="title"/>
          </p:nvPr>
        </p:nvSpPr>
        <p:spPr>
          <a:xfrm>
            <a:off x="533400" y="4495800"/>
            <a:ext cx="6554867" cy="1524000"/>
          </a:xfrm>
          <a:prstGeom prst="rect">
            <a:avLst/>
          </a:prstGeom>
          <a:effectLst/>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533400" y="533401"/>
            <a:ext cx="6554867" cy="3767670"/>
          </a:xfrm>
          <a:prstGeom prst="rect">
            <a:avLst/>
          </a:prstGeom>
        </p:spPr>
        <p:txBody>
          <a:bodyPr vert="horz" lIns="91440" tIns="45720" rIns="91440" bIns="45720" rtlCol="0" anchor="ct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7430245" y="6172203"/>
            <a:ext cx="1200463" cy="365125"/>
          </a:xfrm>
          <a:prstGeom prst="rect">
            <a:avLst/>
          </a:prstGeom>
        </p:spPr>
        <p:txBody>
          <a:bodyPr vert="horz" lIns="91440" tIns="45720" rIns="91440" bIns="45720" rtlCol="0" anchor="t"/>
          <a:lstStyle>
            <a:lvl1pPr algn="r">
              <a:defRPr sz="1000" b="0" i="0">
                <a:solidFill>
                  <a:schemeClr val="bg2">
                    <a:lumMod val="50000"/>
                  </a:schemeClr>
                </a:solidFill>
                <a:effectLst/>
                <a:latin typeface="+mn-lt"/>
              </a:defRPr>
            </a:lvl1pPr>
          </a:lstStyle>
          <a:p>
            <a:fld id="{B61BEF0D-F0BB-DE4B-95CE-6DB70DBA9567}" type="datetimeFigureOut">
              <a:rPr lang="en-US" dirty="0"/>
              <a:pPr/>
              <a:t>6/9/2026</a:t>
            </a:fld>
            <a:endParaRPr lang="en-US" dirty="0"/>
          </a:p>
        </p:txBody>
      </p:sp>
      <p:sp>
        <p:nvSpPr>
          <p:cNvPr id="5" name="Footer Placeholder 4"/>
          <p:cNvSpPr>
            <a:spLocks noGrp="1"/>
          </p:cNvSpPr>
          <p:nvPr>
            <p:ph type="ftr" sz="quarter" idx="3"/>
          </p:nvPr>
        </p:nvSpPr>
        <p:spPr>
          <a:xfrm>
            <a:off x="533400" y="6172200"/>
            <a:ext cx="5811724" cy="365125"/>
          </a:xfrm>
          <a:prstGeom prst="rect">
            <a:avLst/>
          </a:prstGeom>
        </p:spPr>
        <p:txBody>
          <a:bodyPr vert="horz" lIns="91440" tIns="45720" rIns="91440" bIns="45720" rtlCol="0" anchor="t"/>
          <a:lstStyle>
            <a:lvl1pPr algn="l">
              <a:defRPr sz="1000" b="0" i="0">
                <a:solidFill>
                  <a:schemeClr val="bg2">
                    <a:lumMod val="50000"/>
                  </a:schemeClr>
                </a:solidFill>
                <a:effectLst/>
                <a:latin typeface="+mn-lt"/>
              </a:defRPr>
            </a:lvl1pPr>
          </a:lstStyle>
          <a:p>
            <a:endParaRPr lang="en-US" dirty="0"/>
          </a:p>
        </p:txBody>
      </p:sp>
      <p:sp>
        <p:nvSpPr>
          <p:cNvPr id="6" name="Slide Number Placeholder 5"/>
          <p:cNvSpPr>
            <a:spLocks noGrp="1"/>
          </p:cNvSpPr>
          <p:nvPr>
            <p:ph type="sldNum" sz="quarter" idx="4"/>
          </p:nvPr>
        </p:nvSpPr>
        <p:spPr>
          <a:xfrm>
            <a:off x="7774426" y="5578478"/>
            <a:ext cx="856907" cy="669925"/>
          </a:xfrm>
          <a:prstGeom prst="rect">
            <a:avLst/>
          </a:prstGeom>
        </p:spPr>
        <p:txBody>
          <a:bodyPr vert="horz" lIns="91440" tIns="45720" rIns="91440" bIns="45720" rtlCol="0" anchor="b"/>
          <a:lstStyle>
            <a:lvl1pPr algn="r">
              <a:defRPr sz="2800" b="0" i="0">
                <a:solidFill>
                  <a:schemeClr val="bg2">
                    <a:lumMod val="50000"/>
                  </a:schemeClr>
                </a:solidFill>
                <a:effectLst/>
                <a:latin typeface="+mn-lt"/>
              </a:defRPr>
            </a:lvl1pPr>
          </a:lstStyle>
          <a:p>
            <a:fld id="{D57F1E4F-1CFF-5643-939E-217C01CDF565}" type="slidenum">
              <a:rPr lang="en-US" dirty="0"/>
              <a:pPr/>
              <a:t>‹#›</a:t>
            </a:fld>
            <a:endParaRPr lang="en-US" dirty="0"/>
          </a:p>
        </p:txBody>
      </p:sp>
    </p:spTree>
    <p:extLst>
      <p:ext uri="{BB962C8B-B14F-4D97-AF65-F5344CB8AC3E}">
        <p14:creationId xmlns:p14="http://schemas.microsoft.com/office/powerpoint/2010/main" val="1226655712"/>
      </p:ext>
    </p:extLst>
  </p:cSld>
  <p:clrMap bg1="dk1" tx1="lt1" bg2="dk2" tx2="lt2" accent1="accent1" accent2="accent2" accent3="accent3" accent4="accent4" accent5="accent5" accent6="accent6" hlink="hlink" folHlink="folHlink"/>
  <p:sldLayoutIdLst>
    <p:sldLayoutId id="2147483784" r:id="rId1"/>
    <p:sldLayoutId id="2147483785" r:id="rId2"/>
    <p:sldLayoutId id="2147483786" r:id="rId3"/>
    <p:sldLayoutId id="2147483787" r:id="rId4"/>
    <p:sldLayoutId id="2147483788" r:id="rId5"/>
    <p:sldLayoutId id="2147483789" r:id="rId6"/>
    <p:sldLayoutId id="2147483790" r:id="rId7"/>
    <p:sldLayoutId id="2147483791" r:id="rId8"/>
    <p:sldLayoutId id="2147483792" r:id="rId9"/>
    <p:sldLayoutId id="2147483793" r:id="rId10"/>
    <p:sldLayoutId id="2147483794" r:id="rId11"/>
    <p:sldLayoutId id="2147483795" r:id="rId12"/>
    <p:sldLayoutId id="2147483796" r:id="rId13"/>
    <p:sldLayoutId id="2147483797" r:id="rId14"/>
    <p:sldLayoutId id="2147483798" r:id="rId15"/>
    <p:sldLayoutId id="2147483799" r:id="rId16"/>
    <p:sldLayoutId id="2147483800" r:id="rId17"/>
    <p:sldLayoutId id="2147483801" r:id="rId18"/>
  </p:sldLayoutIdLst>
  <p:txStyles>
    <p:titleStyle>
      <a:lvl1pPr algn="l" defTabSz="457200" rtl="0" eaLnBrk="1" latinLnBrk="0" hangingPunct="1">
        <a:spcBef>
          <a:spcPct val="0"/>
        </a:spcBef>
        <a:buNone/>
        <a:defRPr sz="32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2000" kern="1200" cap="none">
          <a:solidFill>
            <a:schemeClr val="bg2">
              <a:lumMod val="7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800" kern="1200" cap="none">
          <a:solidFill>
            <a:schemeClr val="bg2">
              <a:lumMod val="7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600" kern="1200" cap="none">
          <a:solidFill>
            <a:schemeClr val="bg2">
              <a:lumMod val="7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87569" y="211015"/>
            <a:ext cx="7385636" cy="3006971"/>
          </a:xfrm>
        </p:spPr>
        <p:txBody>
          <a:bodyPr/>
          <a:lstStyle/>
          <a:p>
            <a:r>
              <a:rPr>
                <a:solidFill>
                  <a:schemeClr val="bg1"/>
                </a:solidFill>
              </a:rPr>
              <a:t>Project Overview</a:t>
            </a:r>
          </a:p>
        </p:txBody>
      </p:sp>
      <p:sp>
        <p:nvSpPr>
          <p:cNvPr id="3" name="Subtitle 2"/>
          <p:cNvSpPr>
            <a:spLocks noGrp="1"/>
          </p:cNvSpPr>
          <p:nvPr>
            <p:ph type="subTitle" idx="1"/>
          </p:nvPr>
        </p:nvSpPr>
        <p:spPr>
          <a:xfrm>
            <a:off x="187569" y="3609406"/>
            <a:ext cx="7134741" cy="1913466"/>
          </a:xfrm>
        </p:spPr>
        <p:txBody>
          <a:bodyPr/>
          <a:lstStyle/>
          <a:p>
            <a:r>
              <a:rPr sz="1800" dirty="0">
                <a:solidFill>
                  <a:schemeClr val="tx1"/>
                </a:solidFill>
              </a:rPr>
              <a:t>Brazilian E-Commerce Public Dataset by </a:t>
            </a:r>
            <a:r>
              <a:rPr sz="1800" dirty="0" err="1">
                <a:solidFill>
                  <a:schemeClr val="tx1"/>
                </a:solidFill>
              </a:rPr>
              <a:t>Olist</a:t>
            </a:r>
            <a:endParaRPr lang="en-US" sz="1800">
              <a:solidFill>
                <a:schemeClr val="tx1"/>
              </a:solidFill>
            </a:endParaRPr>
          </a:p>
          <a:p>
            <a:r>
              <a:rPr sz="1800" dirty="0">
                <a:solidFill>
                  <a:schemeClr val="tx1"/>
                </a:solidFill>
              </a:rPr>
              <a:t>Tools: </a:t>
            </a:r>
            <a:r>
              <a:rPr sz="1800" dirty="0" err="1">
                <a:solidFill>
                  <a:schemeClr val="tx1"/>
                </a:solidFill>
              </a:rPr>
              <a:t>DuckDB</a:t>
            </a:r>
            <a:r>
              <a:rPr sz="1800" dirty="0">
                <a:solidFill>
                  <a:schemeClr val="tx1"/>
                </a:solidFill>
              </a:rPr>
              <a:t>, </a:t>
            </a:r>
            <a:r>
              <a:rPr sz="1800" dirty="0" err="1">
                <a:solidFill>
                  <a:schemeClr val="tx1"/>
                </a:solidFill>
              </a:rPr>
              <a:t>dbt</a:t>
            </a:r>
            <a:r>
              <a:rPr sz="1800" dirty="0">
                <a:solidFill>
                  <a:schemeClr val="tx1"/>
                </a:solidFill>
              </a:rPr>
              <a:t>, Python, Pandas, Matplotlib</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646" y="1905000"/>
            <a:ext cx="6554867" cy="1524000"/>
          </a:xfrm>
        </p:spPr>
        <p:txBody>
          <a:bodyPr/>
          <a:lstStyle/>
          <a:p>
            <a:r>
              <a:rPr>
                <a:solidFill>
                  <a:schemeClr val="bg1"/>
                </a:solidFill>
              </a:rPr>
              <a:t>Architecture</a:t>
            </a:r>
          </a:p>
        </p:txBody>
      </p:sp>
      <p:sp>
        <p:nvSpPr>
          <p:cNvPr id="3" name="Content Placeholder 2"/>
          <p:cNvSpPr>
            <a:spLocks noGrp="1"/>
          </p:cNvSpPr>
          <p:nvPr>
            <p:ph idx="1"/>
          </p:nvPr>
        </p:nvSpPr>
        <p:spPr>
          <a:xfrm>
            <a:off x="2" y="2667000"/>
            <a:ext cx="9151527" cy="2478132"/>
          </a:xfrm>
        </p:spPr>
        <p:txBody>
          <a:bodyPr/>
          <a:lstStyle/>
          <a:p>
            <a:r>
              <a:rPr sz="1800" dirty="0">
                <a:solidFill>
                  <a:schemeClr val="tx1"/>
                </a:solidFill>
              </a:rPr>
              <a:t>CSV Files → </a:t>
            </a:r>
            <a:r>
              <a:rPr sz="1800" dirty="0" err="1">
                <a:solidFill>
                  <a:schemeClr val="tx1"/>
                </a:solidFill>
              </a:rPr>
              <a:t>DuckDB</a:t>
            </a:r>
            <a:r>
              <a:rPr sz="1800" dirty="0">
                <a:solidFill>
                  <a:schemeClr val="tx1"/>
                </a:solidFill>
              </a:rPr>
              <a:t> → </a:t>
            </a:r>
            <a:r>
              <a:rPr sz="1800" dirty="0" err="1">
                <a:solidFill>
                  <a:schemeClr val="tx1"/>
                </a:solidFill>
              </a:rPr>
              <a:t>dbt</a:t>
            </a:r>
            <a:r>
              <a:rPr sz="1800" dirty="0">
                <a:solidFill>
                  <a:schemeClr val="tx1"/>
                </a:solidFill>
              </a:rPr>
              <a:t> Staging → Star Schema → </a:t>
            </a:r>
            <a:r>
              <a:rPr sz="1800" dirty="0" err="1">
                <a:solidFill>
                  <a:schemeClr val="tx1"/>
                </a:solidFill>
              </a:rPr>
              <a:t>dbt</a:t>
            </a:r>
            <a:r>
              <a:rPr sz="1800" dirty="0">
                <a:solidFill>
                  <a:schemeClr val="tx1"/>
                </a:solidFill>
              </a:rPr>
              <a:t> Tests → Analytics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055077"/>
            <a:ext cx="6554867" cy="1096108"/>
          </a:xfrm>
        </p:spPr>
        <p:txBody>
          <a:bodyPr/>
          <a:lstStyle/>
          <a:p>
            <a:r>
              <a:rPr>
                <a:solidFill>
                  <a:schemeClr val="bg1"/>
                </a:solidFill>
              </a:rPr>
              <a:t>Star Schema</a:t>
            </a:r>
          </a:p>
        </p:txBody>
      </p:sp>
      <p:sp>
        <p:nvSpPr>
          <p:cNvPr id="3" name="Content Placeholder 2"/>
          <p:cNvSpPr>
            <a:spLocks noGrp="1"/>
          </p:cNvSpPr>
          <p:nvPr>
            <p:ph idx="1"/>
          </p:nvPr>
        </p:nvSpPr>
        <p:spPr>
          <a:xfrm>
            <a:off x="228600" y="5404339"/>
            <a:ext cx="7914743" cy="1452362"/>
          </a:xfrm>
        </p:spPr>
        <p:txBody>
          <a:bodyPr/>
          <a:lstStyle/>
          <a:p>
            <a:r>
              <a:rPr sz="1800" dirty="0">
                <a:solidFill>
                  <a:schemeClr val="tx1"/>
                </a:solidFill>
              </a:rPr>
              <a:t>Fact: fact_sales</a:t>
            </a:r>
            <a:endParaRPr lang="en-US" sz="1800">
              <a:solidFill>
                <a:schemeClr val="tx1"/>
              </a:solidFill>
            </a:endParaRPr>
          </a:p>
          <a:p>
            <a:r>
              <a:rPr sz="1800" dirty="0">
                <a:solidFill>
                  <a:schemeClr val="tx1"/>
                </a:solidFill>
              </a:rPr>
              <a:t>Dimensions: dim_customer, dim_product, dim_seller</a:t>
            </a:r>
          </a:p>
        </p:txBody>
      </p:sp>
      <p:sp>
        <p:nvSpPr>
          <p:cNvPr id="6" name="TextBox 5">
            <a:extLst>
              <a:ext uri="{FF2B5EF4-FFF2-40B4-BE49-F238E27FC236}">
                <a16:creationId xmlns:a16="http://schemas.microsoft.com/office/drawing/2014/main" id="{04EF12ED-33EF-9957-3B97-7463A89DAB56}"/>
              </a:ext>
            </a:extLst>
          </p:cNvPr>
          <p:cNvSpPr txBox="1"/>
          <p:nvPr/>
        </p:nvSpPr>
        <p:spPr>
          <a:xfrm>
            <a:off x="1635369" y="3587262"/>
            <a:ext cx="1676401" cy="461665"/>
          </a:xfrm>
          <a:prstGeom prst="rect">
            <a:avLst/>
          </a:prstGeom>
          <a:solidFill>
            <a:schemeClr val="tx2"/>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400" dirty="0">
                <a:solidFill>
                  <a:srgbClr val="262626"/>
                </a:solidFill>
              </a:rPr>
              <a:t>fact_sales</a:t>
            </a:r>
            <a:endParaRPr lang="en-US" dirty="0" err="1"/>
          </a:p>
        </p:txBody>
      </p:sp>
      <p:cxnSp>
        <p:nvCxnSpPr>
          <p:cNvPr id="7" name="Straight Arrow Connector 6">
            <a:extLst>
              <a:ext uri="{FF2B5EF4-FFF2-40B4-BE49-F238E27FC236}">
                <a16:creationId xmlns:a16="http://schemas.microsoft.com/office/drawing/2014/main" id="{AC5512C5-C53E-14C9-4EF9-AA712CFA0101}"/>
              </a:ext>
            </a:extLst>
          </p:cNvPr>
          <p:cNvCxnSpPr/>
          <p:nvPr/>
        </p:nvCxnSpPr>
        <p:spPr>
          <a:xfrm>
            <a:off x="3399691" y="3827584"/>
            <a:ext cx="914400" cy="914400"/>
          </a:xfrm>
          <a:prstGeom prst="straightConnector1">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3323F2A7-D149-A20A-C67B-63EE505FFF10}"/>
              </a:ext>
            </a:extLst>
          </p:cNvPr>
          <p:cNvCxnSpPr/>
          <p:nvPr/>
        </p:nvCxnSpPr>
        <p:spPr>
          <a:xfrm flipH="1">
            <a:off x="3387969" y="2854568"/>
            <a:ext cx="926123" cy="926124"/>
          </a:xfrm>
          <a:prstGeom prst="straightConnector1">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EC5D17D2-6ECC-7755-BD96-903481ED9970}"/>
              </a:ext>
            </a:extLst>
          </p:cNvPr>
          <p:cNvCxnSpPr/>
          <p:nvPr/>
        </p:nvCxnSpPr>
        <p:spPr>
          <a:xfrm flipH="1">
            <a:off x="3382107" y="3792416"/>
            <a:ext cx="1002322" cy="11722"/>
          </a:xfrm>
          <a:prstGeom prst="straightConnector1">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23FF5A8C-374B-8EDF-352F-1397BC3928AC}"/>
              </a:ext>
            </a:extLst>
          </p:cNvPr>
          <p:cNvSpPr txBox="1"/>
          <p:nvPr/>
        </p:nvSpPr>
        <p:spPr>
          <a:xfrm>
            <a:off x="4337537" y="2725616"/>
            <a:ext cx="1875693" cy="381055"/>
          </a:xfrm>
          <a:prstGeom prst="rect">
            <a:avLst/>
          </a:prstGeom>
          <a:solidFill>
            <a:schemeClr val="tx2"/>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dirty="0">
                <a:solidFill>
                  <a:schemeClr val="bg1"/>
                </a:solidFill>
              </a:rPr>
              <a:t>dim_customer</a:t>
            </a:r>
            <a:endParaRPr lang="en-US">
              <a:solidFill>
                <a:schemeClr val="bg1"/>
              </a:solidFill>
            </a:endParaRPr>
          </a:p>
        </p:txBody>
      </p:sp>
      <p:sp>
        <p:nvSpPr>
          <p:cNvPr id="12" name="TextBox 11">
            <a:extLst>
              <a:ext uri="{FF2B5EF4-FFF2-40B4-BE49-F238E27FC236}">
                <a16:creationId xmlns:a16="http://schemas.microsoft.com/office/drawing/2014/main" id="{631376E8-905C-7EA0-3B85-AC1E4178D408}"/>
              </a:ext>
            </a:extLst>
          </p:cNvPr>
          <p:cNvSpPr txBox="1"/>
          <p:nvPr/>
        </p:nvSpPr>
        <p:spPr>
          <a:xfrm>
            <a:off x="4337537" y="3593121"/>
            <a:ext cx="1875691" cy="369332"/>
          </a:xfrm>
          <a:prstGeom prst="rect">
            <a:avLst/>
          </a:prstGeom>
          <a:solidFill>
            <a:schemeClr val="tx2"/>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dirty="0">
                <a:solidFill>
                  <a:schemeClr val="bg1"/>
                </a:solidFill>
              </a:rPr>
              <a:t>dim_product</a:t>
            </a:r>
          </a:p>
        </p:txBody>
      </p:sp>
      <p:sp>
        <p:nvSpPr>
          <p:cNvPr id="13" name="TextBox 12">
            <a:extLst>
              <a:ext uri="{FF2B5EF4-FFF2-40B4-BE49-F238E27FC236}">
                <a16:creationId xmlns:a16="http://schemas.microsoft.com/office/drawing/2014/main" id="{01694F03-80DB-14BD-997A-67B2221B4F0F}"/>
              </a:ext>
            </a:extLst>
          </p:cNvPr>
          <p:cNvSpPr txBox="1"/>
          <p:nvPr/>
        </p:nvSpPr>
        <p:spPr>
          <a:xfrm>
            <a:off x="4337537" y="4577860"/>
            <a:ext cx="1875692" cy="369332"/>
          </a:xfrm>
          <a:prstGeom prst="rect">
            <a:avLst/>
          </a:prstGeom>
          <a:solidFill>
            <a:schemeClr val="tx2"/>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dirty="0">
                <a:solidFill>
                  <a:schemeClr val="bg1"/>
                </a:solidFill>
              </a:rPr>
              <a:t>dim_seller</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2665" y="10702"/>
            <a:ext cx="9149326" cy="6836950"/>
          </a:xfrm>
          <a:prstGeom prst="rect">
            <a:avLst/>
          </a:prstGeom>
          <a:solidFill>
            <a:srgbClr val="1A3A5C"/>
          </a:solidFill>
          <a:ln/>
        </p:spPr>
        <p:txBody>
          <a:bodyPr/>
          <a:lstStyle/>
          <a:p>
            <a:endParaRPr lang="en-US"/>
          </a:p>
        </p:txBody>
      </p:sp>
      <p:sp>
        <p:nvSpPr>
          <p:cNvPr id="3" name="Shape 1"/>
          <p:cNvSpPr/>
          <p:nvPr/>
        </p:nvSpPr>
        <p:spPr>
          <a:xfrm>
            <a:off x="1954" y="2354"/>
            <a:ext cx="88769" cy="6438188"/>
          </a:xfrm>
          <a:prstGeom prst="rect">
            <a:avLst/>
          </a:prstGeom>
          <a:solidFill>
            <a:srgbClr val="1A5EA8"/>
          </a:solidFill>
          <a:ln/>
        </p:spPr>
        <p:txBody>
          <a:bodyPr/>
          <a:lstStyle/>
          <a:p>
            <a:endParaRPr lang="en-US"/>
          </a:p>
        </p:txBody>
      </p:sp>
      <p:sp>
        <p:nvSpPr>
          <p:cNvPr id="4" name="Shape 2"/>
          <p:cNvSpPr/>
          <p:nvPr/>
        </p:nvSpPr>
        <p:spPr>
          <a:xfrm>
            <a:off x="-1421" y="6462268"/>
            <a:ext cx="9143467" cy="398211"/>
          </a:xfrm>
          <a:prstGeom prst="rect">
            <a:avLst/>
          </a:prstGeom>
          <a:solidFill>
            <a:srgbClr val="1A5EA8"/>
          </a:solidFill>
          <a:ln/>
        </p:spPr>
        <p:txBody>
          <a:bodyPr/>
          <a:lstStyle/>
          <a:p>
            <a:endParaRPr lang="en-US"/>
          </a:p>
        </p:txBody>
      </p:sp>
      <p:sp>
        <p:nvSpPr>
          <p:cNvPr id="5" name="Text 3"/>
          <p:cNvSpPr/>
          <p:nvPr/>
        </p:nvSpPr>
        <p:spPr>
          <a:xfrm>
            <a:off x="457200" y="1588770"/>
            <a:ext cx="8229600" cy="457200"/>
          </a:xfrm>
          <a:prstGeom prst="rect">
            <a:avLst/>
          </a:prstGeom>
          <a:noFill/>
          <a:ln/>
        </p:spPr>
        <p:txBody>
          <a:bodyPr wrap="square" rtlCol="0" anchor="ctr"/>
          <a:lstStyle/>
          <a:p>
            <a:endParaRPr lang="en-US" sz="1400" dirty="0"/>
          </a:p>
        </p:txBody>
      </p:sp>
      <p:sp>
        <p:nvSpPr>
          <p:cNvPr id="6" name="Text 4"/>
          <p:cNvSpPr/>
          <p:nvPr/>
        </p:nvSpPr>
        <p:spPr>
          <a:xfrm>
            <a:off x="623453" y="2037194"/>
            <a:ext cx="7947893" cy="973514"/>
          </a:xfrm>
          <a:prstGeom prst="rect">
            <a:avLst/>
          </a:prstGeom>
          <a:noFill/>
          <a:ln/>
        </p:spPr>
        <p:txBody>
          <a:bodyPr wrap="square" rtlCol="0" anchor="ctr"/>
          <a:lstStyle/>
          <a:p>
            <a:r>
              <a:rPr lang="en-US" sz="5200" b="1" dirty="0">
                <a:solidFill>
                  <a:srgbClr val="FFFFFF"/>
                </a:solidFill>
              </a:rPr>
              <a:t>Data Quality</a:t>
            </a:r>
            <a:endParaRPr lang="en-US" sz="5200" dirty="0"/>
          </a:p>
        </p:txBody>
      </p:sp>
      <p:sp>
        <p:nvSpPr>
          <p:cNvPr id="7" name="Text 5"/>
          <p:cNvSpPr/>
          <p:nvPr/>
        </p:nvSpPr>
        <p:spPr>
          <a:xfrm>
            <a:off x="669636" y="3014866"/>
            <a:ext cx="7897090" cy="494144"/>
          </a:xfrm>
          <a:prstGeom prst="rect">
            <a:avLst/>
          </a:prstGeom>
          <a:noFill/>
          <a:ln/>
        </p:spPr>
        <p:txBody>
          <a:bodyPr wrap="square" rtlCol="0" anchor="ctr"/>
          <a:lstStyle/>
          <a:p>
            <a:r>
              <a:rPr lang="en-US" sz="2000" dirty="0">
                <a:solidFill>
                  <a:srgbClr val="A0C4F0"/>
                </a:solidFill>
              </a:rPr>
              <a:t>Olist Brazilian E-Commerce Project</a:t>
            </a:r>
            <a:endParaRPr lang="en-US" sz="2000" dirty="0"/>
          </a:p>
        </p:txBody>
      </p:sp>
      <p:sp>
        <p:nvSpPr>
          <p:cNvPr id="8" name="Shape 6"/>
          <p:cNvSpPr/>
          <p:nvPr/>
        </p:nvSpPr>
        <p:spPr>
          <a:xfrm>
            <a:off x="771236" y="3783330"/>
            <a:ext cx="2377440" cy="384048"/>
          </a:xfrm>
          <a:prstGeom prst="rect">
            <a:avLst/>
          </a:prstGeom>
          <a:solidFill>
            <a:srgbClr val="1A5EA8"/>
          </a:solidFill>
          <a:ln/>
        </p:spPr>
        <p:txBody>
          <a:bodyPr/>
          <a:lstStyle/>
          <a:p>
            <a:endParaRPr lang="en-US"/>
          </a:p>
        </p:txBody>
      </p:sp>
      <p:sp>
        <p:nvSpPr>
          <p:cNvPr id="9" name="Text 7"/>
          <p:cNvSpPr/>
          <p:nvPr/>
        </p:nvSpPr>
        <p:spPr>
          <a:xfrm>
            <a:off x="595745" y="3783330"/>
            <a:ext cx="2377440" cy="384048"/>
          </a:xfrm>
          <a:prstGeom prst="rect">
            <a:avLst/>
          </a:prstGeom>
          <a:noFill/>
          <a:ln/>
        </p:spPr>
        <p:txBody>
          <a:bodyPr wrap="square" lIns="0" tIns="0" rIns="0" bIns="0" rtlCol="0" anchor="ctr"/>
          <a:lstStyle/>
          <a:p>
            <a:pPr algn="ctr"/>
            <a:r>
              <a:rPr lang="en-US" sz="1300" b="1" dirty="0">
                <a:solidFill>
                  <a:srgbClr val="FFFFFF"/>
                </a:solidFill>
              </a:rPr>
              <a:t>dbt Native Tests</a:t>
            </a:r>
            <a:endParaRPr lang="en-US" sz="1300" dirty="0"/>
          </a:p>
        </p:txBody>
      </p:sp>
      <p:sp>
        <p:nvSpPr>
          <p:cNvPr id="10" name="Shape 8"/>
          <p:cNvSpPr/>
          <p:nvPr/>
        </p:nvSpPr>
        <p:spPr>
          <a:xfrm>
            <a:off x="3376814" y="3783330"/>
            <a:ext cx="2377440" cy="384048"/>
          </a:xfrm>
          <a:prstGeom prst="rect">
            <a:avLst/>
          </a:prstGeom>
          <a:solidFill>
            <a:srgbClr val="1A5EA8"/>
          </a:solidFill>
          <a:ln/>
        </p:spPr>
        <p:txBody>
          <a:bodyPr/>
          <a:lstStyle/>
          <a:p>
            <a:endParaRPr lang="en-US"/>
          </a:p>
        </p:txBody>
      </p:sp>
      <p:sp>
        <p:nvSpPr>
          <p:cNvPr id="11" name="Text 9"/>
          <p:cNvSpPr/>
          <p:nvPr/>
        </p:nvSpPr>
        <p:spPr>
          <a:xfrm>
            <a:off x="3376814" y="3783330"/>
            <a:ext cx="2377440" cy="384048"/>
          </a:xfrm>
          <a:prstGeom prst="rect">
            <a:avLst/>
          </a:prstGeom>
          <a:noFill/>
          <a:ln/>
        </p:spPr>
        <p:txBody>
          <a:bodyPr wrap="square" lIns="0" tIns="0" rIns="0" bIns="0" rtlCol="0" anchor="ctr"/>
          <a:lstStyle/>
          <a:p>
            <a:pPr algn="ctr"/>
            <a:r>
              <a:rPr lang="en-US" sz="1300" b="1" dirty="0">
                <a:solidFill>
                  <a:srgbClr val="FFFFFF"/>
                </a:solidFill>
              </a:rPr>
              <a:t>data_quality.py</a:t>
            </a:r>
            <a:endParaRPr lang="en-US" sz="1300" dirty="0"/>
          </a:p>
        </p:txBody>
      </p:sp>
      <p:sp>
        <p:nvSpPr>
          <p:cNvPr id="12" name="Shape 10"/>
          <p:cNvSpPr/>
          <p:nvPr/>
        </p:nvSpPr>
        <p:spPr>
          <a:xfrm>
            <a:off x="5982393" y="3783330"/>
            <a:ext cx="2377440" cy="384048"/>
          </a:xfrm>
          <a:prstGeom prst="rect">
            <a:avLst/>
          </a:prstGeom>
          <a:solidFill>
            <a:srgbClr val="1A5EA8"/>
          </a:solidFill>
          <a:ln/>
        </p:spPr>
        <p:txBody>
          <a:bodyPr/>
          <a:lstStyle/>
          <a:p>
            <a:endParaRPr lang="en-US"/>
          </a:p>
        </p:txBody>
      </p:sp>
      <p:sp>
        <p:nvSpPr>
          <p:cNvPr id="13" name="Text 11"/>
          <p:cNvSpPr/>
          <p:nvPr/>
        </p:nvSpPr>
        <p:spPr>
          <a:xfrm>
            <a:off x="5982393" y="3783330"/>
            <a:ext cx="2377440" cy="384048"/>
          </a:xfrm>
          <a:prstGeom prst="rect">
            <a:avLst/>
          </a:prstGeom>
          <a:noFill/>
          <a:ln/>
        </p:spPr>
        <p:txBody>
          <a:bodyPr wrap="square" lIns="0" tIns="0" rIns="0" bIns="0" rtlCol="0" anchor="ctr"/>
          <a:lstStyle/>
          <a:p>
            <a:pPr algn="ctr"/>
            <a:r>
              <a:rPr lang="en-US" sz="1300" b="1" dirty="0">
                <a:solidFill>
                  <a:srgbClr val="FFFFFF"/>
                </a:solidFill>
              </a:rPr>
              <a:t>Two-Layer Approach</a:t>
            </a:r>
            <a:endParaRPr lang="en-US" sz="1300" dirty="0"/>
          </a:p>
        </p:txBody>
      </p:sp>
      <p:sp>
        <p:nvSpPr>
          <p:cNvPr id="14" name="Text 12"/>
          <p:cNvSpPr/>
          <p:nvPr/>
        </p:nvSpPr>
        <p:spPr>
          <a:xfrm>
            <a:off x="8046720" y="5630418"/>
            <a:ext cx="914400" cy="274320"/>
          </a:xfrm>
          <a:prstGeom prst="rect">
            <a:avLst/>
          </a:prstGeom>
          <a:noFill/>
          <a:ln/>
        </p:spPr>
        <p:txBody>
          <a:bodyPr wrap="square" rtlCol="0" anchor="ctr"/>
          <a:lstStyle/>
          <a:p>
            <a:pPr algn="r"/>
            <a:endParaRPr lang="en-US" sz="1000" dirty="0"/>
          </a:p>
        </p:txBody>
      </p:sp>
    </p:spTree>
    <p:extLst>
      <p:ext uri="{BB962C8B-B14F-4D97-AF65-F5344CB8AC3E}">
        <p14:creationId xmlns:p14="http://schemas.microsoft.com/office/powerpoint/2010/main" val="17789453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5630" y="223"/>
            <a:ext cx="9181122" cy="6862528"/>
          </a:xfrm>
          <a:prstGeom prst="rect">
            <a:avLst/>
          </a:prstGeom>
          <a:solidFill>
            <a:srgbClr val="F5F8FC"/>
          </a:solidFill>
          <a:ln/>
        </p:spPr>
        <p:txBody>
          <a:bodyPr/>
          <a:lstStyle/>
          <a:p>
            <a:endParaRPr lang="en-US"/>
          </a:p>
        </p:txBody>
      </p:sp>
      <p:sp>
        <p:nvSpPr>
          <p:cNvPr id="3" name="Shape 1"/>
          <p:cNvSpPr/>
          <p:nvPr/>
        </p:nvSpPr>
        <p:spPr>
          <a:xfrm>
            <a:off x="401781" y="5625984"/>
            <a:ext cx="8340438" cy="374766"/>
          </a:xfrm>
          <a:prstGeom prst="rect">
            <a:avLst/>
          </a:prstGeom>
          <a:solidFill>
            <a:srgbClr val="1A5EA8"/>
          </a:solidFill>
          <a:ln/>
        </p:spPr>
        <p:txBody>
          <a:bodyPr/>
          <a:lstStyle/>
          <a:p>
            <a:endParaRPr lang="en-US"/>
          </a:p>
        </p:txBody>
      </p:sp>
      <p:sp>
        <p:nvSpPr>
          <p:cNvPr id="4" name="Shape 2"/>
          <p:cNvSpPr/>
          <p:nvPr/>
        </p:nvSpPr>
        <p:spPr>
          <a:xfrm>
            <a:off x="411480" y="1113282"/>
            <a:ext cx="2194560" cy="292608"/>
          </a:xfrm>
          <a:prstGeom prst="rect">
            <a:avLst/>
          </a:prstGeom>
          <a:solidFill>
            <a:srgbClr val="1A5EA8"/>
          </a:solidFill>
          <a:ln/>
        </p:spPr>
        <p:txBody>
          <a:bodyPr/>
          <a:lstStyle/>
          <a:p>
            <a:endParaRPr lang="en-US"/>
          </a:p>
        </p:txBody>
      </p:sp>
      <p:sp>
        <p:nvSpPr>
          <p:cNvPr id="5" name="Text 3"/>
          <p:cNvSpPr/>
          <p:nvPr/>
        </p:nvSpPr>
        <p:spPr>
          <a:xfrm>
            <a:off x="411480" y="1113282"/>
            <a:ext cx="2194560" cy="292608"/>
          </a:xfrm>
          <a:prstGeom prst="rect">
            <a:avLst/>
          </a:prstGeom>
          <a:noFill/>
          <a:ln/>
        </p:spPr>
        <p:txBody>
          <a:bodyPr wrap="square" lIns="0" tIns="0" rIns="0" bIns="0" rtlCol="0" anchor="ctr"/>
          <a:lstStyle/>
          <a:p>
            <a:pPr algn="ctr"/>
            <a:r>
              <a:rPr lang="en-US" sz="1000" b="1" dirty="0">
                <a:solidFill>
                  <a:srgbClr val="FFFFFF"/>
                </a:solidFill>
              </a:rPr>
              <a:t>Overview</a:t>
            </a:r>
            <a:endParaRPr lang="en-US" sz="1000" dirty="0"/>
          </a:p>
        </p:txBody>
      </p:sp>
      <p:sp>
        <p:nvSpPr>
          <p:cNvPr id="6" name="Text 4"/>
          <p:cNvSpPr/>
          <p:nvPr/>
        </p:nvSpPr>
        <p:spPr>
          <a:xfrm>
            <a:off x="411480" y="1497330"/>
            <a:ext cx="8321040" cy="502920"/>
          </a:xfrm>
          <a:prstGeom prst="rect">
            <a:avLst/>
          </a:prstGeom>
          <a:noFill/>
          <a:ln/>
        </p:spPr>
        <p:txBody>
          <a:bodyPr wrap="square" rtlCol="0" anchor="ctr"/>
          <a:lstStyle/>
          <a:p>
            <a:r>
              <a:rPr lang="en-US" sz="2800" b="1" dirty="0">
                <a:solidFill>
                  <a:srgbClr val="1A3A5C"/>
                </a:solidFill>
              </a:rPr>
              <a:t>A Two-Layer Quality Approach</a:t>
            </a:r>
            <a:endParaRPr lang="en-US" sz="2800" dirty="0"/>
          </a:p>
        </p:txBody>
      </p:sp>
      <p:sp>
        <p:nvSpPr>
          <p:cNvPr id="7" name="Shape 5"/>
          <p:cNvSpPr/>
          <p:nvPr/>
        </p:nvSpPr>
        <p:spPr>
          <a:xfrm>
            <a:off x="411480" y="2064258"/>
            <a:ext cx="8321040" cy="0"/>
          </a:xfrm>
          <a:prstGeom prst="line">
            <a:avLst/>
          </a:prstGeom>
          <a:noFill/>
          <a:ln w="19050">
            <a:solidFill>
              <a:srgbClr val="1A5EA8"/>
            </a:solidFill>
            <a:prstDash val="solid"/>
          </a:ln>
        </p:spPr>
        <p:txBody>
          <a:bodyPr/>
          <a:lstStyle/>
          <a:p>
            <a:endParaRPr lang="en-US"/>
          </a:p>
        </p:txBody>
      </p:sp>
      <p:sp>
        <p:nvSpPr>
          <p:cNvPr id="8" name="Shape 6"/>
          <p:cNvSpPr/>
          <p:nvPr/>
        </p:nvSpPr>
        <p:spPr>
          <a:xfrm>
            <a:off x="411480" y="2228850"/>
            <a:ext cx="3931920" cy="3017520"/>
          </a:xfrm>
          <a:prstGeom prst="rect">
            <a:avLst/>
          </a:prstGeom>
          <a:solidFill>
            <a:srgbClr val="EAF3DE"/>
          </a:solidFill>
          <a:ln w="12700">
            <a:solidFill>
              <a:srgbClr val="B8D9A0"/>
            </a:solidFill>
            <a:prstDash val="solid"/>
          </a:ln>
        </p:spPr>
        <p:txBody>
          <a:bodyPr/>
          <a:lstStyle/>
          <a:p>
            <a:endParaRPr lang="en-US"/>
          </a:p>
        </p:txBody>
      </p:sp>
      <p:sp>
        <p:nvSpPr>
          <p:cNvPr id="9" name="Shape 7"/>
          <p:cNvSpPr/>
          <p:nvPr/>
        </p:nvSpPr>
        <p:spPr>
          <a:xfrm>
            <a:off x="411480" y="2228850"/>
            <a:ext cx="3931920" cy="475488"/>
          </a:xfrm>
          <a:prstGeom prst="rect">
            <a:avLst/>
          </a:prstGeom>
          <a:solidFill>
            <a:srgbClr val="3B6D11"/>
          </a:solidFill>
          <a:ln/>
        </p:spPr>
        <p:txBody>
          <a:bodyPr/>
          <a:lstStyle/>
          <a:p>
            <a:endParaRPr lang="en-US"/>
          </a:p>
        </p:txBody>
      </p:sp>
      <p:sp>
        <p:nvSpPr>
          <p:cNvPr id="10" name="Text 8"/>
          <p:cNvSpPr/>
          <p:nvPr/>
        </p:nvSpPr>
        <p:spPr>
          <a:xfrm>
            <a:off x="411480" y="2228850"/>
            <a:ext cx="3931920" cy="475488"/>
          </a:xfrm>
          <a:prstGeom prst="rect">
            <a:avLst/>
          </a:prstGeom>
          <a:noFill/>
          <a:ln/>
        </p:spPr>
        <p:txBody>
          <a:bodyPr wrap="square" lIns="0" tIns="0" rIns="0" bIns="0" rtlCol="0" anchor="ctr"/>
          <a:lstStyle/>
          <a:p>
            <a:pPr algn="ctr"/>
            <a:r>
              <a:rPr lang="en-US" sz="1500" b="1" dirty="0">
                <a:solidFill>
                  <a:srgbClr val="FFFFFF"/>
                </a:solidFill>
              </a:rPr>
              <a:t>Layer 1 — dbt</a:t>
            </a:r>
            <a:endParaRPr lang="en-US" sz="1500" dirty="0"/>
          </a:p>
        </p:txBody>
      </p:sp>
      <p:sp>
        <p:nvSpPr>
          <p:cNvPr id="11" name="Text 9"/>
          <p:cNvSpPr/>
          <p:nvPr/>
        </p:nvSpPr>
        <p:spPr>
          <a:xfrm>
            <a:off x="594360" y="2823210"/>
            <a:ext cx="3566160" cy="2194560"/>
          </a:xfrm>
          <a:prstGeom prst="rect">
            <a:avLst/>
          </a:prstGeom>
          <a:noFill/>
          <a:ln/>
        </p:spPr>
        <p:txBody>
          <a:bodyPr wrap="square" rtlCol="0" anchor="t"/>
          <a:lstStyle/>
          <a:p>
            <a:pPr>
              <a:lnSpc>
                <a:spcPct val="140000"/>
              </a:lnSpc>
            </a:pPr>
            <a:r>
              <a:rPr lang="en-US" sz="1400" dirty="0">
                <a:solidFill>
                  <a:srgbClr val="1A3A5C"/>
                </a:solidFill>
              </a:rPr>
              <a:t>Structural integrity
</a:t>
            </a:r>
            <a:endParaRPr lang="en-US" sz="1400" dirty="0"/>
          </a:p>
          <a:p>
            <a:pPr>
              <a:lnSpc>
                <a:spcPct val="140000"/>
              </a:lnSpc>
            </a:pPr>
            <a:r>
              <a:rPr lang="en-US" sz="1400" dirty="0">
                <a:solidFill>
                  <a:srgbClr val="1A3A5C"/>
                </a:solidFill>
              </a:rPr>
              <a:t>unique + not_null tests
</a:t>
            </a:r>
            <a:endParaRPr lang="en-US" sz="1400" dirty="0"/>
          </a:p>
          <a:p>
            <a:pPr>
              <a:lnSpc>
                <a:spcPct val="140000"/>
              </a:lnSpc>
            </a:pPr>
            <a:r>
              <a:rPr lang="en-US" sz="1400" dirty="0">
                <a:solidFill>
                  <a:srgbClr val="1A3A5C"/>
                </a:solidFill>
              </a:rPr>
              <a:t>Runs on every model refresh
</a:t>
            </a:r>
            <a:endParaRPr lang="en-US" sz="1400" dirty="0"/>
          </a:p>
          <a:p>
            <a:pPr>
              <a:lnSpc>
                <a:spcPct val="140000"/>
              </a:lnSpc>
            </a:pPr>
            <a:r>
              <a:rPr lang="en-US" sz="1400" dirty="0">
                <a:solidFill>
                  <a:srgbClr val="1A3A5C"/>
                </a:solidFill>
              </a:rPr>
              <a:t>7 tests — all passed</a:t>
            </a:r>
            <a:endParaRPr lang="en-US" sz="1400" dirty="0"/>
          </a:p>
        </p:txBody>
      </p:sp>
      <p:sp>
        <p:nvSpPr>
          <p:cNvPr id="12" name="Shape 10"/>
          <p:cNvSpPr/>
          <p:nvPr/>
        </p:nvSpPr>
        <p:spPr>
          <a:xfrm>
            <a:off x="4800600" y="2228850"/>
            <a:ext cx="3931920" cy="3017520"/>
          </a:xfrm>
          <a:prstGeom prst="rect">
            <a:avLst/>
          </a:prstGeom>
          <a:solidFill>
            <a:srgbClr val="EEEDFE"/>
          </a:solidFill>
          <a:ln w="12700">
            <a:solidFill>
              <a:srgbClr val="C5C0F5"/>
            </a:solidFill>
            <a:prstDash val="solid"/>
          </a:ln>
        </p:spPr>
        <p:txBody>
          <a:bodyPr/>
          <a:lstStyle/>
          <a:p>
            <a:endParaRPr lang="en-US"/>
          </a:p>
        </p:txBody>
      </p:sp>
      <p:sp>
        <p:nvSpPr>
          <p:cNvPr id="13" name="Shape 11"/>
          <p:cNvSpPr/>
          <p:nvPr/>
        </p:nvSpPr>
        <p:spPr>
          <a:xfrm>
            <a:off x="4800600" y="2228850"/>
            <a:ext cx="3931920" cy="475488"/>
          </a:xfrm>
          <a:prstGeom prst="rect">
            <a:avLst/>
          </a:prstGeom>
          <a:solidFill>
            <a:srgbClr val="3C3489"/>
          </a:solidFill>
          <a:ln/>
        </p:spPr>
        <p:txBody>
          <a:bodyPr/>
          <a:lstStyle/>
          <a:p>
            <a:endParaRPr lang="en-US"/>
          </a:p>
        </p:txBody>
      </p:sp>
      <p:sp>
        <p:nvSpPr>
          <p:cNvPr id="14" name="Text 12"/>
          <p:cNvSpPr/>
          <p:nvPr/>
        </p:nvSpPr>
        <p:spPr>
          <a:xfrm>
            <a:off x="4800600" y="2228850"/>
            <a:ext cx="3931920" cy="475488"/>
          </a:xfrm>
          <a:prstGeom prst="rect">
            <a:avLst/>
          </a:prstGeom>
          <a:noFill/>
          <a:ln/>
        </p:spPr>
        <p:txBody>
          <a:bodyPr wrap="square" lIns="0" tIns="0" rIns="0" bIns="0" rtlCol="0" anchor="ctr"/>
          <a:lstStyle/>
          <a:p>
            <a:pPr algn="ctr"/>
            <a:r>
              <a:rPr lang="en-US" sz="1500" b="1" dirty="0">
                <a:solidFill>
                  <a:srgbClr val="FFFFFF"/>
                </a:solidFill>
              </a:rPr>
              <a:t>Layer 2 — Python</a:t>
            </a:r>
            <a:endParaRPr lang="en-US" sz="1500" dirty="0"/>
          </a:p>
        </p:txBody>
      </p:sp>
      <p:sp>
        <p:nvSpPr>
          <p:cNvPr id="15" name="Text 13"/>
          <p:cNvSpPr/>
          <p:nvPr/>
        </p:nvSpPr>
        <p:spPr>
          <a:xfrm>
            <a:off x="4983480" y="2823210"/>
            <a:ext cx="3566160" cy="2194560"/>
          </a:xfrm>
          <a:prstGeom prst="rect">
            <a:avLst/>
          </a:prstGeom>
          <a:noFill/>
          <a:ln/>
        </p:spPr>
        <p:txBody>
          <a:bodyPr wrap="square" rtlCol="0" anchor="t"/>
          <a:lstStyle/>
          <a:p>
            <a:pPr>
              <a:lnSpc>
                <a:spcPct val="140000"/>
              </a:lnSpc>
            </a:pPr>
            <a:r>
              <a:rPr lang="en-US" sz="1400" dirty="0">
                <a:solidFill>
                  <a:srgbClr val="1A3A5C"/>
                </a:solidFill>
              </a:rPr>
              <a:t>Business rule checks
</a:t>
            </a:r>
            <a:endParaRPr lang="en-US" sz="1400" dirty="0"/>
          </a:p>
          <a:p>
            <a:pPr>
              <a:lnSpc>
                <a:spcPct val="140000"/>
              </a:lnSpc>
            </a:pPr>
            <a:r>
              <a:rPr lang="en-US" sz="1400" dirty="0">
                <a:solidFill>
                  <a:srgbClr val="1A3A5C"/>
                </a:solidFill>
              </a:rPr>
              <a:t>Null FKs + negative amounts
</a:t>
            </a:r>
            <a:endParaRPr lang="en-US" sz="1400" dirty="0"/>
          </a:p>
          <a:p>
            <a:pPr>
              <a:lnSpc>
                <a:spcPct val="140000"/>
              </a:lnSpc>
            </a:pPr>
            <a:r>
              <a:rPr lang="en-US" sz="1400" dirty="0">
                <a:solidFill>
                  <a:srgbClr val="1A3A5C"/>
                </a:solidFill>
              </a:rPr>
              <a:t>SQL run against DuckDB
</a:t>
            </a:r>
            <a:endParaRPr lang="en-US" sz="1400" dirty="0"/>
          </a:p>
          <a:p>
            <a:pPr>
              <a:lnSpc>
                <a:spcPct val="140000"/>
              </a:lnSpc>
            </a:pPr>
            <a:r>
              <a:rPr lang="en-US" sz="1400" dirty="0">
                <a:solidFill>
                  <a:srgbClr val="1A3A5C"/>
                </a:solidFill>
              </a:rPr>
              <a:t>4 custom checks</a:t>
            </a:r>
            <a:endParaRPr lang="en-US" sz="1400" dirty="0"/>
          </a:p>
        </p:txBody>
      </p:sp>
      <p:sp>
        <p:nvSpPr>
          <p:cNvPr id="16" name="Shape 14"/>
          <p:cNvSpPr/>
          <p:nvPr/>
        </p:nvSpPr>
        <p:spPr>
          <a:xfrm>
            <a:off x="4370832" y="3509010"/>
            <a:ext cx="402336" cy="402336"/>
          </a:xfrm>
          <a:prstGeom prst="rect">
            <a:avLst/>
          </a:prstGeom>
          <a:solidFill>
            <a:srgbClr val="1A5EA8"/>
          </a:solidFill>
          <a:ln/>
        </p:spPr>
        <p:txBody>
          <a:bodyPr/>
          <a:lstStyle/>
          <a:p>
            <a:endParaRPr lang="en-US"/>
          </a:p>
        </p:txBody>
      </p:sp>
      <p:sp>
        <p:nvSpPr>
          <p:cNvPr id="17" name="Text 15"/>
          <p:cNvSpPr/>
          <p:nvPr/>
        </p:nvSpPr>
        <p:spPr>
          <a:xfrm>
            <a:off x="4370832" y="3509010"/>
            <a:ext cx="402336" cy="402336"/>
          </a:xfrm>
          <a:prstGeom prst="rect">
            <a:avLst/>
          </a:prstGeom>
          <a:noFill/>
          <a:ln/>
        </p:spPr>
        <p:txBody>
          <a:bodyPr wrap="square" lIns="0" tIns="0" rIns="0" bIns="0" rtlCol="0" anchor="ctr"/>
          <a:lstStyle/>
          <a:p>
            <a:pPr algn="ctr"/>
            <a:r>
              <a:rPr lang="en-US" sz="2000" b="1" dirty="0">
                <a:solidFill>
                  <a:srgbClr val="FFFFFF"/>
                </a:solidFill>
              </a:rPr>
              <a:t>+</a:t>
            </a:r>
            <a:endParaRPr lang="en-US" sz="2000" dirty="0"/>
          </a:p>
        </p:txBody>
      </p:sp>
      <p:sp>
        <p:nvSpPr>
          <p:cNvPr id="18" name="Text 16"/>
          <p:cNvSpPr/>
          <p:nvPr/>
        </p:nvSpPr>
        <p:spPr>
          <a:xfrm>
            <a:off x="8046720" y="5630418"/>
            <a:ext cx="914400" cy="274320"/>
          </a:xfrm>
          <a:prstGeom prst="rect">
            <a:avLst/>
          </a:prstGeom>
          <a:noFill/>
          <a:ln/>
        </p:spPr>
        <p:txBody>
          <a:bodyPr wrap="square" rtlCol="0" anchor="ctr"/>
          <a:lstStyle/>
          <a:p>
            <a:pPr algn="r"/>
            <a:endParaRPr lang="en-US" sz="1000" dirty="0"/>
          </a:p>
        </p:txBody>
      </p:sp>
    </p:spTree>
    <p:extLst>
      <p:ext uri="{BB962C8B-B14F-4D97-AF65-F5344CB8AC3E}">
        <p14:creationId xmlns:p14="http://schemas.microsoft.com/office/powerpoint/2010/main" val="30745218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777" y="-131"/>
            <a:ext cx="9148796" cy="6864125"/>
          </a:xfrm>
          <a:prstGeom prst="rect">
            <a:avLst/>
          </a:prstGeom>
          <a:solidFill>
            <a:srgbClr val="F5F8FC"/>
          </a:solidFill>
          <a:ln/>
        </p:spPr>
        <p:txBody>
          <a:bodyPr/>
          <a:lstStyle/>
          <a:p>
            <a:endParaRPr lang="en-US"/>
          </a:p>
        </p:txBody>
      </p:sp>
      <p:sp>
        <p:nvSpPr>
          <p:cNvPr id="3" name="Shape 1"/>
          <p:cNvSpPr/>
          <p:nvPr/>
        </p:nvSpPr>
        <p:spPr>
          <a:xfrm>
            <a:off x="397164" y="6060093"/>
            <a:ext cx="8326580" cy="370148"/>
          </a:xfrm>
          <a:prstGeom prst="rect">
            <a:avLst/>
          </a:prstGeom>
          <a:solidFill>
            <a:srgbClr val="1A5EA8"/>
          </a:solidFill>
          <a:ln/>
        </p:spPr>
        <p:txBody>
          <a:bodyPr/>
          <a:lstStyle/>
          <a:p>
            <a:endParaRPr lang="en-US"/>
          </a:p>
        </p:txBody>
      </p:sp>
      <p:sp>
        <p:nvSpPr>
          <p:cNvPr id="4" name="Shape 2"/>
          <p:cNvSpPr/>
          <p:nvPr/>
        </p:nvSpPr>
        <p:spPr>
          <a:xfrm>
            <a:off x="397625" y="1261064"/>
            <a:ext cx="2194560" cy="292608"/>
          </a:xfrm>
          <a:prstGeom prst="rect">
            <a:avLst/>
          </a:prstGeom>
          <a:solidFill>
            <a:srgbClr val="3B6D11"/>
          </a:solidFill>
          <a:ln/>
        </p:spPr>
        <p:txBody>
          <a:bodyPr/>
          <a:lstStyle/>
          <a:p>
            <a:endParaRPr lang="en-US"/>
          </a:p>
        </p:txBody>
      </p:sp>
      <p:sp>
        <p:nvSpPr>
          <p:cNvPr id="5" name="Text 3"/>
          <p:cNvSpPr/>
          <p:nvPr/>
        </p:nvSpPr>
        <p:spPr>
          <a:xfrm>
            <a:off x="328353" y="1261064"/>
            <a:ext cx="2194560" cy="292608"/>
          </a:xfrm>
          <a:prstGeom prst="rect">
            <a:avLst/>
          </a:prstGeom>
          <a:noFill/>
          <a:ln/>
        </p:spPr>
        <p:txBody>
          <a:bodyPr wrap="square" lIns="0" tIns="0" rIns="0" bIns="0" rtlCol="0" anchor="ctr"/>
          <a:lstStyle/>
          <a:p>
            <a:pPr algn="ctr"/>
            <a:r>
              <a:rPr lang="en-US" sz="1000" b="1" dirty="0">
                <a:solidFill>
                  <a:srgbClr val="FFFFFF"/>
                </a:solidFill>
              </a:rPr>
              <a:t>Layer 1 — dbt</a:t>
            </a:r>
            <a:endParaRPr lang="en-US" sz="1000" dirty="0"/>
          </a:p>
        </p:txBody>
      </p:sp>
      <p:sp>
        <p:nvSpPr>
          <p:cNvPr id="6" name="Text 4"/>
          <p:cNvSpPr/>
          <p:nvPr/>
        </p:nvSpPr>
        <p:spPr>
          <a:xfrm>
            <a:off x="619298" y="1645112"/>
            <a:ext cx="8034713" cy="502920"/>
          </a:xfrm>
          <a:prstGeom prst="rect">
            <a:avLst/>
          </a:prstGeom>
          <a:noFill/>
          <a:ln/>
        </p:spPr>
        <p:txBody>
          <a:bodyPr wrap="square" rtlCol="0" anchor="ctr"/>
          <a:lstStyle/>
          <a:p>
            <a:r>
              <a:rPr lang="en-US" sz="2800" b="1" dirty="0">
                <a:solidFill>
                  <a:srgbClr val="1A3A5C"/>
                </a:solidFill>
              </a:rPr>
              <a:t>dbt Native Tests</a:t>
            </a:r>
            <a:endParaRPr lang="en-US" sz="2800" dirty="0"/>
          </a:p>
        </p:txBody>
      </p:sp>
      <p:sp>
        <p:nvSpPr>
          <p:cNvPr id="7" name="Shape 5"/>
          <p:cNvSpPr/>
          <p:nvPr/>
        </p:nvSpPr>
        <p:spPr>
          <a:xfrm flipV="1">
            <a:off x="457662" y="2105826"/>
            <a:ext cx="8154786" cy="87742"/>
          </a:xfrm>
          <a:prstGeom prst="line">
            <a:avLst/>
          </a:prstGeom>
          <a:noFill/>
          <a:ln w="19050">
            <a:solidFill>
              <a:srgbClr val="3B6D11"/>
            </a:solidFill>
            <a:prstDash val="solid"/>
          </a:ln>
        </p:spPr>
        <p:txBody>
          <a:bodyPr/>
          <a:lstStyle/>
          <a:p>
            <a:endParaRPr lang="en-US"/>
          </a:p>
        </p:txBody>
      </p:sp>
      <p:sp>
        <p:nvSpPr>
          <p:cNvPr id="8" name="Shape 6"/>
          <p:cNvSpPr/>
          <p:nvPr/>
        </p:nvSpPr>
        <p:spPr>
          <a:xfrm>
            <a:off x="660861" y="2376632"/>
            <a:ext cx="2331720" cy="384048"/>
          </a:xfrm>
          <a:prstGeom prst="rect">
            <a:avLst/>
          </a:prstGeom>
          <a:solidFill>
            <a:srgbClr val="1A3A5C"/>
          </a:solidFill>
          <a:ln/>
        </p:spPr>
        <p:txBody>
          <a:bodyPr/>
          <a:lstStyle/>
          <a:p>
            <a:endParaRPr lang="en-US"/>
          </a:p>
        </p:txBody>
      </p:sp>
      <p:sp>
        <p:nvSpPr>
          <p:cNvPr id="9" name="Text 7"/>
          <p:cNvSpPr/>
          <p:nvPr/>
        </p:nvSpPr>
        <p:spPr>
          <a:xfrm>
            <a:off x="328353" y="2376632"/>
            <a:ext cx="2331720" cy="384048"/>
          </a:xfrm>
          <a:prstGeom prst="rect">
            <a:avLst/>
          </a:prstGeom>
          <a:noFill/>
          <a:ln/>
        </p:spPr>
        <p:txBody>
          <a:bodyPr wrap="square" lIns="0" tIns="0" rIns="0" bIns="0" rtlCol="0" anchor="ctr"/>
          <a:lstStyle/>
          <a:p>
            <a:pPr algn="ctr"/>
            <a:r>
              <a:rPr lang="en-US" sz="1300" b="1" dirty="0">
                <a:solidFill>
                  <a:srgbClr val="FFFFFF"/>
                </a:solidFill>
              </a:rPr>
              <a:t>Table</a:t>
            </a:r>
            <a:endParaRPr lang="en-US" sz="1300" dirty="0"/>
          </a:p>
        </p:txBody>
      </p:sp>
      <p:sp>
        <p:nvSpPr>
          <p:cNvPr id="10" name="Shape 8"/>
          <p:cNvSpPr/>
          <p:nvPr/>
        </p:nvSpPr>
        <p:spPr>
          <a:xfrm>
            <a:off x="3084021" y="2376632"/>
            <a:ext cx="2560320" cy="384048"/>
          </a:xfrm>
          <a:prstGeom prst="rect">
            <a:avLst/>
          </a:prstGeom>
          <a:solidFill>
            <a:srgbClr val="1A3A5C"/>
          </a:solidFill>
          <a:ln/>
        </p:spPr>
        <p:txBody>
          <a:bodyPr/>
          <a:lstStyle/>
          <a:p>
            <a:endParaRPr lang="en-US"/>
          </a:p>
        </p:txBody>
      </p:sp>
      <p:sp>
        <p:nvSpPr>
          <p:cNvPr id="11" name="Text 9"/>
          <p:cNvSpPr/>
          <p:nvPr/>
        </p:nvSpPr>
        <p:spPr>
          <a:xfrm>
            <a:off x="2751513" y="2376632"/>
            <a:ext cx="2560320" cy="384048"/>
          </a:xfrm>
          <a:prstGeom prst="rect">
            <a:avLst/>
          </a:prstGeom>
          <a:noFill/>
          <a:ln/>
        </p:spPr>
        <p:txBody>
          <a:bodyPr wrap="square" lIns="0" tIns="0" rIns="0" bIns="0" rtlCol="0" anchor="ctr"/>
          <a:lstStyle/>
          <a:p>
            <a:pPr algn="ctr"/>
            <a:r>
              <a:rPr lang="en-US" sz="1300" b="1" dirty="0">
                <a:solidFill>
                  <a:srgbClr val="FFFFFF"/>
                </a:solidFill>
              </a:rPr>
              <a:t>Column</a:t>
            </a:r>
            <a:endParaRPr lang="en-US" sz="1300" dirty="0"/>
          </a:p>
        </p:txBody>
      </p:sp>
      <p:sp>
        <p:nvSpPr>
          <p:cNvPr id="12" name="Shape 10"/>
          <p:cNvSpPr/>
          <p:nvPr/>
        </p:nvSpPr>
        <p:spPr>
          <a:xfrm>
            <a:off x="5634180" y="2376632"/>
            <a:ext cx="2950098" cy="384048"/>
          </a:xfrm>
          <a:prstGeom prst="rect">
            <a:avLst/>
          </a:prstGeom>
          <a:solidFill>
            <a:srgbClr val="1A3A5C"/>
          </a:solidFill>
          <a:ln/>
        </p:spPr>
        <p:txBody>
          <a:bodyPr/>
          <a:lstStyle/>
          <a:p>
            <a:endParaRPr lang="en-US"/>
          </a:p>
        </p:txBody>
      </p:sp>
      <p:sp>
        <p:nvSpPr>
          <p:cNvPr id="13" name="Text 11"/>
          <p:cNvSpPr/>
          <p:nvPr/>
        </p:nvSpPr>
        <p:spPr>
          <a:xfrm>
            <a:off x="5532582" y="2376632"/>
            <a:ext cx="3291840" cy="384048"/>
          </a:xfrm>
          <a:prstGeom prst="rect">
            <a:avLst/>
          </a:prstGeom>
          <a:noFill/>
          <a:ln/>
        </p:spPr>
        <p:txBody>
          <a:bodyPr wrap="square" lIns="0" tIns="0" rIns="0" bIns="0" rtlCol="0" anchor="ctr"/>
          <a:lstStyle/>
          <a:p>
            <a:pPr algn="ctr"/>
            <a:r>
              <a:rPr lang="en-US" sz="1300" b="1" dirty="0">
                <a:solidFill>
                  <a:srgbClr val="FFFFFF"/>
                </a:solidFill>
              </a:rPr>
              <a:t>Tests Applied</a:t>
            </a:r>
            <a:endParaRPr lang="en-US" sz="1300" dirty="0"/>
          </a:p>
        </p:txBody>
      </p:sp>
      <p:sp>
        <p:nvSpPr>
          <p:cNvPr id="14" name="Shape 12"/>
          <p:cNvSpPr/>
          <p:nvPr/>
        </p:nvSpPr>
        <p:spPr>
          <a:xfrm>
            <a:off x="660861" y="2760680"/>
            <a:ext cx="2331720" cy="411480"/>
          </a:xfrm>
          <a:prstGeom prst="rect">
            <a:avLst/>
          </a:prstGeom>
          <a:solidFill>
            <a:srgbClr val="F5F8FC"/>
          </a:solidFill>
          <a:ln w="6350">
            <a:solidFill>
              <a:srgbClr val="DDDDDD"/>
            </a:solidFill>
            <a:prstDash val="solid"/>
          </a:ln>
        </p:spPr>
        <p:txBody>
          <a:bodyPr/>
          <a:lstStyle/>
          <a:p>
            <a:endParaRPr lang="en-US"/>
          </a:p>
        </p:txBody>
      </p:sp>
      <p:sp>
        <p:nvSpPr>
          <p:cNvPr id="15" name="Text 13"/>
          <p:cNvSpPr/>
          <p:nvPr/>
        </p:nvSpPr>
        <p:spPr>
          <a:xfrm>
            <a:off x="641465" y="2760680"/>
            <a:ext cx="2018608" cy="411480"/>
          </a:xfrm>
          <a:prstGeom prst="rect">
            <a:avLst/>
          </a:prstGeom>
          <a:noFill/>
          <a:ln/>
        </p:spPr>
        <p:txBody>
          <a:bodyPr wrap="square" rtlCol="0" anchor="ctr"/>
          <a:lstStyle/>
          <a:p>
            <a:r>
              <a:rPr lang="en-US" sz="1300" dirty="0">
                <a:solidFill>
                  <a:srgbClr val="1A5EA8"/>
                </a:solidFill>
                <a:latin typeface="Courier New" pitchFamily="34" charset="0"/>
                <a:ea typeface="Courier New" pitchFamily="34" charset="-122"/>
                <a:cs typeface="Courier New" pitchFamily="34" charset="-120"/>
              </a:rPr>
              <a:t>dim_customer</a:t>
            </a:r>
            <a:endParaRPr lang="en-US" sz="1300" dirty="0"/>
          </a:p>
        </p:txBody>
      </p:sp>
      <p:sp>
        <p:nvSpPr>
          <p:cNvPr id="16" name="Shape 14"/>
          <p:cNvSpPr/>
          <p:nvPr/>
        </p:nvSpPr>
        <p:spPr>
          <a:xfrm>
            <a:off x="3084021" y="2760680"/>
            <a:ext cx="2560320" cy="411480"/>
          </a:xfrm>
          <a:prstGeom prst="rect">
            <a:avLst/>
          </a:prstGeom>
          <a:solidFill>
            <a:srgbClr val="F5F8FC"/>
          </a:solidFill>
          <a:ln w="6350">
            <a:solidFill>
              <a:srgbClr val="DDDDDD"/>
            </a:solidFill>
            <a:prstDash val="solid"/>
          </a:ln>
        </p:spPr>
        <p:txBody>
          <a:bodyPr/>
          <a:lstStyle/>
          <a:p>
            <a:endParaRPr lang="en-US"/>
          </a:p>
        </p:txBody>
      </p:sp>
      <p:sp>
        <p:nvSpPr>
          <p:cNvPr id="17" name="Text 15"/>
          <p:cNvSpPr/>
          <p:nvPr/>
        </p:nvSpPr>
        <p:spPr>
          <a:xfrm>
            <a:off x="3073862" y="2760680"/>
            <a:ext cx="2237971" cy="416098"/>
          </a:xfrm>
          <a:prstGeom prst="rect">
            <a:avLst/>
          </a:prstGeom>
          <a:noFill/>
          <a:ln/>
        </p:spPr>
        <p:txBody>
          <a:bodyPr wrap="square" rtlCol="0" anchor="ctr"/>
          <a:lstStyle/>
          <a:p>
            <a:r>
              <a:rPr lang="en-US" sz="1300" dirty="0">
                <a:solidFill>
                  <a:srgbClr val="1A5EA8"/>
                </a:solidFill>
                <a:latin typeface="Courier New" pitchFamily="34" charset="0"/>
                <a:ea typeface="Courier New" pitchFamily="34" charset="-122"/>
                <a:cs typeface="Courier New" pitchFamily="34" charset="-120"/>
              </a:rPr>
              <a:t>customer_id</a:t>
            </a:r>
            <a:endParaRPr lang="en-US" sz="1300" dirty="0"/>
          </a:p>
        </p:txBody>
      </p:sp>
      <p:sp>
        <p:nvSpPr>
          <p:cNvPr id="18" name="Shape 16"/>
          <p:cNvSpPr/>
          <p:nvPr/>
        </p:nvSpPr>
        <p:spPr>
          <a:xfrm>
            <a:off x="5735781" y="2760680"/>
            <a:ext cx="2857732" cy="429952"/>
          </a:xfrm>
          <a:prstGeom prst="rect">
            <a:avLst/>
          </a:prstGeom>
          <a:solidFill>
            <a:srgbClr val="F5F8FC"/>
          </a:solidFill>
          <a:ln w="6350">
            <a:solidFill>
              <a:srgbClr val="DDDDDD"/>
            </a:solidFill>
            <a:prstDash val="solid"/>
          </a:ln>
        </p:spPr>
        <p:txBody>
          <a:bodyPr/>
          <a:lstStyle/>
          <a:p>
            <a:endParaRPr lang="en-US"/>
          </a:p>
        </p:txBody>
      </p:sp>
      <p:sp>
        <p:nvSpPr>
          <p:cNvPr id="19" name="Text 17"/>
          <p:cNvSpPr/>
          <p:nvPr/>
        </p:nvSpPr>
        <p:spPr>
          <a:xfrm>
            <a:off x="5725622" y="2760680"/>
            <a:ext cx="2978727" cy="420716"/>
          </a:xfrm>
          <a:prstGeom prst="rect">
            <a:avLst/>
          </a:prstGeom>
          <a:noFill/>
          <a:ln/>
        </p:spPr>
        <p:txBody>
          <a:bodyPr wrap="square" rtlCol="0" anchor="ctr"/>
          <a:lstStyle/>
          <a:p>
            <a:r>
              <a:rPr lang="en-US" sz="1300" dirty="0">
                <a:solidFill>
                  <a:srgbClr val="1A3A5C"/>
                </a:solidFill>
                <a:latin typeface="Arial" pitchFamily="34" charset="0"/>
                <a:ea typeface="Arial" pitchFamily="34" charset="-122"/>
                <a:cs typeface="Arial" pitchFamily="34" charset="-120"/>
              </a:rPr>
              <a:t>unique + not_null</a:t>
            </a:r>
            <a:endParaRPr lang="en-US" sz="1300" dirty="0"/>
          </a:p>
        </p:txBody>
      </p:sp>
      <p:sp>
        <p:nvSpPr>
          <p:cNvPr id="20" name="Shape 18"/>
          <p:cNvSpPr/>
          <p:nvPr/>
        </p:nvSpPr>
        <p:spPr>
          <a:xfrm>
            <a:off x="660861" y="3199592"/>
            <a:ext cx="2331720" cy="411480"/>
          </a:xfrm>
          <a:prstGeom prst="rect">
            <a:avLst/>
          </a:prstGeom>
          <a:solidFill>
            <a:srgbClr val="EAF3FB"/>
          </a:solidFill>
          <a:ln w="6350">
            <a:solidFill>
              <a:srgbClr val="DDDDDD"/>
            </a:solidFill>
            <a:prstDash val="solid"/>
          </a:ln>
        </p:spPr>
        <p:txBody>
          <a:bodyPr/>
          <a:lstStyle/>
          <a:p>
            <a:endParaRPr lang="en-US"/>
          </a:p>
        </p:txBody>
      </p:sp>
      <p:sp>
        <p:nvSpPr>
          <p:cNvPr id="21" name="Text 19"/>
          <p:cNvSpPr/>
          <p:nvPr/>
        </p:nvSpPr>
        <p:spPr>
          <a:xfrm>
            <a:off x="646083" y="3199592"/>
            <a:ext cx="2013990" cy="411480"/>
          </a:xfrm>
          <a:prstGeom prst="rect">
            <a:avLst/>
          </a:prstGeom>
          <a:noFill/>
          <a:ln/>
        </p:spPr>
        <p:txBody>
          <a:bodyPr wrap="square" rtlCol="0" anchor="ctr"/>
          <a:lstStyle/>
          <a:p>
            <a:r>
              <a:rPr lang="en-US" sz="1300" dirty="0">
                <a:solidFill>
                  <a:srgbClr val="1A5EA8"/>
                </a:solidFill>
                <a:latin typeface="Courier New" pitchFamily="34" charset="0"/>
                <a:ea typeface="Courier New" pitchFamily="34" charset="-122"/>
                <a:cs typeface="Courier New" pitchFamily="34" charset="-120"/>
              </a:rPr>
              <a:t>dim_product</a:t>
            </a:r>
            <a:endParaRPr lang="en-US" sz="1300" dirty="0"/>
          </a:p>
        </p:txBody>
      </p:sp>
      <p:sp>
        <p:nvSpPr>
          <p:cNvPr id="22" name="Shape 20"/>
          <p:cNvSpPr/>
          <p:nvPr/>
        </p:nvSpPr>
        <p:spPr>
          <a:xfrm>
            <a:off x="3084021" y="3199592"/>
            <a:ext cx="2560320" cy="411480"/>
          </a:xfrm>
          <a:prstGeom prst="rect">
            <a:avLst/>
          </a:prstGeom>
          <a:solidFill>
            <a:srgbClr val="EAF3FB"/>
          </a:solidFill>
          <a:ln w="6350">
            <a:solidFill>
              <a:srgbClr val="DDDDDD"/>
            </a:solidFill>
            <a:prstDash val="solid"/>
          </a:ln>
        </p:spPr>
        <p:txBody>
          <a:bodyPr/>
          <a:lstStyle/>
          <a:p>
            <a:endParaRPr lang="en-US"/>
          </a:p>
        </p:txBody>
      </p:sp>
      <p:sp>
        <p:nvSpPr>
          <p:cNvPr id="23" name="Text 21"/>
          <p:cNvSpPr/>
          <p:nvPr/>
        </p:nvSpPr>
        <p:spPr>
          <a:xfrm>
            <a:off x="3092334" y="3199592"/>
            <a:ext cx="2219499" cy="411480"/>
          </a:xfrm>
          <a:prstGeom prst="rect">
            <a:avLst/>
          </a:prstGeom>
          <a:noFill/>
          <a:ln/>
        </p:spPr>
        <p:txBody>
          <a:bodyPr wrap="square" rtlCol="0" anchor="ctr"/>
          <a:lstStyle/>
          <a:p>
            <a:r>
              <a:rPr lang="en-US" sz="1300" dirty="0">
                <a:solidFill>
                  <a:srgbClr val="1A5EA8"/>
                </a:solidFill>
                <a:latin typeface="Courier New" pitchFamily="34" charset="0"/>
                <a:ea typeface="Courier New" pitchFamily="34" charset="-122"/>
                <a:cs typeface="Courier New" pitchFamily="34" charset="-120"/>
              </a:rPr>
              <a:t>product_id</a:t>
            </a:r>
            <a:endParaRPr lang="en-US" sz="1300" dirty="0"/>
          </a:p>
        </p:txBody>
      </p:sp>
      <p:sp>
        <p:nvSpPr>
          <p:cNvPr id="24" name="Shape 22"/>
          <p:cNvSpPr/>
          <p:nvPr/>
        </p:nvSpPr>
        <p:spPr>
          <a:xfrm>
            <a:off x="5735781" y="3194974"/>
            <a:ext cx="2843878" cy="434570"/>
          </a:xfrm>
          <a:prstGeom prst="rect">
            <a:avLst/>
          </a:prstGeom>
          <a:solidFill>
            <a:srgbClr val="EAF3FB"/>
          </a:solidFill>
          <a:ln w="6350">
            <a:solidFill>
              <a:srgbClr val="DDDDDD"/>
            </a:solidFill>
            <a:prstDash val="solid"/>
          </a:ln>
        </p:spPr>
        <p:txBody>
          <a:bodyPr/>
          <a:lstStyle/>
          <a:p>
            <a:endParaRPr lang="en-US"/>
          </a:p>
        </p:txBody>
      </p:sp>
      <p:sp>
        <p:nvSpPr>
          <p:cNvPr id="25" name="Text 23"/>
          <p:cNvSpPr/>
          <p:nvPr/>
        </p:nvSpPr>
        <p:spPr>
          <a:xfrm>
            <a:off x="5744094" y="3199592"/>
            <a:ext cx="2955637" cy="416098"/>
          </a:xfrm>
          <a:prstGeom prst="rect">
            <a:avLst/>
          </a:prstGeom>
          <a:noFill/>
          <a:ln/>
        </p:spPr>
        <p:txBody>
          <a:bodyPr wrap="square" rtlCol="0" anchor="ctr"/>
          <a:lstStyle/>
          <a:p>
            <a:r>
              <a:rPr lang="en-US" sz="1300" dirty="0">
                <a:solidFill>
                  <a:srgbClr val="1A3A5C"/>
                </a:solidFill>
                <a:latin typeface="Arial" pitchFamily="34" charset="0"/>
                <a:ea typeface="Arial" pitchFamily="34" charset="-122"/>
                <a:cs typeface="Arial" pitchFamily="34" charset="-120"/>
              </a:rPr>
              <a:t>unique + not_null</a:t>
            </a:r>
            <a:endParaRPr lang="en-US" sz="1300" dirty="0"/>
          </a:p>
        </p:txBody>
      </p:sp>
      <p:sp>
        <p:nvSpPr>
          <p:cNvPr id="26" name="Shape 24"/>
          <p:cNvSpPr/>
          <p:nvPr/>
        </p:nvSpPr>
        <p:spPr>
          <a:xfrm>
            <a:off x="660861" y="3638504"/>
            <a:ext cx="2331720" cy="411480"/>
          </a:xfrm>
          <a:prstGeom prst="rect">
            <a:avLst/>
          </a:prstGeom>
          <a:solidFill>
            <a:srgbClr val="F5F8FC"/>
          </a:solidFill>
          <a:ln w="6350">
            <a:solidFill>
              <a:srgbClr val="DDDDDD"/>
            </a:solidFill>
            <a:prstDash val="solid"/>
          </a:ln>
        </p:spPr>
        <p:txBody>
          <a:bodyPr/>
          <a:lstStyle/>
          <a:p>
            <a:endParaRPr lang="en-US"/>
          </a:p>
        </p:txBody>
      </p:sp>
      <p:sp>
        <p:nvSpPr>
          <p:cNvPr id="27" name="Text 25"/>
          <p:cNvSpPr/>
          <p:nvPr/>
        </p:nvSpPr>
        <p:spPr>
          <a:xfrm>
            <a:off x="641465" y="3638504"/>
            <a:ext cx="2018608" cy="411480"/>
          </a:xfrm>
          <a:prstGeom prst="rect">
            <a:avLst/>
          </a:prstGeom>
          <a:noFill/>
          <a:ln/>
        </p:spPr>
        <p:txBody>
          <a:bodyPr wrap="square" rtlCol="0" anchor="ctr"/>
          <a:lstStyle/>
          <a:p>
            <a:r>
              <a:rPr lang="en-US" sz="1300" dirty="0">
                <a:solidFill>
                  <a:srgbClr val="1A5EA8"/>
                </a:solidFill>
                <a:latin typeface="Courier New" pitchFamily="34" charset="0"/>
                <a:ea typeface="Courier New" pitchFamily="34" charset="-122"/>
                <a:cs typeface="Courier New" pitchFamily="34" charset="-120"/>
              </a:rPr>
              <a:t>dim_seller</a:t>
            </a:r>
            <a:endParaRPr lang="en-US" sz="1300" dirty="0"/>
          </a:p>
        </p:txBody>
      </p:sp>
      <p:sp>
        <p:nvSpPr>
          <p:cNvPr id="28" name="Shape 26"/>
          <p:cNvSpPr/>
          <p:nvPr/>
        </p:nvSpPr>
        <p:spPr>
          <a:xfrm>
            <a:off x="3084021" y="3638504"/>
            <a:ext cx="2560320" cy="411480"/>
          </a:xfrm>
          <a:prstGeom prst="rect">
            <a:avLst/>
          </a:prstGeom>
          <a:solidFill>
            <a:srgbClr val="F5F8FC"/>
          </a:solidFill>
          <a:ln w="6350">
            <a:solidFill>
              <a:srgbClr val="DDDDDD"/>
            </a:solidFill>
            <a:prstDash val="solid"/>
          </a:ln>
        </p:spPr>
        <p:txBody>
          <a:bodyPr/>
          <a:lstStyle/>
          <a:p>
            <a:endParaRPr lang="en-US"/>
          </a:p>
        </p:txBody>
      </p:sp>
      <p:sp>
        <p:nvSpPr>
          <p:cNvPr id="29" name="Text 27"/>
          <p:cNvSpPr/>
          <p:nvPr/>
        </p:nvSpPr>
        <p:spPr>
          <a:xfrm>
            <a:off x="3096952" y="3638504"/>
            <a:ext cx="2214881" cy="411480"/>
          </a:xfrm>
          <a:prstGeom prst="rect">
            <a:avLst/>
          </a:prstGeom>
          <a:noFill/>
          <a:ln/>
        </p:spPr>
        <p:txBody>
          <a:bodyPr wrap="square" rtlCol="0" anchor="ctr"/>
          <a:lstStyle/>
          <a:p>
            <a:r>
              <a:rPr lang="en-US" sz="1300" dirty="0">
                <a:solidFill>
                  <a:srgbClr val="1A5EA8"/>
                </a:solidFill>
                <a:latin typeface="Courier New" pitchFamily="34" charset="0"/>
                <a:ea typeface="Courier New" pitchFamily="34" charset="-122"/>
                <a:cs typeface="Courier New" pitchFamily="34" charset="-120"/>
              </a:rPr>
              <a:t>seller_id</a:t>
            </a:r>
            <a:endParaRPr lang="en-US" sz="1300" dirty="0"/>
          </a:p>
        </p:txBody>
      </p:sp>
      <p:sp>
        <p:nvSpPr>
          <p:cNvPr id="30" name="Shape 28"/>
          <p:cNvSpPr/>
          <p:nvPr/>
        </p:nvSpPr>
        <p:spPr>
          <a:xfrm>
            <a:off x="5749635" y="3633886"/>
            <a:ext cx="2834643" cy="420716"/>
          </a:xfrm>
          <a:prstGeom prst="rect">
            <a:avLst/>
          </a:prstGeom>
          <a:solidFill>
            <a:srgbClr val="F5F8FC"/>
          </a:solidFill>
          <a:ln w="6350">
            <a:solidFill>
              <a:srgbClr val="DDDDDD"/>
            </a:solidFill>
            <a:prstDash val="solid"/>
          </a:ln>
        </p:spPr>
        <p:txBody>
          <a:bodyPr/>
          <a:lstStyle/>
          <a:p>
            <a:endParaRPr lang="en-US"/>
          </a:p>
        </p:txBody>
      </p:sp>
      <p:sp>
        <p:nvSpPr>
          <p:cNvPr id="31" name="Text 29"/>
          <p:cNvSpPr/>
          <p:nvPr/>
        </p:nvSpPr>
        <p:spPr>
          <a:xfrm>
            <a:off x="5762567" y="3638504"/>
            <a:ext cx="2932546" cy="411480"/>
          </a:xfrm>
          <a:prstGeom prst="rect">
            <a:avLst/>
          </a:prstGeom>
          <a:noFill/>
          <a:ln/>
        </p:spPr>
        <p:txBody>
          <a:bodyPr wrap="square" rtlCol="0" anchor="ctr"/>
          <a:lstStyle/>
          <a:p>
            <a:r>
              <a:rPr lang="en-US" sz="1300" dirty="0">
                <a:solidFill>
                  <a:srgbClr val="1A3A5C"/>
                </a:solidFill>
                <a:latin typeface="Arial" pitchFamily="34" charset="0"/>
                <a:ea typeface="Arial" pitchFamily="34" charset="-122"/>
                <a:cs typeface="Arial" pitchFamily="34" charset="-120"/>
              </a:rPr>
              <a:t>unique + not_null</a:t>
            </a:r>
            <a:endParaRPr lang="en-US" sz="1300" dirty="0"/>
          </a:p>
        </p:txBody>
      </p:sp>
      <p:sp>
        <p:nvSpPr>
          <p:cNvPr id="32" name="Shape 30"/>
          <p:cNvSpPr/>
          <p:nvPr/>
        </p:nvSpPr>
        <p:spPr>
          <a:xfrm>
            <a:off x="660861" y="4077416"/>
            <a:ext cx="2331720" cy="411480"/>
          </a:xfrm>
          <a:prstGeom prst="rect">
            <a:avLst/>
          </a:prstGeom>
          <a:solidFill>
            <a:srgbClr val="EAF3FB"/>
          </a:solidFill>
          <a:ln w="6350">
            <a:solidFill>
              <a:srgbClr val="DDDDDD"/>
            </a:solidFill>
            <a:prstDash val="solid"/>
          </a:ln>
        </p:spPr>
        <p:txBody>
          <a:bodyPr/>
          <a:lstStyle/>
          <a:p>
            <a:endParaRPr lang="en-US"/>
          </a:p>
        </p:txBody>
      </p:sp>
      <p:sp>
        <p:nvSpPr>
          <p:cNvPr id="33" name="Text 31"/>
          <p:cNvSpPr/>
          <p:nvPr/>
        </p:nvSpPr>
        <p:spPr>
          <a:xfrm>
            <a:off x="641465" y="4077416"/>
            <a:ext cx="2018608" cy="411480"/>
          </a:xfrm>
          <a:prstGeom prst="rect">
            <a:avLst/>
          </a:prstGeom>
          <a:noFill/>
          <a:ln/>
        </p:spPr>
        <p:txBody>
          <a:bodyPr wrap="square" rtlCol="0" anchor="ctr"/>
          <a:lstStyle/>
          <a:p>
            <a:r>
              <a:rPr lang="en-US" sz="1300" dirty="0">
                <a:solidFill>
                  <a:srgbClr val="1A5EA8"/>
                </a:solidFill>
                <a:latin typeface="Courier New" pitchFamily="34" charset="0"/>
                <a:ea typeface="Courier New" pitchFamily="34" charset="-122"/>
                <a:cs typeface="Courier New" pitchFamily="34" charset="-120"/>
              </a:rPr>
              <a:t>fact_sales</a:t>
            </a:r>
            <a:endParaRPr lang="en-US" sz="1300" dirty="0"/>
          </a:p>
        </p:txBody>
      </p:sp>
      <p:sp>
        <p:nvSpPr>
          <p:cNvPr id="34" name="Shape 32"/>
          <p:cNvSpPr/>
          <p:nvPr/>
        </p:nvSpPr>
        <p:spPr>
          <a:xfrm>
            <a:off x="3084021" y="4077416"/>
            <a:ext cx="2560320" cy="411480"/>
          </a:xfrm>
          <a:prstGeom prst="rect">
            <a:avLst/>
          </a:prstGeom>
          <a:solidFill>
            <a:srgbClr val="EAF3FB"/>
          </a:solidFill>
          <a:ln w="6350">
            <a:solidFill>
              <a:srgbClr val="DDDDDD"/>
            </a:solidFill>
            <a:prstDash val="solid"/>
          </a:ln>
        </p:spPr>
        <p:txBody>
          <a:bodyPr/>
          <a:lstStyle/>
          <a:p>
            <a:endParaRPr lang="en-US"/>
          </a:p>
        </p:txBody>
      </p:sp>
      <p:sp>
        <p:nvSpPr>
          <p:cNvPr id="35" name="Text 33"/>
          <p:cNvSpPr/>
          <p:nvPr/>
        </p:nvSpPr>
        <p:spPr>
          <a:xfrm>
            <a:off x="3096952" y="4077416"/>
            <a:ext cx="2214881" cy="411480"/>
          </a:xfrm>
          <a:prstGeom prst="rect">
            <a:avLst/>
          </a:prstGeom>
          <a:noFill/>
          <a:ln/>
        </p:spPr>
        <p:txBody>
          <a:bodyPr wrap="square" rtlCol="0" anchor="ctr"/>
          <a:lstStyle/>
          <a:p>
            <a:r>
              <a:rPr lang="en-US" sz="1300" dirty="0">
                <a:solidFill>
                  <a:srgbClr val="1A5EA8"/>
                </a:solidFill>
                <a:latin typeface="Courier New" pitchFamily="34" charset="0"/>
                <a:ea typeface="Courier New" pitchFamily="34" charset="-122"/>
                <a:cs typeface="Courier New" pitchFamily="34" charset="-120"/>
              </a:rPr>
              <a:t>order_id</a:t>
            </a:r>
            <a:endParaRPr lang="en-US" sz="1300" dirty="0"/>
          </a:p>
        </p:txBody>
      </p:sp>
      <p:sp>
        <p:nvSpPr>
          <p:cNvPr id="36" name="Shape 34"/>
          <p:cNvSpPr/>
          <p:nvPr/>
        </p:nvSpPr>
        <p:spPr>
          <a:xfrm>
            <a:off x="5721927" y="4072798"/>
            <a:ext cx="2866967" cy="416098"/>
          </a:xfrm>
          <a:prstGeom prst="rect">
            <a:avLst/>
          </a:prstGeom>
          <a:solidFill>
            <a:srgbClr val="EAF3FB"/>
          </a:solidFill>
          <a:ln w="6350">
            <a:solidFill>
              <a:srgbClr val="DDDDDD"/>
            </a:solidFill>
            <a:prstDash val="solid"/>
          </a:ln>
        </p:spPr>
        <p:txBody>
          <a:bodyPr/>
          <a:lstStyle/>
          <a:p>
            <a:endParaRPr lang="en-US"/>
          </a:p>
        </p:txBody>
      </p:sp>
      <p:sp>
        <p:nvSpPr>
          <p:cNvPr id="37" name="Text 35"/>
          <p:cNvSpPr/>
          <p:nvPr/>
        </p:nvSpPr>
        <p:spPr>
          <a:xfrm>
            <a:off x="5785657" y="4077416"/>
            <a:ext cx="2909456" cy="411480"/>
          </a:xfrm>
          <a:prstGeom prst="rect">
            <a:avLst/>
          </a:prstGeom>
          <a:noFill/>
          <a:ln/>
        </p:spPr>
        <p:txBody>
          <a:bodyPr wrap="square" rtlCol="0" anchor="ctr"/>
          <a:lstStyle/>
          <a:p>
            <a:r>
              <a:rPr lang="en-US" sz="1300" dirty="0">
                <a:solidFill>
                  <a:srgbClr val="1A3A5C"/>
                </a:solidFill>
                <a:latin typeface="Arial" pitchFamily="34" charset="0"/>
                <a:ea typeface="Arial" pitchFamily="34" charset="-122"/>
                <a:cs typeface="Arial" pitchFamily="34" charset="-120"/>
              </a:rPr>
              <a:t>not_null</a:t>
            </a:r>
            <a:endParaRPr lang="en-US" sz="1300" dirty="0"/>
          </a:p>
        </p:txBody>
      </p:sp>
      <p:sp>
        <p:nvSpPr>
          <p:cNvPr id="38" name="Shape 36"/>
          <p:cNvSpPr/>
          <p:nvPr/>
        </p:nvSpPr>
        <p:spPr>
          <a:xfrm>
            <a:off x="485370" y="4799792"/>
            <a:ext cx="8016242" cy="475488"/>
          </a:xfrm>
          <a:prstGeom prst="rect">
            <a:avLst/>
          </a:prstGeom>
          <a:solidFill>
            <a:srgbClr val="EAF3DE"/>
          </a:solidFill>
          <a:ln w="12700">
            <a:solidFill>
              <a:srgbClr val="B8D9A0"/>
            </a:solidFill>
            <a:prstDash val="solid"/>
          </a:ln>
        </p:spPr>
        <p:txBody>
          <a:bodyPr/>
          <a:lstStyle/>
          <a:p>
            <a:endParaRPr lang="en-US"/>
          </a:p>
        </p:txBody>
      </p:sp>
      <p:sp>
        <p:nvSpPr>
          <p:cNvPr id="39" name="Text 37"/>
          <p:cNvSpPr/>
          <p:nvPr/>
        </p:nvSpPr>
        <p:spPr>
          <a:xfrm>
            <a:off x="328353" y="4799792"/>
            <a:ext cx="8321040" cy="475488"/>
          </a:xfrm>
          <a:prstGeom prst="rect">
            <a:avLst/>
          </a:prstGeom>
          <a:noFill/>
          <a:ln/>
        </p:spPr>
        <p:txBody>
          <a:bodyPr wrap="square" lIns="0" tIns="0" rIns="0" bIns="0" rtlCol="0" anchor="ctr"/>
          <a:lstStyle/>
          <a:p>
            <a:pPr algn="ctr"/>
            <a:r>
              <a:rPr lang="en-US" sz="1400" b="1" dirty="0">
                <a:solidFill>
                  <a:srgbClr val="3B6D11"/>
                </a:solidFill>
              </a:rPr>
              <a:t>All 7 tests passed  ✔</a:t>
            </a:r>
            <a:endParaRPr lang="en-US" sz="1400" dirty="0"/>
          </a:p>
        </p:txBody>
      </p:sp>
      <p:sp>
        <p:nvSpPr>
          <p:cNvPr id="40" name="Text 38"/>
          <p:cNvSpPr/>
          <p:nvPr/>
        </p:nvSpPr>
        <p:spPr>
          <a:xfrm>
            <a:off x="7963593" y="5778200"/>
            <a:ext cx="914400" cy="274320"/>
          </a:xfrm>
          <a:prstGeom prst="rect">
            <a:avLst/>
          </a:prstGeom>
          <a:noFill/>
          <a:ln/>
        </p:spPr>
        <p:txBody>
          <a:bodyPr wrap="square" rtlCol="0" anchor="ctr"/>
          <a:lstStyle/>
          <a:p>
            <a:pPr algn="r"/>
            <a:endParaRPr lang="en-US" sz="1000" dirty="0"/>
          </a:p>
        </p:txBody>
      </p:sp>
    </p:spTree>
    <p:extLst>
      <p:ext uri="{BB962C8B-B14F-4D97-AF65-F5344CB8AC3E}">
        <p14:creationId xmlns:p14="http://schemas.microsoft.com/office/powerpoint/2010/main" val="20512616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23977" y="-4751"/>
            <a:ext cx="9169574" cy="6863416"/>
          </a:xfrm>
          <a:prstGeom prst="rect">
            <a:avLst/>
          </a:prstGeom>
          <a:solidFill>
            <a:srgbClr val="F5F8FC"/>
          </a:solidFill>
          <a:ln/>
        </p:spPr>
        <p:txBody>
          <a:bodyPr/>
          <a:lstStyle/>
          <a:p>
            <a:endParaRPr lang="en-US"/>
          </a:p>
        </p:txBody>
      </p:sp>
      <p:sp>
        <p:nvSpPr>
          <p:cNvPr id="3" name="Shape 1"/>
          <p:cNvSpPr/>
          <p:nvPr/>
        </p:nvSpPr>
        <p:spPr>
          <a:xfrm>
            <a:off x="420254" y="5625984"/>
            <a:ext cx="8377384" cy="374766"/>
          </a:xfrm>
          <a:prstGeom prst="rect">
            <a:avLst/>
          </a:prstGeom>
          <a:solidFill>
            <a:srgbClr val="1A5EA8"/>
          </a:solidFill>
          <a:ln/>
        </p:spPr>
        <p:txBody>
          <a:bodyPr/>
          <a:lstStyle/>
          <a:p>
            <a:endParaRPr lang="en-US"/>
          </a:p>
        </p:txBody>
      </p:sp>
      <p:sp>
        <p:nvSpPr>
          <p:cNvPr id="4" name="Shape 2"/>
          <p:cNvSpPr/>
          <p:nvPr/>
        </p:nvSpPr>
        <p:spPr>
          <a:xfrm>
            <a:off x="411480" y="1113282"/>
            <a:ext cx="2194560" cy="292608"/>
          </a:xfrm>
          <a:prstGeom prst="rect">
            <a:avLst/>
          </a:prstGeom>
          <a:solidFill>
            <a:srgbClr val="3C3489"/>
          </a:solidFill>
          <a:ln/>
        </p:spPr>
        <p:txBody>
          <a:bodyPr/>
          <a:lstStyle/>
          <a:p>
            <a:endParaRPr lang="en-US"/>
          </a:p>
        </p:txBody>
      </p:sp>
      <p:sp>
        <p:nvSpPr>
          <p:cNvPr id="5" name="Text 3"/>
          <p:cNvSpPr/>
          <p:nvPr/>
        </p:nvSpPr>
        <p:spPr>
          <a:xfrm>
            <a:off x="411480" y="1113282"/>
            <a:ext cx="2194560" cy="292608"/>
          </a:xfrm>
          <a:prstGeom prst="rect">
            <a:avLst/>
          </a:prstGeom>
          <a:noFill/>
          <a:ln/>
        </p:spPr>
        <p:txBody>
          <a:bodyPr wrap="square" lIns="0" tIns="0" rIns="0" bIns="0" rtlCol="0" anchor="ctr"/>
          <a:lstStyle/>
          <a:p>
            <a:pPr algn="ctr"/>
            <a:r>
              <a:rPr lang="en-US" sz="1000" b="1" dirty="0">
                <a:solidFill>
                  <a:srgbClr val="FFFFFF"/>
                </a:solidFill>
              </a:rPr>
              <a:t>Layer 2 — Python</a:t>
            </a:r>
            <a:endParaRPr lang="en-US" sz="1000" dirty="0"/>
          </a:p>
        </p:txBody>
      </p:sp>
      <p:sp>
        <p:nvSpPr>
          <p:cNvPr id="6" name="Text 4"/>
          <p:cNvSpPr/>
          <p:nvPr/>
        </p:nvSpPr>
        <p:spPr>
          <a:xfrm>
            <a:off x="411480" y="1497330"/>
            <a:ext cx="8321040" cy="502920"/>
          </a:xfrm>
          <a:prstGeom prst="rect">
            <a:avLst/>
          </a:prstGeom>
          <a:noFill/>
          <a:ln/>
        </p:spPr>
        <p:txBody>
          <a:bodyPr wrap="square" rtlCol="0" anchor="ctr"/>
          <a:lstStyle/>
          <a:p>
            <a:r>
              <a:rPr lang="en-US" sz="2600" b="1" dirty="0">
                <a:solidFill>
                  <a:srgbClr val="1A3A5C"/>
                </a:solidFill>
              </a:rPr>
              <a:t>4 Custom Checks via data_quality.py</a:t>
            </a:r>
            <a:endParaRPr lang="en-US" sz="2600" dirty="0"/>
          </a:p>
        </p:txBody>
      </p:sp>
      <p:sp>
        <p:nvSpPr>
          <p:cNvPr id="7" name="Shape 5"/>
          <p:cNvSpPr/>
          <p:nvPr/>
        </p:nvSpPr>
        <p:spPr>
          <a:xfrm>
            <a:off x="411480" y="2064258"/>
            <a:ext cx="8321040" cy="0"/>
          </a:xfrm>
          <a:prstGeom prst="line">
            <a:avLst/>
          </a:prstGeom>
          <a:noFill/>
          <a:ln w="19050">
            <a:solidFill>
              <a:srgbClr val="3C3489"/>
            </a:solidFill>
            <a:prstDash val="solid"/>
          </a:ln>
        </p:spPr>
        <p:txBody>
          <a:bodyPr/>
          <a:lstStyle/>
          <a:p>
            <a:endParaRPr lang="en-US"/>
          </a:p>
        </p:txBody>
      </p:sp>
      <p:sp>
        <p:nvSpPr>
          <p:cNvPr id="8" name="Shape 6"/>
          <p:cNvSpPr/>
          <p:nvPr/>
        </p:nvSpPr>
        <p:spPr>
          <a:xfrm>
            <a:off x="411480" y="2228850"/>
            <a:ext cx="2057400" cy="384048"/>
          </a:xfrm>
          <a:prstGeom prst="rect">
            <a:avLst/>
          </a:prstGeom>
          <a:solidFill>
            <a:srgbClr val="1A3A5C"/>
          </a:solidFill>
          <a:ln/>
        </p:spPr>
        <p:txBody>
          <a:bodyPr/>
          <a:lstStyle/>
          <a:p>
            <a:endParaRPr lang="en-US"/>
          </a:p>
        </p:txBody>
      </p:sp>
      <p:sp>
        <p:nvSpPr>
          <p:cNvPr id="9" name="Text 7"/>
          <p:cNvSpPr/>
          <p:nvPr/>
        </p:nvSpPr>
        <p:spPr>
          <a:xfrm>
            <a:off x="411480" y="2228850"/>
            <a:ext cx="2057400" cy="384048"/>
          </a:xfrm>
          <a:prstGeom prst="rect">
            <a:avLst/>
          </a:prstGeom>
          <a:noFill/>
          <a:ln/>
        </p:spPr>
        <p:txBody>
          <a:bodyPr wrap="square" lIns="0" tIns="0" rIns="0" bIns="0" rtlCol="0" anchor="ctr"/>
          <a:lstStyle/>
          <a:p>
            <a:pPr algn="ctr"/>
            <a:r>
              <a:rPr lang="en-US" sz="1300" b="1" dirty="0">
                <a:solidFill>
                  <a:srgbClr val="FFFFFF"/>
                </a:solidFill>
              </a:rPr>
              <a:t>Check</a:t>
            </a:r>
            <a:endParaRPr lang="en-US" sz="1300" dirty="0"/>
          </a:p>
        </p:txBody>
      </p:sp>
      <p:sp>
        <p:nvSpPr>
          <p:cNvPr id="10" name="Shape 8"/>
          <p:cNvSpPr/>
          <p:nvPr/>
        </p:nvSpPr>
        <p:spPr>
          <a:xfrm>
            <a:off x="2560320" y="2228850"/>
            <a:ext cx="2926080" cy="384048"/>
          </a:xfrm>
          <a:prstGeom prst="rect">
            <a:avLst/>
          </a:prstGeom>
          <a:solidFill>
            <a:srgbClr val="1A3A5C"/>
          </a:solidFill>
          <a:ln/>
        </p:spPr>
        <p:txBody>
          <a:bodyPr/>
          <a:lstStyle/>
          <a:p>
            <a:endParaRPr lang="en-US"/>
          </a:p>
        </p:txBody>
      </p:sp>
      <p:sp>
        <p:nvSpPr>
          <p:cNvPr id="11" name="Text 9"/>
          <p:cNvSpPr/>
          <p:nvPr/>
        </p:nvSpPr>
        <p:spPr>
          <a:xfrm>
            <a:off x="2560320" y="2228850"/>
            <a:ext cx="2926080" cy="384048"/>
          </a:xfrm>
          <a:prstGeom prst="rect">
            <a:avLst/>
          </a:prstGeom>
          <a:noFill/>
          <a:ln/>
        </p:spPr>
        <p:txBody>
          <a:bodyPr wrap="square" lIns="0" tIns="0" rIns="0" bIns="0" rtlCol="0" anchor="ctr"/>
          <a:lstStyle/>
          <a:p>
            <a:pPr algn="ctr"/>
            <a:r>
              <a:rPr lang="en-US" sz="1300" b="1" dirty="0">
                <a:solidFill>
                  <a:srgbClr val="FFFFFF"/>
                </a:solidFill>
              </a:rPr>
              <a:t>SQL Condition</a:t>
            </a:r>
            <a:endParaRPr lang="en-US" sz="1300" dirty="0"/>
          </a:p>
        </p:txBody>
      </p:sp>
      <p:sp>
        <p:nvSpPr>
          <p:cNvPr id="12" name="Shape 10"/>
          <p:cNvSpPr/>
          <p:nvPr/>
        </p:nvSpPr>
        <p:spPr>
          <a:xfrm>
            <a:off x="5577840" y="2228850"/>
            <a:ext cx="3200400" cy="384048"/>
          </a:xfrm>
          <a:prstGeom prst="rect">
            <a:avLst/>
          </a:prstGeom>
          <a:solidFill>
            <a:srgbClr val="1A3A5C"/>
          </a:solidFill>
          <a:ln/>
        </p:spPr>
        <p:txBody>
          <a:bodyPr/>
          <a:lstStyle/>
          <a:p>
            <a:endParaRPr lang="en-US"/>
          </a:p>
        </p:txBody>
      </p:sp>
      <p:sp>
        <p:nvSpPr>
          <p:cNvPr id="13" name="Text 11"/>
          <p:cNvSpPr/>
          <p:nvPr/>
        </p:nvSpPr>
        <p:spPr>
          <a:xfrm>
            <a:off x="5577840" y="2228850"/>
            <a:ext cx="3200400" cy="384048"/>
          </a:xfrm>
          <a:prstGeom prst="rect">
            <a:avLst/>
          </a:prstGeom>
          <a:noFill/>
          <a:ln/>
        </p:spPr>
        <p:txBody>
          <a:bodyPr wrap="square" lIns="0" tIns="0" rIns="0" bIns="0" rtlCol="0" anchor="ctr"/>
          <a:lstStyle/>
          <a:p>
            <a:pPr algn="ctr"/>
            <a:r>
              <a:rPr lang="en-US" sz="1300" b="1" dirty="0">
                <a:solidFill>
                  <a:srgbClr val="FFFFFF"/>
                </a:solidFill>
              </a:rPr>
              <a:t>Why It Matters</a:t>
            </a:r>
            <a:endParaRPr lang="en-US" sz="1300" dirty="0"/>
          </a:p>
        </p:txBody>
      </p:sp>
      <p:sp>
        <p:nvSpPr>
          <p:cNvPr id="14" name="Shape 12"/>
          <p:cNvSpPr/>
          <p:nvPr/>
        </p:nvSpPr>
        <p:spPr>
          <a:xfrm>
            <a:off x="411480" y="2612898"/>
            <a:ext cx="2057400" cy="429768"/>
          </a:xfrm>
          <a:prstGeom prst="rect">
            <a:avLst/>
          </a:prstGeom>
          <a:solidFill>
            <a:srgbClr val="F5F8FC"/>
          </a:solidFill>
          <a:ln w="6350">
            <a:solidFill>
              <a:srgbClr val="DDDDDD"/>
            </a:solidFill>
            <a:prstDash val="solid"/>
          </a:ln>
        </p:spPr>
        <p:txBody>
          <a:bodyPr/>
          <a:lstStyle/>
          <a:p>
            <a:endParaRPr lang="en-US"/>
          </a:p>
        </p:txBody>
      </p:sp>
      <p:sp>
        <p:nvSpPr>
          <p:cNvPr id="15" name="Text 13"/>
          <p:cNvSpPr/>
          <p:nvPr/>
        </p:nvSpPr>
        <p:spPr>
          <a:xfrm>
            <a:off x="502920" y="2612898"/>
            <a:ext cx="1965960" cy="429768"/>
          </a:xfrm>
          <a:prstGeom prst="rect">
            <a:avLst/>
          </a:prstGeom>
          <a:noFill/>
          <a:ln/>
        </p:spPr>
        <p:txBody>
          <a:bodyPr wrap="square" rtlCol="0" anchor="ctr"/>
          <a:lstStyle/>
          <a:p>
            <a:r>
              <a:rPr lang="en-US" sz="1200" dirty="0">
                <a:solidFill>
                  <a:srgbClr val="1A3A5C"/>
                </a:solidFill>
                <a:latin typeface="Arial" pitchFamily="34" charset="0"/>
                <a:ea typeface="Arial" pitchFamily="34" charset="-122"/>
                <a:cs typeface="Arial" pitchFamily="34" charset="-120"/>
              </a:rPr>
              <a:t>Null customer_id</a:t>
            </a:r>
            <a:endParaRPr lang="en-US" sz="1200" dirty="0"/>
          </a:p>
        </p:txBody>
      </p:sp>
      <p:sp>
        <p:nvSpPr>
          <p:cNvPr id="16" name="Shape 14"/>
          <p:cNvSpPr/>
          <p:nvPr/>
        </p:nvSpPr>
        <p:spPr>
          <a:xfrm>
            <a:off x="2560320" y="2612898"/>
            <a:ext cx="2926080" cy="429768"/>
          </a:xfrm>
          <a:prstGeom prst="rect">
            <a:avLst/>
          </a:prstGeom>
          <a:solidFill>
            <a:srgbClr val="F5F8FC"/>
          </a:solidFill>
          <a:ln w="6350">
            <a:solidFill>
              <a:srgbClr val="DDDDDD"/>
            </a:solidFill>
            <a:prstDash val="solid"/>
          </a:ln>
        </p:spPr>
        <p:txBody>
          <a:bodyPr/>
          <a:lstStyle/>
          <a:p>
            <a:endParaRPr lang="en-US"/>
          </a:p>
        </p:txBody>
      </p:sp>
      <p:sp>
        <p:nvSpPr>
          <p:cNvPr id="17" name="Text 15"/>
          <p:cNvSpPr/>
          <p:nvPr/>
        </p:nvSpPr>
        <p:spPr>
          <a:xfrm>
            <a:off x="2651760" y="2612898"/>
            <a:ext cx="2834640" cy="429768"/>
          </a:xfrm>
          <a:prstGeom prst="rect">
            <a:avLst/>
          </a:prstGeom>
          <a:noFill/>
          <a:ln/>
        </p:spPr>
        <p:txBody>
          <a:bodyPr wrap="square" rtlCol="0" anchor="ctr"/>
          <a:lstStyle/>
          <a:p>
            <a:r>
              <a:rPr lang="en-US" sz="1200" dirty="0">
                <a:solidFill>
                  <a:srgbClr val="1A5EA8"/>
                </a:solidFill>
                <a:latin typeface="Courier New" pitchFamily="34" charset="0"/>
                <a:ea typeface="Courier New" pitchFamily="34" charset="-122"/>
                <a:cs typeface="Courier New" pitchFamily="34" charset="-120"/>
              </a:rPr>
              <a:t>customer_id IS NULL</a:t>
            </a:r>
            <a:endParaRPr lang="en-US" sz="1200" dirty="0"/>
          </a:p>
        </p:txBody>
      </p:sp>
      <p:sp>
        <p:nvSpPr>
          <p:cNvPr id="18" name="Shape 16"/>
          <p:cNvSpPr/>
          <p:nvPr/>
        </p:nvSpPr>
        <p:spPr>
          <a:xfrm>
            <a:off x="5577840" y="2612898"/>
            <a:ext cx="3200400" cy="429768"/>
          </a:xfrm>
          <a:prstGeom prst="rect">
            <a:avLst/>
          </a:prstGeom>
          <a:solidFill>
            <a:srgbClr val="F5F8FC"/>
          </a:solidFill>
          <a:ln w="6350">
            <a:solidFill>
              <a:srgbClr val="DDDDDD"/>
            </a:solidFill>
            <a:prstDash val="solid"/>
          </a:ln>
        </p:spPr>
        <p:txBody>
          <a:bodyPr/>
          <a:lstStyle/>
          <a:p>
            <a:endParaRPr lang="en-US"/>
          </a:p>
        </p:txBody>
      </p:sp>
      <p:sp>
        <p:nvSpPr>
          <p:cNvPr id="19" name="Text 17"/>
          <p:cNvSpPr/>
          <p:nvPr/>
        </p:nvSpPr>
        <p:spPr>
          <a:xfrm>
            <a:off x="5669280" y="2612898"/>
            <a:ext cx="3108960" cy="429768"/>
          </a:xfrm>
          <a:prstGeom prst="rect">
            <a:avLst/>
          </a:prstGeom>
          <a:noFill/>
          <a:ln/>
        </p:spPr>
        <p:txBody>
          <a:bodyPr wrap="square" rtlCol="0" anchor="ctr"/>
          <a:lstStyle/>
          <a:p>
            <a:r>
              <a:rPr lang="en-US" sz="1200" dirty="0">
                <a:solidFill>
                  <a:srgbClr val="1A3A5C"/>
                </a:solidFill>
                <a:latin typeface="Arial" pitchFamily="34" charset="0"/>
                <a:ea typeface="Arial" pitchFamily="34" charset="-122"/>
                <a:cs typeface="Arial" pitchFamily="34" charset="-120"/>
              </a:rPr>
              <a:t>Breaks customer segment analysis</a:t>
            </a:r>
            <a:endParaRPr lang="en-US" sz="1200" dirty="0"/>
          </a:p>
        </p:txBody>
      </p:sp>
      <p:sp>
        <p:nvSpPr>
          <p:cNvPr id="20" name="Shape 18"/>
          <p:cNvSpPr/>
          <p:nvPr/>
        </p:nvSpPr>
        <p:spPr>
          <a:xfrm>
            <a:off x="411480" y="3070098"/>
            <a:ext cx="2057400" cy="429768"/>
          </a:xfrm>
          <a:prstGeom prst="rect">
            <a:avLst/>
          </a:prstGeom>
          <a:solidFill>
            <a:srgbClr val="EAF3FB"/>
          </a:solidFill>
          <a:ln w="6350">
            <a:solidFill>
              <a:srgbClr val="DDDDDD"/>
            </a:solidFill>
            <a:prstDash val="solid"/>
          </a:ln>
        </p:spPr>
        <p:txBody>
          <a:bodyPr/>
          <a:lstStyle/>
          <a:p>
            <a:endParaRPr lang="en-US"/>
          </a:p>
        </p:txBody>
      </p:sp>
      <p:sp>
        <p:nvSpPr>
          <p:cNvPr id="21" name="Text 19"/>
          <p:cNvSpPr/>
          <p:nvPr/>
        </p:nvSpPr>
        <p:spPr>
          <a:xfrm>
            <a:off x="502920" y="3070098"/>
            <a:ext cx="1965960" cy="429768"/>
          </a:xfrm>
          <a:prstGeom prst="rect">
            <a:avLst/>
          </a:prstGeom>
          <a:noFill/>
          <a:ln/>
        </p:spPr>
        <p:txBody>
          <a:bodyPr wrap="square" rtlCol="0" anchor="ctr"/>
          <a:lstStyle/>
          <a:p>
            <a:r>
              <a:rPr lang="en-US" sz="1200" dirty="0">
                <a:solidFill>
                  <a:srgbClr val="1A3A5C"/>
                </a:solidFill>
                <a:latin typeface="Arial" pitchFamily="34" charset="0"/>
                <a:ea typeface="Arial" pitchFamily="34" charset="-122"/>
                <a:cs typeface="Arial" pitchFamily="34" charset="-120"/>
              </a:rPr>
              <a:t>Null product_id</a:t>
            </a:r>
            <a:endParaRPr lang="en-US" sz="1200" dirty="0"/>
          </a:p>
        </p:txBody>
      </p:sp>
      <p:sp>
        <p:nvSpPr>
          <p:cNvPr id="22" name="Shape 20"/>
          <p:cNvSpPr/>
          <p:nvPr/>
        </p:nvSpPr>
        <p:spPr>
          <a:xfrm>
            <a:off x="2560320" y="3070098"/>
            <a:ext cx="2926080" cy="429768"/>
          </a:xfrm>
          <a:prstGeom prst="rect">
            <a:avLst/>
          </a:prstGeom>
          <a:solidFill>
            <a:srgbClr val="EAF3FB"/>
          </a:solidFill>
          <a:ln w="6350">
            <a:solidFill>
              <a:srgbClr val="DDDDDD"/>
            </a:solidFill>
            <a:prstDash val="solid"/>
          </a:ln>
        </p:spPr>
        <p:txBody>
          <a:bodyPr/>
          <a:lstStyle/>
          <a:p>
            <a:endParaRPr lang="en-US"/>
          </a:p>
        </p:txBody>
      </p:sp>
      <p:sp>
        <p:nvSpPr>
          <p:cNvPr id="23" name="Text 21"/>
          <p:cNvSpPr/>
          <p:nvPr/>
        </p:nvSpPr>
        <p:spPr>
          <a:xfrm>
            <a:off x="2651760" y="3070098"/>
            <a:ext cx="2834640" cy="429768"/>
          </a:xfrm>
          <a:prstGeom prst="rect">
            <a:avLst/>
          </a:prstGeom>
          <a:noFill/>
          <a:ln/>
        </p:spPr>
        <p:txBody>
          <a:bodyPr wrap="square" rtlCol="0" anchor="ctr"/>
          <a:lstStyle/>
          <a:p>
            <a:r>
              <a:rPr lang="en-US" sz="1200" dirty="0">
                <a:solidFill>
                  <a:srgbClr val="1A5EA8"/>
                </a:solidFill>
                <a:latin typeface="Courier New" pitchFamily="34" charset="0"/>
                <a:ea typeface="Courier New" pitchFamily="34" charset="-122"/>
                <a:cs typeface="Courier New" pitchFamily="34" charset="-120"/>
              </a:rPr>
              <a:t>product_id IS NULL</a:t>
            </a:r>
            <a:endParaRPr lang="en-US" sz="1200" dirty="0"/>
          </a:p>
        </p:txBody>
      </p:sp>
      <p:sp>
        <p:nvSpPr>
          <p:cNvPr id="24" name="Shape 22"/>
          <p:cNvSpPr/>
          <p:nvPr/>
        </p:nvSpPr>
        <p:spPr>
          <a:xfrm>
            <a:off x="5577840" y="3070098"/>
            <a:ext cx="3200400" cy="429768"/>
          </a:xfrm>
          <a:prstGeom prst="rect">
            <a:avLst/>
          </a:prstGeom>
          <a:solidFill>
            <a:srgbClr val="EAF3FB"/>
          </a:solidFill>
          <a:ln w="6350">
            <a:solidFill>
              <a:srgbClr val="DDDDDD"/>
            </a:solidFill>
            <a:prstDash val="solid"/>
          </a:ln>
        </p:spPr>
        <p:txBody>
          <a:bodyPr/>
          <a:lstStyle/>
          <a:p>
            <a:endParaRPr lang="en-US"/>
          </a:p>
        </p:txBody>
      </p:sp>
      <p:sp>
        <p:nvSpPr>
          <p:cNvPr id="25" name="Text 23"/>
          <p:cNvSpPr/>
          <p:nvPr/>
        </p:nvSpPr>
        <p:spPr>
          <a:xfrm>
            <a:off x="5669280" y="3070098"/>
            <a:ext cx="3108960" cy="429768"/>
          </a:xfrm>
          <a:prstGeom prst="rect">
            <a:avLst/>
          </a:prstGeom>
          <a:noFill/>
          <a:ln/>
        </p:spPr>
        <p:txBody>
          <a:bodyPr wrap="square" rtlCol="0" anchor="ctr"/>
          <a:lstStyle/>
          <a:p>
            <a:r>
              <a:rPr lang="en-US" sz="1200" dirty="0">
                <a:solidFill>
                  <a:srgbClr val="1A3A5C"/>
                </a:solidFill>
                <a:latin typeface="Arial" pitchFamily="34" charset="0"/>
                <a:ea typeface="Arial" pitchFamily="34" charset="-122"/>
                <a:cs typeface="Arial" pitchFamily="34" charset="-120"/>
              </a:rPr>
              <a:t>Breaks category &amp; revenue analysis</a:t>
            </a:r>
            <a:endParaRPr lang="en-US" sz="1200" dirty="0"/>
          </a:p>
        </p:txBody>
      </p:sp>
      <p:sp>
        <p:nvSpPr>
          <p:cNvPr id="26" name="Shape 24"/>
          <p:cNvSpPr/>
          <p:nvPr/>
        </p:nvSpPr>
        <p:spPr>
          <a:xfrm>
            <a:off x="411480" y="3527298"/>
            <a:ext cx="2057400" cy="429768"/>
          </a:xfrm>
          <a:prstGeom prst="rect">
            <a:avLst/>
          </a:prstGeom>
          <a:solidFill>
            <a:srgbClr val="F5F8FC"/>
          </a:solidFill>
          <a:ln w="6350">
            <a:solidFill>
              <a:srgbClr val="DDDDDD"/>
            </a:solidFill>
            <a:prstDash val="solid"/>
          </a:ln>
        </p:spPr>
        <p:txBody>
          <a:bodyPr/>
          <a:lstStyle/>
          <a:p>
            <a:endParaRPr lang="en-US"/>
          </a:p>
        </p:txBody>
      </p:sp>
      <p:sp>
        <p:nvSpPr>
          <p:cNvPr id="27" name="Text 25"/>
          <p:cNvSpPr/>
          <p:nvPr/>
        </p:nvSpPr>
        <p:spPr>
          <a:xfrm>
            <a:off x="502920" y="3527298"/>
            <a:ext cx="1965960" cy="429768"/>
          </a:xfrm>
          <a:prstGeom prst="rect">
            <a:avLst/>
          </a:prstGeom>
          <a:noFill/>
          <a:ln/>
        </p:spPr>
        <p:txBody>
          <a:bodyPr wrap="square" rtlCol="0" anchor="ctr"/>
          <a:lstStyle/>
          <a:p>
            <a:r>
              <a:rPr lang="en-US" sz="1200" dirty="0">
                <a:solidFill>
                  <a:srgbClr val="1A3A5C"/>
                </a:solidFill>
                <a:latin typeface="Arial" pitchFamily="34" charset="0"/>
                <a:ea typeface="Arial" pitchFamily="34" charset="-122"/>
                <a:cs typeface="Arial" pitchFamily="34" charset="-120"/>
              </a:rPr>
              <a:t>Null seller_id</a:t>
            </a:r>
            <a:endParaRPr lang="en-US" sz="1200" dirty="0"/>
          </a:p>
        </p:txBody>
      </p:sp>
      <p:sp>
        <p:nvSpPr>
          <p:cNvPr id="28" name="Shape 26"/>
          <p:cNvSpPr/>
          <p:nvPr/>
        </p:nvSpPr>
        <p:spPr>
          <a:xfrm>
            <a:off x="2560320" y="3527298"/>
            <a:ext cx="2926080" cy="429768"/>
          </a:xfrm>
          <a:prstGeom prst="rect">
            <a:avLst/>
          </a:prstGeom>
          <a:solidFill>
            <a:srgbClr val="F5F8FC"/>
          </a:solidFill>
          <a:ln w="6350">
            <a:solidFill>
              <a:srgbClr val="DDDDDD"/>
            </a:solidFill>
            <a:prstDash val="solid"/>
          </a:ln>
        </p:spPr>
        <p:txBody>
          <a:bodyPr/>
          <a:lstStyle/>
          <a:p>
            <a:endParaRPr lang="en-US"/>
          </a:p>
        </p:txBody>
      </p:sp>
      <p:sp>
        <p:nvSpPr>
          <p:cNvPr id="29" name="Text 27"/>
          <p:cNvSpPr/>
          <p:nvPr/>
        </p:nvSpPr>
        <p:spPr>
          <a:xfrm>
            <a:off x="2651760" y="3527298"/>
            <a:ext cx="2834640" cy="429768"/>
          </a:xfrm>
          <a:prstGeom prst="rect">
            <a:avLst/>
          </a:prstGeom>
          <a:noFill/>
          <a:ln/>
        </p:spPr>
        <p:txBody>
          <a:bodyPr wrap="square" rtlCol="0" anchor="ctr"/>
          <a:lstStyle/>
          <a:p>
            <a:r>
              <a:rPr lang="en-US" sz="1200" dirty="0">
                <a:solidFill>
                  <a:srgbClr val="1A5EA8"/>
                </a:solidFill>
                <a:latin typeface="Courier New" pitchFamily="34" charset="0"/>
                <a:ea typeface="Courier New" pitchFamily="34" charset="-122"/>
                <a:cs typeface="Courier New" pitchFamily="34" charset="-120"/>
              </a:rPr>
              <a:t>seller_id IS NULL</a:t>
            </a:r>
            <a:endParaRPr lang="en-US" sz="1200" dirty="0"/>
          </a:p>
        </p:txBody>
      </p:sp>
      <p:sp>
        <p:nvSpPr>
          <p:cNvPr id="30" name="Shape 28"/>
          <p:cNvSpPr/>
          <p:nvPr/>
        </p:nvSpPr>
        <p:spPr>
          <a:xfrm>
            <a:off x="5577840" y="3527298"/>
            <a:ext cx="3200400" cy="429768"/>
          </a:xfrm>
          <a:prstGeom prst="rect">
            <a:avLst/>
          </a:prstGeom>
          <a:solidFill>
            <a:srgbClr val="F5F8FC"/>
          </a:solidFill>
          <a:ln w="6350">
            <a:solidFill>
              <a:srgbClr val="DDDDDD"/>
            </a:solidFill>
            <a:prstDash val="solid"/>
          </a:ln>
        </p:spPr>
        <p:txBody>
          <a:bodyPr/>
          <a:lstStyle/>
          <a:p>
            <a:endParaRPr lang="en-US"/>
          </a:p>
        </p:txBody>
      </p:sp>
      <p:sp>
        <p:nvSpPr>
          <p:cNvPr id="31" name="Text 29"/>
          <p:cNvSpPr/>
          <p:nvPr/>
        </p:nvSpPr>
        <p:spPr>
          <a:xfrm>
            <a:off x="5669280" y="3527298"/>
            <a:ext cx="3108960" cy="429768"/>
          </a:xfrm>
          <a:prstGeom prst="rect">
            <a:avLst/>
          </a:prstGeom>
          <a:noFill/>
          <a:ln/>
        </p:spPr>
        <p:txBody>
          <a:bodyPr wrap="square" rtlCol="0" anchor="ctr"/>
          <a:lstStyle/>
          <a:p>
            <a:r>
              <a:rPr lang="en-US" sz="1200" dirty="0">
                <a:solidFill>
                  <a:srgbClr val="1A3A5C"/>
                </a:solidFill>
                <a:latin typeface="Arial" pitchFamily="34" charset="0"/>
                <a:ea typeface="Arial" pitchFamily="34" charset="-122"/>
                <a:cs typeface="Arial" pitchFamily="34" charset="-120"/>
              </a:rPr>
              <a:t>Seller performance metrics unreliable</a:t>
            </a:r>
            <a:endParaRPr lang="en-US" sz="1200" dirty="0"/>
          </a:p>
        </p:txBody>
      </p:sp>
      <p:sp>
        <p:nvSpPr>
          <p:cNvPr id="32" name="Shape 30"/>
          <p:cNvSpPr/>
          <p:nvPr/>
        </p:nvSpPr>
        <p:spPr>
          <a:xfrm>
            <a:off x="411480" y="3984498"/>
            <a:ext cx="2057400" cy="429768"/>
          </a:xfrm>
          <a:prstGeom prst="rect">
            <a:avLst/>
          </a:prstGeom>
          <a:solidFill>
            <a:srgbClr val="EAF3FB"/>
          </a:solidFill>
          <a:ln w="6350">
            <a:solidFill>
              <a:srgbClr val="DDDDDD"/>
            </a:solidFill>
            <a:prstDash val="solid"/>
          </a:ln>
        </p:spPr>
        <p:txBody>
          <a:bodyPr/>
          <a:lstStyle/>
          <a:p>
            <a:endParaRPr lang="en-US"/>
          </a:p>
        </p:txBody>
      </p:sp>
      <p:sp>
        <p:nvSpPr>
          <p:cNvPr id="33" name="Text 31"/>
          <p:cNvSpPr/>
          <p:nvPr/>
        </p:nvSpPr>
        <p:spPr>
          <a:xfrm>
            <a:off x="502920" y="3984498"/>
            <a:ext cx="1965960" cy="429768"/>
          </a:xfrm>
          <a:prstGeom prst="rect">
            <a:avLst/>
          </a:prstGeom>
          <a:noFill/>
          <a:ln/>
        </p:spPr>
        <p:txBody>
          <a:bodyPr wrap="square" rtlCol="0" anchor="ctr"/>
          <a:lstStyle/>
          <a:p>
            <a:r>
              <a:rPr lang="en-US" sz="1200" dirty="0">
                <a:solidFill>
                  <a:srgbClr val="1A3A5C"/>
                </a:solidFill>
                <a:latin typeface="Arial" pitchFamily="34" charset="0"/>
                <a:ea typeface="Arial" pitchFamily="34" charset="-122"/>
                <a:cs typeface="Arial" pitchFamily="34" charset="-120"/>
              </a:rPr>
              <a:t>Negative sales amount</a:t>
            </a:r>
            <a:endParaRPr lang="en-US" sz="1200" dirty="0"/>
          </a:p>
        </p:txBody>
      </p:sp>
      <p:sp>
        <p:nvSpPr>
          <p:cNvPr id="34" name="Shape 32"/>
          <p:cNvSpPr/>
          <p:nvPr/>
        </p:nvSpPr>
        <p:spPr>
          <a:xfrm>
            <a:off x="2560320" y="3984498"/>
            <a:ext cx="2926080" cy="429768"/>
          </a:xfrm>
          <a:prstGeom prst="rect">
            <a:avLst/>
          </a:prstGeom>
          <a:solidFill>
            <a:srgbClr val="EAF3FB"/>
          </a:solidFill>
          <a:ln w="6350">
            <a:solidFill>
              <a:srgbClr val="DDDDDD"/>
            </a:solidFill>
            <a:prstDash val="solid"/>
          </a:ln>
        </p:spPr>
        <p:txBody>
          <a:bodyPr/>
          <a:lstStyle/>
          <a:p>
            <a:endParaRPr lang="en-US"/>
          </a:p>
        </p:txBody>
      </p:sp>
      <p:sp>
        <p:nvSpPr>
          <p:cNvPr id="35" name="Text 33"/>
          <p:cNvSpPr/>
          <p:nvPr/>
        </p:nvSpPr>
        <p:spPr>
          <a:xfrm>
            <a:off x="2651760" y="3984498"/>
            <a:ext cx="2834640" cy="429768"/>
          </a:xfrm>
          <a:prstGeom prst="rect">
            <a:avLst/>
          </a:prstGeom>
          <a:noFill/>
          <a:ln/>
        </p:spPr>
        <p:txBody>
          <a:bodyPr wrap="square" rtlCol="0" anchor="ctr"/>
          <a:lstStyle/>
          <a:p>
            <a:r>
              <a:rPr lang="en-US" sz="1200" dirty="0">
                <a:solidFill>
                  <a:srgbClr val="1A5EA8"/>
                </a:solidFill>
                <a:latin typeface="Courier New" pitchFamily="34" charset="0"/>
                <a:ea typeface="Courier New" pitchFamily="34" charset="-122"/>
                <a:cs typeface="Courier New" pitchFamily="34" charset="-120"/>
              </a:rPr>
              <a:t>sales_amount &lt; 0</a:t>
            </a:r>
            <a:endParaRPr lang="en-US" sz="1200" dirty="0"/>
          </a:p>
        </p:txBody>
      </p:sp>
      <p:sp>
        <p:nvSpPr>
          <p:cNvPr id="36" name="Shape 34"/>
          <p:cNvSpPr/>
          <p:nvPr/>
        </p:nvSpPr>
        <p:spPr>
          <a:xfrm>
            <a:off x="5577840" y="3984498"/>
            <a:ext cx="3200400" cy="429768"/>
          </a:xfrm>
          <a:prstGeom prst="rect">
            <a:avLst/>
          </a:prstGeom>
          <a:solidFill>
            <a:srgbClr val="EAF3FB"/>
          </a:solidFill>
          <a:ln w="6350">
            <a:solidFill>
              <a:srgbClr val="DDDDDD"/>
            </a:solidFill>
            <a:prstDash val="solid"/>
          </a:ln>
        </p:spPr>
        <p:txBody>
          <a:bodyPr/>
          <a:lstStyle/>
          <a:p>
            <a:endParaRPr lang="en-US"/>
          </a:p>
        </p:txBody>
      </p:sp>
      <p:sp>
        <p:nvSpPr>
          <p:cNvPr id="37" name="Text 35"/>
          <p:cNvSpPr/>
          <p:nvPr/>
        </p:nvSpPr>
        <p:spPr>
          <a:xfrm>
            <a:off x="5669280" y="3984498"/>
            <a:ext cx="3108960" cy="429768"/>
          </a:xfrm>
          <a:prstGeom prst="rect">
            <a:avLst/>
          </a:prstGeom>
          <a:noFill/>
          <a:ln/>
        </p:spPr>
        <p:txBody>
          <a:bodyPr wrap="square" rtlCol="0" anchor="ctr"/>
          <a:lstStyle/>
          <a:p>
            <a:r>
              <a:rPr lang="en-US" sz="1200" dirty="0">
                <a:solidFill>
                  <a:srgbClr val="1A3A5C"/>
                </a:solidFill>
                <a:latin typeface="Arial" pitchFamily="34" charset="0"/>
                <a:ea typeface="Arial" pitchFamily="34" charset="-122"/>
                <a:cs typeface="Arial" pitchFamily="34" charset="-120"/>
              </a:rPr>
              <a:t>Flags refunds or data entry errors</a:t>
            </a:r>
            <a:endParaRPr lang="en-US" sz="1200" dirty="0"/>
          </a:p>
        </p:txBody>
      </p:sp>
      <p:sp>
        <p:nvSpPr>
          <p:cNvPr id="38" name="Text 36"/>
          <p:cNvSpPr/>
          <p:nvPr/>
        </p:nvSpPr>
        <p:spPr>
          <a:xfrm>
            <a:off x="8046720" y="5630418"/>
            <a:ext cx="914400" cy="274320"/>
          </a:xfrm>
          <a:prstGeom prst="rect">
            <a:avLst/>
          </a:prstGeom>
          <a:noFill/>
          <a:ln/>
        </p:spPr>
        <p:txBody>
          <a:bodyPr wrap="square" rtlCol="0" anchor="ctr"/>
          <a:lstStyle/>
          <a:p>
            <a:pPr algn="r"/>
            <a:endParaRPr lang="en-US" sz="1000" dirty="0"/>
          </a:p>
        </p:txBody>
      </p:sp>
    </p:spTree>
    <p:extLst>
      <p:ext uri="{BB962C8B-B14F-4D97-AF65-F5344CB8AC3E}">
        <p14:creationId xmlns:p14="http://schemas.microsoft.com/office/powerpoint/2010/main" val="20759541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33" y="-2264"/>
            <a:ext cx="9145063" cy="6865015"/>
          </a:xfrm>
          <a:prstGeom prst="rect">
            <a:avLst/>
          </a:prstGeom>
          <a:solidFill>
            <a:srgbClr val="F5F8FC"/>
          </a:solidFill>
          <a:ln/>
        </p:spPr>
        <p:txBody>
          <a:bodyPr/>
          <a:lstStyle/>
          <a:p>
            <a:endParaRPr lang="en-US"/>
          </a:p>
        </p:txBody>
      </p:sp>
      <p:sp>
        <p:nvSpPr>
          <p:cNvPr id="3" name="Shape 1"/>
          <p:cNvSpPr/>
          <p:nvPr/>
        </p:nvSpPr>
        <p:spPr>
          <a:xfrm>
            <a:off x="406399" y="5625984"/>
            <a:ext cx="8317347" cy="374766"/>
          </a:xfrm>
          <a:prstGeom prst="rect">
            <a:avLst/>
          </a:prstGeom>
          <a:solidFill>
            <a:srgbClr val="1A5EA8"/>
          </a:solidFill>
          <a:ln/>
        </p:spPr>
        <p:txBody>
          <a:bodyPr/>
          <a:lstStyle/>
          <a:p>
            <a:endParaRPr lang="en-US"/>
          </a:p>
        </p:txBody>
      </p:sp>
      <p:sp>
        <p:nvSpPr>
          <p:cNvPr id="4" name="Shape 2"/>
          <p:cNvSpPr/>
          <p:nvPr/>
        </p:nvSpPr>
        <p:spPr>
          <a:xfrm>
            <a:off x="411480" y="1113282"/>
            <a:ext cx="2194560" cy="292608"/>
          </a:xfrm>
          <a:prstGeom prst="rect">
            <a:avLst/>
          </a:prstGeom>
          <a:solidFill>
            <a:srgbClr val="3C3489"/>
          </a:solidFill>
          <a:ln/>
        </p:spPr>
        <p:txBody>
          <a:bodyPr/>
          <a:lstStyle/>
          <a:p>
            <a:endParaRPr lang="en-US"/>
          </a:p>
        </p:txBody>
      </p:sp>
      <p:sp>
        <p:nvSpPr>
          <p:cNvPr id="5" name="Text 3"/>
          <p:cNvSpPr/>
          <p:nvPr/>
        </p:nvSpPr>
        <p:spPr>
          <a:xfrm>
            <a:off x="411480" y="1113282"/>
            <a:ext cx="2194560" cy="292608"/>
          </a:xfrm>
          <a:prstGeom prst="rect">
            <a:avLst/>
          </a:prstGeom>
          <a:noFill/>
          <a:ln/>
        </p:spPr>
        <p:txBody>
          <a:bodyPr wrap="square" lIns="0" tIns="0" rIns="0" bIns="0" rtlCol="0" anchor="ctr"/>
          <a:lstStyle/>
          <a:p>
            <a:pPr algn="ctr"/>
            <a:r>
              <a:rPr lang="en-US" sz="1000" b="1" dirty="0">
                <a:solidFill>
                  <a:srgbClr val="FFFFFF"/>
                </a:solidFill>
              </a:rPr>
              <a:t>Layer 2 — Python</a:t>
            </a:r>
            <a:endParaRPr lang="en-US" sz="1000" dirty="0"/>
          </a:p>
        </p:txBody>
      </p:sp>
      <p:sp>
        <p:nvSpPr>
          <p:cNvPr id="6" name="Text 4"/>
          <p:cNvSpPr/>
          <p:nvPr/>
        </p:nvSpPr>
        <p:spPr>
          <a:xfrm>
            <a:off x="411480" y="1497330"/>
            <a:ext cx="8321040" cy="502920"/>
          </a:xfrm>
          <a:prstGeom prst="rect">
            <a:avLst/>
          </a:prstGeom>
          <a:noFill/>
          <a:ln/>
        </p:spPr>
        <p:txBody>
          <a:bodyPr wrap="square" rtlCol="0" anchor="ctr"/>
          <a:lstStyle/>
          <a:p>
            <a:r>
              <a:rPr lang="en-US" sz="2800" b="1" dirty="0">
                <a:solidFill>
                  <a:srgbClr val="1A3A5C"/>
                </a:solidFill>
              </a:rPr>
              <a:t>data_quality.py — How It Works</a:t>
            </a:r>
            <a:endParaRPr lang="en-US" sz="2800" dirty="0"/>
          </a:p>
        </p:txBody>
      </p:sp>
      <p:sp>
        <p:nvSpPr>
          <p:cNvPr id="7" name="Shape 5"/>
          <p:cNvSpPr/>
          <p:nvPr/>
        </p:nvSpPr>
        <p:spPr>
          <a:xfrm>
            <a:off x="411480" y="2064258"/>
            <a:ext cx="8321040" cy="0"/>
          </a:xfrm>
          <a:prstGeom prst="line">
            <a:avLst/>
          </a:prstGeom>
          <a:noFill/>
          <a:ln w="19050">
            <a:solidFill>
              <a:srgbClr val="3C3489"/>
            </a:solidFill>
            <a:prstDash val="solid"/>
          </a:ln>
        </p:spPr>
        <p:txBody>
          <a:bodyPr/>
          <a:lstStyle/>
          <a:p>
            <a:endParaRPr lang="en-US"/>
          </a:p>
        </p:txBody>
      </p:sp>
      <p:sp>
        <p:nvSpPr>
          <p:cNvPr id="8" name="Shape 6"/>
          <p:cNvSpPr/>
          <p:nvPr/>
        </p:nvSpPr>
        <p:spPr>
          <a:xfrm>
            <a:off x="411480" y="2183130"/>
            <a:ext cx="5029200" cy="3200400"/>
          </a:xfrm>
          <a:prstGeom prst="rect">
            <a:avLst/>
          </a:prstGeom>
          <a:solidFill>
            <a:srgbClr val="1E1E2E"/>
          </a:solidFill>
          <a:ln/>
        </p:spPr>
        <p:txBody>
          <a:bodyPr/>
          <a:lstStyle/>
          <a:p>
            <a:endParaRPr lang="en-US"/>
          </a:p>
        </p:txBody>
      </p:sp>
      <p:sp>
        <p:nvSpPr>
          <p:cNvPr id="9" name="Text 7"/>
          <p:cNvSpPr/>
          <p:nvPr/>
        </p:nvSpPr>
        <p:spPr>
          <a:xfrm>
            <a:off x="594360" y="2302002"/>
            <a:ext cx="4663440" cy="237744"/>
          </a:xfrm>
          <a:prstGeom prst="rect">
            <a:avLst/>
          </a:prstGeom>
          <a:noFill/>
          <a:ln/>
        </p:spPr>
        <p:txBody>
          <a:bodyPr wrap="square" rtlCol="0" anchor="ctr"/>
          <a:lstStyle/>
          <a:p>
            <a:r>
              <a:rPr lang="en-US" sz="1050" dirty="0">
                <a:solidFill>
                  <a:srgbClr val="C792EA"/>
                </a:solidFill>
                <a:latin typeface="Courier New" pitchFamily="34" charset="0"/>
                <a:ea typeface="Courier New" pitchFamily="34" charset="-122"/>
                <a:cs typeface="Courier New" pitchFamily="34" charset="-120"/>
              </a:rPr>
              <a:t>import duckdb</a:t>
            </a:r>
            <a:endParaRPr lang="en-US" sz="1050" dirty="0"/>
          </a:p>
        </p:txBody>
      </p:sp>
      <p:sp>
        <p:nvSpPr>
          <p:cNvPr id="10" name="Text 8"/>
          <p:cNvSpPr/>
          <p:nvPr/>
        </p:nvSpPr>
        <p:spPr>
          <a:xfrm>
            <a:off x="594360" y="2521458"/>
            <a:ext cx="4663440" cy="237744"/>
          </a:xfrm>
          <a:prstGeom prst="rect">
            <a:avLst/>
          </a:prstGeom>
          <a:noFill/>
          <a:ln/>
        </p:spPr>
        <p:txBody>
          <a:bodyPr wrap="square" rtlCol="0" anchor="ctr"/>
          <a:lstStyle/>
          <a:p>
            <a:r>
              <a:rPr lang="en-US" sz="1050" dirty="0">
                <a:solidFill>
                  <a:srgbClr val="A6E22E"/>
                </a:solidFill>
                <a:latin typeface="Courier New" pitchFamily="34" charset="0"/>
                <a:ea typeface="Courier New" pitchFamily="34" charset="-122"/>
                <a:cs typeface="Courier New" pitchFamily="34" charset="-120"/>
              </a:rPr>
              <a:t>conn = duckdb.connect('olist.db')</a:t>
            </a:r>
            <a:endParaRPr lang="en-US" sz="1050" dirty="0"/>
          </a:p>
        </p:txBody>
      </p:sp>
      <p:sp>
        <p:nvSpPr>
          <p:cNvPr id="11" name="Text 9"/>
          <p:cNvSpPr/>
          <p:nvPr/>
        </p:nvSpPr>
        <p:spPr>
          <a:xfrm>
            <a:off x="594360" y="2740914"/>
            <a:ext cx="4663440" cy="237744"/>
          </a:xfrm>
          <a:prstGeom prst="rect">
            <a:avLst/>
          </a:prstGeom>
          <a:noFill/>
          <a:ln/>
        </p:spPr>
        <p:txBody>
          <a:bodyPr wrap="square" rtlCol="0" anchor="ctr"/>
          <a:lstStyle/>
          <a:p>
            <a:endParaRPr lang="en-US" sz="1050" dirty="0"/>
          </a:p>
        </p:txBody>
      </p:sp>
      <p:sp>
        <p:nvSpPr>
          <p:cNvPr id="12" name="Text 10"/>
          <p:cNvSpPr/>
          <p:nvPr/>
        </p:nvSpPr>
        <p:spPr>
          <a:xfrm>
            <a:off x="594360" y="2960370"/>
            <a:ext cx="4663440" cy="237744"/>
          </a:xfrm>
          <a:prstGeom prst="rect">
            <a:avLst/>
          </a:prstGeom>
          <a:noFill/>
          <a:ln/>
        </p:spPr>
        <p:txBody>
          <a:bodyPr wrap="square" rtlCol="0" anchor="ctr"/>
          <a:lstStyle/>
          <a:p>
            <a:r>
              <a:rPr lang="en-US" sz="1050" dirty="0">
                <a:solidFill>
                  <a:srgbClr val="FFFFFF"/>
                </a:solidFill>
                <a:latin typeface="Courier New" pitchFamily="34" charset="0"/>
                <a:ea typeface="Courier New" pitchFamily="34" charset="-122"/>
                <a:cs typeface="Courier New" pitchFamily="34" charset="-120"/>
              </a:rPr>
              <a:t>checks = {</a:t>
            </a:r>
            <a:endParaRPr lang="en-US" sz="1050" dirty="0"/>
          </a:p>
        </p:txBody>
      </p:sp>
      <p:sp>
        <p:nvSpPr>
          <p:cNvPr id="13" name="Text 11"/>
          <p:cNvSpPr/>
          <p:nvPr/>
        </p:nvSpPr>
        <p:spPr>
          <a:xfrm>
            <a:off x="594360" y="3179826"/>
            <a:ext cx="4663440" cy="237744"/>
          </a:xfrm>
          <a:prstGeom prst="rect">
            <a:avLst/>
          </a:prstGeom>
          <a:noFill/>
          <a:ln/>
        </p:spPr>
        <p:txBody>
          <a:bodyPr wrap="square" rtlCol="0" anchor="ctr"/>
          <a:lstStyle/>
          <a:p>
            <a:r>
              <a:rPr lang="en-US" sz="1050" dirty="0">
                <a:solidFill>
                  <a:srgbClr val="82AAFF"/>
                </a:solidFill>
                <a:latin typeface="Courier New" pitchFamily="34" charset="0"/>
                <a:ea typeface="Courier New" pitchFamily="34" charset="-122"/>
                <a:cs typeface="Courier New" pitchFamily="34" charset="-120"/>
              </a:rPr>
              <a:t>  "Null customer_id": "...WHERE customer_id IS NULL",</a:t>
            </a:r>
            <a:endParaRPr lang="en-US" sz="1050" dirty="0"/>
          </a:p>
        </p:txBody>
      </p:sp>
      <p:sp>
        <p:nvSpPr>
          <p:cNvPr id="14" name="Text 12"/>
          <p:cNvSpPr/>
          <p:nvPr/>
        </p:nvSpPr>
        <p:spPr>
          <a:xfrm>
            <a:off x="594360" y="3399282"/>
            <a:ext cx="4663440" cy="237744"/>
          </a:xfrm>
          <a:prstGeom prst="rect">
            <a:avLst/>
          </a:prstGeom>
          <a:noFill/>
          <a:ln/>
        </p:spPr>
        <p:txBody>
          <a:bodyPr wrap="square" rtlCol="0" anchor="ctr"/>
          <a:lstStyle/>
          <a:p>
            <a:r>
              <a:rPr lang="en-US" sz="1050" dirty="0">
                <a:solidFill>
                  <a:srgbClr val="82AAFF"/>
                </a:solidFill>
                <a:latin typeface="Courier New" pitchFamily="34" charset="0"/>
                <a:ea typeface="Courier New" pitchFamily="34" charset="-122"/>
                <a:cs typeface="Courier New" pitchFamily="34" charset="-120"/>
              </a:rPr>
              <a:t>  "Null product_id":  "...WHERE product_id IS NULL",</a:t>
            </a:r>
            <a:endParaRPr lang="en-US" sz="1050" dirty="0"/>
          </a:p>
        </p:txBody>
      </p:sp>
      <p:sp>
        <p:nvSpPr>
          <p:cNvPr id="15" name="Text 13"/>
          <p:cNvSpPr/>
          <p:nvPr/>
        </p:nvSpPr>
        <p:spPr>
          <a:xfrm>
            <a:off x="594360" y="3618738"/>
            <a:ext cx="4663440" cy="237744"/>
          </a:xfrm>
          <a:prstGeom prst="rect">
            <a:avLst/>
          </a:prstGeom>
          <a:noFill/>
          <a:ln/>
        </p:spPr>
        <p:txBody>
          <a:bodyPr wrap="square" rtlCol="0" anchor="ctr"/>
          <a:lstStyle/>
          <a:p>
            <a:r>
              <a:rPr lang="en-US" sz="1050" dirty="0">
                <a:solidFill>
                  <a:srgbClr val="82AAFF"/>
                </a:solidFill>
                <a:latin typeface="Courier New" pitchFamily="34" charset="0"/>
                <a:ea typeface="Courier New" pitchFamily="34" charset="-122"/>
                <a:cs typeface="Courier New" pitchFamily="34" charset="-120"/>
              </a:rPr>
              <a:t>  "Null seller_id":   "...WHERE seller_id IS NULL",</a:t>
            </a:r>
            <a:endParaRPr lang="en-US" sz="1050" dirty="0"/>
          </a:p>
        </p:txBody>
      </p:sp>
      <p:sp>
        <p:nvSpPr>
          <p:cNvPr id="16" name="Text 14"/>
          <p:cNvSpPr/>
          <p:nvPr/>
        </p:nvSpPr>
        <p:spPr>
          <a:xfrm>
            <a:off x="594360" y="3838194"/>
            <a:ext cx="4663440" cy="237744"/>
          </a:xfrm>
          <a:prstGeom prst="rect">
            <a:avLst/>
          </a:prstGeom>
          <a:noFill/>
          <a:ln/>
        </p:spPr>
        <p:txBody>
          <a:bodyPr wrap="square" rtlCol="0" anchor="ctr"/>
          <a:lstStyle/>
          <a:p>
            <a:r>
              <a:rPr lang="en-US" sz="1050" dirty="0">
                <a:solidFill>
                  <a:srgbClr val="82AAFF"/>
                </a:solidFill>
                <a:latin typeface="Courier New" pitchFamily="34" charset="0"/>
                <a:ea typeface="Courier New" pitchFamily="34" charset="-122"/>
                <a:cs typeface="Courier New" pitchFamily="34" charset="-120"/>
              </a:rPr>
              <a:t>  "Negative sales":   "...WHERE sales_amount &lt; 0"</a:t>
            </a:r>
            <a:endParaRPr lang="en-US" sz="1050" dirty="0"/>
          </a:p>
        </p:txBody>
      </p:sp>
      <p:sp>
        <p:nvSpPr>
          <p:cNvPr id="17" name="Text 15"/>
          <p:cNvSpPr/>
          <p:nvPr/>
        </p:nvSpPr>
        <p:spPr>
          <a:xfrm>
            <a:off x="594360" y="4057650"/>
            <a:ext cx="4663440" cy="237744"/>
          </a:xfrm>
          <a:prstGeom prst="rect">
            <a:avLst/>
          </a:prstGeom>
          <a:noFill/>
          <a:ln/>
        </p:spPr>
        <p:txBody>
          <a:bodyPr wrap="square" rtlCol="0" anchor="ctr"/>
          <a:lstStyle/>
          <a:p>
            <a:r>
              <a:rPr lang="en-US" sz="1050" dirty="0">
                <a:solidFill>
                  <a:srgbClr val="FFFFFF"/>
                </a:solidFill>
                <a:latin typeface="Courier New" pitchFamily="34" charset="0"/>
                <a:ea typeface="Courier New" pitchFamily="34" charset="-122"/>
                <a:cs typeface="Courier New" pitchFamily="34" charset="-120"/>
              </a:rPr>
              <a:t>}</a:t>
            </a:r>
            <a:endParaRPr lang="en-US" sz="1050" dirty="0"/>
          </a:p>
        </p:txBody>
      </p:sp>
      <p:sp>
        <p:nvSpPr>
          <p:cNvPr id="18" name="Text 16"/>
          <p:cNvSpPr/>
          <p:nvPr/>
        </p:nvSpPr>
        <p:spPr>
          <a:xfrm>
            <a:off x="594360" y="4277106"/>
            <a:ext cx="4663440" cy="237744"/>
          </a:xfrm>
          <a:prstGeom prst="rect">
            <a:avLst/>
          </a:prstGeom>
          <a:noFill/>
          <a:ln/>
        </p:spPr>
        <p:txBody>
          <a:bodyPr wrap="square" rtlCol="0" anchor="ctr"/>
          <a:lstStyle/>
          <a:p>
            <a:endParaRPr lang="en-US" sz="1050" dirty="0"/>
          </a:p>
        </p:txBody>
      </p:sp>
      <p:sp>
        <p:nvSpPr>
          <p:cNvPr id="19" name="Text 17"/>
          <p:cNvSpPr/>
          <p:nvPr/>
        </p:nvSpPr>
        <p:spPr>
          <a:xfrm>
            <a:off x="594360" y="4496562"/>
            <a:ext cx="4663440" cy="237744"/>
          </a:xfrm>
          <a:prstGeom prst="rect">
            <a:avLst/>
          </a:prstGeom>
          <a:noFill/>
          <a:ln/>
        </p:spPr>
        <p:txBody>
          <a:bodyPr wrap="square" rtlCol="0" anchor="ctr"/>
          <a:lstStyle/>
          <a:p>
            <a:r>
              <a:rPr lang="en-US" sz="1050" dirty="0">
                <a:solidFill>
                  <a:srgbClr val="C792EA"/>
                </a:solidFill>
                <a:latin typeface="Courier New" pitchFamily="34" charset="0"/>
                <a:ea typeface="Courier New" pitchFamily="34" charset="-122"/>
                <a:cs typeface="Courier New" pitchFamily="34" charset="-120"/>
              </a:rPr>
              <a:t>for check_name, query in checks.items():</a:t>
            </a:r>
            <a:endParaRPr lang="en-US" sz="1050" dirty="0"/>
          </a:p>
        </p:txBody>
      </p:sp>
      <p:sp>
        <p:nvSpPr>
          <p:cNvPr id="20" name="Text 18"/>
          <p:cNvSpPr/>
          <p:nvPr/>
        </p:nvSpPr>
        <p:spPr>
          <a:xfrm>
            <a:off x="594360" y="4716018"/>
            <a:ext cx="4663440" cy="237744"/>
          </a:xfrm>
          <a:prstGeom prst="rect">
            <a:avLst/>
          </a:prstGeom>
          <a:noFill/>
          <a:ln/>
        </p:spPr>
        <p:txBody>
          <a:bodyPr wrap="square" rtlCol="0" anchor="ctr"/>
          <a:lstStyle/>
          <a:p>
            <a:r>
              <a:rPr lang="en-US" sz="1050" dirty="0">
                <a:solidFill>
                  <a:srgbClr val="A6E22E"/>
                </a:solidFill>
                <a:latin typeface="Courier New" pitchFamily="34" charset="0"/>
                <a:ea typeface="Courier New" pitchFamily="34" charset="-122"/>
                <a:cs typeface="Courier New" pitchFamily="34" charset="-120"/>
              </a:rPr>
              <a:t>    result = conn.sql(query).fetchone()[0]</a:t>
            </a:r>
            <a:endParaRPr lang="en-US" sz="1050" dirty="0"/>
          </a:p>
        </p:txBody>
      </p:sp>
      <p:sp>
        <p:nvSpPr>
          <p:cNvPr id="21" name="Text 19"/>
          <p:cNvSpPr/>
          <p:nvPr/>
        </p:nvSpPr>
        <p:spPr>
          <a:xfrm>
            <a:off x="594360" y="4935474"/>
            <a:ext cx="4663440" cy="237744"/>
          </a:xfrm>
          <a:prstGeom prst="rect">
            <a:avLst/>
          </a:prstGeom>
          <a:noFill/>
          <a:ln/>
        </p:spPr>
        <p:txBody>
          <a:bodyPr wrap="square" rtlCol="0" anchor="ctr"/>
          <a:lstStyle/>
          <a:p>
            <a:r>
              <a:rPr lang="en-US" sz="1050" dirty="0">
                <a:solidFill>
                  <a:srgbClr val="FFFFFF"/>
                </a:solidFill>
                <a:latin typeface="Courier New" pitchFamily="34" charset="0"/>
                <a:ea typeface="Courier New" pitchFamily="34" charset="-122"/>
                <a:cs typeface="Courier New" pitchFamily="34" charset="-120"/>
              </a:rPr>
              <a:t>    print(f"{check_name}: {result}")</a:t>
            </a:r>
            <a:endParaRPr lang="en-US" sz="1050" dirty="0"/>
          </a:p>
        </p:txBody>
      </p:sp>
      <p:sp>
        <p:nvSpPr>
          <p:cNvPr id="22" name="Shape 20"/>
          <p:cNvSpPr/>
          <p:nvPr/>
        </p:nvSpPr>
        <p:spPr>
          <a:xfrm>
            <a:off x="5623560" y="2183130"/>
            <a:ext cx="3108960" cy="694944"/>
          </a:xfrm>
          <a:prstGeom prst="rect">
            <a:avLst/>
          </a:prstGeom>
          <a:solidFill>
            <a:srgbClr val="EAF3DE"/>
          </a:solidFill>
          <a:ln w="6350">
            <a:solidFill>
              <a:srgbClr val="DDDDDD"/>
            </a:solidFill>
            <a:prstDash val="solid"/>
          </a:ln>
        </p:spPr>
        <p:txBody>
          <a:bodyPr/>
          <a:lstStyle/>
          <a:p>
            <a:endParaRPr lang="en-US"/>
          </a:p>
        </p:txBody>
      </p:sp>
      <p:sp>
        <p:nvSpPr>
          <p:cNvPr id="23" name="Text 21"/>
          <p:cNvSpPr/>
          <p:nvPr/>
        </p:nvSpPr>
        <p:spPr>
          <a:xfrm>
            <a:off x="5715000" y="2228850"/>
            <a:ext cx="2926080" cy="256032"/>
          </a:xfrm>
          <a:prstGeom prst="rect">
            <a:avLst/>
          </a:prstGeom>
          <a:noFill/>
          <a:ln/>
        </p:spPr>
        <p:txBody>
          <a:bodyPr wrap="square" rtlCol="0" anchor="ctr"/>
          <a:lstStyle/>
          <a:p>
            <a:r>
              <a:rPr lang="en-US" sz="1200" b="1" dirty="0">
                <a:solidFill>
                  <a:srgbClr val="3B6D11"/>
                </a:solidFill>
              </a:rPr>
              <a:t>Connect</a:t>
            </a:r>
            <a:endParaRPr lang="en-US" sz="1200" dirty="0"/>
          </a:p>
        </p:txBody>
      </p:sp>
      <p:sp>
        <p:nvSpPr>
          <p:cNvPr id="24" name="Text 22"/>
          <p:cNvSpPr/>
          <p:nvPr/>
        </p:nvSpPr>
        <p:spPr>
          <a:xfrm>
            <a:off x="5715000" y="2475738"/>
            <a:ext cx="2926080" cy="329184"/>
          </a:xfrm>
          <a:prstGeom prst="rect">
            <a:avLst/>
          </a:prstGeom>
          <a:noFill/>
          <a:ln/>
        </p:spPr>
        <p:txBody>
          <a:bodyPr wrap="square" rtlCol="0" anchor="ctr"/>
          <a:lstStyle/>
          <a:p>
            <a:r>
              <a:rPr lang="en-US" sz="1100" dirty="0">
                <a:solidFill>
                  <a:srgbClr val="555555"/>
                </a:solidFill>
              </a:rPr>
              <a:t>Opens olist.db directly via DuckDB</a:t>
            </a:r>
            <a:endParaRPr lang="en-US" sz="1100" dirty="0"/>
          </a:p>
        </p:txBody>
      </p:sp>
      <p:sp>
        <p:nvSpPr>
          <p:cNvPr id="25" name="Shape 23"/>
          <p:cNvSpPr/>
          <p:nvPr/>
        </p:nvSpPr>
        <p:spPr>
          <a:xfrm>
            <a:off x="5623560" y="3006090"/>
            <a:ext cx="3108960" cy="694944"/>
          </a:xfrm>
          <a:prstGeom prst="rect">
            <a:avLst/>
          </a:prstGeom>
          <a:solidFill>
            <a:srgbClr val="EEEDFE"/>
          </a:solidFill>
          <a:ln w="6350">
            <a:solidFill>
              <a:srgbClr val="DDDDDD"/>
            </a:solidFill>
            <a:prstDash val="solid"/>
          </a:ln>
        </p:spPr>
        <p:txBody>
          <a:bodyPr/>
          <a:lstStyle/>
          <a:p>
            <a:endParaRPr lang="en-US"/>
          </a:p>
        </p:txBody>
      </p:sp>
      <p:sp>
        <p:nvSpPr>
          <p:cNvPr id="26" name="Text 24"/>
          <p:cNvSpPr/>
          <p:nvPr/>
        </p:nvSpPr>
        <p:spPr>
          <a:xfrm>
            <a:off x="5715000" y="3051810"/>
            <a:ext cx="2926080" cy="256032"/>
          </a:xfrm>
          <a:prstGeom prst="rect">
            <a:avLst/>
          </a:prstGeom>
          <a:noFill/>
          <a:ln/>
        </p:spPr>
        <p:txBody>
          <a:bodyPr wrap="square" rtlCol="0" anchor="ctr"/>
          <a:lstStyle/>
          <a:p>
            <a:r>
              <a:rPr lang="en-US" sz="1200" b="1" dirty="0">
                <a:solidFill>
                  <a:srgbClr val="3C3489"/>
                </a:solidFill>
              </a:rPr>
              <a:t>Dict-driven</a:t>
            </a:r>
            <a:endParaRPr lang="en-US" sz="1200" dirty="0"/>
          </a:p>
        </p:txBody>
      </p:sp>
      <p:sp>
        <p:nvSpPr>
          <p:cNvPr id="27" name="Text 25"/>
          <p:cNvSpPr/>
          <p:nvPr/>
        </p:nvSpPr>
        <p:spPr>
          <a:xfrm>
            <a:off x="5715000" y="3298698"/>
            <a:ext cx="2926080" cy="329184"/>
          </a:xfrm>
          <a:prstGeom prst="rect">
            <a:avLst/>
          </a:prstGeom>
          <a:noFill/>
          <a:ln/>
        </p:spPr>
        <p:txBody>
          <a:bodyPr wrap="square" rtlCol="0" anchor="ctr"/>
          <a:lstStyle/>
          <a:p>
            <a:r>
              <a:rPr lang="en-US" sz="1100" dirty="0">
                <a:solidFill>
                  <a:srgbClr val="555555"/>
                </a:solidFill>
              </a:rPr>
              <a:t>Name + SQL pairs — add checks with one line</a:t>
            </a:r>
            <a:endParaRPr lang="en-US" sz="1100" dirty="0"/>
          </a:p>
        </p:txBody>
      </p:sp>
      <p:sp>
        <p:nvSpPr>
          <p:cNvPr id="28" name="Shape 26"/>
          <p:cNvSpPr/>
          <p:nvPr/>
        </p:nvSpPr>
        <p:spPr>
          <a:xfrm>
            <a:off x="5623560" y="3829050"/>
            <a:ext cx="3108960" cy="694944"/>
          </a:xfrm>
          <a:prstGeom prst="rect">
            <a:avLst/>
          </a:prstGeom>
          <a:solidFill>
            <a:srgbClr val="FFF4E0"/>
          </a:solidFill>
          <a:ln w="6350">
            <a:solidFill>
              <a:srgbClr val="DDDDDD"/>
            </a:solidFill>
            <a:prstDash val="solid"/>
          </a:ln>
        </p:spPr>
        <p:txBody>
          <a:bodyPr/>
          <a:lstStyle/>
          <a:p>
            <a:endParaRPr lang="en-US"/>
          </a:p>
        </p:txBody>
      </p:sp>
      <p:sp>
        <p:nvSpPr>
          <p:cNvPr id="29" name="Text 27"/>
          <p:cNvSpPr/>
          <p:nvPr/>
        </p:nvSpPr>
        <p:spPr>
          <a:xfrm>
            <a:off x="5715000" y="3874770"/>
            <a:ext cx="2926080" cy="256032"/>
          </a:xfrm>
          <a:prstGeom prst="rect">
            <a:avLst/>
          </a:prstGeom>
          <a:noFill/>
          <a:ln/>
        </p:spPr>
        <p:txBody>
          <a:bodyPr wrap="square" rtlCol="0" anchor="ctr"/>
          <a:lstStyle/>
          <a:p>
            <a:r>
              <a:rPr lang="en-US" sz="1200" b="1" dirty="0">
                <a:solidFill>
                  <a:srgbClr val="854F0B"/>
                </a:solidFill>
              </a:rPr>
              <a:t>Loop &amp; log</a:t>
            </a:r>
            <a:endParaRPr lang="en-US" sz="1200" dirty="0"/>
          </a:p>
        </p:txBody>
      </p:sp>
      <p:sp>
        <p:nvSpPr>
          <p:cNvPr id="30" name="Text 28"/>
          <p:cNvSpPr/>
          <p:nvPr/>
        </p:nvSpPr>
        <p:spPr>
          <a:xfrm>
            <a:off x="5715000" y="4121658"/>
            <a:ext cx="2926080" cy="329184"/>
          </a:xfrm>
          <a:prstGeom prst="rect">
            <a:avLst/>
          </a:prstGeom>
          <a:noFill/>
          <a:ln/>
        </p:spPr>
        <p:txBody>
          <a:bodyPr wrap="square" rtlCol="0" anchor="ctr"/>
          <a:lstStyle/>
          <a:p>
            <a:r>
              <a:rPr lang="en-US" sz="1100" dirty="0">
                <a:solidFill>
                  <a:srgbClr val="555555"/>
                </a:solidFill>
              </a:rPr>
              <a:t>Count &gt; 0 flags affected rows for review</a:t>
            </a:r>
            <a:endParaRPr lang="en-US" sz="1100" dirty="0"/>
          </a:p>
        </p:txBody>
      </p:sp>
      <p:sp>
        <p:nvSpPr>
          <p:cNvPr id="31" name="Text 29"/>
          <p:cNvSpPr/>
          <p:nvPr/>
        </p:nvSpPr>
        <p:spPr>
          <a:xfrm>
            <a:off x="8046720" y="5630418"/>
            <a:ext cx="914400" cy="274320"/>
          </a:xfrm>
          <a:prstGeom prst="rect">
            <a:avLst/>
          </a:prstGeom>
          <a:noFill/>
          <a:ln/>
        </p:spPr>
        <p:txBody>
          <a:bodyPr wrap="square" rtlCol="0" anchor="ctr"/>
          <a:lstStyle/>
          <a:p>
            <a:pPr algn="r"/>
            <a:endParaRPr lang="en-US" sz="1000" dirty="0"/>
          </a:p>
        </p:txBody>
      </p:sp>
    </p:spTree>
    <p:extLst>
      <p:ext uri="{BB962C8B-B14F-4D97-AF65-F5344CB8AC3E}">
        <p14:creationId xmlns:p14="http://schemas.microsoft.com/office/powerpoint/2010/main" val="30136404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34" y="-3152"/>
            <a:ext cx="9148443" cy="6857554"/>
          </a:xfrm>
          <a:prstGeom prst="rect">
            <a:avLst/>
          </a:prstGeom>
          <a:solidFill>
            <a:srgbClr val="F5F8FC"/>
          </a:solidFill>
          <a:ln/>
        </p:spPr>
        <p:txBody>
          <a:bodyPr/>
          <a:lstStyle/>
          <a:p>
            <a:endParaRPr lang="en-US"/>
          </a:p>
        </p:txBody>
      </p:sp>
      <p:sp>
        <p:nvSpPr>
          <p:cNvPr id="3" name="Shape 1"/>
          <p:cNvSpPr/>
          <p:nvPr/>
        </p:nvSpPr>
        <p:spPr>
          <a:xfrm>
            <a:off x="401781" y="5625984"/>
            <a:ext cx="8335819" cy="374766"/>
          </a:xfrm>
          <a:prstGeom prst="rect">
            <a:avLst/>
          </a:prstGeom>
          <a:solidFill>
            <a:srgbClr val="1A5EA8"/>
          </a:solidFill>
          <a:ln/>
        </p:spPr>
        <p:txBody>
          <a:bodyPr/>
          <a:lstStyle/>
          <a:p>
            <a:endParaRPr lang="en-US"/>
          </a:p>
        </p:txBody>
      </p:sp>
      <p:sp>
        <p:nvSpPr>
          <p:cNvPr id="4" name="Shape 2"/>
          <p:cNvSpPr/>
          <p:nvPr/>
        </p:nvSpPr>
        <p:spPr>
          <a:xfrm>
            <a:off x="411480" y="1113282"/>
            <a:ext cx="2194560" cy="292608"/>
          </a:xfrm>
          <a:prstGeom prst="rect">
            <a:avLst/>
          </a:prstGeom>
          <a:solidFill>
            <a:srgbClr val="1A5EA8"/>
          </a:solidFill>
          <a:ln/>
        </p:spPr>
        <p:txBody>
          <a:bodyPr/>
          <a:lstStyle/>
          <a:p>
            <a:endParaRPr lang="en-US"/>
          </a:p>
        </p:txBody>
      </p:sp>
      <p:sp>
        <p:nvSpPr>
          <p:cNvPr id="5" name="Text 3"/>
          <p:cNvSpPr/>
          <p:nvPr/>
        </p:nvSpPr>
        <p:spPr>
          <a:xfrm>
            <a:off x="411480" y="1113282"/>
            <a:ext cx="2194560" cy="292608"/>
          </a:xfrm>
          <a:prstGeom prst="rect">
            <a:avLst/>
          </a:prstGeom>
          <a:noFill/>
          <a:ln/>
        </p:spPr>
        <p:txBody>
          <a:bodyPr wrap="square" lIns="0" tIns="0" rIns="0" bIns="0" rtlCol="0" anchor="ctr"/>
          <a:lstStyle/>
          <a:p>
            <a:pPr algn="ctr"/>
            <a:r>
              <a:rPr lang="en-US" sz="1000" b="1" dirty="0">
                <a:solidFill>
                  <a:srgbClr val="FFFFFF"/>
                </a:solidFill>
              </a:rPr>
              <a:t>Summary</a:t>
            </a:r>
            <a:endParaRPr lang="en-US" sz="1000" dirty="0"/>
          </a:p>
        </p:txBody>
      </p:sp>
      <p:sp>
        <p:nvSpPr>
          <p:cNvPr id="6" name="Text 4"/>
          <p:cNvSpPr/>
          <p:nvPr/>
        </p:nvSpPr>
        <p:spPr>
          <a:xfrm>
            <a:off x="411480" y="1497330"/>
            <a:ext cx="8321040" cy="502920"/>
          </a:xfrm>
          <a:prstGeom prst="rect">
            <a:avLst/>
          </a:prstGeom>
          <a:noFill/>
          <a:ln/>
        </p:spPr>
        <p:txBody>
          <a:bodyPr wrap="square" rtlCol="0" anchor="ctr"/>
          <a:lstStyle/>
          <a:p>
            <a:r>
              <a:rPr lang="en-US" sz="2800" b="1" dirty="0">
                <a:solidFill>
                  <a:srgbClr val="1A3A5C"/>
                </a:solidFill>
              </a:rPr>
              <a:t>What the Two Layers Deliver</a:t>
            </a:r>
            <a:endParaRPr lang="en-US" sz="2800" dirty="0"/>
          </a:p>
        </p:txBody>
      </p:sp>
      <p:sp>
        <p:nvSpPr>
          <p:cNvPr id="7" name="Shape 5"/>
          <p:cNvSpPr/>
          <p:nvPr/>
        </p:nvSpPr>
        <p:spPr>
          <a:xfrm>
            <a:off x="411480" y="2064258"/>
            <a:ext cx="8321040" cy="0"/>
          </a:xfrm>
          <a:prstGeom prst="line">
            <a:avLst/>
          </a:prstGeom>
          <a:noFill/>
          <a:ln w="19050">
            <a:solidFill>
              <a:srgbClr val="1A5EA8"/>
            </a:solidFill>
            <a:prstDash val="solid"/>
          </a:ln>
        </p:spPr>
        <p:txBody>
          <a:bodyPr/>
          <a:lstStyle/>
          <a:p>
            <a:endParaRPr lang="en-US"/>
          </a:p>
        </p:txBody>
      </p:sp>
      <p:sp>
        <p:nvSpPr>
          <p:cNvPr id="8" name="Shape 6"/>
          <p:cNvSpPr/>
          <p:nvPr/>
        </p:nvSpPr>
        <p:spPr>
          <a:xfrm>
            <a:off x="411480" y="2274570"/>
            <a:ext cx="2560320" cy="2560320"/>
          </a:xfrm>
          <a:prstGeom prst="rect">
            <a:avLst/>
          </a:prstGeom>
          <a:solidFill>
            <a:srgbClr val="EAF3DE"/>
          </a:solidFill>
          <a:ln w="6350">
            <a:solidFill>
              <a:srgbClr val="DDDDDD"/>
            </a:solidFill>
            <a:prstDash val="solid"/>
          </a:ln>
        </p:spPr>
        <p:txBody>
          <a:bodyPr/>
          <a:lstStyle/>
          <a:p>
            <a:endParaRPr lang="en-US"/>
          </a:p>
        </p:txBody>
      </p:sp>
      <p:sp>
        <p:nvSpPr>
          <p:cNvPr id="9" name="Text 7"/>
          <p:cNvSpPr/>
          <p:nvPr/>
        </p:nvSpPr>
        <p:spPr>
          <a:xfrm>
            <a:off x="411480" y="2411730"/>
            <a:ext cx="2560320" cy="822960"/>
          </a:xfrm>
          <a:prstGeom prst="rect">
            <a:avLst/>
          </a:prstGeom>
          <a:noFill/>
          <a:ln/>
        </p:spPr>
        <p:txBody>
          <a:bodyPr wrap="square" rtlCol="0" anchor="ctr"/>
          <a:lstStyle/>
          <a:p>
            <a:pPr algn="ctr"/>
            <a:r>
              <a:rPr lang="en-US" sz="5200" b="1" dirty="0">
                <a:solidFill>
                  <a:srgbClr val="3B6D11"/>
                </a:solidFill>
              </a:rPr>
              <a:t>7</a:t>
            </a:r>
            <a:endParaRPr lang="en-US" sz="5200" dirty="0"/>
          </a:p>
        </p:txBody>
      </p:sp>
      <p:sp>
        <p:nvSpPr>
          <p:cNvPr id="10" name="Text 8"/>
          <p:cNvSpPr/>
          <p:nvPr/>
        </p:nvSpPr>
        <p:spPr>
          <a:xfrm>
            <a:off x="411480" y="3188970"/>
            <a:ext cx="2560320" cy="365760"/>
          </a:xfrm>
          <a:prstGeom prst="rect">
            <a:avLst/>
          </a:prstGeom>
          <a:noFill/>
          <a:ln/>
        </p:spPr>
        <p:txBody>
          <a:bodyPr wrap="square" rtlCol="0" anchor="ctr"/>
          <a:lstStyle/>
          <a:p>
            <a:pPr algn="ctr"/>
            <a:r>
              <a:rPr lang="en-US" sz="1400" b="1" dirty="0">
                <a:solidFill>
                  <a:srgbClr val="1A3A5C"/>
                </a:solidFill>
              </a:rPr>
              <a:t>dbt tests</a:t>
            </a:r>
            <a:endParaRPr lang="en-US" sz="1400" dirty="0"/>
          </a:p>
        </p:txBody>
      </p:sp>
      <p:sp>
        <p:nvSpPr>
          <p:cNvPr id="11" name="Text 9"/>
          <p:cNvSpPr/>
          <p:nvPr/>
        </p:nvSpPr>
        <p:spPr>
          <a:xfrm>
            <a:off x="502920" y="3554730"/>
            <a:ext cx="2377440" cy="1097280"/>
          </a:xfrm>
          <a:prstGeom prst="rect">
            <a:avLst/>
          </a:prstGeom>
          <a:noFill/>
          <a:ln/>
        </p:spPr>
        <p:txBody>
          <a:bodyPr wrap="square" rtlCol="0" anchor="t"/>
          <a:lstStyle/>
          <a:p>
            <a:pPr algn="ctr"/>
            <a:r>
              <a:rPr lang="en-US" sz="1100" dirty="0">
                <a:solidFill>
                  <a:srgbClr val="555555"/>
                </a:solidFill>
              </a:rPr>
              <a:t>unique + not_null across all 3 dim tables and fact_sales</a:t>
            </a:r>
            <a:endParaRPr lang="en-US" sz="1100" dirty="0"/>
          </a:p>
        </p:txBody>
      </p:sp>
      <p:sp>
        <p:nvSpPr>
          <p:cNvPr id="12" name="Shape 10"/>
          <p:cNvSpPr/>
          <p:nvPr/>
        </p:nvSpPr>
        <p:spPr>
          <a:xfrm>
            <a:off x="3246120" y="2274570"/>
            <a:ext cx="2560320" cy="2560320"/>
          </a:xfrm>
          <a:prstGeom prst="rect">
            <a:avLst/>
          </a:prstGeom>
          <a:solidFill>
            <a:srgbClr val="EEEDFE"/>
          </a:solidFill>
          <a:ln w="6350">
            <a:solidFill>
              <a:srgbClr val="DDDDDD"/>
            </a:solidFill>
            <a:prstDash val="solid"/>
          </a:ln>
        </p:spPr>
        <p:txBody>
          <a:bodyPr/>
          <a:lstStyle/>
          <a:p>
            <a:endParaRPr lang="en-US"/>
          </a:p>
        </p:txBody>
      </p:sp>
      <p:sp>
        <p:nvSpPr>
          <p:cNvPr id="13" name="Text 11"/>
          <p:cNvSpPr/>
          <p:nvPr/>
        </p:nvSpPr>
        <p:spPr>
          <a:xfrm>
            <a:off x="3246120" y="2411730"/>
            <a:ext cx="2560320" cy="822960"/>
          </a:xfrm>
          <a:prstGeom prst="rect">
            <a:avLst/>
          </a:prstGeom>
          <a:noFill/>
          <a:ln/>
        </p:spPr>
        <p:txBody>
          <a:bodyPr wrap="square" rtlCol="0" anchor="ctr"/>
          <a:lstStyle/>
          <a:p>
            <a:pPr algn="ctr"/>
            <a:r>
              <a:rPr lang="en-US" sz="5200" b="1" dirty="0">
                <a:solidFill>
                  <a:srgbClr val="3C3489"/>
                </a:solidFill>
              </a:rPr>
              <a:t>4</a:t>
            </a:r>
            <a:endParaRPr lang="en-US" sz="5200" dirty="0"/>
          </a:p>
        </p:txBody>
      </p:sp>
      <p:sp>
        <p:nvSpPr>
          <p:cNvPr id="14" name="Text 12"/>
          <p:cNvSpPr/>
          <p:nvPr/>
        </p:nvSpPr>
        <p:spPr>
          <a:xfrm>
            <a:off x="3246120" y="3188970"/>
            <a:ext cx="2560320" cy="365760"/>
          </a:xfrm>
          <a:prstGeom prst="rect">
            <a:avLst/>
          </a:prstGeom>
          <a:noFill/>
          <a:ln/>
        </p:spPr>
        <p:txBody>
          <a:bodyPr wrap="square" rtlCol="0" anchor="ctr"/>
          <a:lstStyle/>
          <a:p>
            <a:pPr algn="ctr"/>
            <a:r>
              <a:rPr lang="en-US" sz="1400" b="1" dirty="0">
                <a:solidFill>
                  <a:srgbClr val="1A3A5C"/>
                </a:solidFill>
              </a:rPr>
              <a:t>Python checks</a:t>
            </a:r>
            <a:endParaRPr lang="en-US" sz="1400" dirty="0"/>
          </a:p>
        </p:txBody>
      </p:sp>
      <p:sp>
        <p:nvSpPr>
          <p:cNvPr id="15" name="Text 13"/>
          <p:cNvSpPr/>
          <p:nvPr/>
        </p:nvSpPr>
        <p:spPr>
          <a:xfrm>
            <a:off x="3337560" y="3554730"/>
            <a:ext cx="2377440" cy="1097280"/>
          </a:xfrm>
          <a:prstGeom prst="rect">
            <a:avLst/>
          </a:prstGeom>
          <a:noFill/>
          <a:ln/>
        </p:spPr>
        <p:txBody>
          <a:bodyPr wrap="square" rtlCol="0" anchor="t"/>
          <a:lstStyle/>
          <a:p>
            <a:pPr algn="ctr"/>
            <a:r>
              <a:rPr lang="en-US" sz="1100" dirty="0">
                <a:solidFill>
                  <a:srgbClr val="555555"/>
                </a:solidFill>
              </a:rPr>
              <a:t>Null FKs + negative amounts via data_quality.py</a:t>
            </a:r>
            <a:endParaRPr lang="en-US" sz="1100" dirty="0"/>
          </a:p>
        </p:txBody>
      </p:sp>
      <p:sp>
        <p:nvSpPr>
          <p:cNvPr id="16" name="Shape 14"/>
          <p:cNvSpPr/>
          <p:nvPr/>
        </p:nvSpPr>
        <p:spPr>
          <a:xfrm>
            <a:off x="6080760" y="2274570"/>
            <a:ext cx="2560320" cy="2560320"/>
          </a:xfrm>
          <a:prstGeom prst="rect">
            <a:avLst/>
          </a:prstGeom>
          <a:solidFill>
            <a:srgbClr val="FFF4E0"/>
          </a:solidFill>
          <a:ln w="6350">
            <a:solidFill>
              <a:srgbClr val="DDDDDD"/>
            </a:solidFill>
            <a:prstDash val="solid"/>
          </a:ln>
        </p:spPr>
        <p:txBody>
          <a:bodyPr/>
          <a:lstStyle/>
          <a:p>
            <a:endParaRPr lang="en-US"/>
          </a:p>
        </p:txBody>
      </p:sp>
      <p:sp>
        <p:nvSpPr>
          <p:cNvPr id="17" name="Text 15"/>
          <p:cNvSpPr/>
          <p:nvPr/>
        </p:nvSpPr>
        <p:spPr>
          <a:xfrm>
            <a:off x="6080760" y="2411730"/>
            <a:ext cx="2560320" cy="822960"/>
          </a:xfrm>
          <a:prstGeom prst="rect">
            <a:avLst/>
          </a:prstGeom>
          <a:noFill/>
          <a:ln/>
        </p:spPr>
        <p:txBody>
          <a:bodyPr wrap="square" rtlCol="0" anchor="ctr"/>
          <a:lstStyle/>
          <a:p>
            <a:pPr algn="ctr"/>
            <a:r>
              <a:rPr lang="en-US" sz="5200" b="1" dirty="0">
                <a:solidFill>
                  <a:srgbClr val="854F0B"/>
                </a:solidFill>
              </a:rPr>
              <a:t>0</a:t>
            </a:r>
            <a:endParaRPr lang="en-US" sz="5200" dirty="0"/>
          </a:p>
        </p:txBody>
      </p:sp>
      <p:sp>
        <p:nvSpPr>
          <p:cNvPr id="18" name="Text 16"/>
          <p:cNvSpPr/>
          <p:nvPr/>
        </p:nvSpPr>
        <p:spPr>
          <a:xfrm>
            <a:off x="6080760" y="3188970"/>
            <a:ext cx="2560320" cy="365760"/>
          </a:xfrm>
          <a:prstGeom prst="rect">
            <a:avLst/>
          </a:prstGeom>
          <a:noFill/>
          <a:ln/>
        </p:spPr>
        <p:txBody>
          <a:bodyPr wrap="square" rtlCol="0" anchor="ctr"/>
          <a:lstStyle/>
          <a:p>
            <a:pPr algn="ctr"/>
            <a:r>
              <a:rPr lang="en-US" sz="1400" b="1" dirty="0">
                <a:solidFill>
                  <a:srgbClr val="1A3A5C"/>
                </a:solidFill>
              </a:rPr>
              <a:t>Hard failures</a:t>
            </a:r>
            <a:endParaRPr lang="en-US" sz="1400" dirty="0"/>
          </a:p>
        </p:txBody>
      </p:sp>
      <p:sp>
        <p:nvSpPr>
          <p:cNvPr id="19" name="Text 17"/>
          <p:cNvSpPr/>
          <p:nvPr/>
        </p:nvSpPr>
        <p:spPr>
          <a:xfrm>
            <a:off x="6172200" y="3554730"/>
            <a:ext cx="2377440" cy="1097280"/>
          </a:xfrm>
          <a:prstGeom prst="rect">
            <a:avLst/>
          </a:prstGeom>
          <a:noFill/>
          <a:ln/>
        </p:spPr>
        <p:txBody>
          <a:bodyPr wrap="square" rtlCol="0" anchor="t"/>
          <a:lstStyle/>
          <a:p>
            <a:pPr algn="ctr"/>
            <a:r>
              <a:rPr lang="en-US" sz="1100" dirty="0">
                <a:solidFill>
                  <a:srgbClr val="555555"/>
                </a:solidFill>
              </a:rPr>
              <a:t>All findings treated as documented limitations — pipeline kept auditable</a:t>
            </a:r>
            <a:endParaRPr lang="en-US" sz="1100" dirty="0"/>
          </a:p>
        </p:txBody>
      </p:sp>
      <p:sp>
        <p:nvSpPr>
          <p:cNvPr id="20" name="Text 18"/>
          <p:cNvSpPr/>
          <p:nvPr/>
        </p:nvSpPr>
        <p:spPr>
          <a:xfrm>
            <a:off x="411480" y="5063490"/>
            <a:ext cx="8321040" cy="365760"/>
          </a:xfrm>
          <a:prstGeom prst="rect">
            <a:avLst/>
          </a:prstGeom>
          <a:noFill/>
          <a:ln/>
        </p:spPr>
        <p:txBody>
          <a:bodyPr wrap="square" rtlCol="0" anchor="ctr"/>
          <a:lstStyle/>
          <a:p>
            <a:pPr algn="ctr"/>
            <a:r>
              <a:rPr lang="en-US" sz="1200" i="1" dirty="0">
                <a:solidFill>
                  <a:srgbClr val="888888"/>
                </a:solidFill>
              </a:rPr>
              <a:t>Both layers together ensure structural integrity and business rule compliance across the entire pipeline.</a:t>
            </a:r>
            <a:endParaRPr lang="en-US" sz="1200" dirty="0"/>
          </a:p>
        </p:txBody>
      </p:sp>
      <p:sp>
        <p:nvSpPr>
          <p:cNvPr id="21" name="Text 19"/>
          <p:cNvSpPr/>
          <p:nvPr/>
        </p:nvSpPr>
        <p:spPr>
          <a:xfrm>
            <a:off x="8046720" y="5630418"/>
            <a:ext cx="914400" cy="274320"/>
          </a:xfrm>
          <a:prstGeom prst="rect">
            <a:avLst/>
          </a:prstGeom>
          <a:noFill/>
          <a:ln/>
        </p:spPr>
        <p:txBody>
          <a:bodyPr wrap="square" rtlCol="0" anchor="ctr"/>
          <a:lstStyle/>
          <a:p>
            <a:pPr algn="r"/>
            <a:endParaRPr lang="en-US" sz="1000" dirty="0"/>
          </a:p>
        </p:txBody>
      </p:sp>
    </p:spTree>
    <p:extLst>
      <p:ext uri="{BB962C8B-B14F-4D97-AF65-F5344CB8AC3E}">
        <p14:creationId xmlns:p14="http://schemas.microsoft.com/office/powerpoint/2010/main" val="11659072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2132" y="3953"/>
            <a:ext cx="9138849" cy="6836240"/>
          </a:xfrm>
          <a:prstGeom prst="rect">
            <a:avLst/>
          </a:prstGeom>
          <a:solidFill>
            <a:srgbClr val="1A3A5C"/>
          </a:solidFill>
          <a:ln/>
        </p:spPr>
        <p:txBody>
          <a:bodyPr/>
          <a:lstStyle/>
          <a:p>
            <a:endParaRPr lang="en-US"/>
          </a:p>
        </p:txBody>
      </p:sp>
      <p:sp>
        <p:nvSpPr>
          <p:cNvPr id="3" name="Shape 1"/>
          <p:cNvSpPr/>
          <p:nvPr/>
        </p:nvSpPr>
        <p:spPr>
          <a:xfrm>
            <a:off x="1244" y="3952"/>
            <a:ext cx="93387" cy="6453463"/>
          </a:xfrm>
          <a:prstGeom prst="rect">
            <a:avLst/>
          </a:prstGeom>
          <a:solidFill>
            <a:srgbClr val="1A5EA8"/>
          </a:solidFill>
          <a:ln/>
        </p:spPr>
        <p:txBody>
          <a:bodyPr/>
          <a:lstStyle/>
          <a:p>
            <a:endParaRPr lang="en-US"/>
          </a:p>
        </p:txBody>
      </p:sp>
      <p:sp>
        <p:nvSpPr>
          <p:cNvPr id="4" name="Shape 2"/>
          <p:cNvSpPr/>
          <p:nvPr/>
        </p:nvSpPr>
        <p:spPr>
          <a:xfrm>
            <a:off x="887" y="6445356"/>
            <a:ext cx="9128725" cy="407804"/>
          </a:xfrm>
          <a:prstGeom prst="rect">
            <a:avLst/>
          </a:prstGeom>
          <a:solidFill>
            <a:srgbClr val="1A5EA8"/>
          </a:solidFill>
          <a:ln/>
        </p:spPr>
        <p:txBody>
          <a:bodyPr/>
          <a:lstStyle/>
          <a:p>
            <a:endParaRPr lang="en-US"/>
          </a:p>
        </p:txBody>
      </p:sp>
      <p:sp>
        <p:nvSpPr>
          <p:cNvPr id="5" name="Text 3"/>
          <p:cNvSpPr/>
          <p:nvPr/>
        </p:nvSpPr>
        <p:spPr>
          <a:xfrm>
            <a:off x="572654" y="1694064"/>
            <a:ext cx="8114146" cy="1289396"/>
          </a:xfrm>
          <a:prstGeom prst="rect">
            <a:avLst/>
          </a:prstGeom>
          <a:noFill/>
          <a:ln/>
        </p:spPr>
        <p:txBody>
          <a:bodyPr wrap="square" rtlCol="0" anchor="ctr"/>
          <a:lstStyle/>
          <a:p>
            <a:pPr>
              <a:lnSpc>
                <a:spcPct val="130000"/>
              </a:lnSpc>
            </a:pPr>
            <a:r>
              <a:rPr lang="en-US" sz="3200" b="1" dirty="0">
                <a:solidFill>
                  <a:srgbClr val="FFFFFF"/>
                </a:solidFill>
              </a:rPr>
              <a:t>Data quality is not just about</a:t>
            </a:r>
            <a:endParaRPr lang="en-US" sz="3200" dirty="0"/>
          </a:p>
          <a:p>
            <a:pPr>
              <a:lnSpc>
                <a:spcPct val="130000"/>
              </a:lnSpc>
            </a:pPr>
            <a:r>
              <a:rPr lang="en-US" sz="3200" b="1" dirty="0">
                <a:solidFill>
                  <a:srgbClr val="FFFFFF"/>
                </a:solidFill>
              </a:rPr>
              <a:t>cleaning data.</a:t>
            </a:r>
            <a:endParaRPr lang="en-US" sz="3200" dirty="0"/>
          </a:p>
        </p:txBody>
      </p:sp>
      <p:sp>
        <p:nvSpPr>
          <p:cNvPr id="6" name="Text 4"/>
          <p:cNvSpPr/>
          <p:nvPr/>
        </p:nvSpPr>
        <p:spPr>
          <a:xfrm>
            <a:off x="586509" y="2996854"/>
            <a:ext cx="8100291" cy="1015076"/>
          </a:xfrm>
          <a:prstGeom prst="rect">
            <a:avLst/>
          </a:prstGeom>
          <a:noFill/>
          <a:ln/>
        </p:spPr>
        <p:txBody>
          <a:bodyPr wrap="square" rtlCol="0" anchor="ctr"/>
          <a:lstStyle/>
          <a:p>
            <a:pPr>
              <a:lnSpc>
                <a:spcPct val="140000"/>
              </a:lnSpc>
            </a:pPr>
            <a:r>
              <a:rPr lang="en-US" sz="2000" dirty="0">
                <a:solidFill>
                  <a:srgbClr val="A0C4F0"/>
                </a:solidFill>
              </a:rPr>
              <a:t>It’s about making sure everyone who touches</a:t>
            </a:r>
            <a:endParaRPr lang="en-US" sz="2000" dirty="0"/>
          </a:p>
          <a:p>
            <a:pPr>
              <a:lnSpc>
                <a:spcPct val="140000"/>
              </a:lnSpc>
            </a:pPr>
            <a:r>
              <a:rPr lang="en-US" sz="2000" dirty="0">
                <a:solidFill>
                  <a:srgbClr val="A0C4F0"/>
                </a:solidFill>
              </a:rPr>
              <a:t>the data downstream can trust what they see.</a:t>
            </a:r>
            <a:endParaRPr lang="en-US" sz="2000" dirty="0"/>
          </a:p>
        </p:txBody>
      </p:sp>
      <p:sp>
        <p:nvSpPr>
          <p:cNvPr id="8" name="Text 6"/>
          <p:cNvSpPr/>
          <p:nvPr/>
        </p:nvSpPr>
        <p:spPr>
          <a:xfrm>
            <a:off x="457200" y="4194810"/>
            <a:ext cx="4114800" cy="502920"/>
          </a:xfrm>
          <a:prstGeom prst="rect">
            <a:avLst/>
          </a:prstGeom>
          <a:noFill/>
          <a:ln/>
        </p:spPr>
        <p:txBody>
          <a:bodyPr wrap="square" lIns="0" tIns="0" rIns="0" bIns="0" rtlCol="0" anchor="ctr"/>
          <a:lstStyle/>
          <a:p>
            <a:pPr algn="ctr"/>
            <a:endParaRPr lang="en-US" sz="1300" dirty="0"/>
          </a:p>
        </p:txBody>
      </p:sp>
      <p:sp>
        <p:nvSpPr>
          <p:cNvPr id="9" name="Text 7"/>
          <p:cNvSpPr/>
          <p:nvPr/>
        </p:nvSpPr>
        <p:spPr>
          <a:xfrm>
            <a:off x="8046720" y="5630418"/>
            <a:ext cx="914400" cy="274320"/>
          </a:xfrm>
          <a:prstGeom prst="rect">
            <a:avLst/>
          </a:prstGeom>
          <a:noFill/>
          <a:ln/>
        </p:spPr>
        <p:txBody>
          <a:bodyPr wrap="square" rtlCol="0" anchor="ctr"/>
          <a:lstStyle/>
          <a:p>
            <a:pPr algn="r"/>
            <a:endParaRPr lang="en-US" sz="1000" dirty="0"/>
          </a:p>
        </p:txBody>
      </p:sp>
    </p:spTree>
    <p:extLst>
      <p:ext uri="{BB962C8B-B14F-4D97-AF65-F5344CB8AC3E}">
        <p14:creationId xmlns:p14="http://schemas.microsoft.com/office/powerpoint/2010/main" val="10684155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8263" y="211015"/>
            <a:ext cx="5447036" cy="1125416"/>
          </a:xfrm>
        </p:spPr>
        <p:txBody>
          <a:bodyPr/>
          <a:lstStyle/>
          <a:p>
            <a:r>
              <a:rPr>
                <a:solidFill>
                  <a:schemeClr val="bg1"/>
                </a:solidFill>
              </a:rPr>
              <a:t>Monthly Sales Trend</a:t>
            </a:r>
          </a:p>
        </p:txBody>
      </p:sp>
      <p:sp>
        <p:nvSpPr>
          <p:cNvPr id="3" name="Content Placeholder 2"/>
          <p:cNvSpPr>
            <a:spLocks noGrp="1"/>
          </p:cNvSpPr>
          <p:nvPr>
            <p:ph idx="1"/>
          </p:nvPr>
        </p:nvSpPr>
        <p:spPr>
          <a:xfrm>
            <a:off x="158261" y="5269522"/>
            <a:ext cx="6554867" cy="1141702"/>
          </a:xfrm>
        </p:spPr>
        <p:txBody>
          <a:bodyPr/>
          <a:lstStyle/>
          <a:p>
            <a:r>
              <a:rPr dirty="0">
                <a:solidFill>
                  <a:schemeClr val="tx1"/>
                </a:solidFill>
              </a:rPr>
              <a:t>Analyze monthly revenue trends using </a:t>
            </a:r>
            <a:r>
              <a:rPr dirty="0" err="1">
                <a:solidFill>
                  <a:schemeClr val="tx1"/>
                </a:solidFill>
              </a:rPr>
              <a:t>fact_sales</a:t>
            </a:r>
            <a:r>
              <a:rPr dirty="0">
                <a:solidFill>
                  <a:schemeClr val="tx1"/>
                </a:solidFill>
              </a:rPr>
              <a:t>.</a:t>
            </a:r>
          </a:p>
        </p:txBody>
      </p:sp>
      <p:pic>
        <p:nvPicPr>
          <p:cNvPr id="4" name="Picture 3" descr="A line graph with numbers and text&#10;&#10;AI-generated content may be incorrect.">
            <a:extLst>
              <a:ext uri="{FF2B5EF4-FFF2-40B4-BE49-F238E27FC236}">
                <a16:creationId xmlns:a16="http://schemas.microsoft.com/office/drawing/2014/main" id="{FEAD166F-BD87-0F49-725C-88DFBEA02755}"/>
              </a:ext>
            </a:extLst>
          </p:cNvPr>
          <p:cNvPicPr>
            <a:picLocks noChangeAspect="1"/>
          </p:cNvPicPr>
          <p:nvPr/>
        </p:nvPicPr>
        <p:blipFill>
          <a:blip r:embed="rId3"/>
          <a:stretch>
            <a:fillRect/>
          </a:stretch>
        </p:blipFill>
        <p:spPr>
          <a:xfrm>
            <a:off x="517591" y="1251172"/>
            <a:ext cx="8110061" cy="4017109"/>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1692" y="316523"/>
            <a:ext cx="6554867" cy="1524000"/>
          </a:xfrm>
        </p:spPr>
        <p:txBody>
          <a:bodyPr/>
          <a:lstStyle/>
          <a:p>
            <a:r>
              <a:rPr>
                <a:solidFill>
                  <a:schemeClr val="bg1"/>
                </a:solidFill>
              </a:rPr>
              <a:t>Top Product Categories</a:t>
            </a:r>
          </a:p>
        </p:txBody>
      </p:sp>
      <p:sp>
        <p:nvSpPr>
          <p:cNvPr id="3" name="Content Placeholder 2"/>
          <p:cNvSpPr>
            <a:spLocks noGrp="1"/>
          </p:cNvSpPr>
          <p:nvPr>
            <p:ph idx="1"/>
          </p:nvPr>
        </p:nvSpPr>
        <p:spPr>
          <a:xfrm>
            <a:off x="23447" y="5873261"/>
            <a:ext cx="9128080" cy="983440"/>
          </a:xfrm>
        </p:spPr>
        <p:txBody>
          <a:bodyPr>
            <a:normAutofit/>
          </a:bodyPr>
          <a:lstStyle/>
          <a:p>
            <a:r>
              <a:rPr sz="1800">
                <a:solidFill>
                  <a:schemeClr val="tx1"/>
                </a:solidFill>
              </a:rPr>
              <a:t>Top categories include Beauty &amp; Health, Watches &amp; Gifts, Bed/Bath/Table.</a:t>
            </a:r>
          </a:p>
        </p:txBody>
      </p:sp>
      <p:pic>
        <p:nvPicPr>
          <p:cNvPr id="4" name="Picture 3" descr="A bar graph with blue bars&#10;&#10;AI-generated content may be incorrect.">
            <a:extLst>
              <a:ext uri="{FF2B5EF4-FFF2-40B4-BE49-F238E27FC236}">
                <a16:creationId xmlns:a16="http://schemas.microsoft.com/office/drawing/2014/main" id="{7B7B4397-2CF1-DD08-F6CE-AD8C69057B2D}"/>
              </a:ext>
            </a:extLst>
          </p:cNvPr>
          <p:cNvPicPr>
            <a:picLocks noChangeAspect="1"/>
          </p:cNvPicPr>
          <p:nvPr/>
        </p:nvPicPr>
        <p:blipFill>
          <a:blip r:embed="rId3"/>
          <a:stretch>
            <a:fillRect/>
          </a:stretch>
        </p:blipFill>
        <p:spPr>
          <a:xfrm>
            <a:off x="353289" y="1675155"/>
            <a:ext cx="8431556" cy="4195264"/>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092" y="451338"/>
            <a:ext cx="6554867" cy="1160585"/>
          </a:xfrm>
        </p:spPr>
        <p:txBody>
          <a:bodyPr/>
          <a:lstStyle/>
          <a:p>
            <a:r>
              <a:t>Revenue by State</a:t>
            </a:r>
          </a:p>
        </p:txBody>
      </p:sp>
      <p:sp>
        <p:nvSpPr>
          <p:cNvPr id="3" name="Content Placeholder 2"/>
          <p:cNvSpPr>
            <a:spLocks noGrp="1"/>
          </p:cNvSpPr>
          <p:nvPr>
            <p:ph idx="1"/>
          </p:nvPr>
        </p:nvSpPr>
        <p:spPr>
          <a:xfrm>
            <a:off x="240323" y="5802923"/>
            <a:ext cx="6554867" cy="1176871"/>
          </a:xfrm>
        </p:spPr>
        <p:txBody>
          <a:bodyPr>
            <a:normAutofit/>
          </a:bodyPr>
          <a:lstStyle/>
          <a:p>
            <a:r>
              <a:rPr sz="1800">
                <a:solidFill>
                  <a:schemeClr val="tx1"/>
                </a:solidFill>
              </a:rPr>
              <a:t>São Paulo (SP) generated the highest revenue.</a:t>
            </a:r>
          </a:p>
        </p:txBody>
      </p:sp>
      <p:pic>
        <p:nvPicPr>
          <p:cNvPr id="4" name="Picture 3" descr="A screenshot of a black screen&#10;&#10;AI-generated content may be incorrect.">
            <a:extLst>
              <a:ext uri="{FF2B5EF4-FFF2-40B4-BE49-F238E27FC236}">
                <a16:creationId xmlns:a16="http://schemas.microsoft.com/office/drawing/2014/main" id="{44975364-062F-C39D-9B74-168752BE0A09}"/>
              </a:ext>
            </a:extLst>
          </p:cNvPr>
          <p:cNvPicPr>
            <a:picLocks noChangeAspect="1"/>
          </p:cNvPicPr>
          <p:nvPr/>
        </p:nvPicPr>
        <p:blipFill>
          <a:blip r:embed="rId3"/>
          <a:stretch>
            <a:fillRect/>
          </a:stretch>
        </p:blipFill>
        <p:spPr>
          <a:xfrm>
            <a:off x="1613526" y="1611684"/>
            <a:ext cx="4209021" cy="4403758"/>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447" y="0"/>
            <a:ext cx="6713128" cy="785447"/>
          </a:xfrm>
        </p:spPr>
        <p:txBody>
          <a:bodyPr/>
          <a:lstStyle/>
          <a:p>
            <a:r>
              <a:t>Customer RFM Analysis</a:t>
            </a:r>
          </a:p>
        </p:txBody>
      </p:sp>
      <p:sp>
        <p:nvSpPr>
          <p:cNvPr id="3" name="Content Placeholder 2"/>
          <p:cNvSpPr>
            <a:spLocks noGrp="1"/>
          </p:cNvSpPr>
          <p:nvPr>
            <p:ph idx="1"/>
          </p:nvPr>
        </p:nvSpPr>
        <p:spPr>
          <a:xfrm>
            <a:off x="11724" y="6307015"/>
            <a:ext cx="6724851" cy="549686"/>
          </a:xfrm>
        </p:spPr>
        <p:txBody>
          <a:bodyPr>
            <a:normAutofit/>
          </a:bodyPr>
          <a:lstStyle/>
          <a:p>
            <a:r>
              <a:rPr sz="1800">
                <a:solidFill>
                  <a:schemeClr val="tx1"/>
                </a:solidFill>
              </a:rPr>
              <a:t>Frequency, Recency, Monetary analysis</a:t>
            </a:r>
            <a:r>
              <a:rPr lang="en-US" sz="1800">
                <a:solidFill>
                  <a:schemeClr val="tx1"/>
                </a:solidFill>
              </a:rPr>
              <a:t>.</a:t>
            </a:r>
          </a:p>
        </p:txBody>
      </p:sp>
      <p:pic>
        <p:nvPicPr>
          <p:cNvPr id="4" name="Picture 3" descr="A screenshot of a computer screen&#10;&#10;AI-generated content may be incorrect.">
            <a:extLst>
              <a:ext uri="{FF2B5EF4-FFF2-40B4-BE49-F238E27FC236}">
                <a16:creationId xmlns:a16="http://schemas.microsoft.com/office/drawing/2014/main" id="{2177CCBA-43F6-4697-6A05-D4831BB2D833}"/>
              </a:ext>
            </a:extLst>
          </p:cNvPr>
          <p:cNvPicPr>
            <a:picLocks noChangeAspect="1"/>
          </p:cNvPicPr>
          <p:nvPr/>
        </p:nvPicPr>
        <p:blipFill>
          <a:blip r:embed="rId3"/>
          <a:stretch>
            <a:fillRect/>
          </a:stretch>
        </p:blipFill>
        <p:spPr>
          <a:xfrm>
            <a:off x="1264112" y="706078"/>
            <a:ext cx="6520095" cy="5613928"/>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7554" y="1154723"/>
            <a:ext cx="6554867" cy="1524000"/>
          </a:xfrm>
        </p:spPr>
        <p:txBody>
          <a:bodyPr/>
          <a:lstStyle/>
          <a:p>
            <a:r>
              <a:rPr>
                <a:solidFill>
                  <a:schemeClr val="bg1"/>
                </a:solidFill>
              </a:rPr>
              <a:t>Key Learnings</a:t>
            </a:r>
          </a:p>
        </p:txBody>
      </p:sp>
      <p:sp>
        <p:nvSpPr>
          <p:cNvPr id="3" name="Content Placeholder 2"/>
          <p:cNvSpPr>
            <a:spLocks noGrp="1"/>
          </p:cNvSpPr>
          <p:nvPr>
            <p:ph idx="1"/>
          </p:nvPr>
        </p:nvSpPr>
        <p:spPr>
          <a:xfrm>
            <a:off x="-5861" y="3053861"/>
            <a:ext cx="9157390" cy="1247209"/>
          </a:xfrm>
        </p:spPr>
        <p:txBody>
          <a:bodyPr/>
          <a:lstStyle/>
          <a:p>
            <a:r>
              <a:rPr sz="1800" dirty="0">
                <a:solidFill>
                  <a:schemeClr val="tx1"/>
                </a:solidFill>
              </a:rPr>
              <a:t>Built an end-to-end analytics engineering workflow with </a:t>
            </a:r>
            <a:r>
              <a:rPr sz="1800" dirty="0" err="1">
                <a:solidFill>
                  <a:schemeClr val="tx1"/>
                </a:solidFill>
              </a:rPr>
              <a:t>DuckDB</a:t>
            </a:r>
            <a:r>
              <a:rPr sz="1800" dirty="0">
                <a:solidFill>
                  <a:schemeClr val="tx1"/>
                </a:solidFill>
              </a:rPr>
              <a:t> and </a:t>
            </a:r>
            <a:r>
              <a:rPr sz="1800" dirty="0" err="1">
                <a:solidFill>
                  <a:schemeClr val="tx1"/>
                </a:solidFill>
              </a:rPr>
              <a:t>dbt</a:t>
            </a:r>
            <a:r>
              <a:rPr sz="1800" dirty="0">
                <a:solidFill>
                  <a:schemeClr val="tx1"/>
                </a:solidFill>
              </a:rPr>
              <a:t>.</a:t>
            </a:r>
          </a:p>
        </p:txBody>
      </p:sp>
    </p:spTree>
  </p:cSld>
  <p:clrMapOvr>
    <a:masterClrMapping/>
  </p:clrMapOvr>
</p:sld>
</file>

<file path=ppt/theme/theme1.xml><?xml version="1.0" encoding="utf-8"?>
<a:theme xmlns:a="http://schemas.openxmlformats.org/drawingml/2006/main" name="Slice">
  <a:themeElements>
    <a:clrScheme name="Slice">
      <a:dk1>
        <a:sysClr val="windowText" lastClr="000000"/>
      </a:dk1>
      <a:lt1>
        <a:sysClr val="window" lastClr="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fontScheme name="Slice">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lice">
      <a:fillStyleLst>
        <a:solidFill>
          <a:schemeClr val="phClr"/>
        </a:solidFill>
        <a:gradFill rotWithShape="1">
          <a:gsLst>
            <a:gs pos="0">
              <a:schemeClr val="phClr">
                <a:tint val="62000"/>
                <a:hueMod val="94000"/>
                <a:satMod val="140000"/>
                <a:lumMod val="110000"/>
              </a:schemeClr>
            </a:gs>
            <a:gs pos="100000">
              <a:schemeClr val="phClr">
                <a:tint val="84000"/>
                <a:satMod val="160000"/>
              </a:schemeClr>
            </a:gs>
          </a:gsLst>
          <a:lin ang="5400000" scaled="0"/>
        </a:gradFill>
        <a:gradFill rotWithShape="1">
          <a:gsLst>
            <a:gs pos="0">
              <a:schemeClr val="phClr">
                <a:tint val="98000"/>
                <a:hueMod val="94000"/>
                <a:satMod val="130000"/>
                <a:lumMod val="138000"/>
              </a:schemeClr>
            </a:gs>
            <a:gs pos="100000">
              <a:schemeClr val="phClr">
                <a:shade val="94000"/>
                <a:lumMod val="88000"/>
              </a:schemeClr>
            </a:gs>
          </a:gsLst>
          <a:lin ang="5400000" scaled="0"/>
        </a:gradFill>
      </a:fillStyleLst>
      <a:lnStyleLst>
        <a:ln w="9525" cap="rnd" cmpd="sng" algn="ctr">
          <a:solidFill>
            <a:schemeClr val="phClr">
              <a:tint val="76000"/>
              <a:alpha val="60000"/>
              <a:hueMod val="94000"/>
            </a:schemeClr>
          </a:solidFill>
          <a:prstDash val="solid"/>
        </a:ln>
        <a:ln w="12700" cap="rnd" cmpd="sng" algn="ctr">
          <a:solidFill>
            <a:schemeClr val="phClr">
              <a:hueMod val="94000"/>
            </a:schemeClr>
          </a:solidFill>
          <a:prstDash val="solid"/>
        </a:ln>
        <a:ln w="28575"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50800" dist="38100" dir="5400000" rotWithShape="0">
              <a:srgbClr val="000000">
                <a:alpha val="46000"/>
              </a:srgbClr>
            </a:outerShdw>
          </a:effectLst>
          <a:scene3d>
            <a:camera prst="orthographicFront">
              <a:rot lat="0" lon="0" rev="0"/>
            </a:camera>
            <a:lightRig rig="threePt" dir="t"/>
          </a:scene3d>
          <a:sp3d prstMaterial="plastic">
            <a:bevelT w="25400" h="25400"/>
          </a:sp3d>
        </a:effectStyle>
      </a:effectStyleLst>
      <a:bgFillStyleLst>
        <a:solidFill>
          <a:schemeClr val="phClr"/>
        </a:solidFill>
        <a:gradFill rotWithShape="1">
          <a:gsLst>
            <a:gs pos="10000">
              <a:schemeClr val="phClr">
                <a:tint val="97000"/>
                <a:hueMod val="92000"/>
                <a:satMod val="169000"/>
                <a:lumMod val="164000"/>
              </a:schemeClr>
            </a:gs>
            <a:gs pos="100000">
              <a:schemeClr val="phClr">
                <a:shade val="96000"/>
                <a:satMod val="120000"/>
                <a:lumMod val="90000"/>
              </a:schemeClr>
            </a:gs>
          </a:gsLst>
          <a:lin ang="6120000" scaled="1"/>
        </a:gradFill>
        <a:gradFill rotWithShape="1">
          <a:gsLst>
            <a:gs pos="0">
              <a:schemeClr val="phClr">
                <a:tint val="97000"/>
                <a:hueMod val="92000"/>
                <a:satMod val="169000"/>
                <a:lumMod val="164000"/>
              </a:schemeClr>
            </a:gs>
            <a:gs pos="100000">
              <a:schemeClr val="phClr">
                <a:shade val="96000"/>
                <a:satMod val="120000"/>
                <a:lumMod val="90000"/>
              </a:schemeClr>
            </a:gs>
          </a:gsLst>
          <a:path path="circle">
            <a:fillToRect b="100000"/>
          </a:path>
        </a:gradFill>
      </a:bgFillStyleLst>
    </a:fmtScheme>
  </a:themeElements>
  <a:objectDefaults/>
  <a:extraClrSchemeLst/>
  <a:extLst>
    <a:ext uri="{05A4C25C-085E-4340-85A3-A5531E510DB2}">
      <thm15:themeFamily xmlns:thm15="http://schemas.microsoft.com/office/thememl/2012/main" name="Slice" id="{0507925B-6AC9-4358-8E18-C330545D08F8}" vid="{13FEC7C6-62A9-40C4-99D2-581AACACAA2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TotalTime>
  <Words>1294</Words>
  <Application>Microsoft Office PowerPoint</Application>
  <PresentationFormat>On-screen Show (4:3)</PresentationFormat>
  <Paragraphs>138</Paragraphs>
  <Slides>15</Slides>
  <Notes>15</Notes>
  <HiddenSlides>0</HiddenSlides>
  <MMClips>0</MMClip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Slice</vt:lpstr>
      <vt:lpstr>Project Overview</vt:lpstr>
      <vt:lpstr>Architecture</vt:lpstr>
      <vt:lpstr>Star Schema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Monthly Sales Trend</vt:lpstr>
      <vt:lpstr>Top Product Categories</vt:lpstr>
      <vt:lpstr>Revenue by State</vt:lpstr>
      <vt:lpstr>Customer RFM Analysis</vt:lpstr>
      <vt:lpstr>Key Learnings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jacky</dc:creator>
  <cp:keywords/>
  <dc:description>generated using python-pptx</dc:description>
  <cp:lastModifiedBy>jackylim.4179@gmail.com</cp:lastModifiedBy>
  <cp:revision>479</cp:revision>
  <dcterms:created xsi:type="dcterms:W3CDTF">2013-01-27T09:14:16Z</dcterms:created>
  <dcterms:modified xsi:type="dcterms:W3CDTF">2026-06-09T12:08:30Z</dcterms:modified>
  <cp:category/>
</cp:coreProperties>
</file>