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752558-1344-4A67-8899-A502F94CDF5C}" v="7" dt="2026-06-07T15:22:03.471"/>
    <p1510:client id="{E75D47EA-C026-449B-BBAE-3DA48F1C9839}" v="192" dt="2026-06-08T07:57:12.6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E1E0FE-415D-4A86-A5CB-56FB2301993F}" type="datetimeFigureOut">
              <a:t>6/8/2026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5C6805-D20B-405F-86DA-DC495A4FC83C}" type="slidenum">
              <a:t>‹#›</a:t>
            </a:fld>
            <a:endParaRPr lang="en-US"/>
          </a:p>
        </p:txBody>
      </p:sp>
    </p:spTree>
    <p:extLst>
      <p:ext uri="{BB962C8B-B14F-4D97-AF65-F5344CB8AC3E}">
        <p14:creationId xmlns:p14="http://schemas.microsoft.com/office/powerpoint/2010/main" val="32134450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Wei: Our project analyzes the Brazilian E-Commerce Public Dataset by </a:t>
            </a:r>
            <a:r>
              <a:rPr lang="en-US" dirty="0" err="1"/>
              <a:t>Olist</a:t>
            </a:r>
            <a:r>
              <a:rPr lang="en-US" dirty="0"/>
              <a:t>. The goal was to build an end-to-end analytics workflow: load raw data into </a:t>
            </a:r>
            <a:r>
              <a:rPr lang="en-US" dirty="0" err="1"/>
              <a:t>DuckDB</a:t>
            </a:r>
            <a:r>
              <a:rPr lang="en-US" dirty="0"/>
              <a:t>, model it into a star schema using </a:t>
            </a:r>
            <a:r>
              <a:rPr lang="en-US" dirty="0" err="1"/>
              <a:t>dbt</a:t>
            </a:r>
            <a:r>
              <a:rPr lang="en-US" dirty="0"/>
              <a:t>, validate data quality with </a:t>
            </a:r>
            <a:r>
              <a:rPr lang="en-US" dirty="0" err="1"/>
              <a:t>dbt</a:t>
            </a:r>
            <a:r>
              <a:rPr lang="en-US" dirty="0"/>
              <a:t> tests, and then perform business analysis and visualization with Python and Pandas.</a:t>
            </a:r>
          </a:p>
        </p:txBody>
      </p:sp>
      <p:sp>
        <p:nvSpPr>
          <p:cNvPr id="4" name="Slide Number Placeholder 3"/>
          <p:cNvSpPr>
            <a:spLocks noGrp="1"/>
          </p:cNvSpPr>
          <p:nvPr>
            <p:ph type="sldNum" sz="quarter" idx="5"/>
          </p:nvPr>
        </p:nvSpPr>
        <p:spPr/>
        <p:txBody>
          <a:bodyPr/>
          <a:lstStyle/>
          <a:p>
            <a:fld id="{BB5C6805-D20B-405F-86DA-DC495A4FC83C}" type="slidenum">
              <a:rPr lang="en-US"/>
              <a:t>1</a:t>
            </a:fld>
            <a:endParaRPr lang="en-US"/>
          </a:p>
        </p:txBody>
      </p:sp>
    </p:spTree>
    <p:extLst>
      <p:ext uri="{BB962C8B-B14F-4D97-AF65-F5344CB8AC3E}">
        <p14:creationId xmlns:p14="http://schemas.microsoft.com/office/powerpoint/2010/main" val="9893053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Wei: The workflow starts with CSV files from the </a:t>
            </a:r>
            <a:r>
              <a:rPr lang="en-US" dirty="0" err="1"/>
              <a:t>Olist</a:t>
            </a:r>
            <a:r>
              <a:rPr lang="en-US" dirty="0"/>
              <a:t> dataset. We loaded them into </a:t>
            </a:r>
            <a:r>
              <a:rPr lang="en-US" dirty="0" err="1"/>
              <a:t>DuckDB</a:t>
            </a:r>
            <a:r>
              <a:rPr lang="en-US" dirty="0"/>
              <a:t>, then used </a:t>
            </a:r>
            <a:r>
              <a:rPr lang="en-US" dirty="0" err="1"/>
              <a:t>dbt</a:t>
            </a:r>
            <a:r>
              <a:rPr lang="en-US" dirty="0"/>
              <a:t> to create staging models and dimensional warehouse tables. After validating the data with </a:t>
            </a:r>
            <a:r>
              <a:rPr lang="en-US" dirty="0" err="1"/>
              <a:t>dbt</a:t>
            </a:r>
            <a:r>
              <a:rPr lang="en-US" dirty="0"/>
              <a:t> tests, We used Pandas and Matplotlib to generate business insights and charts. We selected </a:t>
            </a:r>
            <a:r>
              <a:rPr lang="en-US" dirty="0" err="1"/>
              <a:t>DuckDB</a:t>
            </a:r>
            <a:r>
              <a:rPr lang="en-US" dirty="0"/>
              <a:t> as our analytical database because it can work directly with CSV files, and it is fully supported by </a:t>
            </a:r>
            <a:r>
              <a:rPr lang="en-US" dirty="0" err="1"/>
              <a:t>dbt</a:t>
            </a:r>
            <a:r>
              <a:rPr lang="en-US" dirty="0"/>
              <a:t>. We chose </a:t>
            </a:r>
            <a:r>
              <a:rPr lang="en-US" dirty="0" err="1"/>
              <a:t>dbt</a:t>
            </a:r>
            <a:r>
              <a:rPr lang="en-US" dirty="0"/>
              <a:t> because it follows analytics engineering best practices. It separates raw data from transformed business-ready models, makes transformations modular and reusable, provides built-in testing, and automatically documents data lineage. In our project, </a:t>
            </a:r>
            <a:r>
              <a:rPr lang="en-US" dirty="0" err="1"/>
              <a:t>dbt</a:t>
            </a:r>
            <a:r>
              <a:rPr lang="en-US" dirty="0"/>
              <a:t> helped us build a maintainable star schema on top of </a:t>
            </a:r>
            <a:r>
              <a:rPr lang="en-US" dirty="0" err="1"/>
              <a:t>DuckDB</a:t>
            </a:r>
            <a:r>
              <a:rPr lang="en-US" dirty="0"/>
              <a:t> while ensuring data quality through automated tests.</a:t>
            </a:r>
          </a:p>
        </p:txBody>
      </p:sp>
      <p:sp>
        <p:nvSpPr>
          <p:cNvPr id="4" name="Slide Number Placeholder 3"/>
          <p:cNvSpPr>
            <a:spLocks noGrp="1"/>
          </p:cNvSpPr>
          <p:nvPr>
            <p:ph type="sldNum" sz="quarter" idx="5"/>
          </p:nvPr>
        </p:nvSpPr>
        <p:spPr/>
        <p:txBody>
          <a:bodyPr/>
          <a:lstStyle/>
          <a:p>
            <a:fld id="{BB5C6805-D20B-405F-86DA-DC495A4FC83C}" type="slidenum">
              <a:t>2</a:t>
            </a:fld>
            <a:endParaRPr lang="en-US"/>
          </a:p>
        </p:txBody>
      </p:sp>
    </p:spTree>
    <p:extLst>
      <p:ext uri="{BB962C8B-B14F-4D97-AF65-F5344CB8AC3E}">
        <p14:creationId xmlns:p14="http://schemas.microsoft.com/office/powerpoint/2010/main" val="9294602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uses a star schema. The central fact table is </a:t>
            </a:r>
            <a:r>
              <a:rPr lang="en-US" dirty="0" err="1"/>
              <a:t>fact_sales</a:t>
            </a:r>
            <a:r>
              <a:rPr lang="en-US" dirty="0"/>
              <a:t>, which contains transaction-level sales data. Around it are three dimensions: </a:t>
            </a:r>
            <a:r>
              <a:rPr lang="en-US" dirty="0" err="1"/>
              <a:t>dim_customer</a:t>
            </a:r>
            <a:r>
              <a:rPr lang="en-US" dirty="0"/>
              <a:t>, </a:t>
            </a:r>
            <a:r>
              <a:rPr lang="en-US" dirty="0" err="1"/>
              <a:t>dim_product</a:t>
            </a:r>
            <a:r>
              <a:rPr lang="en-US" dirty="0"/>
              <a:t>, and </a:t>
            </a:r>
            <a:r>
              <a:rPr lang="en-US" dirty="0" err="1"/>
              <a:t>dim_seller</a:t>
            </a:r>
            <a:r>
              <a:rPr lang="en-US" dirty="0"/>
              <a:t>. This structure simplifies analytical queries and reporting.</a:t>
            </a:r>
          </a:p>
        </p:txBody>
      </p:sp>
      <p:sp>
        <p:nvSpPr>
          <p:cNvPr id="4" name="Slide Number Placeholder 3"/>
          <p:cNvSpPr>
            <a:spLocks noGrp="1"/>
          </p:cNvSpPr>
          <p:nvPr>
            <p:ph type="sldNum" sz="quarter" idx="5"/>
          </p:nvPr>
        </p:nvSpPr>
        <p:spPr/>
        <p:txBody>
          <a:bodyPr/>
          <a:lstStyle/>
          <a:p>
            <a:fld id="{BB5C6805-D20B-405F-86DA-DC495A4FC83C}" type="slidenum">
              <a:rPr lang="en-US"/>
              <a:t>3</a:t>
            </a:fld>
            <a:endParaRPr lang="en-US"/>
          </a:p>
        </p:txBody>
      </p:sp>
    </p:spTree>
    <p:extLst>
      <p:ext uri="{BB962C8B-B14F-4D97-AF65-F5344CB8AC3E}">
        <p14:creationId xmlns:p14="http://schemas.microsoft.com/office/powerpoint/2010/main" val="24668239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added </a:t>
            </a:r>
            <a:r>
              <a:rPr lang="en-US" dirty="0" err="1"/>
              <a:t>dbt</a:t>
            </a:r>
            <a:r>
              <a:rPr lang="en-US" dirty="0"/>
              <a:t> tests to ensure key fields are reliable. The tests checked that customer, product, and seller IDs are unique and not null, and that sales records contain valid order IDs. All seven tests passed successfully, which gave us confidence that the warehouse was consistent before running analysis.</a:t>
            </a:r>
          </a:p>
        </p:txBody>
      </p:sp>
      <p:sp>
        <p:nvSpPr>
          <p:cNvPr id="4" name="Slide Number Placeholder 3"/>
          <p:cNvSpPr>
            <a:spLocks noGrp="1"/>
          </p:cNvSpPr>
          <p:nvPr>
            <p:ph type="sldNum" sz="quarter" idx="5"/>
          </p:nvPr>
        </p:nvSpPr>
        <p:spPr/>
        <p:txBody>
          <a:bodyPr/>
          <a:lstStyle/>
          <a:p>
            <a:fld id="{BB5C6805-D20B-405F-86DA-DC495A4FC83C}" type="slidenum">
              <a:rPr lang="en-US"/>
              <a:t>4</a:t>
            </a:fld>
            <a:endParaRPr lang="en-US"/>
          </a:p>
        </p:txBody>
      </p:sp>
    </p:spTree>
    <p:extLst>
      <p:ext uri="{BB962C8B-B14F-4D97-AF65-F5344CB8AC3E}">
        <p14:creationId xmlns:p14="http://schemas.microsoft.com/office/powerpoint/2010/main" val="1078823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monthly revenue over time. Revenue generally increased during 2017 and 2018, indicating significant growth in the platform during the observed period. The trend also shows seasonal fluctuations, which are common in e-commerce businesses.</a:t>
            </a:r>
          </a:p>
        </p:txBody>
      </p:sp>
      <p:sp>
        <p:nvSpPr>
          <p:cNvPr id="4" name="Slide Number Placeholder 3"/>
          <p:cNvSpPr>
            <a:spLocks noGrp="1"/>
          </p:cNvSpPr>
          <p:nvPr>
            <p:ph type="sldNum" sz="quarter" idx="5"/>
          </p:nvPr>
        </p:nvSpPr>
        <p:spPr/>
        <p:txBody>
          <a:bodyPr/>
          <a:lstStyle/>
          <a:p>
            <a:fld id="{BB5C6805-D20B-405F-86DA-DC495A4FC83C}" type="slidenum">
              <a:rPr lang="en-US"/>
              <a:t>5</a:t>
            </a:fld>
            <a:endParaRPr lang="en-US"/>
          </a:p>
        </p:txBody>
      </p:sp>
    </p:spTree>
    <p:extLst>
      <p:ext uri="{BB962C8B-B14F-4D97-AF65-F5344CB8AC3E}">
        <p14:creationId xmlns:p14="http://schemas.microsoft.com/office/powerpoint/2010/main" val="10043332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highest-revenue product categories were Beauty &amp; Health, Watches &amp; Gifts, and Bed, Bath &amp; Table. These categories contributed a large share of total revenue and could be prioritized for marketing and inventory planning.</a:t>
            </a:r>
          </a:p>
        </p:txBody>
      </p:sp>
      <p:sp>
        <p:nvSpPr>
          <p:cNvPr id="4" name="Slide Number Placeholder 3"/>
          <p:cNvSpPr>
            <a:spLocks noGrp="1"/>
          </p:cNvSpPr>
          <p:nvPr>
            <p:ph type="sldNum" sz="quarter" idx="5"/>
          </p:nvPr>
        </p:nvSpPr>
        <p:spPr/>
        <p:txBody>
          <a:bodyPr/>
          <a:lstStyle/>
          <a:p>
            <a:fld id="{BB5C6805-D20B-405F-86DA-DC495A4FC83C}" type="slidenum">
              <a:rPr lang="en-US"/>
              <a:t>6</a:t>
            </a:fld>
            <a:endParaRPr lang="en-US"/>
          </a:p>
        </p:txBody>
      </p:sp>
    </p:spTree>
    <p:extLst>
      <p:ext uri="{BB962C8B-B14F-4D97-AF65-F5344CB8AC3E}">
        <p14:creationId xmlns:p14="http://schemas.microsoft.com/office/powerpoint/2010/main" val="2649634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Revenue was heavily concentrated in São Paulo (SP), followed by Rio de Janeiro and Minas Gerais. This suggests that customer demand is strongest in Brazil’s largest economic regions.</a:t>
            </a:r>
          </a:p>
        </p:txBody>
      </p:sp>
      <p:sp>
        <p:nvSpPr>
          <p:cNvPr id="4" name="Slide Number Placeholder 3"/>
          <p:cNvSpPr>
            <a:spLocks noGrp="1"/>
          </p:cNvSpPr>
          <p:nvPr>
            <p:ph type="sldNum" sz="quarter" idx="5"/>
          </p:nvPr>
        </p:nvSpPr>
        <p:spPr/>
        <p:txBody>
          <a:bodyPr/>
          <a:lstStyle/>
          <a:p>
            <a:fld id="{BB5C6805-D20B-405F-86DA-DC495A4FC83C}" type="slidenum">
              <a:rPr lang="en-US"/>
              <a:t>7</a:t>
            </a:fld>
            <a:endParaRPr lang="en-US"/>
          </a:p>
        </p:txBody>
      </p:sp>
    </p:spTree>
    <p:extLst>
      <p:ext uri="{BB962C8B-B14F-4D97-AF65-F5344CB8AC3E}">
        <p14:creationId xmlns:p14="http://schemas.microsoft.com/office/powerpoint/2010/main" val="5772900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customer analysis, We calculated Recency, Frequency, and Monetary value using the customer’s unique identifier. The results show that some customers placed many repeat orders, indicating a segment of loyal, high-value customers that could be targeted for retention programs.</a:t>
            </a:r>
          </a:p>
        </p:txBody>
      </p:sp>
      <p:sp>
        <p:nvSpPr>
          <p:cNvPr id="4" name="Slide Number Placeholder 3"/>
          <p:cNvSpPr>
            <a:spLocks noGrp="1"/>
          </p:cNvSpPr>
          <p:nvPr>
            <p:ph type="sldNum" sz="quarter" idx="5"/>
          </p:nvPr>
        </p:nvSpPr>
        <p:spPr/>
        <p:txBody>
          <a:bodyPr/>
          <a:lstStyle/>
          <a:p>
            <a:fld id="{BB5C6805-D20B-405F-86DA-DC495A4FC83C}" type="slidenum">
              <a:rPr lang="en-US"/>
              <a:t>8</a:t>
            </a:fld>
            <a:endParaRPr lang="en-US"/>
          </a:p>
        </p:txBody>
      </p:sp>
    </p:spTree>
    <p:extLst>
      <p:ext uri="{BB962C8B-B14F-4D97-AF65-F5344CB8AC3E}">
        <p14:creationId xmlns:p14="http://schemas.microsoft.com/office/powerpoint/2010/main" val="22273439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summary, this project demonstrates an end-to-end analytics engineering workflow using </a:t>
            </a:r>
            <a:r>
              <a:rPr lang="en-US" dirty="0" err="1"/>
              <a:t>DuckDB</a:t>
            </a:r>
            <a:r>
              <a:rPr lang="en-US" dirty="0"/>
              <a:t> and </a:t>
            </a:r>
            <a:r>
              <a:rPr lang="en-US" dirty="0" err="1"/>
              <a:t>dbt</a:t>
            </a:r>
            <a:r>
              <a:rPr lang="en-US" dirty="0"/>
              <a:t>. We learned how to design a star schema, implement automated data quality tests, and generate business insights from transactional data. Key findings include strong revenue growth, high-performing product categories, concentration of sales in São Paulo, and evidence of repeat customer behavior. </a:t>
            </a:r>
          </a:p>
        </p:txBody>
      </p:sp>
      <p:sp>
        <p:nvSpPr>
          <p:cNvPr id="4" name="Slide Number Placeholder 3"/>
          <p:cNvSpPr>
            <a:spLocks noGrp="1"/>
          </p:cNvSpPr>
          <p:nvPr>
            <p:ph type="sldNum" sz="quarter" idx="5"/>
          </p:nvPr>
        </p:nvSpPr>
        <p:spPr/>
        <p:txBody>
          <a:bodyPr/>
          <a:lstStyle/>
          <a:p>
            <a:fld id="{BB5C6805-D20B-405F-86DA-DC495A4FC83C}" type="slidenum">
              <a:rPr lang="en-US"/>
              <a:t>9</a:t>
            </a:fld>
            <a:endParaRPr lang="en-US"/>
          </a:p>
        </p:txBody>
      </p:sp>
    </p:spTree>
    <p:extLst>
      <p:ext uri="{BB962C8B-B14F-4D97-AF65-F5344CB8AC3E}">
        <p14:creationId xmlns:p14="http://schemas.microsoft.com/office/powerpoint/2010/main" val="407208015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8" name="Group 17"/>
          <p:cNvGrpSpPr/>
          <p:nvPr/>
        </p:nvGrpSpPr>
        <p:grpSpPr>
          <a:xfrm>
            <a:off x="0" y="0"/>
            <a:ext cx="9144677" cy="6858000"/>
            <a:chOff x="0" y="0"/>
            <a:chExt cx="9144677" cy="6858000"/>
          </a:xfrm>
        </p:grpSpPr>
        <p:pic>
          <p:nvPicPr>
            <p:cNvPr id="8" name="Picture 7" descr="S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1" name="Rectangle 10"/>
            <p:cNvSpPr/>
            <p:nvPr/>
          </p:nvSpPr>
          <p:spPr>
            <a:xfrm>
              <a:off x="1515532" y="1520422"/>
              <a:ext cx="6112935" cy="3818468"/>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2" name="Picture 11"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l="-2" r="47959"/>
            <a:stretch/>
          </p:blipFill>
          <p:spPr>
            <a:xfrm>
              <a:off x="0" y="3128434"/>
              <a:ext cx="1664208" cy="612648"/>
            </a:xfrm>
            <a:prstGeom prst="rect">
              <a:avLst/>
            </a:prstGeom>
          </p:spPr>
        </p:pic>
        <p:pic>
          <p:nvPicPr>
            <p:cNvPr id="13" name="Picture 12"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l="-2" r="47959"/>
            <a:stretch/>
          </p:blipFill>
          <p:spPr>
            <a:xfrm>
              <a:off x="7480469" y="3128434"/>
              <a:ext cx="1664208" cy="612648"/>
            </a:xfrm>
            <a:prstGeom prst="rect">
              <a:avLst/>
            </a:prstGeom>
          </p:spPr>
        </p:pic>
      </p:grpSp>
      <p:sp>
        <p:nvSpPr>
          <p:cNvPr id="2" name="Title 1"/>
          <p:cNvSpPr>
            <a:spLocks noGrp="1"/>
          </p:cNvSpPr>
          <p:nvPr>
            <p:ph type="ctrTitle"/>
          </p:nvPr>
        </p:nvSpPr>
        <p:spPr>
          <a:xfrm>
            <a:off x="1921934" y="1811863"/>
            <a:ext cx="5308866" cy="1515533"/>
          </a:xfrm>
        </p:spPr>
        <p:txBody>
          <a:bodyPr anchor="b">
            <a:noAutofit/>
          </a:bodyPr>
          <a:lstStyle>
            <a:lvl1pPr algn="ctr">
              <a:defRPr sz="4800">
                <a:effectLst/>
              </a:defRPr>
            </a:lvl1pPr>
          </a:lstStyle>
          <a:p>
            <a:r>
              <a:rPr lang="en-US" dirty="0"/>
              <a:t>Click to edit Master title style</a:t>
            </a:r>
          </a:p>
        </p:txBody>
      </p:sp>
      <p:sp>
        <p:nvSpPr>
          <p:cNvPr id="3" name="Subtitle 2"/>
          <p:cNvSpPr>
            <a:spLocks noGrp="1"/>
          </p:cNvSpPr>
          <p:nvPr>
            <p:ph type="subTitle" idx="1"/>
          </p:nvPr>
        </p:nvSpPr>
        <p:spPr>
          <a:xfrm>
            <a:off x="1921934" y="3598327"/>
            <a:ext cx="5308866" cy="1377651"/>
          </a:xfrm>
        </p:spPr>
        <p:txBody>
          <a:bodyPr anchor="t">
            <a:normAutofit/>
          </a:bodyPr>
          <a:lstStyle>
            <a:lvl1pPr marL="0" indent="0" algn="ctr">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6065417" y="5054602"/>
            <a:ext cx="673276" cy="279400"/>
          </a:xfrm>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a:xfrm>
            <a:off x="1921934" y="5054602"/>
            <a:ext cx="4064860" cy="279400"/>
          </a:xfrm>
        </p:spPr>
        <p:txBody>
          <a:bodyPr/>
          <a:lstStyle/>
          <a:p>
            <a:endParaRPr lang="en-US" dirty="0"/>
          </a:p>
        </p:txBody>
      </p:sp>
      <p:sp>
        <p:nvSpPr>
          <p:cNvPr id="6" name="Slide Number Placeholder 5"/>
          <p:cNvSpPr>
            <a:spLocks noGrp="1"/>
          </p:cNvSpPr>
          <p:nvPr>
            <p:ph type="sldNum" sz="quarter" idx="12"/>
          </p:nvPr>
        </p:nvSpPr>
        <p:spPr>
          <a:xfrm>
            <a:off x="6817317" y="5054602"/>
            <a:ext cx="413483" cy="279400"/>
          </a:xfrm>
        </p:spPr>
        <p:txBody>
          <a:bodyPr/>
          <a:lstStyle/>
          <a:p>
            <a:fld id="{D57F1E4F-1CFF-5643-939E-217C01CDF565}" type="slidenum">
              <a:rPr lang="en-US" dirty="0"/>
              <a:pPr/>
              <a:t>‹#›</a:t>
            </a:fld>
            <a:endParaRPr lang="en-US" dirty="0"/>
          </a:p>
        </p:txBody>
      </p:sp>
      <p:cxnSp>
        <p:nvCxnSpPr>
          <p:cNvPr id="15" name="Straight Connector 14"/>
          <p:cNvCxnSpPr/>
          <p:nvPr/>
        </p:nvCxnSpPr>
        <p:spPr>
          <a:xfrm>
            <a:off x="2019825" y="3471329"/>
            <a:ext cx="5113083"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114513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278465" y="235626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5BFA754-D5C3-4E66-96A6-867B257F58DC}" type="datetimeFigureOut">
              <a:rPr lang="en-US" dirty="0"/>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D84065D-F351-4B03-BD91-D8A6B8D4B362}" type="slidenum">
              <a:rPr lang="en-US" dirty="0"/>
              <a:t>‹#›</a:t>
            </a:fld>
            <a:endParaRPr lang="en-US" dirty="0"/>
          </a:p>
        </p:txBody>
      </p:sp>
    </p:spTree>
    <p:extLst>
      <p:ext uri="{BB962C8B-B14F-4D97-AF65-F5344CB8AC3E}">
        <p14:creationId xmlns:p14="http://schemas.microsoft.com/office/powerpoint/2010/main" val="3527671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78465" y="1641413"/>
            <a:ext cx="6595534" cy="1822514"/>
          </a:xfrm>
        </p:spPr>
        <p:txBody>
          <a:bodyPr anchor="b">
            <a:normAutofit/>
          </a:bodyPr>
          <a:lstStyle>
            <a:lvl1pPr algn="ctr">
              <a:defRPr sz="4000" b="0" cap="none"/>
            </a:lvl1pPr>
          </a:lstStyle>
          <a:p>
            <a:r>
              <a:rPr lang="en-US" dirty="0"/>
              <a:t>Click to edit Master title style</a:t>
            </a:r>
          </a:p>
        </p:txBody>
      </p:sp>
      <p:sp>
        <p:nvSpPr>
          <p:cNvPr id="3" name="Text Placeholder 2"/>
          <p:cNvSpPr>
            <a:spLocks noGrp="1"/>
          </p:cNvSpPr>
          <p:nvPr>
            <p:ph type="body" idx="1"/>
          </p:nvPr>
        </p:nvSpPr>
        <p:spPr>
          <a:xfrm>
            <a:off x="1278465" y="3734859"/>
            <a:ext cx="6595534" cy="1090015"/>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31" name="Straight Connector 30"/>
          <p:cNvCxnSpPr/>
          <p:nvPr/>
        </p:nvCxnSpPr>
        <p:spPr>
          <a:xfrm>
            <a:off x="1278466" y="3599392"/>
            <a:ext cx="6595533"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01592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278465" y="235626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a:xfrm>
            <a:off x="1176866" y="915337"/>
            <a:ext cx="6798734" cy="1303867"/>
          </a:xfrm>
        </p:spPr>
        <p:txBody>
          <a:bodyPr/>
          <a:lstStyle/>
          <a:p>
            <a:r>
              <a:rPr lang="en-US" dirty="0"/>
              <a:t>Click to edit Master title style</a:t>
            </a:r>
          </a:p>
        </p:txBody>
      </p:sp>
      <p:sp>
        <p:nvSpPr>
          <p:cNvPr id="3" name="Content Placeholder 2"/>
          <p:cNvSpPr>
            <a:spLocks noGrp="1"/>
          </p:cNvSpPr>
          <p:nvPr>
            <p:ph sz="half" idx="1"/>
          </p:nvPr>
        </p:nvSpPr>
        <p:spPr>
          <a:xfrm>
            <a:off x="1176866" y="2487168"/>
            <a:ext cx="3337560" cy="3447288"/>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5152" y="2487168"/>
            <a:ext cx="3337560" cy="3447288"/>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05BFA754-D5C3-4E66-96A6-867B257F58DC}" type="datetimeFigureOut">
              <a:rPr lang="en-US" dirty="0"/>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extLst>
      <p:ext uri="{BB962C8B-B14F-4D97-AF65-F5344CB8AC3E}">
        <p14:creationId xmlns:p14="http://schemas.microsoft.com/office/powerpoint/2010/main" val="17869549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1176868" y="2658533"/>
            <a:ext cx="333756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176868" y="3243263"/>
            <a:ext cx="3337560" cy="2706624"/>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1832" y="2658533"/>
            <a:ext cx="333756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4641832" y="3243263"/>
            <a:ext cx="3337560" cy="2706624"/>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41" name="Straight Connector 40"/>
          <p:cNvCxnSpPr/>
          <p:nvPr/>
        </p:nvCxnSpPr>
        <p:spPr>
          <a:xfrm>
            <a:off x="1278466" y="235467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212083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76865" y="915337"/>
            <a:ext cx="6798735" cy="1303867"/>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278466" y="235467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396547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216501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5" y="1388534"/>
            <a:ext cx="2536798" cy="1371600"/>
          </a:xfrm>
        </p:spPr>
        <p:txBody>
          <a:bodyPr anchor="b">
            <a:normAutofit/>
          </a:bodyPr>
          <a:lstStyle>
            <a:lvl1pPr algn="ctr">
              <a:defRPr sz="2400" b="0"/>
            </a:lvl1pPr>
          </a:lstStyle>
          <a:p>
            <a:r>
              <a:rPr lang="en-US" dirty="0"/>
              <a:t>Click to edit Master title style</a:t>
            </a:r>
          </a:p>
        </p:txBody>
      </p:sp>
      <p:sp>
        <p:nvSpPr>
          <p:cNvPr id="3" name="Content Placeholder 2"/>
          <p:cNvSpPr>
            <a:spLocks noGrp="1"/>
          </p:cNvSpPr>
          <p:nvPr>
            <p:ph idx="1"/>
          </p:nvPr>
        </p:nvSpPr>
        <p:spPr>
          <a:xfrm>
            <a:off x="4120062" y="982132"/>
            <a:ext cx="3855539" cy="4893735"/>
          </a:xfrm>
        </p:spPr>
        <p:txBody>
          <a:bodyPr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1176865" y="3031065"/>
            <a:ext cx="2536798"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6" name="Straight Connector 15"/>
          <p:cNvCxnSpPr/>
          <p:nvPr/>
        </p:nvCxnSpPr>
        <p:spPr>
          <a:xfrm>
            <a:off x="1278466" y="2912533"/>
            <a:ext cx="233359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995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5" y="1883832"/>
            <a:ext cx="3632202" cy="1371600"/>
          </a:xfrm>
        </p:spPr>
        <p:txBody>
          <a:bodyPr anchor="b">
            <a:normAutofit/>
          </a:bodyPr>
          <a:lstStyle>
            <a:lvl1pPr algn="ctr">
              <a:defRPr sz="2400" b="0"/>
            </a:lvl1pPr>
          </a:lstStyle>
          <a:p>
            <a:r>
              <a:rPr lang="en-US" dirty="0"/>
              <a:t>Click to edit Master title style</a:t>
            </a:r>
          </a:p>
        </p:txBody>
      </p:sp>
      <p:sp>
        <p:nvSpPr>
          <p:cNvPr id="17" name="Picture Placeholder 2"/>
          <p:cNvSpPr>
            <a:spLocks noGrp="1" noChangeAspect="1"/>
          </p:cNvSpPr>
          <p:nvPr>
            <p:ph type="pic" idx="1"/>
          </p:nvPr>
        </p:nvSpPr>
        <p:spPr>
          <a:xfrm>
            <a:off x="5183069" y="1032933"/>
            <a:ext cx="2929463" cy="4792136"/>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76865" y="3255432"/>
            <a:ext cx="3632201" cy="182880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9223200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6" y="4815415"/>
            <a:ext cx="6798734" cy="566738"/>
          </a:xfrm>
        </p:spPr>
        <p:txBody>
          <a:bodyPr anchor="b">
            <a:normAutofit/>
          </a:bodyPr>
          <a:lstStyle>
            <a:lvl1pPr algn="ctr">
              <a:defRPr sz="2400" b="0"/>
            </a:lvl1pPr>
          </a:lstStyle>
          <a:p>
            <a:r>
              <a:rPr lang="en-US" dirty="0"/>
              <a:t>Click to edit Master title style</a:t>
            </a:r>
          </a:p>
        </p:txBody>
      </p:sp>
      <p:sp>
        <p:nvSpPr>
          <p:cNvPr id="3" name="Picture Placeholder 2"/>
          <p:cNvSpPr>
            <a:spLocks noGrp="1" noChangeAspect="1"/>
          </p:cNvSpPr>
          <p:nvPr>
            <p:ph type="pic" idx="1"/>
          </p:nvPr>
        </p:nvSpPr>
        <p:spPr>
          <a:xfrm>
            <a:off x="1026260" y="1032933"/>
            <a:ext cx="7091482" cy="3361269"/>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76866" y="5382153"/>
            <a:ext cx="6798734" cy="493712"/>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5462141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6" y="906873"/>
            <a:ext cx="6798734" cy="3097860"/>
          </a:xfrm>
        </p:spPr>
        <p:txBody>
          <a:bodyPr anchor="ctr">
            <a:normAutofit/>
          </a:bodyPr>
          <a:lstStyle>
            <a:lvl1pPr algn="ctr">
              <a:defRPr sz="3200" b="0" cap="none"/>
            </a:lvl1pPr>
          </a:lstStyle>
          <a:p>
            <a:r>
              <a:rPr lang="en-US" dirty="0"/>
              <a:t>Click to edit Master title style</a:t>
            </a:r>
          </a:p>
        </p:txBody>
      </p:sp>
      <p:sp>
        <p:nvSpPr>
          <p:cNvPr id="3" name="Text Placeholder 2"/>
          <p:cNvSpPr>
            <a:spLocks noGrp="1"/>
          </p:cNvSpPr>
          <p:nvPr>
            <p:ph type="body" idx="1"/>
          </p:nvPr>
        </p:nvSpPr>
        <p:spPr>
          <a:xfrm>
            <a:off x="1176865" y="4275666"/>
            <a:ext cx="6798736" cy="1600202"/>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278465" y="4140199"/>
            <a:ext cx="660642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202047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34333" y="982132"/>
            <a:ext cx="6400250" cy="2370668"/>
          </a:xfrm>
        </p:spPr>
        <p:txBody>
          <a:bodyPr anchor="ctr">
            <a:normAutofit/>
          </a:bodyPr>
          <a:lstStyle>
            <a:lvl1pPr algn="ctr">
              <a:defRPr sz="3200" b="0" cap="none">
                <a:solidFill>
                  <a:schemeClr val="tx1"/>
                </a:solidFill>
              </a:defRPr>
            </a:lvl1pPr>
          </a:lstStyle>
          <a:p>
            <a:r>
              <a:rPr lang="en-US" dirty="0"/>
              <a:t>Click to edit Master title style</a:t>
            </a:r>
          </a:p>
        </p:txBody>
      </p:sp>
      <p:sp>
        <p:nvSpPr>
          <p:cNvPr id="10" name="Text Placeholder 9"/>
          <p:cNvSpPr>
            <a:spLocks noGrp="1"/>
          </p:cNvSpPr>
          <p:nvPr>
            <p:ph type="body" sz="quarter" idx="13"/>
          </p:nvPr>
        </p:nvSpPr>
        <p:spPr>
          <a:xfrm>
            <a:off x="1600200" y="3352799"/>
            <a:ext cx="5892798" cy="651933"/>
          </a:xfrm>
        </p:spPr>
        <p:txBody>
          <a:bodyPr anchor="ctr">
            <a:normAutofit/>
          </a:bodyPr>
          <a:lstStyle>
            <a:lvl1pPr marL="0" indent="0" algn="r">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Click to edit Master text styles</a:t>
            </a:r>
          </a:p>
        </p:txBody>
      </p:sp>
      <p:sp>
        <p:nvSpPr>
          <p:cNvPr id="3" name="Text Placeholder 2"/>
          <p:cNvSpPr>
            <a:spLocks noGrp="1"/>
          </p:cNvSpPr>
          <p:nvPr>
            <p:ph type="body" idx="1"/>
          </p:nvPr>
        </p:nvSpPr>
        <p:spPr>
          <a:xfrm>
            <a:off x="1176863" y="4343400"/>
            <a:ext cx="6798738"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4" name="TextBox 13"/>
          <p:cNvSpPr txBox="1"/>
          <p:nvPr/>
        </p:nvSpPr>
        <p:spPr>
          <a:xfrm>
            <a:off x="849969" y="905362"/>
            <a:ext cx="457319" cy="584776"/>
          </a:xfrm>
          <a:prstGeom prst="rect">
            <a:avLst/>
          </a:prstGeom>
        </p:spPr>
        <p:txBody>
          <a:bodyPr vert="horz" lIns="91440" tIns="45720" rIns="91440" bIns="45720" rtlCol="0" anchor="ctr">
            <a:noAutofit/>
          </a:bodyPr>
          <a:lstStyle/>
          <a:p>
            <a:pPr lvl="0"/>
            <a:r>
              <a:rPr lang="en-US" sz="7200" dirty="0">
                <a:solidFill>
                  <a:schemeClr val="tx1"/>
                </a:solidFill>
                <a:effectLst/>
              </a:rPr>
              <a:t>“</a:t>
            </a:r>
          </a:p>
        </p:txBody>
      </p:sp>
      <p:sp>
        <p:nvSpPr>
          <p:cNvPr id="15" name="TextBox 14"/>
          <p:cNvSpPr txBox="1"/>
          <p:nvPr/>
        </p:nvSpPr>
        <p:spPr>
          <a:xfrm>
            <a:off x="7633503" y="2827870"/>
            <a:ext cx="457319" cy="584776"/>
          </a:xfrm>
          <a:prstGeom prst="rect">
            <a:avLst/>
          </a:prstGeom>
        </p:spPr>
        <p:txBody>
          <a:bodyPr vert="horz" lIns="91440" tIns="45720" rIns="91440" bIns="45720" rtlCol="0" anchor="ctr">
            <a:noAutofit/>
          </a:bodyPr>
          <a:lstStyle/>
          <a:p>
            <a:pPr lvl="0" algn="r"/>
            <a:r>
              <a:rPr lang="en-US" sz="7200" dirty="0">
                <a:solidFill>
                  <a:schemeClr val="tx1"/>
                </a:solidFill>
                <a:effectLst/>
              </a:rPr>
              <a:t>”</a:t>
            </a:r>
          </a:p>
        </p:txBody>
      </p:sp>
      <p:cxnSp>
        <p:nvCxnSpPr>
          <p:cNvPr id="19" name="Straight Connector 18"/>
          <p:cNvCxnSpPr/>
          <p:nvPr/>
        </p:nvCxnSpPr>
        <p:spPr>
          <a:xfrm>
            <a:off x="1278466" y="4140199"/>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25731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76869" y="3308581"/>
            <a:ext cx="6798728" cy="1468800"/>
          </a:xfrm>
        </p:spPr>
        <p:txBody>
          <a:bodyPr anchor="b">
            <a:normAutofit/>
          </a:bodyPr>
          <a:lstStyle>
            <a:lvl1pPr algn="l">
              <a:defRPr sz="3200" b="0" cap="none"/>
            </a:lvl1pPr>
          </a:lstStyle>
          <a:p>
            <a:r>
              <a:rPr lang="en-US" dirty="0"/>
              <a:t>Click to edit Master title style</a:t>
            </a:r>
          </a:p>
        </p:txBody>
      </p:sp>
      <p:sp>
        <p:nvSpPr>
          <p:cNvPr id="3" name="Text Placeholder 2"/>
          <p:cNvSpPr>
            <a:spLocks noGrp="1"/>
          </p:cNvSpPr>
          <p:nvPr>
            <p:ph type="body" idx="1"/>
          </p:nvPr>
        </p:nvSpPr>
        <p:spPr>
          <a:xfrm>
            <a:off x="1176868" y="4777381"/>
            <a:ext cx="6798730" cy="8604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9042992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09416" y="982132"/>
            <a:ext cx="6325168" cy="2243668"/>
          </a:xfrm>
        </p:spPr>
        <p:txBody>
          <a:bodyPr anchor="ctr">
            <a:normAutofit/>
          </a:bodyPr>
          <a:lstStyle>
            <a:lvl1pPr algn="ctr">
              <a:defRPr sz="3200" b="0" cap="none">
                <a:solidFill>
                  <a:schemeClr val="tx1"/>
                </a:solidFill>
              </a:defRPr>
            </a:lvl1pPr>
          </a:lstStyle>
          <a:p>
            <a:r>
              <a:rPr lang="en-US" dirty="0"/>
              <a:t>Click to edit Master title style</a:t>
            </a:r>
          </a:p>
        </p:txBody>
      </p:sp>
      <p:sp>
        <p:nvSpPr>
          <p:cNvPr id="18" name="Text Placeholder 2"/>
          <p:cNvSpPr>
            <a:spLocks noGrp="1"/>
          </p:cNvSpPr>
          <p:nvPr>
            <p:ph type="body" idx="13"/>
          </p:nvPr>
        </p:nvSpPr>
        <p:spPr>
          <a:xfrm>
            <a:off x="1176868" y="3639312"/>
            <a:ext cx="6798730" cy="886968"/>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3" name="Text Placeholder 2"/>
          <p:cNvSpPr>
            <a:spLocks noGrp="1"/>
          </p:cNvSpPr>
          <p:nvPr>
            <p:ph type="body" idx="1"/>
          </p:nvPr>
        </p:nvSpPr>
        <p:spPr>
          <a:xfrm>
            <a:off x="1176865" y="4529667"/>
            <a:ext cx="6798736" cy="1346200"/>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2" name="TextBox 11"/>
          <p:cNvSpPr txBox="1"/>
          <p:nvPr/>
        </p:nvSpPr>
        <p:spPr>
          <a:xfrm>
            <a:off x="878060" y="896895"/>
            <a:ext cx="457319"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7649796" y="2607728"/>
            <a:ext cx="457319"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278466" y="342900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288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76865" y="982131"/>
            <a:ext cx="6798734" cy="2294467"/>
          </a:xfrm>
        </p:spPr>
        <p:txBody>
          <a:bodyPr vert="horz" lIns="91440" tIns="45720" rIns="91440" bIns="45720" rtlCol="0" anchor="ctr">
            <a:normAutofit/>
          </a:bodyPr>
          <a:lstStyle>
            <a:lvl1pPr>
              <a:defRPr lang="en-US" sz="3200" b="0" dirty="0"/>
            </a:lvl1pPr>
          </a:lstStyle>
          <a:p>
            <a:pPr marL="0" lvl="0"/>
            <a:r>
              <a:rPr lang="en-US" dirty="0"/>
              <a:t>Click to edit Master title style</a:t>
            </a:r>
          </a:p>
        </p:txBody>
      </p:sp>
      <p:sp>
        <p:nvSpPr>
          <p:cNvPr id="14" name="Text Placeholder 2"/>
          <p:cNvSpPr>
            <a:spLocks noGrp="1"/>
          </p:cNvSpPr>
          <p:nvPr>
            <p:ph type="body" idx="13"/>
          </p:nvPr>
        </p:nvSpPr>
        <p:spPr>
          <a:xfrm>
            <a:off x="1176868" y="3566160"/>
            <a:ext cx="6798730" cy="905256"/>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3" name="Text Placeholder 2"/>
          <p:cNvSpPr>
            <a:spLocks noGrp="1"/>
          </p:cNvSpPr>
          <p:nvPr>
            <p:ph type="body" idx="1"/>
          </p:nvPr>
        </p:nvSpPr>
        <p:spPr>
          <a:xfrm>
            <a:off x="1176866" y="4470400"/>
            <a:ext cx="6798734" cy="1405467"/>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278469" y="3429000"/>
            <a:ext cx="6606421"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6663263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dirty="0"/>
              <a:t>Click to edit Master title style</a:t>
            </a:r>
          </a:p>
        </p:txBody>
      </p:sp>
      <p:sp>
        <p:nvSpPr>
          <p:cNvPr id="3" name="Vertical Text Placeholder 2"/>
          <p:cNvSpPr>
            <a:spLocks noGrp="1"/>
          </p:cNvSpPr>
          <p:nvPr>
            <p:ph type="body" orient="vert" idx="1"/>
          </p:nvPr>
        </p:nvSpPr>
        <p:spPr>
          <a:xfrm>
            <a:off x="1176865" y="2490135"/>
            <a:ext cx="6798736" cy="338573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278466" y="2354670"/>
            <a:ext cx="660642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81948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356667" y="906873"/>
            <a:ext cx="1618930" cy="4968995"/>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1176867" y="906873"/>
            <a:ext cx="4915509" cy="496899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6245512" y="906873"/>
            <a:ext cx="0" cy="4968993"/>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421268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0" y="0"/>
            <a:ext cx="9152467" cy="6858000"/>
            <a:chOff x="0" y="0"/>
            <a:chExt cx="9152467" cy="6858000"/>
          </a:xfrm>
        </p:grpSpPr>
        <p:pic>
          <p:nvPicPr>
            <p:cNvPr id="8" name="Picture 7" descr="S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9" name="Rectangle 8"/>
            <p:cNvSpPr/>
            <p:nvPr/>
          </p:nvSpPr>
          <p:spPr>
            <a:xfrm>
              <a:off x="553888" y="542807"/>
              <a:ext cx="8039776" cy="5756392"/>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l="1" r="14240"/>
            <a:stretch/>
          </p:blipFill>
          <p:spPr>
            <a:xfrm>
              <a:off x="0" y="3128434"/>
              <a:ext cx="68580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l="1" r="14240"/>
            <a:stretch/>
          </p:blipFill>
          <p:spPr>
            <a:xfrm>
              <a:off x="8466667" y="3128434"/>
              <a:ext cx="685800" cy="606425"/>
            </a:xfrm>
            <a:prstGeom prst="rect">
              <a:avLst/>
            </a:prstGeom>
          </p:spPr>
        </p:pic>
      </p:grpSp>
      <p:sp>
        <p:nvSpPr>
          <p:cNvPr id="2" name="Title Placeholder 1"/>
          <p:cNvSpPr>
            <a:spLocks noGrp="1"/>
          </p:cNvSpPr>
          <p:nvPr>
            <p:ph type="title"/>
          </p:nvPr>
        </p:nvSpPr>
        <p:spPr>
          <a:xfrm>
            <a:off x="1176866" y="915337"/>
            <a:ext cx="6798734" cy="1303867"/>
          </a:xfrm>
          <a:prstGeom prst="rect">
            <a:avLst/>
          </a:prstGeom>
          <a:effectLst/>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176865" y="2490135"/>
            <a:ext cx="6798736" cy="3444997"/>
          </a:xfrm>
          <a:prstGeom prst="rect">
            <a:avLst/>
          </a:prstGeom>
        </p:spPr>
        <p:txBody>
          <a:bodyPr vert="horz" lIns="91440" tIns="45720" rIns="91440" bIns="45720" rtlCol="0"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356670" y="5960533"/>
            <a:ext cx="1148283"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6/8/2026</a:t>
            </a:fld>
            <a:endParaRPr lang="en-US" dirty="0"/>
          </a:p>
        </p:txBody>
      </p:sp>
      <p:sp>
        <p:nvSpPr>
          <p:cNvPr id="5" name="Footer Placeholder 4"/>
          <p:cNvSpPr>
            <a:spLocks noGrp="1"/>
          </p:cNvSpPr>
          <p:nvPr>
            <p:ph type="ftr" sz="quarter" idx="3"/>
          </p:nvPr>
        </p:nvSpPr>
        <p:spPr>
          <a:xfrm>
            <a:off x="1176865" y="5960533"/>
            <a:ext cx="5104667"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7580091" y="5960533"/>
            <a:ext cx="39551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288135092"/>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Lst>
  <p:txStyles>
    <p:titleStyle>
      <a:lvl1pPr algn="ctr" defTabSz="457200" rtl="0" eaLnBrk="1" latinLnBrk="0" hangingPunct="1">
        <a:spcBef>
          <a:spcPct val="0"/>
        </a:spcBef>
        <a:buNone/>
        <a:defRPr sz="40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Project Overview</a:t>
            </a:r>
          </a:p>
        </p:txBody>
      </p:sp>
      <p:sp>
        <p:nvSpPr>
          <p:cNvPr id="3" name="Subtitle 2"/>
          <p:cNvSpPr>
            <a:spLocks noGrp="1"/>
          </p:cNvSpPr>
          <p:nvPr>
            <p:ph type="subTitle" idx="1"/>
          </p:nvPr>
        </p:nvSpPr>
        <p:spPr/>
        <p:txBody>
          <a:bodyPr/>
          <a:lstStyle/>
          <a:p>
            <a:r>
              <a:t>Brazilian E-Commerce Public Dataset by Olist</a:t>
            </a:r>
          </a:p>
          <a:p>
            <a:r>
              <a:t>Tools: DuckDB, dbt, Python, Pandas, Matplotlib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a:t>
            </a:r>
          </a:p>
        </p:txBody>
      </p:sp>
      <p:sp>
        <p:nvSpPr>
          <p:cNvPr id="3" name="Content Placeholder 2"/>
          <p:cNvSpPr>
            <a:spLocks noGrp="1"/>
          </p:cNvSpPr>
          <p:nvPr>
            <p:ph idx="1"/>
          </p:nvPr>
        </p:nvSpPr>
        <p:spPr/>
        <p:txBody>
          <a:bodyPr/>
          <a:lstStyle/>
          <a:p>
            <a:r>
              <a:t>CSV Files → DuckDB → dbt Staging → Star Schema → dbt Tests → Analytics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Star Schema</a:t>
            </a:r>
          </a:p>
        </p:txBody>
      </p:sp>
      <p:sp>
        <p:nvSpPr>
          <p:cNvPr id="3" name="Content Placeholder 2"/>
          <p:cNvSpPr>
            <a:spLocks noGrp="1"/>
          </p:cNvSpPr>
          <p:nvPr>
            <p:ph idx="1"/>
          </p:nvPr>
        </p:nvSpPr>
        <p:spPr/>
        <p:txBody>
          <a:bodyPr/>
          <a:lstStyle/>
          <a:p>
            <a:r>
              <a:t>Fact: fact_sales</a:t>
            </a:r>
          </a:p>
          <a:p>
            <a:r>
              <a:t>Dimensions: dim_customer, dim_product, dim_seller</a:t>
            </a:r>
          </a:p>
        </p:txBody>
      </p:sp>
      <p:sp>
        <p:nvSpPr>
          <p:cNvPr id="6" name="TextBox 5">
            <a:extLst>
              <a:ext uri="{FF2B5EF4-FFF2-40B4-BE49-F238E27FC236}">
                <a16:creationId xmlns:a16="http://schemas.microsoft.com/office/drawing/2014/main" id="{04EF12ED-33EF-9957-3B97-7463A89DAB56}"/>
              </a:ext>
            </a:extLst>
          </p:cNvPr>
          <p:cNvSpPr txBox="1"/>
          <p:nvPr/>
        </p:nvSpPr>
        <p:spPr>
          <a:xfrm>
            <a:off x="3909646" y="3845169"/>
            <a:ext cx="1336431" cy="461665"/>
          </a:xfrm>
          <a:prstGeom prst="rect">
            <a:avLst/>
          </a:prstGeom>
          <a:solidFill>
            <a:schemeClr val="accent5">
              <a:lumMod val="60000"/>
              <a:lumOff val="4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dirty="0" err="1">
                <a:solidFill>
                  <a:srgbClr val="262626"/>
                </a:solidFill>
              </a:rPr>
              <a:t>fact_sales</a:t>
            </a:r>
            <a:endParaRPr lang="en-US" dirty="0" err="1"/>
          </a:p>
        </p:txBody>
      </p:sp>
      <p:cxnSp>
        <p:nvCxnSpPr>
          <p:cNvPr id="7" name="Straight Arrow Connector 6">
            <a:extLst>
              <a:ext uri="{FF2B5EF4-FFF2-40B4-BE49-F238E27FC236}">
                <a16:creationId xmlns:a16="http://schemas.microsoft.com/office/drawing/2014/main" id="{AC5512C5-C53E-14C9-4EF9-AA712CFA0101}"/>
              </a:ext>
            </a:extLst>
          </p:cNvPr>
          <p:cNvCxnSpPr/>
          <p:nvPr/>
        </p:nvCxnSpPr>
        <p:spPr>
          <a:xfrm>
            <a:off x="5023338" y="4308230"/>
            <a:ext cx="914400" cy="914400"/>
          </a:xfrm>
          <a:prstGeom prst="straightConnector1">
            <a:avLst/>
          </a:prstGeom>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323F2A7-D149-A20A-C67B-63EE505FFF10}"/>
              </a:ext>
            </a:extLst>
          </p:cNvPr>
          <p:cNvCxnSpPr/>
          <p:nvPr/>
        </p:nvCxnSpPr>
        <p:spPr>
          <a:xfrm flipH="1">
            <a:off x="3223846" y="4314091"/>
            <a:ext cx="926123" cy="926124"/>
          </a:xfrm>
          <a:prstGeom prst="straightConnector1">
            <a:avLst/>
          </a:prstGeom>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C5D17D2-6ECC-7755-BD96-903481ED9970}"/>
              </a:ext>
            </a:extLst>
          </p:cNvPr>
          <p:cNvCxnSpPr/>
          <p:nvPr/>
        </p:nvCxnSpPr>
        <p:spPr>
          <a:xfrm flipH="1">
            <a:off x="4566138" y="4314092"/>
            <a:ext cx="17584" cy="931984"/>
          </a:xfrm>
          <a:prstGeom prst="straightConnector1">
            <a:avLst/>
          </a:prstGeom>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3FF5A8C-374B-8EDF-352F-1397BC3928AC}"/>
              </a:ext>
            </a:extLst>
          </p:cNvPr>
          <p:cNvSpPr txBox="1"/>
          <p:nvPr/>
        </p:nvSpPr>
        <p:spPr>
          <a:xfrm>
            <a:off x="2033953" y="5246076"/>
            <a:ext cx="1500554" cy="369332"/>
          </a:xfrm>
          <a:prstGeom prst="rect">
            <a:avLst/>
          </a:prstGeom>
          <a:solidFill>
            <a:schemeClr val="accent5">
              <a:lumMod val="60000"/>
              <a:lumOff val="4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err="1"/>
              <a:t>dim_customer</a:t>
            </a:r>
            <a:endParaRPr lang="en-US"/>
          </a:p>
        </p:txBody>
      </p:sp>
      <p:sp>
        <p:nvSpPr>
          <p:cNvPr id="12" name="TextBox 11">
            <a:extLst>
              <a:ext uri="{FF2B5EF4-FFF2-40B4-BE49-F238E27FC236}">
                <a16:creationId xmlns:a16="http://schemas.microsoft.com/office/drawing/2014/main" id="{631376E8-905C-7EA0-3B85-AC1E4178D408}"/>
              </a:ext>
            </a:extLst>
          </p:cNvPr>
          <p:cNvSpPr txBox="1"/>
          <p:nvPr/>
        </p:nvSpPr>
        <p:spPr>
          <a:xfrm>
            <a:off x="3745521" y="5246075"/>
            <a:ext cx="1500554" cy="369332"/>
          </a:xfrm>
          <a:prstGeom prst="rect">
            <a:avLst/>
          </a:prstGeom>
          <a:solidFill>
            <a:schemeClr val="accent5">
              <a:lumMod val="60000"/>
              <a:lumOff val="4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err="1"/>
              <a:t>dim_product</a:t>
            </a:r>
          </a:p>
        </p:txBody>
      </p:sp>
      <p:sp>
        <p:nvSpPr>
          <p:cNvPr id="13" name="TextBox 12">
            <a:extLst>
              <a:ext uri="{FF2B5EF4-FFF2-40B4-BE49-F238E27FC236}">
                <a16:creationId xmlns:a16="http://schemas.microsoft.com/office/drawing/2014/main" id="{01694F03-80DB-14BD-997A-67B2221B4F0F}"/>
              </a:ext>
            </a:extLst>
          </p:cNvPr>
          <p:cNvSpPr txBox="1"/>
          <p:nvPr/>
        </p:nvSpPr>
        <p:spPr>
          <a:xfrm>
            <a:off x="5480537" y="5246075"/>
            <a:ext cx="1500554" cy="369332"/>
          </a:xfrm>
          <a:prstGeom prst="rect">
            <a:avLst/>
          </a:prstGeom>
          <a:solidFill>
            <a:schemeClr val="accent5">
              <a:lumMod val="60000"/>
              <a:lumOff val="4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err="1"/>
              <a:t>dim_seller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p>
        </p:txBody>
      </p:sp>
      <p:sp>
        <p:nvSpPr>
          <p:cNvPr id="3" name="Content Placeholder 2"/>
          <p:cNvSpPr>
            <a:spLocks noGrp="1"/>
          </p:cNvSpPr>
          <p:nvPr>
            <p:ph idx="1"/>
          </p:nvPr>
        </p:nvSpPr>
        <p:spPr/>
        <p:txBody>
          <a:bodyPr/>
          <a:lstStyle/>
          <a:p>
            <a:r>
              <a:t>dbt tests:</a:t>
            </a:r>
          </a:p>
          <a:p>
            <a:r>
              <a:t>- unique customer_id</a:t>
            </a:r>
          </a:p>
          <a:p>
            <a:r>
              <a:t>- unique product_id</a:t>
            </a:r>
          </a:p>
          <a:p>
            <a:r>
              <a:t>- unique seller_id</a:t>
            </a:r>
          </a:p>
          <a:p>
            <a:r>
              <a:t>- not_null checks</a:t>
            </a:r>
          </a:p>
          <a:p>
            <a:r>
              <a:t>Result: PASS=7</a:t>
            </a:r>
          </a:p>
        </p:txBody>
      </p:sp>
      <p:pic>
        <p:nvPicPr>
          <p:cNvPr id="4" name="Picture 3">
            <a:extLst>
              <a:ext uri="{FF2B5EF4-FFF2-40B4-BE49-F238E27FC236}">
                <a16:creationId xmlns:a16="http://schemas.microsoft.com/office/drawing/2014/main" id="{301A5BC9-81E1-6EC8-58DE-8F50AC90FD24}"/>
              </a:ext>
            </a:extLst>
          </p:cNvPr>
          <p:cNvPicPr>
            <a:picLocks noChangeAspect="1"/>
          </p:cNvPicPr>
          <p:nvPr/>
        </p:nvPicPr>
        <p:blipFill>
          <a:blip r:embed="rId3"/>
          <a:stretch>
            <a:fillRect/>
          </a:stretch>
        </p:blipFill>
        <p:spPr>
          <a:xfrm>
            <a:off x="1509568" y="5533448"/>
            <a:ext cx="6134100" cy="4000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Monthly Sales Trend</a:t>
            </a:r>
          </a:p>
        </p:txBody>
      </p:sp>
      <p:sp>
        <p:nvSpPr>
          <p:cNvPr id="3" name="Content Placeholder 2"/>
          <p:cNvSpPr>
            <a:spLocks noGrp="1"/>
          </p:cNvSpPr>
          <p:nvPr>
            <p:ph idx="1"/>
          </p:nvPr>
        </p:nvSpPr>
        <p:spPr/>
        <p:txBody>
          <a:bodyPr/>
          <a:lstStyle/>
          <a:p>
            <a:r>
              <a:t>Analyze monthly revenue trends using fact_sales.</a:t>
            </a:r>
          </a:p>
        </p:txBody>
      </p:sp>
      <p:pic>
        <p:nvPicPr>
          <p:cNvPr id="4" name="Picture 3" descr="A line graph with numbers and text&#10;&#10;AI-generated content may be incorrect.">
            <a:extLst>
              <a:ext uri="{FF2B5EF4-FFF2-40B4-BE49-F238E27FC236}">
                <a16:creationId xmlns:a16="http://schemas.microsoft.com/office/drawing/2014/main" id="{FEAD166F-BD87-0F49-725C-88DFBEA02755}"/>
              </a:ext>
            </a:extLst>
          </p:cNvPr>
          <p:cNvPicPr>
            <a:picLocks noChangeAspect="1"/>
          </p:cNvPicPr>
          <p:nvPr/>
        </p:nvPicPr>
        <p:blipFill>
          <a:blip r:embed="rId3"/>
          <a:stretch>
            <a:fillRect/>
          </a:stretch>
        </p:blipFill>
        <p:spPr>
          <a:xfrm>
            <a:off x="1408546" y="3027218"/>
            <a:ext cx="6322292" cy="314960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 Product Categories</a:t>
            </a:r>
          </a:p>
        </p:txBody>
      </p:sp>
      <p:sp>
        <p:nvSpPr>
          <p:cNvPr id="3" name="Content Placeholder 2"/>
          <p:cNvSpPr>
            <a:spLocks noGrp="1"/>
          </p:cNvSpPr>
          <p:nvPr>
            <p:ph idx="1"/>
          </p:nvPr>
        </p:nvSpPr>
        <p:spPr/>
        <p:txBody>
          <a:bodyPr/>
          <a:lstStyle/>
          <a:p>
            <a:r>
              <a:t>Top categories include Beauty &amp; Health, Watches &amp; Gifts, Bed/Bath/Table.</a:t>
            </a:r>
          </a:p>
        </p:txBody>
      </p:sp>
      <p:pic>
        <p:nvPicPr>
          <p:cNvPr id="4" name="Picture 3" descr="A bar graph with blue bars&#10;&#10;AI-generated content may be incorrect.">
            <a:extLst>
              <a:ext uri="{FF2B5EF4-FFF2-40B4-BE49-F238E27FC236}">
                <a16:creationId xmlns:a16="http://schemas.microsoft.com/office/drawing/2014/main" id="{7B7B4397-2CF1-DD08-F6CE-AD8C69057B2D}"/>
              </a:ext>
            </a:extLst>
          </p:cNvPr>
          <p:cNvPicPr>
            <a:picLocks noChangeAspect="1"/>
          </p:cNvPicPr>
          <p:nvPr/>
        </p:nvPicPr>
        <p:blipFill>
          <a:blip r:embed="rId3"/>
          <a:stretch>
            <a:fillRect/>
          </a:stretch>
        </p:blipFill>
        <p:spPr>
          <a:xfrm>
            <a:off x="1343891" y="2976417"/>
            <a:ext cx="6456219" cy="322811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Revenue by State</a:t>
            </a:r>
          </a:p>
        </p:txBody>
      </p:sp>
      <p:sp>
        <p:nvSpPr>
          <p:cNvPr id="3" name="Content Placeholder 2"/>
          <p:cNvSpPr>
            <a:spLocks noGrp="1"/>
          </p:cNvSpPr>
          <p:nvPr>
            <p:ph idx="1"/>
          </p:nvPr>
        </p:nvSpPr>
        <p:spPr/>
        <p:txBody>
          <a:bodyPr/>
          <a:lstStyle/>
          <a:p>
            <a:r>
              <a:t>São Paulo (SP) generated the highest revenue.</a:t>
            </a:r>
          </a:p>
        </p:txBody>
      </p:sp>
      <p:pic>
        <p:nvPicPr>
          <p:cNvPr id="4" name="Picture 3" descr="A screenshot of a black screen&#10;&#10;AI-generated content may be incorrect.">
            <a:extLst>
              <a:ext uri="{FF2B5EF4-FFF2-40B4-BE49-F238E27FC236}">
                <a16:creationId xmlns:a16="http://schemas.microsoft.com/office/drawing/2014/main" id="{44975364-062F-C39D-9B74-168752BE0A09}"/>
              </a:ext>
            </a:extLst>
          </p:cNvPr>
          <p:cNvPicPr>
            <a:picLocks noChangeAspect="1"/>
          </p:cNvPicPr>
          <p:nvPr/>
        </p:nvPicPr>
        <p:blipFill>
          <a:blip r:embed="rId3"/>
          <a:stretch>
            <a:fillRect/>
          </a:stretch>
        </p:blipFill>
        <p:spPr>
          <a:xfrm>
            <a:off x="3008573" y="2977423"/>
            <a:ext cx="3136359" cy="328420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Customer RFM Analysis</a:t>
            </a:r>
          </a:p>
        </p:txBody>
      </p:sp>
      <p:sp>
        <p:nvSpPr>
          <p:cNvPr id="3" name="Content Placeholder 2"/>
          <p:cNvSpPr>
            <a:spLocks noGrp="1"/>
          </p:cNvSpPr>
          <p:nvPr>
            <p:ph idx="1"/>
          </p:nvPr>
        </p:nvSpPr>
        <p:spPr/>
        <p:txBody>
          <a:bodyPr/>
          <a:lstStyle/>
          <a:p>
            <a:r>
              <a:t>Frequency, Recency, Monetary analysis</a:t>
            </a:r>
            <a:r>
              <a:rPr lang="en-US"/>
              <a:t>.</a:t>
            </a:r>
          </a:p>
        </p:txBody>
      </p:sp>
      <p:pic>
        <p:nvPicPr>
          <p:cNvPr id="4" name="Picture 3" descr="A screenshot of a computer screen&#10;&#10;AI-generated content may be incorrect.">
            <a:extLst>
              <a:ext uri="{FF2B5EF4-FFF2-40B4-BE49-F238E27FC236}">
                <a16:creationId xmlns:a16="http://schemas.microsoft.com/office/drawing/2014/main" id="{2177CCBA-43F6-4697-6A05-D4831BB2D833}"/>
              </a:ext>
            </a:extLst>
          </p:cNvPr>
          <p:cNvPicPr>
            <a:picLocks noChangeAspect="1"/>
          </p:cNvPicPr>
          <p:nvPr/>
        </p:nvPicPr>
        <p:blipFill>
          <a:blip r:embed="rId3"/>
          <a:stretch>
            <a:fillRect/>
          </a:stretch>
        </p:blipFill>
        <p:spPr>
          <a:xfrm>
            <a:off x="2577095" y="2927601"/>
            <a:ext cx="3847235" cy="332206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Learnings</a:t>
            </a:r>
          </a:p>
        </p:txBody>
      </p:sp>
      <p:sp>
        <p:nvSpPr>
          <p:cNvPr id="3" name="Content Placeholder 2"/>
          <p:cNvSpPr>
            <a:spLocks noGrp="1"/>
          </p:cNvSpPr>
          <p:nvPr>
            <p:ph idx="1"/>
          </p:nvPr>
        </p:nvSpPr>
        <p:spPr/>
        <p:txBody>
          <a:bodyPr/>
          <a:lstStyle/>
          <a:p>
            <a:r>
              <a:t>Built an end-to-end analytics engineering workflow with DuckDB and dbt.</a:t>
            </a:r>
          </a:p>
        </p:txBody>
      </p:sp>
    </p:spTree>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rotWithShape="1">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(4:3)</PresentationFormat>
  <Paragraphs>0</Paragraphs>
  <Slides>9</Slides>
  <Notes>9</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Organic</vt:lpstr>
      <vt:lpstr>Project Overview</vt:lpstr>
      <vt:lpstr>Architecture</vt:lpstr>
      <vt:lpstr>Star Schema</vt:lpstr>
      <vt:lpstr>Data Quality</vt:lpstr>
      <vt:lpstr>Monthly Sales Trend</vt:lpstr>
      <vt:lpstr>Top Product Categories</vt:lpstr>
      <vt:lpstr>Revenue by State</vt:lpstr>
      <vt:lpstr>Customer RFM Analysis</vt:lpstr>
      <vt:lpstr>Key Learnings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124</cp:revision>
  <dcterms:created xsi:type="dcterms:W3CDTF">2013-01-27T09:14:16Z</dcterms:created>
  <dcterms:modified xsi:type="dcterms:W3CDTF">2026-06-08T08:06:49Z</dcterms:modified>
  <cp:category/>
</cp:coreProperties>
</file>