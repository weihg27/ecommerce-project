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1186" autoAdjust="0"/>
  </p:normalViewPr>
  <p:slideViewPr>
    <p:cSldViewPr snapToGrid="0">
      <p:cViewPr varScale="1">
        <p:scale>
          <a:sx n="75" d="100"/>
          <a:sy n="75" d="100"/>
        </p:scale>
        <p:origin x="183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sz="1200" b="0" i="0" kern="1200" dirty="0">
                <a:effectLst/>
              </a:rPr>
              <a:t>This slide explains why customer retention is the most important customer strategy question in the </a:t>
            </a:r>
            <a:r>
              <a:rPr lang="en-SG" sz="1200" b="0" i="0" kern="1200" dirty="0" err="1">
                <a:effectLst/>
              </a:rPr>
              <a:t>Olist</a:t>
            </a:r>
            <a:r>
              <a:rPr lang="en-SG" sz="1200" b="0" i="0" kern="1200" dirty="0">
                <a:effectLst/>
              </a:rPr>
              <a:t> dataset. The key point is that only 2,913 out of 95,420 customers are repeat buyers, which is just 3.05% of the customer base. Because repeat purchasing is so rare, a standard frequency percentile score would exaggerate small differences between mostly one-time customers.</a:t>
            </a:r>
          </a:p>
          <a:p>
            <a:endParaRPr lang="en-SG" sz="1200" b="0" i="0" kern="1200" dirty="0">
              <a:effectLst/>
            </a:endParaRPr>
          </a:p>
          <a:p>
            <a:r>
              <a:rPr lang="en-SG" sz="1200" b="0" i="0" kern="1200" dirty="0">
                <a:effectLst/>
              </a:rPr>
              <a:t>The RFM scoring therefore uses a more honest frequency method:</a:t>
            </a:r>
          </a:p>
          <a:p>
            <a:endParaRPr lang="en-US" dirty="0"/>
          </a:p>
          <a:p>
            <a:r>
              <a:rPr lang="en-US" dirty="0"/>
              <a:t>1 order = low frequency</a:t>
            </a:r>
          </a:p>
          <a:p>
            <a:r>
              <a:rPr lang="en-US" dirty="0"/>
              <a:t>2 orders = repeat buyer</a:t>
            </a:r>
          </a:p>
          <a:p>
            <a:r>
              <a:rPr lang="en-US" dirty="0"/>
              <a:t>3-5 orders = strong repeat buyer</a:t>
            </a:r>
          </a:p>
          <a:p>
            <a:r>
              <a:rPr lang="en-US" dirty="0"/>
              <a:t>6+ orders = very frequent buyer</a:t>
            </a:r>
          </a:p>
          <a:p>
            <a:endParaRPr lang="en-SG" dirty="0"/>
          </a:p>
          <a:p>
            <a:r>
              <a:rPr lang="en-SG" sz="1200" b="0" i="0" kern="1200" dirty="0">
                <a:effectLst/>
              </a:rPr>
              <a:t>The segment table shows that most customers are either new, mid-value, dormant, or one-time high spenders. The most commercially important insight is that the high-value one-time groups are large and valuable. High-Value New Customers and Big Spenders - One-Time Buyers together represent more than 22,000 customers and more than R$8M in gross item sales.</a:t>
            </a:r>
          </a:p>
          <a:p>
            <a:r>
              <a:rPr lang="en-SG" sz="1200" b="0" i="0" kern="1200" dirty="0">
                <a:effectLst/>
              </a:rPr>
              <a:t>The business takeaway is that </a:t>
            </a:r>
            <a:r>
              <a:rPr lang="en-SG" sz="1200" b="0" i="0" kern="1200" dirty="0" err="1">
                <a:effectLst/>
              </a:rPr>
              <a:t>Olist</a:t>
            </a:r>
            <a:r>
              <a:rPr lang="en-SG" sz="1200" b="0" i="0" kern="1200" dirty="0">
                <a:effectLst/>
              </a:rPr>
              <a:t> should not treat retention as a generic loyalty problem yet. The first priority is to convert valuable one-time buyers into second-time buyers, because that is where the largest customer value opportunity sits.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sz="1200" b="0" i="0" kern="1200" dirty="0">
                <a:effectLst/>
              </a:rPr>
              <a:t>This slide translates the RFM results into campaign priorities. Since only 3.05% of customers are repeat buyers, broad loyalty campaigns would reach a very small part of the customer base. A staged retention strategy is more practical.</a:t>
            </a:r>
          </a:p>
          <a:p>
            <a:r>
              <a:rPr lang="en-SG" sz="1200" b="0" i="0" kern="1200" dirty="0">
                <a:effectLst/>
              </a:rPr>
              <a:t>The first priority is High-Value New Customers. These customers purchased recently, bought only once, and generated high gross item sales. They are the best audience for second-purchase coupons, category recommendations, or limited-time follow-up offers.</a:t>
            </a:r>
          </a:p>
          <a:p>
            <a:r>
              <a:rPr lang="en-SG" sz="1200" b="0" i="0" kern="1200" dirty="0">
                <a:effectLst/>
              </a:rPr>
              <a:t>The second priority is At-Risk High Spenders. These customers generated meaningful sales but have not purchased recently. They are good candidates for win-back campaigns, especially if offers are personalized around previous product categories.</a:t>
            </a:r>
          </a:p>
          <a:p>
            <a:r>
              <a:rPr lang="en-SG" sz="1200" b="0" i="0" kern="1200" dirty="0">
                <a:effectLst/>
              </a:rPr>
              <a:t>The third priority is Recent Repeat Buyers. This group is much smaller, but they have already shown repeat purchase </a:t>
            </a:r>
            <a:r>
              <a:rPr lang="en-SG" sz="1200" b="0" i="0" kern="1200" dirty="0" err="1">
                <a:effectLst/>
              </a:rPr>
              <a:t>behavior</a:t>
            </a:r>
            <a:r>
              <a:rPr lang="en-SG" sz="1200" b="0" i="0" kern="1200" dirty="0">
                <a:effectLst/>
              </a:rPr>
              <a:t>. They are the right audience for loyalty rewards, early access, or benefits that encourage continued engagement.</a:t>
            </a:r>
          </a:p>
          <a:p>
            <a:r>
              <a:rPr lang="en-SG" sz="1200" b="0" i="0" kern="1200" dirty="0">
                <a:effectLst/>
              </a:rPr>
              <a:t>Champions are the smallest group, but they show the strongest combination of recency, frequency, and monetary value. They should receive VIP treatment, premium offers, or early access campaigns.</a:t>
            </a:r>
          </a:p>
          <a:p>
            <a:r>
              <a:rPr lang="en-SG" sz="1200" b="0" i="0" kern="1200" dirty="0">
                <a:effectLst/>
              </a:rPr>
              <a:t>The main presenter message is:</a:t>
            </a:r>
          </a:p>
          <a:p>
            <a:r>
              <a:rPr lang="en-SG" sz="1200" b="0" i="0" kern="1200" dirty="0">
                <a:effectLst/>
              </a:rPr>
              <a:t>RFM scoring shows </a:t>
            </a:r>
            <a:r>
              <a:rPr lang="en-SG" sz="1200" b="0" i="0" kern="1200" dirty="0" err="1">
                <a:effectLst/>
              </a:rPr>
              <a:t>Olist's</a:t>
            </a:r>
            <a:r>
              <a:rPr lang="en-SG" sz="1200" b="0" i="0" kern="1200">
                <a:effectLst/>
              </a:rPr>
              <a:t> biggest customer opportunity is converting high-value one-time buyers into repeat customers, while using win-back campaigns for older high-spend customers and loyalty offers for the small repeat-buyer base.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 98">
            <a:extLst>
              <a:ext uri="{FF2B5EF4-FFF2-40B4-BE49-F238E27FC236}">
                <a16:creationId xmlns:a16="http://schemas.microsoft.com/office/drawing/2014/main" id="{BD62B89F-8046-4E8B-84C5-9A7CCA6965D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3AAB92AD-22FC-4FC7-BC28-7607C52196F8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23825" cy="123825"/>
          </a:xfrm>
          <a:prstGeom prst="ellipse">
            <a:avLst/>
          </a:prstGeom>
          <a:solidFill>
            <a:srgbClr val="178F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103DA635-63D2-46AE-8600-C1B758B1B512}"/>
              </a:ext>
            </a:extLst>
          </p:cNvPr>
          <p:cNvSpPr>
            <a:spLocks noGrp="1"/>
          </p:cNvSpPr>
          <p:nvPr/>
        </p:nvSpPr>
        <p:spPr>
          <a:xfrm>
            <a:off x="838200" y="371475"/>
            <a:ext cx="2571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0" bIns="0" anchor="t"/>
          <a:lstStyle/>
          <a:p>
            <a:pPr algn="l">
              <a:defRPr sz="975" b="1">
                <a:solidFill>
                  <a:srgbClr val="178F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8F8A"/>
                </a:solidFill>
                <a:latin typeface="Aptos"/>
                <a:ea typeface="Aptos"/>
                <a:cs typeface="Aptos"/>
              </a:rPr>
              <a:t>CUSTOMER RETENTION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55238F-9601-4B4D-928A-7660E0331799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7239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rPr>
              <a:t>RFM shows the biggest opportunity is converting valuable one-time buyers.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618DE4-57D5-40A5-BC83-B1EDF85231BE}"/>
              </a:ext>
            </a:extLst>
          </p:cNvPr>
          <p:cNvSpPr>
            <a:spLocks noGrp="1"/>
          </p:cNvSpPr>
          <p:nvPr/>
        </p:nvSpPr>
        <p:spPr>
          <a:xfrm>
            <a:off x="609600" y="1571625"/>
            <a:ext cx="6429375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Only 3.05% of customers are repeat buyers, so frequency is scored with honest order-count buckets rather than misleading percentiles.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D7DFDD-5CCE-4593-9BAF-5431BEC48DD6}"/>
              </a:ext>
            </a:extLst>
          </p:cNvPr>
          <p:cNvSpPr>
            <a:spLocks noGrp="1"/>
          </p:cNvSpPr>
          <p:nvPr/>
        </p:nvSpPr>
        <p:spPr>
          <a:xfrm>
            <a:off x="8572500" y="781050"/>
            <a:ext cx="1809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232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95,420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802448-C140-4CF5-9A03-E2BCEF493846}"/>
              </a:ext>
            </a:extLst>
          </p:cNvPr>
          <p:cNvSpPr>
            <a:spLocks noGrp="1"/>
          </p:cNvSpPr>
          <p:nvPr/>
        </p:nvSpPr>
        <p:spPr>
          <a:xfrm>
            <a:off x="8572500" y="1123950"/>
            <a:ext cx="1809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customers scored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6289F89-E670-4363-8DEA-AC49DACCE0A5}"/>
              </a:ext>
            </a:extLst>
          </p:cNvPr>
          <p:cNvSpPr>
            <a:spLocks noGrp="1"/>
          </p:cNvSpPr>
          <p:nvPr/>
        </p:nvSpPr>
        <p:spPr>
          <a:xfrm>
            <a:off x="8572500" y="1428750"/>
            <a:ext cx="1809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232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2,913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228EE4-1A9D-41D8-8624-E6192CB3FEC4}"/>
              </a:ext>
            </a:extLst>
          </p:cNvPr>
          <p:cNvSpPr>
            <a:spLocks noGrp="1"/>
          </p:cNvSpPr>
          <p:nvPr/>
        </p:nvSpPr>
        <p:spPr>
          <a:xfrm>
            <a:off x="8572500" y="1771650"/>
            <a:ext cx="1809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repeat customers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A4BB7E-7F08-4235-BF3D-CFDBCB2AFC1F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10382250" cy="361950"/>
          </a:xfrm>
          <a:prstGeom prst="rect">
            <a:avLst/>
          </a:prstGeom>
          <a:solidFill>
            <a:srgbClr val="F4F6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8C4648-2C00-4A37-A2D4-B8F887D86DF5}"/>
              </a:ext>
            </a:extLst>
          </p:cNvPr>
          <p:cNvSpPr>
            <a:spLocks noGrp="1"/>
          </p:cNvSpPr>
          <p:nvPr/>
        </p:nvSpPr>
        <p:spPr>
          <a:xfrm>
            <a:off x="609600" y="2076450"/>
            <a:ext cx="2476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Segment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4FDC713-BAB5-4B3C-9A52-0C42A282EADC}"/>
              </a:ext>
            </a:extLst>
          </p:cNvPr>
          <p:cNvSpPr>
            <a:spLocks noGrp="1"/>
          </p:cNvSpPr>
          <p:nvPr/>
        </p:nvSpPr>
        <p:spPr>
          <a:xfrm>
            <a:off x="4324350" y="2076450"/>
            <a:ext cx="95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Customers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5C06582-16D6-4C8E-AB66-F3E4D554AB7B}"/>
              </a:ext>
            </a:extLst>
          </p:cNvPr>
          <p:cNvSpPr>
            <a:spLocks noGrp="1"/>
          </p:cNvSpPr>
          <p:nvPr/>
        </p:nvSpPr>
        <p:spPr>
          <a:xfrm>
            <a:off x="5562600" y="2076450"/>
            <a:ext cx="71437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Share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72A716-C31A-49F4-9AAA-AF79D6BD62DD}"/>
              </a:ext>
            </a:extLst>
          </p:cNvPr>
          <p:cNvSpPr>
            <a:spLocks noGrp="1"/>
          </p:cNvSpPr>
          <p:nvPr/>
        </p:nvSpPr>
        <p:spPr>
          <a:xfrm>
            <a:off x="6657975" y="2076450"/>
            <a:ext cx="10001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Gross sales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8301A46-825C-4089-9952-19DB9232AFDF}"/>
              </a:ext>
            </a:extLst>
          </p:cNvPr>
          <p:cNvSpPr>
            <a:spLocks noGrp="1"/>
          </p:cNvSpPr>
          <p:nvPr/>
        </p:nvSpPr>
        <p:spPr>
          <a:xfrm>
            <a:off x="7848600" y="2076450"/>
            <a:ext cx="23336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Campaign use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A45074-71C8-4EA9-BA39-FAD9DD7361AB}"/>
              </a:ext>
            </a:extLst>
          </p:cNvPr>
          <p:cNvSpPr>
            <a:spLocks noGrp="1"/>
          </p:cNvSpPr>
          <p:nvPr/>
        </p:nvSpPr>
        <p:spPr>
          <a:xfrm>
            <a:off x="609600" y="2752725"/>
            <a:ext cx="10382250" cy="9525"/>
          </a:xfrm>
          <a:prstGeom prst="rect">
            <a:avLst/>
          </a:prstGeom>
          <a:solidFill>
            <a:srgbClr val="D9DE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DE49212-5B99-4719-8330-6875CA54F306}"/>
              </a:ext>
            </a:extLst>
          </p:cNvPr>
          <p:cNvSpPr>
            <a:spLocks noGrp="1"/>
          </p:cNvSpPr>
          <p:nvPr/>
        </p:nvSpPr>
        <p:spPr>
          <a:xfrm>
            <a:off x="609600" y="2476500"/>
            <a:ext cx="95250" cy="95250"/>
          </a:xfrm>
          <a:prstGeom prst="ellipse">
            <a:avLst/>
          </a:prstGeom>
          <a:solidFill>
            <a:srgbClr val="178F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969306B-B70E-4AF6-B322-BAD0E4C75850}"/>
              </a:ext>
            </a:extLst>
          </p:cNvPr>
          <p:cNvSpPr>
            <a:spLocks noGrp="1"/>
          </p:cNvSpPr>
          <p:nvPr/>
        </p:nvSpPr>
        <p:spPr>
          <a:xfrm>
            <a:off x="781050" y="2409825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Recent New Customers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0317296-77F7-4551-B145-6FB12119D81D}"/>
              </a:ext>
            </a:extLst>
          </p:cNvPr>
          <p:cNvSpPr>
            <a:spLocks noGrp="1"/>
          </p:cNvSpPr>
          <p:nvPr/>
        </p:nvSpPr>
        <p:spPr>
          <a:xfrm>
            <a:off x="3705225" y="2486025"/>
            <a:ext cx="552450" cy="76200"/>
          </a:xfrm>
          <a:prstGeom prst="rect">
            <a:avLst/>
          </a:prstGeom>
          <a:solidFill>
            <a:srgbClr val="F4F6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0BE2005-6FC0-44D0-9076-1FC1E3B6AFB6}"/>
              </a:ext>
            </a:extLst>
          </p:cNvPr>
          <p:cNvSpPr>
            <a:spLocks noGrp="1"/>
          </p:cNvSpPr>
          <p:nvPr/>
        </p:nvSpPr>
        <p:spPr>
          <a:xfrm>
            <a:off x="3705225" y="2486025"/>
            <a:ext cx="531978" cy="76200"/>
          </a:xfrm>
          <a:prstGeom prst="rect">
            <a:avLst/>
          </a:prstGeom>
          <a:solidFill>
            <a:srgbClr val="178F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A1F7B5B-AC00-4E13-B0C5-E01F9FBD9D2B}"/>
              </a:ext>
            </a:extLst>
          </p:cNvPr>
          <p:cNvSpPr>
            <a:spLocks noGrp="1"/>
          </p:cNvSpPr>
          <p:nvPr/>
        </p:nvSpPr>
        <p:spPr>
          <a:xfrm>
            <a:off x="4324350" y="2409825"/>
            <a:ext cx="95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23,179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261FAEB-C982-4850-B4FD-BD4D93D3DCE8}"/>
              </a:ext>
            </a:extLst>
          </p:cNvPr>
          <p:cNvSpPr>
            <a:spLocks noGrp="1"/>
          </p:cNvSpPr>
          <p:nvPr/>
        </p:nvSpPr>
        <p:spPr>
          <a:xfrm>
            <a:off x="5562600" y="2409825"/>
            <a:ext cx="7143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24.29%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55B8836-4F80-41FB-BB65-6021D6168B2B}"/>
              </a:ext>
            </a:extLst>
          </p:cNvPr>
          <p:cNvSpPr>
            <a:spLocks noGrp="1"/>
          </p:cNvSpPr>
          <p:nvPr/>
        </p:nvSpPr>
        <p:spPr>
          <a:xfrm>
            <a:off x="6657975" y="2409825"/>
            <a:ext cx="10001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R$1.46M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9AA8E18-CC3A-4996-928D-77C8400CBCE2}"/>
              </a:ext>
            </a:extLst>
          </p:cNvPr>
          <p:cNvSpPr>
            <a:spLocks noGrp="1"/>
          </p:cNvSpPr>
          <p:nvPr/>
        </p:nvSpPr>
        <p:spPr>
          <a:xfrm>
            <a:off x="7848600" y="2409825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Second-purchase coupon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05AD2AB-2880-474A-8D8C-9ACC242B76F8}"/>
              </a:ext>
            </a:extLst>
          </p:cNvPr>
          <p:cNvSpPr>
            <a:spLocks noGrp="1"/>
          </p:cNvSpPr>
          <p:nvPr/>
        </p:nvSpPr>
        <p:spPr>
          <a:xfrm>
            <a:off x="609600" y="3152775"/>
            <a:ext cx="10382250" cy="9525"/>
          </a:xfrm>
          <a:prstGeom prst="rect">
            <a:avLst/>
          </a:prstGeom>
          <a:solidFill>
            <a:srgbClr val="D9DE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9BD9122-FCFA-42EA-AF11-4EA14CC0038E}"/>
              </a:ext>
            </a:extLst>
          </p:cNvPr>
          <p:cNvSpPr>
            <a:spLocks noGrp="1"/>
          </p:cNvSpPr>
          <p:nvPr/>
        </p:nvSpPr>
        <p:spPr>
          <a:xfrm>
            <a:off x="609600" y="2876550"/>
            <a:ext cx="95250" cy="95250"/>
          </a:xfrm>
          <a:prstGeom prst="ellipse">
            <a:avLst/>
          </a:prstGeom>
          <a:solidFill>
            <a:srgbClr val="178F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671D850-6F57-4004-A59B-65FFB1FAE14F}"/>
              </a:ext>
            </a:extLst>
          </p:cNvPr>
          <p:cNvSpPr>
            <a:spLocks noGrp="1"/>
          </p:cNvSpPr>
          <p:nvPr/>
        </p:nvSpPr>
        <p:spPr>
          <a:xfrm>
            <a:off x="781050" y="2809875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Core / Mid-Value Customers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DEE9CEC-55C9-47AF-B46A-30C1FF2F8FAB}"/>
              </a:ext>
            </a:extLst>
          </p:cNvPr>
          <p:cNvSpPr>
            <a:spLocks noGrp="1"/>
          </p:cNvSpPr>
          <p:nvPr/>
        </p:nvSpPr>
        <p:spPr>
          <a:xfrm>
            <a:off x="3705225" y="2886075"/>
            <a:ext cx="552450" cy="76200"/>
          </a:xfrm>
          <a:prstGeom prst="rect">
            <a:avLst/>
          </a:prstGeom>
          <a:solidFill>
            <a:srgbClr val="F4F6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41CC0DF-B339-4E06-BFB1-C05D20565E5C}"/>
              </a:ext>
            </a:extLst>
          </p:cNvPr>
          <p:cNvSpPr>
            <a:spLocks noGrp="1"/>
          </p:cNvSpPr>
          <p:nvPr/>
        </p:nvSpPr>
        <p:spPr>
          <a:xfrm>
            <a:off x="3705225" y="2886075"/>
            <a:ext cx="552450" cy="76200"/>
          </a:xfrm>
          <a:prstGeom prst="rect">
            <a:avLst/>
          </a:prstGeom>
          <a:solidFill>
            <a:srgbClr val="178F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D64E74A-6489-4C2A-B5E4-B88D9AF9BA74}"/>
              </a:ext>
            </a:extLst>
          </p:cNvPr>
          <p:cNvSpPr>
            <a:spLocks noGrp="1"/>
          </p:cNvSpPr>
          <p:nvPr/>
        </p:nvSpPr>
        <p:spPr>
          <a:xfrm>
            <a:off x="4324350" y="2809875"/>
            <a:ext cx="95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24,071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1546B33-A7BE-42BA-94B7-0CF0C2161380}"/>
              </a:ext>
            </a:extLst>
          </p:cNvPr>
          <p:cNvSpPr>
            <a:spLocks noGrp="1"/>
          </p:cNvSpPr>
          <p:nvPr/>
        </p:nvSpPr>
        <p:spPr>
          <a:xfrm>
            <a:off x="5562600" y="2809875"/>
            <a:ext cx="7143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25.23%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4D4DC83-D9FA-468D-A98A-E90DA5B2924F}"/>
              </a:ext>
            </a:extLst>
          </p:cNvPr>
          <p:cNvSpPr>
            <a:spLocks noGrp="1"/>
          </p:cNvSpPr>
          <p:nvPr/>
        </p:nvSpPr>
        <p:spPr>
          <a:xfrm>
            <a:off x="6657975" y="2809875"/>
            <a:ext cx="10001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R$2.70M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DBA36F2-B128-4834-B01A-0171B9B04A8F}"/>
              </a:ext>
            </a:extLst>
          </p:cNvPr>
          <p:cNvSpPr>
            <a:spLocks noGrp="1"/>
          </p:cNvSpPr>
          <p:nvPr/>
        </p:nvSpPr>
        <p:spPr>
          <a:xfrm>
            <a:off x="7848600" y="2809875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General nurture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9EE70B8-50B9-44F1-B000-38EFF52C5ED9}"/>
              </a:ext>
            </a:extLst>
          </p:cNvPr>
          <p:cNvSpPr>
            <a:spLocks noGrp="1"/>
          </p:cNvSpPr>
          <p:nvPr/>
        </p:nvSpPr>
        <p:spPr>
          <a:xfrm>
            <a:off x="609600" y="3552825"/>
            <a:ext cx="10382250" cy="9525"/>
          </a:xfrm>
          <a:prstGeom prst="rect">
            <a:avLst/>
          </a:prstGeom>
          <a:solidFill>
            <a:srgbClr val="D9DE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4A7EF2E-B74A-4C58-BFF3-EBF427302AD9}"/>
              </a:ext>
            </a:extLst>
          </p:cNvPr>
          <p:cNvSpPr>
            <a:spLocks noGrp="1"/>
          </p:cNvSpPr>
          <p:nvPr/>
        </p:nvSpPr>
        <p:spPr>
          <a:xfrm>
            <a:off x="609600" y="3276600"/>
            <a:ext cx="95250" cy="95250"/>
          </a:xfrm>
          <a:prstGeom prst="ellipse">
            <a:avLst/>
          </a:prstGeom>
          <a:solidFill>
            <a:srgbClr val="6B7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517A001-9223-4535-8DEE-85A350C80203}"/>
              </a:ext>
            </a:extLst>
          </p:cNvPr>
          <p:cNvSpPr>
            <a:spLocks noGrp="1"/>
          </p:cNvSpPr>
          <p:nvPr/>
        </p:nvSpPr>
        <p:spPr>
          <a:xfrm>
            <a:off x="781050" y="3209925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Dormant Low Value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618641B-A9BA-4C96-998E-AF9DF040FC52}"/>
              </a:ext>
            </a:extLst>
          </p:cNvPr>
          <p:cNvSpPr>
            <a:spLocks noGrp="1"/>
          </p:cNvSpPr>
          <p:nvPr/>
        </p:nvSpPr>
        <p:spPr>
          <a:xfrm>
            <a:off x="3705225" y="3286125"/>
            <a:ext cx="552450" cy="76200"/>
          </a:xfrm>
          <a:prstGeom prst="rect">
            <a:avLst/>
          </a:prstGeom>
          <a:solidFill>
            <a:srgbClr val="F4F6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E7F4968-1F34-492A-A7F1-D01E83703E14}"/>
              </a:ext>
            </a:extLst>
          </p:cNvPr>
          <p:cNvSpPr>
            <a:spLocks noGrp="1"/>
          </p:cNvSpPr>
          <p:nvPr/>
        </p:nvSpPr>
        <p:spPr>
          <a:xfrm>
            <a:off x="3705225" y="3286125"/>
            <a:ext cx="274469" cy="76200"/>
          </a:xfrm>
          <a:prstGeom prst="rect">
            <a:avLst/>
          </a:prstGeom>
          <a:solidFill>
            <a:srgbClr val="6B7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D963069-14AA-43D9-92FC-8056DB72E056}"/>
              </a:ext>
            </a:extLst>
          </p:cNvPr>
          <p:cNvSpPr>
            <a:spLocks noGrp="1"/>
          </p:cNvSpPr>
          <p:nvPr/>
        </p:nvSpPr>
        <p:spPr>
          <a:xfrm>
            <a:off x="4324350" y="3209925"/>
            <a:ext cx="95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11,959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A2DDA7D-C9E2-49F5-879F-A7BA8A188F3E}"/>
              </a:ext>
            </a:extLst>
          </p:cNvPr>
          <p:cNvSpPr>
            <a:spLocks noGrp="1"/>
          </p:cNvSpPr>
          <p:nvPr/>
        </p:nvSpPr>
        <p:spPr>
          <a:xfrm>
            <a:off x="5562600" y="3209925"/>
            <a:ext cx="7143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12.53%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C5351DB-CC4B-4402-B076-F241577625B6}"/>
              </a:ext>
            </a:extLst>
          </p:cNvPr>
          <p:cNvSpPr>
            <a:spLocks noGrp="1"/>
          </p:cNvSpPr>
          <p:nvPr/>
        </p:nvSpPr>
        <p:spPr>
          <a:xfrm>
            <a:off x="6657975" y="3209925"/>
            <a:ext cx="10001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R$523k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9D2DD84-4234-4C86-B754-A4B013F51CF3}"/>
              </a:ext>
            </a:extLst>
          </p:cNvPr>
          <p:cNvSpPr>
            <a:spLocks noGrp="1"/>
          </p:cNvSpPr>
          <p:nvPr/>
        </p:nvSpPr>
        <p:spPr>
          <a:xfrm>
            <a:off x="7848600" y="3209925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Low-cost reactivation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B1FC2A0-FE00-48A8-B81D-FBBA9D62DA0B}"/>
              </a:ext>
            </a:extLst>
          </p:cNvPr>
          <p:cNvSpPr>
            <a:spLocks noGrp="1"/>
          </p:cNvSpPr>
          <p:nvPr/>
        </p:nvSpPr>
        <p:spPr>
          <a:xfrm>
            <a:off x="609600" y="3952875"/>
            <a:ext cx="10382250" cy="9525"/>
          </a:xfrm>
          <a:prstGeom prst="rect">
            <a:avLst/>
          </a:prstGeom>
          <a:solidFill>
            <a:srgbClr val="D9DE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A448DA7B-8D4D-459C-819D-AE4B49A68C7A}"/>
              </a:ext>
            </a:extLst>
          </p:cNvPr>
          <p:cNvSpPr>
            <a:spLocks noGrp="1"/>
          </p:cNvSpPr>
          <p:nvPr/>
        </p:nvSpPr>
        <p:spPr>
          <a:xfrm>
            <a:off x="609600" y="3676650"/>
            <a:ext cx="95250" cy="95250"/>
          </a:xfrm>
          <a:prstGeom prst="ellipse">
            <a:avLst/>
          </a:prstGeom>
          <a:solidFill>
            <a:srgbClr val="C7772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D4BF6DD-9DC0-43EA-8C93-6B70E5FCFFDF}"/>
              </a:ext>
            </a:extLst>
          </p:cNvPr>
          <p:cNvSpPr>
            <a:spLocks noGrp="1"/>
          </p:cNvSpPr>
          <p:nvPr/>
        </p:nvSpPr>
        <p:spPr>
          <a:xfrm>
            <a:off x="781050" y="3609975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At-Risk High Spenders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457B996-30C7-44B6-BB5F-2CB374CFC5D1}"/>
              </a:ext>
            </a:extLst>
          </p:cNvPr>
          <p:cNvSpPr>
            <a:spLocks noGrp="1"/>
          </p:cNvSpPr>
          <p:nvPr/>
        </p:nvSpPr>
        <p:spPr>
          <a:xfrm>
            <a:off x="3705225" y="3686175"/>
            <a:ext cx="552450" cy="76200"/>
          </a:xfrm>
          <a:prstGeom prst="rect">
            <a:avLst/>
          </a:prstGeom>
          <a:solidFill>
            <a:srgbClr val="F4F6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9EED285-CDCA-420B-BA0A-9D1BB73E0A17}"/>
              </a:ext>
            </a:extLst>
          </p:cNvPr>
          <p:cNvSpPr>
            <a:spLocks noGrp="1"/>
          </p:cNvSpPr>
          <p:nvPr/>
        </p:nvSpPr>
        <p:spPr>
          <a:xfrm>
            <a:off x="3705225" y="3686175"/>
            <a:ext cx="258748" cy="76200"/>
          </a:xfrm>
          <a:prstGeom prst="rect">
            <a:avLst/>
          </a:prstGeom>
          <a:solidFill>
            <a:srgbClr val="C7772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68C7B4D-A7DC-42D1-9C26-395602C8D7DA}"/>
              </a:ext>
            </a:extLst>
          </p:cNvPr>
          <p:cNvSpPr>
            <a:spLocks noGrp="1"/>
          </p:cNvSpPr>
          <p:nvPr/>
        </p:nvSpPr>
        <p:spPr>
          <a:xfrm>
            <a:off x="4324350" y="3609975"/>
            <a:ext cx="95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11,274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5FB0397-A258-48B9-A797-9681BA60225A}"/>
              </a:ext>
            </a:extLst>
          </p:cNvPr>
          <p:cNvSpPr>
            <a:spLocks noGrp="1"/>
          </p:cNvSpPr>
          <p:nvPr/>
        </p:nvSpPr>
        <p:spPr>
          <a:xfrm>
            <a:off x="5562600" y="3609975"/>
            <a:ext cx="7143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11.82%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B99B6D3-C24F-46B4-B933-04013B4667D8}"/>
              </a:ext>
            </a:extLst>
          </p:cNvPr>
          <p:cNvSpPr>
            <a:spLocks noGrp="1"/>
          </p:cNvSpPr>
          <p:nvPr/>
        </p:nvSpPr>
        <p:spPr>
          <a:xfrm>
            <a:off x="6657975" y="3609975"/>
            <a:ext cx="10001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R$1.59M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B03F384-FF50-4C13-85F0-2BD3574FD9C7}"/>
              </a:ext>
            </a:extLst>
          </p:cNvPr>
          <p:cNvSpPr>
            <a:spLocks noGrp="1"/>
          </p:cNvSpPr>
          <p:nvPr/>
        </p:nvSpPr>
        <p:spPr>
          <a:xfrm>
            <a:off x="7848600" y="3609975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Win-back campaign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5470233-AB1C-4EA9-8B17-F773BF2B4221}"/>
              </a:ext>
            </a:extLst>
          </p:cNvPr>
          <p:cNvSpPr>
            <a:spLocks noGrp="1"/>
          </p:cNvSpPr>
          <p:nvPr/>
        </p:nvSpPr>
        <p:spPr>
          <a:xfrm>
            <a:off x="609600" y="4352925"/>
            <a:ext cx="10382250" cy="9525"/>
          </a:xfrm>
          <a:prstGeom prst="rect">
            <a:avLst/>
          </a:prstGeom>
          <a:solidFill>
            <a:srgbClr val="D9DE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16224CD8-A396-434B-84D8-597A6C70785A}"/>
              </a:ext>
            </a:extLst>
          </p:cNvPr>
          <p:cNvSpPr>
            <a:spLocks noGrp="1"/>
          </p:cNvSpPr>
          <p:nvPr/>
        </p:nvSpPr>
        <p:spPr>
          <a:xfrm>
            <a:off x="609600" y="4076700"/>
            <a:ext cx="95250" cy="95250"/>
          </a:xfrm>
          <a:prstGeom prst="ellipse">
            <a:avLst/>
          </a:prstGeom>
          <a:solidFill>
            <a:srgbClr val="2F8F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24EFB52-55F6-4C7B-BE75-61F82F978311}"/>
              </a:ext>
            </a:extLst>
          </p:cNvPr>
          <p:cNvSpPr>
            <a:spLocks noGrp="1"/>
          </p:cNvSpPr>
          <p:nvPr/>
        </p:nvSpPr>
        <p:spPr>
          <a:xfrm>
            <a:off x="781050" y="4010025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High-Value New Customers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5C37448-3A5F-4F85-BE01-F2537B532C80}"/>
              </a:ext>
            </a:extLst>
          </p:cNvPr>
          <p:cNvSpPr>
            <a:spLocks noGrp="1"/>
          </p:cNvSpPr>
          <p:nvPr/>
        </p:nvSpPr>
        <p:spPr>
          <a:xfrm>
            <a:off x="3705225" y="4086225"/>
            <a:ext cx="552450" cy="76200"/>
          </a:xfrm>
          <a:prstGeom prst="rect">
            <a:avLst/>
          </a:prstGeom>
          <a:solidFill>
            <a:srgbClr val="F4F6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9F28A94-6ECC-4DB2-BC69-CB10A3B03692}"/>
              </a:ext>
            </a:extLst>
          </p:cNvPr>
          <p:cNvSpPr>
            <a:spLocks noGrp="1"/>
          </p:cNvSpPr>
          <p:nvPr/>
        </p:nvSpPr>
        <p:spPr>
          <a:xfrm>
            <a:off x="3705225" y="4086225"/>
            <a:ext cx="254318" cy="76200"/>
          </a:xfrm>
          <a:prstGeom prst="rect">
            <a:avLst/>
          </a:prstGeom>
          <a:solidFill>
            <a:srgbClr val="2F8F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7A70115-B5CC-4227-AACD-41E370CA8D0B}"/>
              </a:ext>
            </a:extLst>
          </p:cNvPr>
          <p:cNvSpPr>
            <a:spLocks noGrp="1"/>
          </p:cNvSpPr>
          <p:nvPr/>
        </p:nvSpPr>
        <p:spPr>
          <a:xfrm>
            <a:off x="4324350" y="4010025"/>
            <a:ext cx="95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11,081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C6D933D-EB99-4F5B-A087-0C29168EE4C8}"/>
              </a:ext>
            </a:extLst>
          </p:cNvPr>
          <p:cNvSpPr>
            <a:spLocks noGrp="1"/>
          </p:cNvSpPr>
          <p:nvPr/>
        </p:nvSpPr>
        <p:spPr>
          <a:xfrm>
            <a:off x="5562600" y="4010025"/>
            <a:ext cx="7143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11.61%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B8ADD278-7901-4215-A0FF-F51D3E17FA3F}"/>
              </a:ext>
            </a:extLst>
          </p:cNvPr>
          <p:cNvSpPr>
            <a:spLocks noGrp="1"/>
          </p:cNvSpPr>
          <p:nvPr/>
        </p:nvSpPr>
        <p:spPr>
          <a:xfrm>
            <a:off x="6657975" y="4010025"/>
            <a:ext cx="10001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2F8F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8F5B"/>
                </a:solidFill>
                <a:latin typeface="Aptos"/>
                <a:ea typeface="Aptos"/>
                <a:cs typeface="Aptos"/>
              </a:rPr>
              <a:t>R$4.34M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F457117-E755-4C36-A914-DA8D9F6980B1}"/>
              </a:ext>
            </a:extLst>
          </p:cNvPr>
          <p:cNvSpPr>
            <a:spLocks noGrp="1"/>
          </p:cNvSpPr>
          <p:nvPr/>
        </p:nvSpPr>
        <p:spPr>
          <a:xfrm>
            <a:off x="7848600" y="4010025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Priority second-purchase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543900D7-F55A-4B11-9CD9-FC4910576690}"/>
              </a:ext>
            </a:extLst>
          </p:cNvPr>
          <p:cNvSpPr>
            <a:spLocks noGrp="1"/>
          </p:cNvSpPr>
          <p:nvPr/>
        </p:nvSpPr>
        <p:spPr>
          <a:xfrm>
            <a:off x="609600" y="4752975"/>
            <a:ext cx="10382250" cy="9525"/>
          </a:xfrm>
          <a:prstGeom prst="rect">
            <a:avLst/>
          </a:prstGeom>
          <a:solidFill>
            <a:srgbClr val="D9DE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CCD6E60C-C46A-4C9C-BF31-307465876559}"/>
              </a:ext>
            </a:extLst>
          </p:cNvPr>
          <p:cNvSpPr>
            <a:spLocks noGrp="1"/>
          </p:cNvSpPr>
          <p:nvPr/>
        </p:nvSpPr>
        <p:spPr>
          <a:xfrm>
            <a:off x="609600" y="4476750"/>
            <a:ext cx="95250" cy="95250"/>
          </a:xfrm>
          <a:prstGeom prst="ellipse">
            <a:avLst/>
          </a:prstGeom>
          <a:solidFill>
            <a:srgbClr val="2F8F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134AF76-C9CB-4053-9931-F78AF39E4532}"/>
              </a:ext>
            </a:extLst>
          </p:cNvPr>
          <p:cNvSpPr>
            <a:spLocks noGrp="1"/>
          </p:cNvSpPr>
          <p:nvPr/>
        </p:nvSpPr>
        <p:spPr>
          <a:xfrm>
            <a:off x="781050" y="4410075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Big Spenders - One-Time Buyers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D176FEE-9163-4545-851A-5B810BFDC19C}"/>
              </a:ext>
            </a:extLst>
          </p:cNvPr>
          <p:cNvSpPr>
            <a:spLocks noGrp="1"/>
          </p:cNvSpPr>
          <p:nvPr/>
        </p:nvSpPr>
        <p:spPr>
          <a:xfrm>
            <a:off x="3705225" y="4486275"/>
            <a:ext cx="552450" cy="76200"/>
          </a:xfrm>
          <a:prstGeom prst="rect">
            <a:avLst/>
          </a:prstGeom>
          <a:solidFill>
            <a:srgbClr val="F4F6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BD76629-04D4-4A73-9310-0E7B7E0EF1C0}"/>
              </a:ext>
            </a:extLst>
          </p:cNvPr>
          <p:cNvSpPr>
            <a:spLocks noGrp="1"/>
          </p:cNvSpPr>
          <p:nvPr/>
        </p:nvSpPr>
        <p:spPr>
          <a:xfrm>
            <a:off x="3705225" y="4486275"/>
            <a:ext cx="251151" cy="76200"/>
          </a:xfrm>
          <a:prstGeom prst="rect">
            <a:avLst/>
          </a:prstGeom>
          <a:solidFill>
            <a:srgbClr val="2F8F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0C81D34E-0A84-45C2-A5A4-09920FFAE131}"/>
              </a:ext>
            </a:extLst>
          </p:cNvPr>
          <p:cNvSpPr>
            <a:spLocks noGrp="1"/>
          </p:cNvSpPr>
          <p:nvPr/>
        </p:nvSpPr>
        <p:spPr>
          <a:xfrm>
            <a:off x="4324350" y="4410075"/>
            <a:ext cx="95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10,943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333DF9E-673A-470E-B141-353BB47306BA}"/>
              </a:ext>
            </a:extLst>
          </p:cNvPr>
          <p:cNvSpPr>
            <a:spLocks noGrp="1"/>
          </p:cNvSpPr>
          <p:nvPr/>
        </p:nvSpPr>
        <p:spPr>
          <a:xfrm>
            <a:off x="5562600" y="4410075"/>
            <a:ext cx="7143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11.47%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CCBDF192-CAF2-4772-B6C1-E7B526BB17E0}"/>
              </a:ext>
            </a:extLst>
          </p:cNvPr>
          <p:cNvSpPr>
            <a:spLocks noGrp="1"/>
          </p:cNvSpPr>
          <p:nvPr/>
        </p:nvSpPr>
        <p:spPr>
          <a:xfrm>
            <a:off x="6657975" y="4410075"/>
            <a:ext cx="10001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2F8F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8F5B"/>
                </a:solidFill>
                <a:latin typeface="Aptos"/>
                <a:ea typeface="Aptos"/>
                <a:cs typeface="Aptos"/>
              </a:rPr>
              <a:t>R$4.32M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80F6EC7E-A7BB-486D-9A3C-741DDEA3B1D4}"/>
              </a:ext>
            </a:extLst>
          </p:cNvPr>
          <p:cNvSpPr>
            <a:spLocks noGrp="1"/>
          </p:cNvSpPr>
          <p:nvPr/>
        </p:nvSpPr>
        <p:spPr>
          <a:xfrm>
            <a:off x="7848600" y="4410075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Premium cross-sell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624B1107-6F87-4611-90C1-5A3EDC468A68}"/>
              </a:ext>
            </a:extLst>
          </p:cNvPr>
          <p:cNvSpPr>
            <a:spLocks noGrp="1"/>
          </p:cNvSpPr>
          <p:nvPr/>
        </p:nvSpPr>
        <p:spPr>
          <a:xfrm>
            <a:off x="609600" y="5153025"/>
            <a:ext cx="10382250" cy="9525"/>
          </a:xfrm>
          <a:prstGeom prst="rect">
            <a:avLst/>
          </a:prstGeom>
          <a:solidFill>
            <a:srgbClr val="D9DE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BB93D748-1709-43ED-A9F7-6FF147765057}"/>
              </a:ext>
            </a:extLst>
          </p:cNvPr>
          <p:cNvSpPr>
            <a:spLocks noGrp="1"/>
          </p:cNvSpPr>
          <p:nvPr/>
        </p:nvSpPr>
        <p:spPr>
          <a:xfrm>
            <a:off x="609600" y="4876800"/>
            <a:ext cx="95250" cy="95250"/>
          </a:xfrm>
          <a:prstGeom prst="ellipse">
            <a:avLst/>
          </a:prstGeom>
          <a:solidFill>
            <a:srgbClr val="34699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9B55504D-F02A-4EC7-AAB1-E27970F867C1}"/>
              </a:ext>
            </a:extLst>
          </p:cNvPr>
          <p:cNvSpPr>
            <a:spLocks noGrp="1"/>
          </p:cNvSpPr>
          <p:nvPr/>
        </p:nvSpPr>
        <p:spPr>
          <a:xfrm>
            <a:off x="781050" y="4810125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Recent Repeat Buyers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F737C9DF-EF03-4203-8E0A-A176B69CD2D2}"/>
              </a:ext>
            </a:extLst>
          </p:cNvPr>
          <p:cNvSpPr>
            <a:spLocks noGrp="1"/>
          </p:cNvSpPr>
          <p:nvPr/>
        </p:nvSpPr>
        <p:spPr>
          <a:xfrm>
            <a:off x="3705225" y="4886325"/>
            <a:ext cx="552450" cy="76200"/>
          </a:xfrm>
          <a:prstGeom prst="rect">
            <a:avLst/>
          </a:prstGeom>
          <a:solidFill>
            <a:srgbClr val="F4F6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4151B761-9A4C-42C7-AB90-15BEC88B12EE}"/>
              </a:ext>
            </a:extLst>
          </p:cNvPr>
          <p:cNvSpPr>
            <a:spLocks noGrp="1"/>
          </p:cNvSpPr>
          <p:nvPr/>
        </p:nvSpPr>
        <p:spPr>
          <a:xfrm>
            <a:off x="3705225" y="4886325"/>
            <a:ext cx="34839" cy="76200"/>
          </a:xfrm>
          <a:prstGeom prst="rect">
            <a:avLst/>
          </a:prstGeom>
          <a:solidFill>
            <a:srgbClr val="34699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7CE996F-7811-47D1-9E5A-9A26071D0FF7}"/>
              </a:ext>
            </a:extLst>
          </p:cNvPr>
          <p:cNvSpPr>
            <a:spLocks noGrp="1"/>
          </p:cNvSpPr>
          <p:nvPr/>
        </p:nvSpPr>
        <p:spPr>
          <a:xfrm>
            <a:off x="4324350" y="4810125"/>
            <a:ext cx="95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1,518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056FDC0F-C4A0-480B-A3EA-B40C0527C6D1}"/>
              </a:ext>
            </a:extLst>
          </p:cNvPr>
          <p:cNvSpPr>
            <a:spLocks noGrp="1"/>
          </p:cNvSpPr>
          <p:nvPr/>
        </p:nvSpPr>
        <p:spPr>
          <a:xfrm>
            <a:off x="5562600" y="4810125"/>
            <a:ext cx="7143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1.59%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D9AE8896-162E-4301-8D31-A4C9C9C6A876}"/>
              </a:ext>
            </a:extLst>
          </p:cNvPr>
          <p:cNvSpPr>
            <a:spLocks noGrp="1"/>
          </p:cNvSpPr>
          <p:nvPr/>
        </p:nvSpPr>
        <p:spPr>
          <a:xfrm>
            <a:off x="6657975" y="4810125"/>
            <a:ext cx="10001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R$453k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1A89880D-9026-4F43-B847-40737FA46751}"/>
              </a:ext>
            </a:extLst>
          </p:cNvPr>
          <p:cNvSpPr>
            <a:spLocks noGrp="1"/>
          </p:cNvSpPr>
          <p:nvPr/>
        </p:nvSpPr>
        <p:spPr>
          <a:xfrm>
            <a:off x="7848600" y="4810125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Loyalty campaign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ACF15D8A-8591-46FC-BCF0-F92512549EBE}"/>
              </a:ext>
            </a:extLst>
          </p:cNvPr>
          <p:cNvSpPr>
            <a:spLocks noGrp="1"/>
          </p:cNvSpPr>
          <p:nvPr/>
        </p:nvSpPr>
        <p:spPr>
          <a:xfrm>
            <a:off x="609600" y="5553075"/>
            <a:ext cx="10382250" cy="9525"/>
          </a:xfrm>
          <a:prstGeom prst="rect">
            <a:avLst/>
          </a:prstGeom>
          <a:solidFill>
            <a:srgbClr val="D9DE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7916AC0D-81BB-4108-A098-90CC092EB650}"/>
              </a:ext>
            </a:extLst>
          </p:cNvPr>
          <p:cNvSpPr>
            <a:spLocks noGrp="1"/>
          </p:cNvSpPr>
          <p:nvPr/>
        </p:nvSpPr>
        <p:spPr>
          <a:xfrm>
            <a:off x="609600" y="5276850"/>
            <a:ext cx="95250" cy="95250"/>
          </a:xfrm>
          <a:prstGeom prst="ellipse">
            <a:avLst/>
          </a:prstGeom>
          <a:solidFill>
            <a:srgbClr val="34699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F6218EA0-35B2-4843-ACA5-125B045CDDA9}"/>
              </a:ext>
            </a:extLst>
          </p:cNvPr>
          <p:cNvSpPr>
            <a:spLocks noGrp="1"/>
          </p:cNvSpPr>
          <p:nvPr/>
        </p:nvSpPr>
        <p:spPr>
          <a:xfrm>
            <a:off x="781050" y="5210175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At-Risk Repeat Buyers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12DA710F-222C-40D7-A5A1-C80C7EB3F449}"/>
              </a:ext>
            </a:extLst>
          </p:cNvPr>
          <p:cNvSpPr>
            <a:spLocks noGrp="1"/>
          </p:cNvSpPr>
          <p:nvPr/>
        </p:nvSpPr>
        <p:spPr>
          <a:xfrm>
            <a:off x="3705225" y="5286375"/>
            <a:ext cx="552450" cy="76200"/>
          </a:xfrm>
          <a:prstGeom prst="rect">
            <a:avLst/>
          </a:prstGeom>
          <a:solidFill>
            <a:srgbClr val="F4F6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366212A4-C54D-46A3-865E-6EFCFD8CD543}"/>
              </a:ext>
            </a:extLst>
          </p:cNvPr>
          <p:cNvSpPr>
            <a:spLocks noGrp="1"/>
          </p:cNvSpPr>
          <p:nvPr/>
        </p:nvSpPr>
        <p:spPr>
          <a:xfrm>
            <a:off x="3705225" y="5286375"/>
            <a:ext cx="30157" cy="76200"/>
          </a:xfrm>
          <a:prstGeom prst="rect">
            <a:avLst/>
          </a:prstGeom>
          <a:solidFill>
            <a:srgbClr val="34699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3C8E564D-B90C-421E-8AC4-4411744643A2}"/>
              </a:ext>
            </a:extLst>
          </p:cNvPr>
          <p:cNvSpPr>
            <a:spLocks noGrp="1"/>
          </p:cNvSpPr>
          <p:nvPr/>
        </p:nvSpPr>
        <p:spPr>
          <a:xfrm>
            <a:off x="4324350" y="5210175"/>
            <a:ext cx="95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1,314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1AB9B75A-1949-436F-92F7-4E70497B4B4E}"/>
              </a:ext>
            </a:extLst>
          </p:cNvPr>
          <p:cNvSpPr>
            <a:spLocks noGrp="1"/>
          </p:cNvSpPr>
          <p:nvPr/>
        </p:nvSpPr>
        <p:spPr>
          <a:xfrm>
            <a:off x="5562600" y="5210175"/>
            <a:ext cx="7143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1.38%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84B54BF5-75F9-4E44-94FB-91CD1873967C}"/>
              </a:ext>
            </a:extLst>
          </p:cNvPr>
          <p:cNvSpPr>
            <a:spLocks noGrp="1"/>
          </p:cNvSpPr>
          <p:nvPr/>
        </p:nvSpPr>
        <p:spPr>
          <a:xfrm>
            <a:off x="6657975" y="5210175"/>
            <a:ext cx="10001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R$402k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8D5A2CD9-A8BF-4F01-B9F1-139F9B7FCECA}"/>
              </a:ext>
            </a:extLst>
          </p:cNvPr>
          <p:cNvSpPr>
            <a:spLocks noGrp="1"/>
          </p:cNvSpPr>
          <p:nvPr/>
        </p:nvSpPr>
        <p:spPr>
          <a:xfrm>
            <a:off x="7848600" y="5210175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Win-back repeat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4250C202-731A-4D81-9C01-DBB63B5C5D05}"/>
              </a:ext>
            </a:extLst>
          </p:cNvPr>
          <p:cNvSpPr>
            <a:spLocks noGrp="1"/>
          </p:cNvSpPr>
          <p:nvPr/>
        </p:nvSpPr>
        <p:spPr>
          <a:xfrm>
            <a:off x="609600" y="5953125"/>
            <a:ext cx="10382250" cy="9525"/>
          </a:xfrm>
          <a:prstGeom prst="rect">
            <a:avLst/>
          </a:prstGeom>
          <a:solidFill>
            <a:srgbClr val="D9DE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DAFE190D-62B2-4BAC-AEF0-B123E166FC3A}"/>
              </a:ext>
            </a:extLst>
          </p:cNvPr>
          <p:cNvSpPr>
            <a:spLocks noGrp="1"/>
          </p:cNvSpPr>
          <p:nvPr/>
        </p:nvSpPr>
        <p:spPr>
          <a:xfrm>
            <a:off x="609600" y="5676900"/>
            <a:ext cx="95250" cy="95250"/>
          </a:xfrm>
          <a:prstGeom prst="ellipse">
            <a:avLst/>
          </a:prstGeom>
          <a:solidFill>
            <a:srgbClr val="34699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8CE5C440-120D-438D-BF73-7C7C8FF8A1F2}"/>
              </a:ext>
            </a:extLst>
          </p:cNvPr>
          <p:cNvSpPr>
            <a:spLocks noGrp="1"/>
          </p:cNvSpPr>
          <p:nvPr/>
        </p:nvSpPr>
        <p:spPr>
          <a:xfrm>
            <a:off x="781050" y="5610225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Champions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A5449975-FD5F-4F05-A3F1-1C851FFB2AB6}"/>
              </a:ext>
            </a:extLst>
          </p:cNvPr>
          <p:cNvSpPr>
            <a:spLocks noGrp="1"/>
          </p:cNvSpPr>
          <p:nvPr/>
        </p:nvSpPr>
        <p:spPr>
          <a:xfrm>
            <a:off x="3705225" y="5686425"/>
            <a:ext cx="552450" cy="76200"/>
          </a:xfrm>
          <a:prstGeom prst="rect">
            <a:avLst/>
          </a:prstGeom>
          <a:solidFill>
            <a:srgbClr val="F4F6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EF8B8746-C6C0-43C4-8897-A51DB2FE7269}"/>
              </a:ext>
            </a:extLst>
          </p:cNvPr>
          <p:cNvSpPr>
            <a:spLocks noGrp="1"/>
          </p:cNvSpPr>
          <p:nvPr/>
        </p:nvSpPr>
        <p:spPr>
          <a:xfrm>
            <a:off x="3705225" y="5686425"/>
            <a:ext cx="1859" cy="76200"/>
          </a:xfrm>
          <a:prstGeom prst="rect">
            <a:avLst/>
          </a:prstGeom>
          <a:solidFill>
            <a:srgbClr val="34699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7C99830E-810A-41CD-AB04-B6BD2FD5A105}"/>
              </a:ext>
            </a:extLst>
          </p:cNvPr>
          <p:cNvSpPr>
            <a:spLocks noGrp="1"/>
          </p:cNvSpPr>
          <p:nvPr/>
        </p:nvSpPr>
        <p:spPr>
          <a:xfrm>
            <a:off x="4324350" y="5610225"/>
            <a:ext cx="95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81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E9669C06-5C3A-432D-8E04-BAB575052D75}"/>
              </a:ext>
            </a:extLst>
          </p:cNvPr>
          <p:cNvSpPr>
            <a:spLocks noGrp="1"/>
          </p:cNvSpPr>
          <p:nvPr/>
        </p:nvSpPr>
        <p:spPr>
          <a:xfrm>
            <a:off x="5562600" y="5610225"/>
            <a:ext cx="7143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0.08%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768066F9-B752-4CFA-A94C-C1412BF63ECE}"/>
              </a:ext>
            </a:extLst>
          </p:cNvPr>
          <p:cNvSpPr>
            <a:spLocks noGrp="1"/>
          </p:cNvSpPr>
          <p:nvPr/>
        </p:nvSpPr>
        <p:spPr>
          <a:xfrm>
            <a:off x="6657975" y="5610225"/>
            <a:ext cx="10001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R$50k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6CC23852-C57E-4B6A-B0E3-D6F56E8CFAB2}"/>
              </a:ext>
            </a:extLst>
          </p:cNvPr>
          <p:cNvSpPr>
            <a:spLocks noGrp="1"/>
          </p:cNvSpPr>
          <p:nvPr/>
        </p:nvSpPr>
        <p:spPr>
          <a:xfrm>
            <a:off x="7848600" y="5610225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VIP treatment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2E1D776F-2E1C-462D-9064-F67A9B1372D9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781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94A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4A3"/>
                </a:solidFill>
                <a:latin typeface="Aptos"/>
                <a:ea typeface="Aptos"/>
                <a:cs typeface="Aptos"/>
              </a:rPr>
              <a:t>Source: local Olist warehouse, fact_sales. Gross item sales include product price plus freight value.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CC2F7340-56ED-422E-A3E0-750CF9C5C301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8A94A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4A3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08234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1E1F03E3-8017-4900-B6FC-96758E67122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649AD2E8-94DC-475E-841A-DAA86E9D9991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23825" cy="123825"/>
          </a:xfrm>
          <a:prstGeom prst="ellipse">
            <a:avLst/>
          </a:prstGeom>
          <a:solidFill>
            <a:srgbClr val="2F8F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550A0277-D256-4737-BD5C-5969D6E50CBB}"/>
              </a:ext>
            </a:extLst>
          </p:cNvPr>
          <p:cNvSpPr>
            <a:spLocks noGrp="1"/>
          </p:cNvSpPr>
          <p:nvPr/>
        </p:nvSpPr>
        <p:spPr>
          <a:xfrm>
            <a:off x="838200" y="371475"/>
            <a:ext cx="2571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0" bIns="0" anchor="t"/>
          <a:lstStyle/>
          <a:p>
            <a:pPr algn="l">
              <a:defRPr sz="975" b="1">
                <a:solidFill>
                  <a:srgbClr val="2F8F5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8F5B"/>
                </a:solidFill>
                <a:latin typeface="Aptos"/>
                <a:ea typeface="Aptos"/>
                <a:cs typeface="Aptos"/>
              </a:rPr>
              <a:t>CAMPAIGN PRIORITIES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9C1014-02F6-44F3-AA77-7AF6B78915B8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7620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rPr>
              <a:t>Do not start with broad loyalty; first convert high-value one-time buyers.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7DC33A-0678-401D-986C-A54CD773DD16}"/>
              </a:ext>
            </a:extLst>
          </p:cNvPr>
          <p:cNvSpPr>
            <a:spLocks noGrp="1"/>
          </p:cNvSpPr>
          <p:nvPr/>
        </p:nvSpPr>
        <p:spPr>
          <a:xfrm>
            <a:off x="609600" y="1638300"/>
            <a:ext cx="7239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The RFM result points to a staged retention strategy: second purchase first, win-back second, loyalty only for the small repeat base.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8DD8DAB-7AC6-4466-B40E-5965E0AD2BB1}"/>
              </a:ext>
            </a:extLst>
          </p:cNvPr>
          <p:cNvSpPr>
            <a:spLocks noGrp="1"/>
          </p:cNvSpPr>
          <p:nvPr/>
        </p:nvSpPr>
        <p:spPr>
          <a:xfrm>
            <a:off x="8496300" y="457200"/>
            <a:ext cx="2209800" cy="2209800"/>
          </a:xfrm>
          <a:prstGeom prst="ellipse">
            <a:avLst/>
          </a:prstGeom>
          <a:solidFill>
            <a:srgbClr val="E0EF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DADE27E-8E2C-4441-93F0-571D47829E02}"/>
              </a:ext>
            </a:extLst>
          </p:cNvPr>
          <p:cNvSpPr>
            <a:spLocks noGrp="1"/>
          </p:cNvSpPr>
          <p:nvPr/>
        </p:nvSpPr>
        <p:spPr>
          <a:xfrm>
            <a:off x="8902065" y="890270"/>
            <a:ext cx="1399540" cy="13995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F8F5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F4EF05-9387-499C-8428-C3EA128748AA}"/>
              </a:ext>
            </a:extLst>
          </p:cNvPr>
          <p:cNvSpPr>
            <a:spLocks noGrp="1"/>
          </p:cNvSpPr>
          <p:nvPr/>
        </p:nvSpPr>
        <p:spPr>
          <a:xfrm>
            <a:off x="8810625" y="1323975"/>
            <a:ext cx="1666875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925" b="1">
                <a:solidFill>
                  <a:srgbClr val="2F8F5B"/>
                </a:solidFill>
                <a:latin typeface="Aptos"/>
                <a:ea typeface="Aptos"/>
                <a:cs typeface="Aptos"/>
              </a:defRPr>
            </a:pPr>
            <a:r>
              <a:rPr sz="2400" b="1" dirty="0">
                <a:solidFill>
                  <a:srgbClr val="2F8F5B"/>
                </a:solidFill>
                <a:latin typeface="Aptos"/>
                <a:ea typeface="Aptos"/>
                <a:cs typeface="Aptos"/>
              </a:rPr>
              <a:t>3.05%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C86E2F3-2088-47A0-A337-128FB6536376}"/>
              </a:ext>
            </a:extLst>
          </p:cNvPr>
          <p:cNvSpPr>
            <a:spLocks noGrp="1"/>
          </p:cNvSpPr>
          <p:nvPr/>
        </p:nvSpPr>
        <p:spPr>
          <a:xfrm>
            <a:off x="8858250" y="1647825"/>
            <a:ext cx="147637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00" b="0" dirty="0">
                <a:solidFill>
                  <a:srgbClr val="6B7280"/>
                </a:solidFill>
                <a:latin typeface="Aptos"/>
                <a:ea typeface="Aptos"/>
                <a:cs typeface="Aptos"/>
              </a:rPr>
              <a:t>repeat-customer share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ED6AC7-2B64-4F76-9B4E-8EA4B3B334B1}"/>
              </a:ext>
            </a:extLst>
          </p:cNvPr>
          <p:cNvSpPr>
            <a:spLocks noGrp="1"/>
          </p:cNvSpPr>
          <p:nvPr/>
        </p:nvSpPr>
        <p:spPr>
          <a:xfrm>
            <a:off x="609600" y="2667000"/>
            <a:ext cx="2476500" cy="2266950"/>
          </a:xfrm>
          <a:prstGeom prst="rect">
            <a:avLst/>
          </a:prstGeom>
          <a:solidFill>
            <a:srgbClr val="E0EF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F10528-0540-41C2-B65A-D2FFEA424FE1}"/>
              </a:ext>
            </a:extLst>
          </p:cNvPr>
          <p:cNvSpPr>
            <a:spLocks noGrp="1"/>
          </p:cNvSpPr>
          <p:nvPr/>
        </p:nvSpPr>
        <p:spPr>
          <a:xfrm>
            <a:off x="609600" y="2667000"/>
            <a:ext cx="85725" cy="2266950"/>
          </a:xfrm>
          <a:prstGeom prst="rect">
            <a:avLst/>
          </a:prstGeom>
          <a:solidFill>
            <a:srgbClr val="2F8F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0D1C56D-4BAB-4166-8CBF-37BEF2150D88}"/>
              </a:ext>
            </a:extLst>
          </p:cNvPr>
          <p:cNvSpPr>
            <a:spLocks noGrp="1"/>
          </p:cNvSpPr>
          <p:nvPr/>
        </p:nvSpPr>
        <p:spPr>
          <a:xfrm>
            <a:off x="819150" y="2857500"/>
            <a:ext cx="476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F8F5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8F5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9431F01-10A9-4E83-AC43-6E149D099E9B}"/>
              </a:ext>
            </a:extLst>
          </p:cNvPr>
          <p:cNvSpPr>
            <a:spLocks noGrp="1"/>
          </p:cNvSpPr>
          <p:nvPr/>
        </p:nvSpPr>
        <p:spPr>
          <a:xfrm>
            <a:off x="819150" y="3219450"/>
            <a:ext cx="1952625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rPr>
              <a:t>High-value new customers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BF7342-21AF-4124-98A2-F08313D9F938}"/>
              </a:ext>
            </a:extLst>
          </p:cNvPr>
          <p:cNvSpPr>
            <a:spLocks noGrp="1"/>
          </p:cNvSpPr>
          <p:nvPr/>
        </p:nvSpPr>
        <p:spPr>
          <a:xfrm>
            <a:off x="819150" y="3752850"/>
            <a:ext cx="1952625" cy="11430"/>
          </a:xfrm>
          <a:prstGeom prst="rect">
            <a:avLst/>
          </a:prstGeom>
          <a:solidFill>
            <a:srgbClr val="2F8F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A4417E6-574A-4F36-B8C4-7617CC75989C}"/>
              </a:ext>
            </a:extLst>
          </p:cNvPr>
          <p:cNvSpPr>
            <a:spLocks noGrp="1"/>
          </p:cNvSpPr>
          <p:nvPr/>
        </p:nvSpPr>
        <p:spPr>
          <a:xfrm>
            <a:off x="819150" y="3886200"/>
            <a:ext cx="1981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2F8F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8F5B"/>
                </a:solidFill>
                <a:latin typeface="Aptos"/>
                <a:ea typeface="Aptos"/>
                <a:cs typeface="Aptos"/>
              </a:rPr>
              <a:t>11,081 customers | R$4.34M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321D9F2-AD07-4FF9-B0DE-C187E06FF14F}"/>
              </a:ext>
            </a:extLst>
          </p:cNvPr>
          <p:cNvSpPr>
            <a:spLocks noGrp="1"/>
          </p:cNvSpPr>
          <p:nvPr/>
        </p:nvSpPr>
        <p:spPr>
          <a:xfrm>
            <a:off x="819150" y="4181475"/>
            <a:ext cx="1981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Priority second-purchase offer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1916AE9-47E4-4E23-8F4E-7DB1377E3F1A}"/>
              </a:ext>
            </a:extLst>
          </p:cNvPr>
          <p:cNvSpPr>
            <a:spLocks noGrp="1"/>
          </p:cNvSpPr>
          <p:nvPr/>
        </p:nvSpPr>
        <p:spPr>
          <a:xfrm>
            <a:off x="819150" y="4505325"/>
            <a:ext cx="1952625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Recent one-time buyers already proved willingness to spend.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727E56-AD74-416E-AEC5-9061B5BABE5A}"/>
              </a:ext>
            </a:extLst>
          </p:cNvPr>
          <p:cNvSpPr>
            <a:spLocks noGrp="1"/>
          </p:cNvSpPr>
          <p:nvPr/>
        </p:nvSpPr>
        <p:spPr>
          <a:xfrm>
            <a:off x="3295650" y="2667000"/>
            <a:ext cx="2476500" cy="2266950"/>
          </a:xfrm>
          <a:prstGeom prst="rect">
            <a:avLst/>
          </a:prstGeom>
          <a:solidFill>
            <a:srgbClr val="F8E8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C900D85-E5A7-4095-92A2-03C91E6759D2}"/>
              </a:ext>
            </a:extLst>
          </p:cNvPr>
          <p:cNvSpPr>
            <a:spLocks noGrp="1"/>
          </p:cNvSpPr>
          <p:nvPr/>
        </p:nvSpPr>
        <p:spPr>
          <a:xfrm>
            <a:off x="3295650" y="2667000"/>
            <a:ext cx="85725" cy="2266950"/>
          </a:xfrm>
          <a:prstGeom prst="rect">
            <a:avLst/>
          </a:prstGeom>
          <a:solidFill>
            <a:srgbClr val="C7772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F735847-8614-4337-A6D1-1977FA0C6CE5}"/>
              </a:ext>
            </a:extLst>
          </p:cNvPr>
          <p:cNvSpPr>
            <a:spLocks noGrp="1"/>
          </p:cNvSpPr>
          <p:nvPr/>
        </p:nvSpPr>
        <p:spPr>
          <a:xfrm>
            <a:off x="3505200" y="2857500"/>
            <a:ext cx="476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C7772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7772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B843278-4D7A-4E9C-B8A4-616AD5CF04B8}"/>
              </a:ext>
            </a:extLst>
          </p:cNvPr>
          <p:cNvSpPr>
            <a:spLocks noGrp="1"/>
          </p:cNvSpPr>
          <p:nvPr/>
        </p:nvSpPr>
        <p:spPr>
          <a:xfrm>
            <a:off x="3505200" y="3219450"/>
            <a:ext cx="1952625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rPr>
              <a:t>At-risk high spenders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8FE3E9C-EDA4-4C30-9980-8BE1D6600BE8}"/>
              </a:ext>
            </a:extLst>
          </p:cNvPr>
          <p:cNvSpPr>
            <a:spLocks noGrp="1"/>
          </p:cNvSpPr>
          <p:nvPr/>
        </p:nvSpPr>
        <p:spPr>
          <a:xfrm>
            <a:off x="3505200" y="3752850"/>
            <a:ext cx="1952625" cy="11430"/>
          </a:xfrm>
          <a:prstGeom prst="rect">
            <a:avLst/>
          </a:prstGeom>
          <a:solidFill>
            <a:srgbClr val="C7772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DE3A641-FE01-4047-BFED-4FD056483E13}"/>
              </a:ext>
            </a:extLst>
          </p:cNvPr>
          <p:cNvSpPr>
            <a:spLocks noGrp="1"/>
          </p:cNvSpPr>
          <p:nvPr/>
        </p:nvSpPr>
        <p:spPr>
          <a:xfrm>
            <a:off x="3505200" y="3886200"/>
            <a:ext cx="1981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C7772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77721"/>
                </a:solidFill>
                <a:latin typeface="Aptos"/>
                <a:ea typeface="Aptos"/>
                <a:cs typeface="Aptos"/>
              </a:rPr>
              <a:t>11,274 customers | R$1.59M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25C469A-DD1C-48D3-A545-4E279E5A8C17}"/>
              </a:ext>
            </a:extLst>
          </p:cNvPr>
          <p:cNvSpPr>
            <a:spLocks noGrp="1"/>
          </p:cNvSpPr>
          <p:nvPr/>
        </p:nvSpPr>
        <p:spPr>
          <a:xfrm>
            <a:off x="3505200" y="4181475"/>
            <a:ext cx="1981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Timed win-back campaign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E6648FE-0EF5-43A3-98E1-89CF828A2436}"/>
              </a:ext>
            </a:extLst>
          </p:cNvPr>
          <p:cNvSpPr>
            <a:spLocks noGrp="1"/>
          </p:cNvSpPr>
          <p:nvPr/>
        </p:nvSpPr>
        <p:spPr>
          <a:xfrm>
            <a:off x="3505200" y="4505325"/>
            <a:ext cx="1952625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High value is present, but recency has weakened.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C2FD390-8860-4D9A-8603-91860D9F96C8}"/>
              </a:ext>
            </a:extLst>
          </p:cNvPr>
          <p:cNvSpPr>
            <a:spLocks noGrp="1"/>
          </p:cNvSpPr>
          <p:nvPr/>
        </p:nvSpPr>
        <p:spPr>
          <a:xfrm>
            <a:off x="5981700" y="2667000"/>
            <a:ext cx="2476500" cy="2266950"/>
          </a:xfrm>
          <a:prstGeom prst="rect">
            <a:avLst/>
          </a:prstGeom>
          <a:solidFill>
            <a:srgbClr val="E2EA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8F0D518-10EA-491C-8496-5D03A66814CD}"/>
              </a:ext>
            </a:extLst>
          </p:cNvPr>
          <p:cNvSpPr>
            <a:spLocks noGrp="1"/>
          </p:cNvSpPr>
          <p:nvPr/>
        </p:nvSpPr>
        <p:spPr>
          <a:xfrm>
            <a:off x="5981700" y="2667000"/>
            <a:ext cx="85725" cy="2266950"/>
          </a:xfrm>
          <a:prstGeom prst="rect">
            <a:avLst/>
          </a:prstGeom>
          <a:solidFill>
            <a:srgbClr val="34699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7D3B730-F0CD-4742-B0D8-219C02EDDEC5}"/>
              </a:ext>
            </a:extLst>
          </p:cNvPr>
          <p:cNvSpPr>
            <a:spLocks noGrp="1"/>
          </p:cNvSpPr>
          <p:nvPr/>
        </p:nvSpPr>
        <p:spPr>
          <a:xfrm>
            <a:off x="6191250" y="2857500"/>
            <a:ext cx="476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34699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4699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E897F28-8963-4582-9DEB-9F3EEB09B93E}"/>
              </a:ext>
            </a:extLst>
          </p:cNvPr>
          <p:cNvSpPr>
            <a:spLocks noGrp="1"/>
          </p:cNvSpPr>
          <p:nvPr/>
        </p:nvSpPr>
        <p:spPr>
          <a:xfrm>
            <a:off x="6191250" y="3219450"/>
            <a:ext cx="1952625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rPr>
              <a:t>Recent repeat buyers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E7F6D7C-796C-4AAD-B01F-F3B97108BEBE}"/>
              </a:ext>
            </a:extLst>
          </p:cNvPr>
          <p:cNvSpPr>
            <a:spLocks noGrp="1"/>
          </p:cNvSpPr>
          <p:nvPr/>
        </p:nvSpPr>
        <p:spPr>
          <a:xfrm>
            <a:off x="6191250" y="3752850"/>
            <a:ext cx="1952625" cy="11430"/>
          </a:xfrm>
          <a:prstGeom prst="rect">
            <a:avLst/>
          </a:prstGeom>
          <a:solidFill>
            <a:srgbClr val="34699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5BAAF2A-0D4A-4252-90E6-D2CB280FE37B}"/>
              </a:ext>
            </a:extLst>
          </p:cNvPr>
          <p:cNvSpPr>
            <a:spLocks noGrp="1"/>
          </p:cNvSpPr>
          <p:nvPr/>
        </p:nvSpPr>
        <p:spPr>
          <a:xfrm>
            <a:off x="6191250" y="3886200"/>
            <a:ext cx="1981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34699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4699A"/>
                </a:solidFill>
                <a:latin typeface="Aptos"/>
                <a:ea typeface="Aptos"/>
                <a:cs typeface="Aptos"/>
              </a:rPr>
              <a:t>1,518 customers | R$453k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1171E6F-0764-4624-9CFE-4EC3CC4BD762}"/>
              </a:ext>
            </a:extLst>
          </p:cNvPr>
          <p:cNvSpPr>
            <a:spLocks noGrp="1"/>
          </p:cNvSpPr>
          <p:nvPr/>
        </p:nvSpPr>
        <p:spPr>
          <a:xfrm>
            <a:off x="6191250" y="4181475"/>
            <a:ext cx="1981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Loyalty rewards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4138D23-9012-4D46-B8AA-63FAFBA153C2}"/>
              </a:ext>
            </a:extLst>
          </p:cNvPr>
          <p:cNvSpPr>
            <a:spLocks noGrp="1"/>
          </p:cNvSpPr>
          <p:nvPr/>
        </p:nvSpPr>
        <p:spPr>
          <a:xfrm>
            <a:off x="6191250" y="4505325"/>
            <a:ext cx="1952625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This small base has already crossed the repeat threshold.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B48CCDE-8B53-48E6-92F5-CC01B7B0CCF0}"/>
              </a:ext>
            </a:extLst>
          </p:cNvPr>
          <p:cNvSpPr>
            <a:spLocks noGrp="1"/>
          </p:cNvSpPr>
          <p:nvPr/>
        </p:nvSpPr>
        <p:spPr>
          <a:xfrm>
            <a:off x="8667750" y="2667000"/>
            <a:ext cx="2476500" cy="2266950"/>
          </a:xfrm>
          <a:prstGeom prst="rect">
            <a:avLst/>
          </a:prstGeom>
          <a:solidFill>
            <a:srgbClr val="DDED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7B1996C-A3C0-4314-A8A0-4883B7A9E7E2}"/>
              </a:ext>
            </a:extLst>
          </p:cNvPr>
          <p:cNvSpPr>
            <a:spLocks noGrp="1"/>
          </p:cNvSpPr>
          <p:nvPr/>
        </p:nvSpPr>
        <p:spPr>
          <a:xfrm>
            <a:off x="8667750" y="2667000"/>
            <a:ext cx="85725" cy="2266950"/>
          </a:xfrm>
          <a:prstGeom prst="rect">
            <a:avLst/>
          </a:prstGeom>
          <a:solidFill>
            <a:srgbClr val="178F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17D26ED-8618-4CB7-AF25-24400D9F554B}"/>
              </a:ext>
            </a:extLst>
          </p:cNvPr>
          <p:cNvSpPr>
            <a:spLocks noGrp="1"/>
          </p:cNvSpPr>
          <p:nvPr/>
        </p:nvSpPr>
        <p:spPr>
          <a:xfrm>
            <a:off x="8877300" y="2857500"/>
            <a:ext cx="476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8F8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8F8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537C93A-2A32-419B-A34E-E4DF764A403B}"/>
              </a:ext>
            </a:extLst>
          </p:cNvPr>
          <p:cNvSpPr>
            <a:spLocks noGrp="1"/>
          </p:cNvSpPr>
          <p:nvPr/>
        </p:nvSpPr>
        <p:spPr>
          <a:xfrm>
            <a:off x="8877300" y="3219450"/>
            <a:ext cx="1952625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rPr>
              <a:t>Champions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2AFF3AA-180C-4701-A30A-5F9C37926927}"/>
              </a:ext>
            </a:extLst>
          </p:cNvPr>
          <p:cNvSpPr>
            <a:spLocks noGrp="1"/>
          </p:cNvSpPr>
          <p:nvPr/>
        </p:nvSpPr>
        <p:spPr>
          <a:xfrm>
            <a:off x="8877300" y="3752850"/>
            <a:ext cx="1952625" cy="11430"/>
          </a:xfrm>
          <a:prstGeom prst="rect">
            <a:avLst/>
          </a:prstGeom>
          <a:solidFill>
            <a:srgbClr val="178F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F24BA5B-D6D1-4DCE-8D8D-FFCE5DAE5DCA}"/>
              </a:ext>
            </a:extLst>
          </p:cNvPr>
          <p:cNvSpPr>
            <a:spLocks noGrp="1"/>
          </p:cNvSpPr>
          <p:nvPr/>
        </p:nvSpPr>
        <p:spPr>
          <a:xfrm>
            <a:off x="8877300" y="3886200"/>
            <a:ext cx="1981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8F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8F8A"/>
                </a:solidFill>
                <a:latin typeface="Aptos"/>
                <a:ea typeface="Aptos"/>
                <a:cs typeface="Aptos"/>
              </a:rPr>
              <a:t>81 customers | R$50k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EF76FEA-F9A1-4DA3-AFF7-D21936C4F8EB}"/>
              </a:ext>
            </a:extLst>
          </p:cNvPr>
          <p:cNvSpPr>
            <a:spLocks noGrp="1"/>
          </p:cNvSpPr>
          <p:nvPr/>
        </p:nvSpPr>
        <p:spPr>
          <a:xfrm>
            <a:off x="8877300" y="4181475"/>
            <a:ext cx="1981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VIP treatment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3144D48-2244-4EB8-85A0-090F9C1D15E9}"/>
              </a:ext>
            </a:extLst>
          </p:cNvPr>
          <p:cNvSpPr>
            <a:spLocks noGrp="1"/>
          </p:cNvSpPr>
          <p:nvPr/>
        </p:nvSpPr>
        <p:spPr>
          <a:xfrm>
            <a:off x="8877300" y="4505325"/>
            <a:ext cx="1952625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Tiny group with recent, frequent, high-value behavior.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17EA54B-F3FE-40F3-9F57-231774B529AA}"/>
              </a:ext>
            </a:extLst>
          </p:cNvPr>
          <p:cNvSpPr>
            <a:spLocks noGrp="1"/>
          </p:cNvSpPr>
          <p:nvPr/>
        </p:nvSpPr>
        <p:spPr>
          <a:xfrm>
            <a:off x="609600" y="5410200"/>
            <a:ext cx="10363200" cy="590550"/>
          </a:xfrm>
          <a:prstGeom prst="rect">
            <a:avLst/>
          </a:prstGeom>
          <a:solidFill>
            <a:srgbClr val="F4F6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74CD303-6CE8-4028-A153-11D6C0261A84}"/>
              </a:ext>
            </a:extLst>
          </p:cNvPr>
          <p:cNvSpPr>
            <a:spLocks noGrp="1"/>
          </p:cNvSpPr>
          <p:nvPr/>
        </p:nvSpPr>
        <p:spPr>
          <a:xfrm>
            <a:off x="838200" y="5562600"/>
            <a:ext cx="98583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Slide message: RFM scoring shows Olist's biggest customer opportunity is converting high-value one-time buyers into repeat customers.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F0971E0-16CE-45B4-A141-DFC6DC4348A2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781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94A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4A3"/>
                </a:solidFill>
                <a:latin typeface="Aptos"/>
                <a:ea typeface="Aptos"/>
                <a:cs typeface="Aptos"/>
              </a:rPr>
              <a:t>Source: local Olist warehouse, fact_sales. Gross item sales include product price plus freight value.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96DBECB-C403-4714-AD9C-E6EE3B40C9EC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8A94A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4A3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9198057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777</Words>
  <Application>Microsoft Office PowerPoint</Application>
  <DocSecurity>0</DocSecurity>
  <PresentationFormat>Widescreen</PresentationFormat>
  <Paragraphs>105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Calibri</vt:lpstr>
      <vt:lpstr>ChatGPT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Teofilo Santiago IV</cp:lastModifiedBy>
  <cp:revision>1</cp:revision>
  <dcterms:created xsi:type="dcterms:W3CDTF">2026-06-09T13:58:19Z</dcterms:created>
  <dcterms:modified xsi:type="dcterms:W3CDTF">2026-06-09T14:09:19Z</dcterms:modified>
</cp:coreProperties>
</file>